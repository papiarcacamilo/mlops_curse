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libri"/>
              </a:rPr>
              <a:t>Distribución de Pago_atiempo (%)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Pago_atiempo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B33A3A"/>
              </a:solidFill>
              <a:effectLst/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Al día</c:v>
                </c:pt>
                <c:pt idx="1">
                  <c:v>En mora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95.25</c:v>
                </c:pt>
                <c:pt idx="1">
                  <c:v>4.75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mora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3A3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Sin mora previa
(10,708 clientes)</c:v>
                  </c:pt>
                  <c:pt idx="1">
                    <c:v>Con mora previa
(55 clientes)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4.59</c:v>
                </c:pt>
                <c:pt idx="1">
                  <c:v>36.36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F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libri"/>
              </a:rPr>
              <a:t>Tasa de mora por tipo de crédito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mora (%)</c:v>
                </c:pt>
              </c:strCache>
            </c:strRef>
          </c:tx>
          <c:spPr>
            <a:solidFill>
              <a:srgbClr val="B33A3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33A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Tipo 6
(n=21)</c:v>
                  </c:pt>
                  <c:pt idx="1">
                    <c:v>Tipo 9
(n=2,876)</c:v>
                  </c:pt>
                  <c:pt idx="2">
                    <c:v>Tipo 4
(n=7,747)</c:v>
                  </c:pt>
                  <c:pt idx="3">
                    <c:v>Tipo 10
(n=116)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42.86</c:v>
                </c:pt>
                <c:pt idx="1">
                  <c:v>4.73</c:v>
                </c:pt>
                <c:pt idx="2">
                  <c:v>4.69</c:v>
                </c:pt>
                <c:pt idx="3">
                  <c:v>2.59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A5F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Correlación absoluta con Pago_atiempo</c:v>
                </c:pt>
              </c:strCache>
            </c:strRef>
          </c:tx>
          <c:spPr>
            <a:solidFill>
              <a:srgbClr val="B33A3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33A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3A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tiene_mora_previa</c:v>
                  </c:pt>
                  <c:pt idx="1">
                    <c:v>consultas_por_credito</c:v>
                  </c:pt>
                  <c:pt idx="2">
                    <c:v>huella_consulta</c:v>
                  </c:pt>
                  <c:pt idx="3">
                    <c:v>saldo_mora</c:v>
                  </c:pt>
                  <c:pt idx="4">
                    <c:v>puntaje_datacredito</c:v>
                  </c:pt>
                  <c:pt idx="5">
                    <c:v>plazo_meses</c:v>
                  </c:pt>
                  <c:pt idx="6">
                    <c:v>edad_cliente</c:v>
                  </c:pt>
                  <c:pt idx="7">
                    <c:v>capital_prestado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0.107</c:v>
                </c:pt>
                <c:pt idx="1">
                  <c:v>0.077</c:v>
                </c:pt>
                <c:pt idx="2">
                  <c:v>0.074</c:v>
                </c:pt>
                <c:pt idx="3">
                  <c:v>0.073</c:v>
                </c:pt>
                <c:pt idx="4">
                  <c:v>0.068</c:v>
                </c:pt>
                <c:pt idx="5">
                  <c:v>0.063</c:v>
                </c:pt>
                <c:pt idx="6">
                  <c:v>0.052</c:v>
                </c:pt>
                <c:pt idx="7">
                  <c:v>0.041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5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F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Tasa de mora por tipo laboral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mora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C77B8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Empleado (n=6,754)</c:v>
                  </c:pt>
                  <c:pt idx="1">
                    <c:v>Independiente (n=4,009)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4.29</c:v>
                </c:pt>
                <c:pt idx="1">
                  <c:v>5.51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F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Contexto: soy candidato a Científico de Datos Junior, se me entregó una base de datos de créditos sin diccionario de datos, y el objetivo es presentar los insights más valiosos para el negocio en 15 minutos, dirigidos tanto a un perfil técnico como a un perfil de negocio.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un ejercicio real de EDA: nos entregaron el DataFrame crudo, sin diccionario, así que la primera tarea fue investigar el negocio (central de riesgo Datacrédito) para entender cada variable con criterio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un flujo estándar de ciencia de datos: primero entender antes de limpiar, y limpiar antes de analizar en profundidad. Cada decisión de limpieza se investigó con evidencia antes de aplicarse.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estas correcciones, cualquier análisis posterior habría partido de datos falsos: edades de 122 años, salarios de miles de millones, y una variable de tendencia de ingresos parcialmente corrupta.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punto es crítico para el equipo técnico: cualquier modelo que se entrene después debe manejar este desbalance explícitamente, y cualquier métrica de éxito debe evitar la exactitud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hallazgo con mayor valor accionable: un cliente que ya está en mora en otro producto tiene casi 8 veces más probabilidad de incumplir este crédito. Recomendación directa: usarlo como criterio de alerta temprana.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líder de negocio: vale la pena preguntar qué representa el tipo de crédito 6 y por qué concentra tanto riesgo, antes de invertir en un modelo — puede ser un problema de política de originación.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para el técnico: esto justifica no intentar reglas de negocio simplistas de una sola variable, y sí invertir en un modelo que capture interacciones entre variables.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 la inversión en feature engineering: construir variables con lógica de negocio (mora previa, intensidad de consultas) rindió más que los ratios financieros tradicionales en este dataset específico.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hallazgos secundarios pero útiles: la diferencia laboral es moderada, y la bimodalidad del score sugiere segmentar el análisis por historial crediticio en fases futuras.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importante ser transparente con estas limitaciones frente al líder técnico: ninguna es motivo para descartar los hallazgos, pero sí para validarlos antes de tomar decisiones de alto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la parte de insights con acciones concretas: no solo 'qué encontramos', sino 'qué hacer con esto'.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análisis es la base para las siguientes fases del proyecto: feature engineering formal, modelado predictivo, despliegue y monitoreo continuo.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invitando a preguntas, y menciono que todo el proceso (código, commits, decisiones documentadas) está disponible en el repositorio para su revisión.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423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clave del análisis exploratorio de datos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 2 · Ciencia de Datos en Producción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38100">
            <a:solidFill>
              <a:srgbClr val="B3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 Científico de Datos Junior  ·  Equipo de Datos y Analítica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0" y="5943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reto de negocio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empresa financiera entrega una base de datos con información del crédito, del cliente y del comportamiento de pago (a tiempo o en mora). El objetivo: generar insights valiosos para la organización y comunicarlos de forma clara — sin contar con un diccionario de datos.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83080"/>
            <a:ext cx="4206240" cy="1188720"/>
          </a:xfrm>
          <a:prstGeom prst="roundRect">
            <a:avLst>
              <a:gd name="adj" fmla="val 6154"/>
            </a:avLst>
          </a:prstGeom>
          <a:solidFill>
            <a:srgbClr val="F4F7F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189280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10,763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281160" y="17830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analizados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406640" y="3200400"/>
            <a:ext cx="4206240" cy="1188720"/>
          </a:xfrm>
          <a:prstGeom prst="roundRect">
            <a:avLst>
              <a:gd name="adj" fmla="val 6154"/>
            </a:avLst>
          </a:prstGeom>
          <a:solidFill>
            <a:srgbClr val="F4F7F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35240" y="331012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28116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4617720"/>
            <a:ext cx="4206240" cy="1188720"/>
          </a:xfrm>
          <a:prstGeom prst="roundRect">
            <a:avLst>
              <a:gd name="adj" fmla="val 6154"/>
            </a:avLst>
          </a:prstGeom>
          <a:solidFill>
            <a:srgbClr val="F4F7F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35240" y="472744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281160" y="46177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diccionario de datos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los datos crudos a los insights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y comprensión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Exploración inicial: tipos, nulos, caracterización de cada variable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 corrección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342900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de atípicos y nulos con evidencia, no con supuestos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1792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univariado, bivariado y multivariado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217920" y="342900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Distribuciones, relación con la mora, correlaciones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5256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Ideación de atributos derivados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052560" y="342900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Combinaciones de variables con más señal que las originales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encontramos antes de analizar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48840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3911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328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87.4% de los registros comparten el mismo valor — se eliminó por no aportar información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48840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203911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edad_cliente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25328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registros con 121–123 años (salto claro en la distribución) — corregidos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114800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00507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salario_cliente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4988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valores extremos (hasta $22.000 millones) — corregidos con método estadístico robusto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84048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4114800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400507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tendencia_ingresos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46520" y="44988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registros con números en vez de categoría — reconstruidos por lógica de negocio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OBJETIVO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desbalance que condiciona todo el análisis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4937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035040" y="20574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3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a 1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035040" y="2880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desbalance entre clases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035040" y="352044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4.75% de los créditos cae en mora (511 de 10,763). Un modelo que prediga siempre “paga a tiempo” acertaría el 95.25% de las veces sin aprender nada útil.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35040" y="4846320"/>
            <a:ext cx="5577840" cy="1051560"/>
          </a:xfrm>
          <a:prstGeom prst="roundRect">
            <a:avLst>
              <a:gd name="adj" fmla="val 6957"/>
            </a:avLst>
          </a:prstGeom>
          <a:solidFill>
            <a:srgbClr val="F4F7FC"/>
          </a:solidFill>
          <a:ln/>
        </p:spPr>
      </p:sp>
      <p:sp>
        <p:nvSpPr>
          <p:cNvPr id="9" name="Text 6"/>
          <p:cNvSpPr/>
          <p:nvPr/>
        </p:nvSpPr>
        <p:spPr>
          <a:xfrm>
            <a:off x="6263640" y="49377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Implicación: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exactitud (accuracy) no sirve como métrica. Se debe evaluar con recall, F1 y AUC-PR sobre la clase minoritaria.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1 DE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mora previa es la señal más potente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2024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858000" y="19659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3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8x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6858000" y="28803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riesgo de mora si el cliente ya tiene saldo en mora registrado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0" y="3886200"/>
            <a:ext cx="47548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8" name="Text 5"/>
          <p:cNvSpPr/>
          <p:nvPr/>
        </p:nvSpPr>
        <p:spPr>
          <a:xfrm>
            <a:off x="7086600" y="40233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más alta de todo el análisis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= 0.107), por encima de cualquier variable original del dataset.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cautela: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55 registros — no es una conclusión definitiva, pero sí una alerta temprana de alto valor.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2 DE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tipo de crédito 6 concentra el riesgo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74066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2148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42.9%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0" y="2926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mora en el tipo 6, casi 9 veces el promedio general (4.75%)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416052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4F7FC"/>
          </a:solidFill>
          <a:ln/>
        </p:spPr>
      </p:sp>
      <p:sp>
        <p:nvSpPr>
          <p:cNvPr id="8" name="Text 5"/>
          <p:cNvSpPr/>
          <p:nvPr/>
        </p:nvSpPr>
        <p:spPr>
          <a:xfrm>
            <a:off x="8458200" y="42976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pequeña (21 registros): señal de alerta a priorizar, no una conclusión estadística definitiva. Amerita investigación con el área de producto.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3 DE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variable predice la mora por sí sola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77724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22860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0.11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503920" y="2971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máxima observada entre cualquier variable individual y la mora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411480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está en la combinación de variables, no en reglas simples de una sola columna. Justifica el uso de modelos multivariados.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4 DE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atributos derivados superan a los originales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7472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2064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6675120" cy="73152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317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tiene_mora_previa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23317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6675120" cy="73152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200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consultas_por_credito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32004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6675120" cy="731520"/>
          </a:xfrm>
          <a:prstGeom prst="roundRect">
            <a:avLst>
              <a:gd name="adj" fmla="val 7500"/>
            </a:avLst>
          </a:prstGeom>
          <a:solidFill>
            <a:srgbClr val="F4F7F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huella_consulta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4069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40690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0.074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937760"/>
            <a:ext cx="6675120" cy="731520"/>
          </a:xfrm>
          <a:prstGeom prst="roundRect">
            <a:avLst>
              <a:gd name="adj" fmla="val 7500"/>
            </a:avLst>
          </a:prstGeom>
          <a:solidFill>
            <a:srgbClr val="F4F7FC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937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saldo_mora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74720" y="49377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20640" y="49377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589520" y="1965960"/>
            <a:ext cx="4023360" cy="4160520"/>
          </a:xfrm>
          <a:prstGeom prst="roundRect">
            <a:avLst>
              <a:gd name="adj" fmla="val 1818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0" y="2240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 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863840" y="28803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mejores predictores del dataset son variables construidas, no originales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863840" y="397764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ratios clásicos de capacidad de pago (cuota/ingreso, deuda/ingreso) resultaron casi nulos: un indicador estándar del sector no siempre funciona sin validarse empíricamente.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ADICIONALES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Otras señales relevantes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20240"/>
          <a:ext cx="53949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309360" y="192024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F4F7FC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210312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E2761"/>
                </a:solidFill>
              </a:rPr>
              <a:t>Independientes vs. empleados
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</a:rPr>
              <a:t>Mayor tasa de mora (5.51% vs 4.29%), coherente con la mayor variabilidad de ingresos de ese segmento.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309360" y="406908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4F7FC"/>
          </a:solidFill>
          <a:ln/>
        </p:spPr>
      </p:sp>
      <p:sp>
        <p:nvSpPr>
          <p:cNvPr id="8" name="Text 5"/>
          <p:cNvSpPr/>
          <p:nvPr/>
        </p:nvSpPr>
        <p:spPr>
          <a:xfrm>
            <a:off x="6537960" y="425196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E2761"/>
                </a:solidFill>
              </a:rPr>
              <a:t>puntaje_datacredito es bimodal
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5F73"/>
                </a:solidFill>
              </a:rPr>
              <a:t>Un grupo pequeño con score cercano a 0 y el resto concentrado entre 700–999: posiblemente dos poblaciones distintas (con y sin historial suficiente en la central de riesgo).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y limitaciones del análisis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304288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74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Posible fuga de información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87452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de saldo en mora podrían registrarse después del desembolso — deben validarse con el negocio antes de modelar.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3419856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99008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pequeñas en hallazgos clave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9008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de crédito 6 (21) y la mora previa (55) tienen bases reducidas; sus tasas son indicativas, no concluyentes.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05656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535424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10565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 de nulos sin causa estructural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4105656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promedio_ingresos_datacredito, sin patrón identificado que justifique imputar con confianza.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2122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4F7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5650992"/>
            <a:ext cx="146304" cy="146304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522122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 diccionario de datos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0" y="5221224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interpretación de varias variables, en especial tipo_credito, se basa en inferencia propia.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 accionables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 temprana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7947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mora previa y el tipo de crédito 6 como criterios de alerta en la originación.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Auditoría de origen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37947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en la fuente los errores de captura (edades, salarios, categorías) que hoy se corrigen en el análisis.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566160" cy="402336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458200" y="2286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Investigación dirigida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58200" y="37947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con el área de producto para entender qué representa el tipo de crédito 6.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FASE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análisis al modelo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supuestos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con el negocio la temporalidad de los saldos y el significado de tipo_credito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82112" y="2212848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34290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tiene_mora_previa y consultas_por_credito en el pipeline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6752" y="2212848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21792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217920" y="34290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con manejo explícito del desbalance (20:1) y métricas de recall/F1/AUC-PR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51392" y="2212848"/>
            <a:ext cx="173736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19659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52560" y="265176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y monitoreo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052560" y="34290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el modelo en producción y vigilar su desempeño en el tiempo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 Crediticio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discusión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38100">
            <a:solidFill>
              <a:srgbClr val="B33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github.com/papiarcacamilo/MLOPS_CURSE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2026-08-17T20:56:12Z</dcterms:created>
  <dcterms:modified xsi:type="dcterms:W3CDTF">2026-08-17T20:56:12Z</dcterms:modified>
</cp:coreProperties>
</file>