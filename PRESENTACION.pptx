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charts/chart1.xml" ContentType="application/vnd.openxmlformats-officedocument.drawingml.chart+xml"/>
  <Override PartName="/ppt/notesSlides/notesSlide10.xml" ContentType="application/vnd.openxmlformats-officedocument.presentationml.notesSlide+xml"/>
  <Override PartName="/ppt/charts/chart2.xml" ContentType="application/vnd.openxmlformats-officedocument.drawingml.chart+xml"/>
  <Override PartName="/ppt/notesSlides/notesSlide11.xml" ContentType="application/vnd.openxmlformats-officedocument.presentationml.notesSlide+xml"/>
  <Override PartName="/ppt/charts/chart3.xml" ContentType="application/vnd.openxmlformats-officedocument.drawingml.chart+xml"/>
  <Override PartName="/ppt/notesSlides/notesSlide12.xml" ContentType="application/vnd.openxmlformats-officedocument.presentationml.notesSlide+xml"/>
  <Override PartName="/ppt/charts/chart4.xml" ContentType="application/vnd.openxmlformats-officedocument.drawingml.chart+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charts/chart5.xml" ContentType="application/vnd.openxmlformats-officedocument.drawingml.chart+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82" d="100"/>
          <a:sy n="82" d="100"/>
        </p:scale>
        <p:origin x="691"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ES"/>
  <c:roundedCorners val="1"/>
  <c:style val="2"/>
  <c:chart>
    <c:title>
      <c:tx>
        <c:rich>
          <a:bodyPr/>
          <a:lstStyle/>
          <a:p>
            <a:pPr>
              <a:defRPr sz="1400" b="0" i="0" u="none" strike="noStrike">
                <a:solidFill>
                  <a:srgbClr val="1E2761"/>
                </a:solidFill>
                <a:latin typeface="Calibri"/>
              </a:defRPr>
            </a:pPr>
            <a:r>
              <a:rPr lang="es-CO" sz="1400" b="0" i="0" u="none" strike="noStrike">
                <a:solidFill>
                  <a:srgbClr val="1E2761"/>
                </a:solidFill>
                <a:latin typeface="Calibri"/>
              </a:rPr>
              <a:t>Distribución de Pago_atiempo (%)</a:t>
            </a:r>
          </a:p>
        </c:rich>
      </c:tx>
      <c:overlay val="0"/>
    </c:title>
    <c:autoTitleDeleted val="0"/>
    <c:plotArea>
      <c:layout/>
      <c:pieChart>
        <c:varyColors val="1"/>
        <c:ser>
          <c:idx val="0"/>
          <c:order val="0"/>
          <c:tx>
            <c:strRef>
              <c:f>Sheet1!$B$1</c:f>
              <c:strCache>
                <c:ptCount val="1"/>
                <c:pt idx="0">
                  <c:v>Pago_atiempo</c:v>
                </c:pt>
              </c:strCache>
            </c:strRef>
          </c:tx>
          <c:spPr>
            <a:solidFill>
              <a:schemeClr val="accent1"/>
            </a:solidFill>
            <a:ln w="9525" cap="flat">
              <a:solidFill>
                <a:srgbClr val="F9F9F9"/>
              </a:solidFill>
              <a:prstDash val="solid"/>
              <a:round/>
            </a:ln>
            <a:effectLst/>
          </c:spPr>
          <c:dPt>
            <c:idx val="0"/>
            <c:bubble3D val="0"/>
            <c:spPr>
              <a:solidFill>
                <a:srgbClr val="1E2761"/>
              </a:solidFill>
              <a:effectLst/>
            </c:spPr>
            <c:extLst>
              <c:ext xmlns:c16="http://schemas.microsoft.com/office/drawing/2014/chart" uri="{C3380CC4-5D6E-409C-BE32-E72D297353CC}">
                <c16:uniqueId val="{00000001-BF24-45DB-A242-0F3E10557264}"/>
              </c:ext>
            </c:extLst>
          </c:dPt>
          <c:dPt>
            <c:idx val="1"/>
            <c:bubble3D val="0"/>
            <c:spPr>
              <a:solidFill>
                <a:srgbClr val="B33A3A"/>
              </a:solidFill>
              <a:effectLst/>
            </c:spPr>
            <c:extLst>
              <c:ext xmlns:c16="http://schemas.microsoft.com/office/drawing/2014/chart" uri="{C3380CC4-5D6E-409C-BE32-E72D297353CC}">
                <c16:uniqueId val="{00000003-BF24-45DB-A242-0F3E10557264}"/>
              </c:ext>
            </c:extLst>
          </c:dPt>
          <c:dLbls>
            <c:dLbl>
              <c:idx val="0"/>
              <c:numFmt formatCode="0.0&quot;%&quot;" sourceLinked="0"/>
              <c:spPr/>
              <c:txPr>
                <a:bodyPr/>
                <a:lstStyle/>
                <a:p>
                  <a:pPr>
                    <a:defRPr sz="1200" b="0" i="0" u="none" strike="noStrike">
                      <a:solidFill>
                        <a:srgbClr val="FFFFFF"/>
                      </a:solidFill>
                      <a:latin typeface="Calibri"/>
                    </a:defRPr>
                  </a:pPr>
                  <a:endParaRPr lang="es-CO"/>
                </a:p>
              </c:txP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BF24-45DB-A242-0F3E10557264}"/>
                </c:ext>
              </c:extLst>
            </c:dLbl>
            <c:dLbl>
              <c:idx val="1"/>
              <c:numFmt formatCode="0.0&quot;%&quot;" sourceLinked="0"/>
              <c:spPr/>
              <c:txPr>
                <a:bodyPr/>
                <a:lstStyle/>
                <a:p>
                  <a:pPr>
                    <a:defRPr sz="1200" b="0" i="0" u="none" strike="noStrike">
                      <a:solidFill>
                        <a:srgbClr val="FFFFFF"/>
                      </a:solidFill>
                      <a:latin typeface="Calibri"/>
                    </a:defRPr>
                  </a:pPr>
                  <a:endParaRPr lang="es-CO"/>
                </a:p>
              </c:txP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BF24-45DB-A242-0F3E10557264}"/>
                </c:ext>
              </c:extLst>
            </c:dLbl>
            <c:numFmt formatCode="0.0&quot;%&quot;" sourceLinked="0"/>
            <c:spPr>
              <a:noFill/>
              <a:ln>
                <a:noFill/>
              </a:ln>
              <a:effectLst/>
            </c:spPr>
            <c:txPr>
              <a:bodyPr/>
              <a:lstStyle/>
              <a:p>
                <a:pPr>
                  <a:defRPr sz="1800" b="0" i="0" u="none" strike="noStrike">
                    <a:solidFill>
                      <a:srgbClr val="000000"/>
                    </a:solidFill>
                    <a:latin typeface="Arial"/>
                  </a:defRPr>
                </a:pPr>
                <a:endParaRPr lang="es-CO"/>
              </a:p>
            </c:txPr>
            <c:dLblPos val="ctr"/>
            <c:showLegendKey val="0"/>
            <c:showVal val="0"/>
            <c:showCatName val="1"/>
            <c:showSerName val="0"/>
            <c:showPercent val="1"/>
            <c:showBubbleSize val="0"/>
            <c:showLeaderLines val="0"/>
            <c:extLst>
              <c:ext xmlns:c15="http://schemas.microsoft.com/office/drawing/2012/chart" uri="{CE6537A1-D6FC-4f65-9D91-7224C49458BB}"/>
            </c:extLst>
          </c:dLbls>
          <c:cat>
            <c:strRef>
              <c:f>Sheet1!$A$2:$A$3</c:f>
              <c:strCache>
                <c:ptCount val="2"/>
                <c:pt idx="0">
                  <c:v>Al día</c:v>
                </c:pt>
                <c:pt idx="1">
                  <c:v>En mora</c:v>
                </c:pt>
              </c:strCache>
            </c:strRef>
          </c:cat>
          <c:val>
            <c:numRef>
              <c:f>Sheet1!$B$2:$B$3</c:f>
              <c:numCache>
                <c:formatCode>General</c:formatCode>
                <c:ptCount val="2"/>
                <c:pt idx="0">
                  <c:v>95.25</c:v>
                </c:pt>
                <c:pt idx="1">
                  <c:v>4.75</c:v>
                </c:pt>
              </c:numCache>
            </c:numRef>
          </c:val>
          <c:extLst>
            <c:ext xmlns:c16="http://schemas.microsoft.com/office/drawing/2014/chart" uri="{C3380CC4-5D6E-409C-BE32-E72D297353CC}">
              <c16:uniqueId val="{00000004-BF24-45DB-A242-0F3E10557264}"/>
            </c:ext>
          </c:extLst>
        </c:ser>
        <c:dLbls>
          <c:showLegendKey val="0"/>
          <c:showVal val="0"/>
          <c:showCatName val="0"/>
          <c:showSerName val="0"/>
          <c:showPercent val="0"/>
          <c:showBubbleSize val="0"/>
          <c:showLeaderLines val="0"/>
        </c:dLbls>
        <c:firstSliceAng val="0"/>
      </c:pieChart>
      <c:spPr>
        <a:noFill/>
        <a:ln>
          <a:noFill/>
        </a:ln>
        <a:effectLst/>
      </c:spPr>
    </c:plotArea>
    <c:legend>
      <c:legendPos val="b"/>
      <c:overlay val="0"/>
      <c:txPr>
        <a:bodyPr/>
        <a:lstStyle/>
        <a:p>
          <a:pPr>
            <a:defRPr sz="1100">
              <a:latin typeface="Calibri"/>
              <a:cs typeface="Calibri"/>
            </a:defRPr>
          </a:pPr>
          <a:endParaRPr lang="en-US"/>
        </a:p>
      </c:txPr>
    </c:legend>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ES"/>
  <c:roundedCorners val="1"/>
  <c:style val="2"/>
  <c:chart>
    <c:title>
      <c:tx>
        <c:rich>
          <a:bodyPr/>
          <a:lstStyle/>
          <a:p>
            <a:pPr>
              <a:defRPr sz="1200" b="0" i="0" u="none" strike="noStrike">
                <a:solidFill>
                  <a:srgbClr val="1E2761"/>
                </a:solidFill>
                <a:latin typeface="Calibri"/>
              </a:defRPr>
            </a:pPr>
            <a:r>
              <a:rPr lang="es-MX" sz="1200" b="0" i="0" u="none" strike="noStrike">
                <a:solidFill>
                  <a:srgbClr val="1E2761"/>
                </a:solidFill>
                <a:latin typeface="Calibri"/>
              </a:rPr>
              <a:t>% de clientes que cayó en mora DENTRO de cada grupo</a:t>
            </a:r>
          </a:p>
        </c:rich>
      </c:tx>
      <c:overlay val="0"/>
    </c:title>
    <c:autoTitleDeleted val="0"/>
    <c:plotArea>
      <c:layout/>
      <c:barChart>
        <c:barDir val="col"/>
        <c:grouping val="clustered"/>
        <c:varyColors val="0"/>
        <c:ser>
          <c:idx val="0"/>
          <c:order val="0"/>
          <c:tx>
            <c:strRef>
              <c:f>Sheet1!$B$1</c:f>
              <c:strCache>
                <c:ptCount val="1"/>
                <c:pt idx="0">
                  <c:v>Tasa de mora (%)</c:v>
                </c:pt>
              </c:strCache>
            </c:strRef>
          </c:tx>
          <c:spPr>
            <a:solidFill>
              <a:srgbClr val="1E2761"/>
            </a:solidFill>
            <a:effectLst/>
          </c:spPr>
          <c:invertIfNegative val="0"/>
          <c:dPt>
            <c:idx val="0"/>
            <c:invertIfNegative val="0"/>
            <c:bubble3D val="0"/>
            <c:extLst>
              <c:ext xmlns:c16="http://schemas.microsoft.com/office/drawing/2014/chart" uri="{C3380CC4-5D6E-409C-BE32-E72D297353CC}">
                <c16:uniqueId val="{00000001-9273-42B4-92BC-FA7F31770028}"/>
              </c:ext>
            </c:extLst>
          </c:dPt>
          <c:dPt>
            <c:idx val="1"/>
            <c:invertIfNegative val="0"/>
            <c:bubble3D val="0"/>
            <c:spPr>
              <a:solidFill>
                <a:srgbClr val="B33A3A"/>
              </a:solidFill>
              <a:effectLst/>
            </c:spPr>
            <c:extLst>
              <c:ext xmlns:c16="http://schemas.microsoft.com/office/drawing/2014/chart" uri="{C3380CC4-5D6E-409C-BE32-E72D297353CC}">
                <c16:uniqueId val="{00000003-9273-42B4-92BC-FA7F31770028}"/>
              </c:ext>
            </c:extLst>
          </c:dPt>
          <c:dLbls>
            <c:numFmt formatCode="0.0&quot;%&quot;" sourceLinked="0"/>
            <c:spPr>
              <a:noFill/>
              <a:ln>
                <a:noFill/>
              </a:ln>
              <a:effectLst/>
            </c:spPr>
            <c:txPr>
              <a:bodyPr/>
              <a:lstStyle/>
              <a:p>
                <a:pPr>
                  <a:defRPr sz="1400" b="0" i="0" u="none" strike="noStrike">
                    <a:solidFill>
                      <a:srgbClr val="1E2761"/>
                    </a:solidFill>
                    <a:latin typeface="Calibri"/>
                  </a:defRPr>
                </a:pPr>
                <a:endParaRPr lang="es-CO"/>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Sin mora previa
(10.708 clientes)</c:v>
                </c:pt>
                <c:pt idx="1">
                  <c:v>Con mora previa
(55 clientes)</c:v>
                </c:pt>
              </c:strCache>
            </c:strRef>
          </c:cat>
          <c:val>
            <c:numRef>
              <c:f>Sheet1!$B$2:$B$3</c:f>
              <c:numCache>
                <c:formatCode>General</c:formatCode>
                <c:ptCount val="2"/>
                <c:pt idx="0">
                  <c:v>4.59</c:v>
                </c:pt>
                <c:pt idx="1">
                  <c:v>36.36</c:v>
                </c:pt>
              </c:numCache>
            </c:numRef>
          </c:val>
          <c:extLst>
            <c:ext xmlns:c16="http://schemas.microsoft.com/office/drawing/2014/chart" uri="{C3380CC4-5D6E-409C-BE32-E72D297353CC}">
              <c16:uniqueId val="{00000004-9273-42B4-92BC-FA7F31770028}"/>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A5F73"/>
                </a:solidFill>
                <a:latin typeface="Calibri"/>
              </a:defRPr>
            </a:pPr>
            <a:endParaRPr lang="en-US"/>
          </a:p>
        </c:txPr>
        <c:crossAx val="2094734552"/>
        <c:crosses val="autoZero"/>
        <c:auto val="1"/>
        <c:lblAlgn val="ctr"/>
        <c:lblOffset val="100"/>
        <c:noMultiLvlLbl val="1"/>
      </c:catAx>
      <c:valAx>
        <c:axId val="2094734552"/>
        <c:scaling>
          <c:orientation val="minMax"/>
          <c:max val="42"/>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ES"/>
  <c:roundedCorners val="1"/>
  <c:style val="2"/>
  <c:chart>
    <c:title>
      <c:tx>
        <c:rich>
          <a:bodyPr/>
          <a:lstStyle/>
          <a:p>
            <a:pPr>
              <a:defRPr sz="1400" b="0" i="0" u="none" strike="noStrike">
                <a:solidFill>
                  <a:srgbClr val="1E2761"/>
                </a:solidFill>
                <a:latin typeface="Calibri"/>
              </a:defRPr>
            </a:pPr>
            <a:r>
              <a:rPr lang="es-MX" sz="1400" b="0" i="0" u="none" strike="noStrike">
                <a:solidFill>
                  <a:srgbClr val="1E2761"/>
                </a:solidFill>
                <a:latin typeface="Calibri"/>
              </a:rPr>
              <a:t>% de créditos que cayó en mora DENTRO de cada tipo (n = tamaño del grupo)</a:t>
            </a:r>
          </a:p>
        </c:rich>
      </c:tx>
      <c:overlay val="0"/>
    </c:title>
    <c:autoTitleDeleted val="0"/>
    <c:plotArea>
      <c:layout/>
      <c:barChart>
        <c:barDir val="col"/>
        <c:grouping val="clustered"/>
        <c:varyColors val="0"/>
        <c:ser>
          <c:idx val="0"/>
          <c:order val="0"/>
          <c:tx>
            <c:strRef>
              <c:f>Sheet1!$B$1</c:f>
              <c:strCache>
                <c:ptCount val="1"/>
                <c:pt idx="0">
                  <c:v>Tasa de mora (%)</c:v>
                </c:pt>
              </c:strCache>
            </c:strRef>
          </c:tx>
          <c:spPr>
            <a:solidFill>
              <a:srgbClr val="B33A3A"/>
            </a:solidFill>
            <a:effectLst/>
          </c:spPr>
          <c:invertIfNegative val="0"/>
          <c:dPt>
            <c:idx val="0"/>
            <c:invertIfNegative val="0"/>
            <c:bubble3D val="0"/>
            <c:extLst>
              <c:ext xmlns:c16="http://schemas.microsoft.com/office/drawing/2014/chart" uri="{C3380CC4-5D6E-409C-BE32-E72D297353CC}">
                <c16:uniqueId val="{00000001-7572-4146-91DC-6BBD757EA26B}"/>
              </c:ext>
            </c:extLst>
          </c:dPt>
          <c:dPt>
            <c:idx val="1"/>
            <c:invertIfNegative val="0"/>
            <c:bubble3D val="0"/>
            <c:spPr>
              <a:solidFill>
                <a:srgbClr val="1E2761"/>
              </a:solidFill>
              <a:effectLst/>
            </c:spPr>
            <c:extLst>
              <c:ext xmlns:c16="http://schemas.microsoft.com/office/drawing/2014/chart" uri="{C3380CC4-5D6E-409C-BE32-E72D297353CC}">
                <c16:uniqueId val="{00000003-7572-4146-91DC-6BBD757EA26B}"/>
              </c:ext>
            </c:extLst>
          </c:dPt>
          <c:dPt>
            <c:idx val="2"/>
            <c:invertIfNegative val="0"/>
            <c:bubble3D val="0"/>
            <c:spPr>
              <a:solidFill>
                <a:srgbClr val="1E2761"/>
              </a:solidFill>
              <a:effectLst/>
            </c:spPr>
            <c:extLst>
              <c:ext xmlns:c16="http://schemas.microsoft.com/office/drawing/2014/chart" uri="{C3380CC4-5D6E-409C-BE32-E72D297353CC}">
                <c16:uniqueId val="{00000005-7572-4146-91DC-6BBD757EA26B}"/>
              </c:ext>
            </c:extLst>
          </c:dPt>
          <c:dPt>
            <c:idx val="3"/>
            <c:invertIfNegative val="0"/>
            <c:bubble3D val="0"/>
            <c:spPr>
              <a:solidFill>
                <a:srgbClr val="1E2761"/>
              </a:solidFill>
              <a:effectLst/>
            </c:spPr>
            <c:extLst>
              <c:ext xmlns:c16="http://schemas.microsoft.com/office/drawing/2014/chart" uri="{C3380CC4-5D6E-409C-BE32-E72D297353CC}">
                <c16:uniqueId val="{00000007-7572-4146-91DC-6BBD757EA26B}"/>
              </c:ext>
            </c:extLst>
          </c:dPt>
          <c:dLbls>
            <c:numFmt formatCode="0.0&quot;%&quot;" sourceLinked="0"/>
            <c:spPr>
              <a:noFill/>
              <a:ln>
                <a:noFill/>
              </a:ln>
              <a:effectLst/>
            </c:spPr>
            <c:txPr>
              <a:bodyPr/>
              <a:lstStyle/>
              <a:p>
                <a:pPr>
                  <a:defRPr sz="1200" b="0" i="0" u="none" strike="noStrike">
                    <a:solidFill>
                      <a:srgbClr val="1E2761"/>
                    </a:solidFill>
                    <a:latin typeface="Calibri"/>
                  </a:defRPr>
                </a:pPr>
                <a:endParaRPr lang="es-CO"/>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Tipo 6
(n=21)</c:v>
                </c:pt>
                <c:pt idx="1">
                  <c:v>Tipo 9
(n=2,876)</c:v>
                </c:pt>
                <c:pt idx="2">
                  <c:v>Tipo 4
(n=7,747)</c:v>
                </c:pt>
                <c:pt idx="3">
                  <c:v>Tipo 10
(n=116)</c:v>
                </c:pt>
              </c:strCache>
            </c:strRef>
          </c:cat>
          <c:val>
            <c:numRef>
              <c:f>Sheet1!$B$2:$B$5</c:f>
              <c:numCache>
                <c:formatCode>General</c:formatCode>
                <c:ptCount val="4"/>
                <c:pt idx="0">
                  <c:v>42.86</c:v>
                </c:pt>
                <c:pt idx="1">
                  <c:v>4.7300000000000004</c:v>
                </c:pt>
                <c:pt idx="2">
                  <c:v>4.6900000000000004</c:v>
                </c:pt>
                <c:pt idx="3">
                  <c:v>2.59</c:v>
                </c:pt>
              </c:numCache>
            </c:numRef>
          </c:val>
          <c:extLst>
            <c:ext xmlns:c16="http://schemas.microsoft.com/office/drawing/2014/chart" uri="{C3380CC4-5D6E-409C-BE32-E72D297353CC}">
              <c16:uniqueId val="{00000008-7572-4146-91DC-6BBD757EA26B}"/>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50" b="0" i="0" u="none" strike="noStrike">
                <a:solidFill>
                  <a:srgbClr val="5A5F73"/>
                </a:solidFill>
                <a:latin typeface="Calibri"/>
              </a:defRPr>
            </a:pPr>
            <a:endParaRPr lang="en-US"/>
          </a:p>
        </c:txPr>
        <c:crossAx val="2094734552"/>
        <c:crosses val="autoZero"/>
        <c:auto val="1"/>
        <c:lblAlgn val="ctr"/>
        <c:lblOffset val="100"/>
        <c:noMultiLvlLbl val="1"/>
      </c:catAx>
      <c:valAx>
        <c:axId val="2094734552"/>
        <c:scaling>
          <c:orientation val="minMax"/>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ES"/>
  <c:roundedCorners val="1"/>
  <c:style val="2"/>
  <c:chart>
    <c:title>
      <c:tx>
        <c:rich>
          <a:bodyPr/>
          <a:lstStyle/>
          <a:p>
            <a:pPr>
              <a:defRPr sz="1100" b="0" i="0" u="none" strike="noStrike">
                <a:solidFill>
                  <a:srgbClr val="5A5F73"/>
                </a:solidFill>
                <a:latin typeface="Calibri"/>
              </a:defRPr>
            </a:pPr>
            <a:r>
              <a:rPr lang="es-MX" sz="1100" b="0" i="0" u="none" strike="noStrike">
                <a:solidFill>
                  <a:srgbClr val="5A5F73"/>
                </a:solidFill>
                <a:latin typeface="Calibri"/>
              </a:rPr>
              <a:t>Correlación absoluta con Pago_atiempo   (0 = sin relación lineal  ·  1 = relación perfecta)</a:t>
            </a:r>
          </a:p>
        </c:rich>
      </c:tx>
      <c:overlay val="0"/>
    </c:title>
    <c:autoTitleDeleted val="0"/>
    <c:plotArea>
      <c:layout/>
      <c:barChart>
        <c:barDir val="bar"/>
        <c:grouping val="clustered"/>
        <c:varyColors val="0"/>
        <c:ser>
          <c:idx val="0"/>
          <c:order val="0"/>
          <c:tx>
            <c:strRef>
              <c:f>Sheet1!$B$1</c:f>
              <c:strCache>
                <c:ptCount val="1"/>
                <c:pt idx="0">
                  <c:v>Correlación absoluta con Pago_atiempo</c:v>
                </c:pt>
              </c:strCache>
            </c:strRef>
          </c:tx>
          <c:spPr>
            <a:solidFill>
              <a:srgbClr val="B33A3A"/>
            </a:solidFill>
            <a:effectLst/>
          </c:spPr>
          <c:invertIfNegative val="0"/>
          <c:dPt>
            <c:idx val="0"/>
            <c:invertIfNegative val="0"/>
            <c:bubble3D val="0"/>
            <c:extLst>
              <c:ext xmlns:c16="http://schemas.microsoft.com/office/drawing/2014/chart" uri="{C3380CC4-5D6E-409C-BE32-E72D297353CC}">
                <c16:uniqueId val="{00000001-D9A0-425F-AA78-529B4F13E171}"/>
              </c:ext>
            </c:extLst>
          </c:dPt>
          <c:dPt>
            <c:idx val="1"/>
            <c:invertIfNegative val="0"/>
            <c:bubble3D val="0"/>
            <c:extLst>
              <c:ext xmlns:c16="http://schemas.microsoft.com/office/drawing/2014/chart" uri="{C3380CC4-5D6E-409C-BE32-E72D297353CC}">
                <c16:uniqueId val="{00000003-D9A0-425F-AA78-529B4F13E171}"/>
              </c:ext>
            </c:extLst>
          </c:dPt>
          <c:dPt>
            <c:idx val="2"/>
            <c:invertIfNegative val="0"/>
            <c:bubble3D val="0"/>
            <c:extLst>
              <c:ext xmlns:c16="http://schemas.microsoft.com/office/drawing/2014/chart" uri="{C3380CC4-5D6E-409C-BE32-E72D297353CC}">
                <c16:uniqueId val="{00000005-D9A0-425F-AA78-529B4F13E171}"/>
              </c:ext>
            </c:extLst>
          </c:dPt>
          <c:dPt>
            <c:idx val="3"/>
            <c:invertIfNegative val="0"/>
            <c:bubble3D val="0"/>
            <c:spPr>
              <a:solidFill>
                <a:srgbClr val="1E2761"/>
              </a:solidFill>
              <a:effectLst/>
            </c:spPr>
            <c:extLst>
              <c:ext xmlns:c16="http://schemas.microsoft.com/office/drawing/2014/chart" uri="{C3380CC4-5D6E-409C-BE32-E72D297353CC}">
                <c16:uniqueId val="{00000007-D9A0-425F-AA78-529B4F13E171}"/>
              </c:ext>
            </c:extLst>
          </c:dPt>
          <c:dPt>
            <c:idx val="4"/>
            <c:invertIfNegative val="0"/>
            <c:bubble3D val="0"/>
            <c:spPr>
              <a:solidFill>
                <a:srgbClr val="1E2761"/>
              </a:solidFill>
              <a:effectLst/>
            </c:spPr>
            <c:extLst>
              <c:ext xmlns:c16="http://schemas.microsoft.com/office/drawing/2014/chart" uri="{C3380CC4-5D6E-409C-BE32-E72D297353CC}">
                <c16:uniqueId val="{00000009-D9A0-425F-AA78-529B4F13E171}"/>
              </c:ext>
            </c:extLst>
          </c:dPt>
          <c:dPt>
            <c:idx val="5"/>
            <c:invertIfNegative val="0"/>
            <c:bubble3D val="0"/>
            <c:spPr>
              <a:solidFill>
                <a:srgbClr val="1E2761"/>
              </a:solidFill>
              <a:effectLst/>
            </c:spPr>
            <c:extLst>
              <c:ext xmlns:c16="http://schemas.microsoft.com/office/drawing/2014/chart" uri="{C3380CC4-5D6E-409C-BE32-E72D297353CC}">
                <c16:uniqueId val="{0000000B-D9A0-425F-AA78-529B4F13E171}"/>
              </c:ext>
            </c:extLst>
          </c:dPt>
          <c:dPt>
            <c:idx val="6"/>
            <c:invertIfNegative val="0"/>
            <c:bubble3D val="0"/>
            <c:spPr>
              <a:solidFill>
                <a:srgbClr val="1E2761"/>
              </a:solidFill>
              <a:effectLst/>
            </c:spPr>
            <c:extLst>
              <c:ext xmlns:c16="http://schemas.microsoft.com/office/drawing/2014/chart" uri="{C3380CC4-5D6E-409C-BE32-E72D297353CC}">
                <c16:uniqueId val="{0000000D-D9A0-425F-AA78-529B4F13E171}"/>
              </c:ext>
            </c:extLst>
          </c:dPt>
          <c:dPt>
            <c:idx val="7"/>
            <c:invertIfNegative val="0"/>
            <c:bubble3D val="0"/>
            <c:spPr>
              <a:solidFill>
                <a:srgbClr val="1E2761"/>
              </a:solidFill>
              <a:effectLst/>
            </c:spPr>
            <c:extLst>
              <c:ext xmlns:c16="http://schemas.microsoft.com/office/drawing/2014/chart" uri="{C3380CC4-5D6E-409C-BE32-E72D297353CC}">
                <c16:uniqueId val="{0000000F-D9A0-425F-AA78-529B4F13E171}"/>
              </c:ext>
            </c:extLst>
          </c:dPt>
          <c:dLbls>
            <c:numFmt formatCode="0.000" sourceLinked="0"/>
            <c:spPr>
              <a:noFill/>
              <a:ln>
                <a:noFill/>
              </a:ln>
              <a:effectLst/>
            </c:spPr>
            <c:txPr>
              <a:bodyPr/>
              <a:lstStyle/>
              <a:p>
                <a:pPr>
                  <a:defRPr sz="1050" b="0" i="0" u="none" strike="noStrike">
                    <a:solidFill>
                      <a:srgbClr val="1E2761"/>
                    </a:solidFill>
                    <a:latin typeface="Calibri"/>
                  </a:defRPr>
                </a:pPr>
                <a:endParaRPr lang="es-CO"/>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puntaje_datacredito (depurado)</c:v>
                </c:pt>
                <c:pt idx="1">
                  <c:v>tiene_mora_previa</c:v>
                </c:pt>
                <c:pt idx="2">
                  <c:v>consultas_por_credito</c:v>
                </c:pt>
                <c:pt idx="3">
                  <c:v>huella_consulta</c:v>
                </c:pt>
                <c:pt idx="4">
                  <c:v>saldo_mora</c:v>
                </c:pt>
                <c:pt idx="5">
                  <c:v>plazo_meses</c:v>
                </c:pt>
                <c:pt idx="6">
                  <c:v>edad_cliente</c:v>
                </c:pt>
                <c:pt idx="7">
                  <c:v>capital_prestado</c:v>
                </c:pt>
              </c:strCache>
            </c:strRef>
          </c:cat>
          <c:val>
            <c:numRef>
              <c:f>Sheet1!$B$2:$B$9</c:f>
              <c:numCache>
                <c:formatCode>General</c:formatCode>
                <c:ptCount val="8"/>
                <c:pt idx="0">
                  <c:v>0.121</c:v>
                </c:pt>
                <c:pt idx="1">
                  <c:v>0.107</c:v>
                </c:pt>
                <c:pt idx="2">
                  <c:v>7.6999999999999999E-2</c:v>
                </c:pt>
                <c:pt idx="3">
                  <c:v>7.3999999999999996E-2</c:v>
                </c:pt>
                <c:pt idx="4">
                  <c:v>7.2999999999999995E-2</c:v>
                </c:pt>
                <c:pt idx="5">
                  <c:v>6.3E-2</c:v>
                </c:pt>
                <c:pt idx="6">
                  <c:v>5.1999999999999998E-2</c:v>
                </c:pt>
                <c:pt idx="7">
                  <c:v>4.1000000000000002E-2</c:v>
                </c:pt>
              </c:numCache>
            </c:numRef>
          </c:val>
          <c:extLst>
            <c:ext xmlns:c16="http://schemas.microsoft.com/office/drawing/2014/chart" uri="{C3380CC4-5D6E-409C-BE32-E72D297353CC}">
              <c16:uniqueId val="{00000010-D9A0-425F-AA78-529B4F13E171}"/>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50" b="0" i="0" u="none" strike="noStrike">
                <a:solidFill>
                  <a:srgbClr val="5A5F73"/>
                </a:solidFill>
                <a:latin typeface="Calibri"/>
              </a:defRPr>
            </a:pPr>
            <a:endParaRPr lang="en-US"/>
          </a:p>
        </c:txPr>
        <c:crossAx val="2094734552"/>
        <c:crosses val="autoZero"/>
        <c:auto val="1"/>
        <c:lblAlgn val="ctr"/>
        <c:lblOffset val="100"/>
        <c:noMultiLvlLbl val="1"/>
      </c:catAx>
      <c:valAx>
        <c:axId val="2094734552"/>
        <c:scaling>
          <c:orientation val="minMax"/>
        </c:scaling>
        <c:delete val="1"/>
        <c:axPos val="b"/>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ES"/>
  <c:roundedCorners val="1"/>
  <c:style val="2"/>
  <c:chart>
    <c:title>
      <c:tx>
        <c:rich>
          <a:bodyPr/>
          <a:lstStyle/>
          <a:p>
            <a:pPr>
              <a:defRPr sz="1300" b="0" i="0" u="none" strike="noStrike">
                <a:solidFill>
                  <a:srgbClr val="1E2761"/>
                </a:solidFill>
                <a:latin typeface="Calibri"/>
              </a:defRPr>
            </a:pPr>
            <a:r>
              <a:rPr lang="es-CO" sz="1300" b="0" i="0" u="none" strike="noStrike">
                <a:solidFill>
                  <a:srgbClr val="1E2761"/>
                </a:solidFill>
                <a:latin typeface="Calibri"/>
              </a:rPr>
              <a:t>Tasa de mora por tipo laboral (%)</a:t>
            </a:r>
          </a:p>
        </c:rich>
      </c:tx>
      <c:overlay val="0"/>
    </c:title>
    <c:autoTitleDeleted val="0"/>
    <c:plotArea>
      <c:layout/>
      <c:barChart>
        <c:barDir val="col"/>
        <c:grouping val="clustered"/>
        <c:varyColors val="0"/>
        <c:ser>
          <c:idx val="0"/>
          <c:order val="0"/>
          <c:tx>
            <c:strRef>
              <c:f>Sheet1!$B$1</c:f>
              <c:strCache>
                <c:ptCount val="1"/>
                <c:pt idx="0">
                  <c:v>Tasa de mora (%)</c:v>
                </c:pt>
              </c:strCache>
            </c:strRef>
          </c:tx>
          <c:spPr>
            <a:solidFill>
              <a:srgbClr val="1E2761"/>
            </a:solidFill>
            <a:effectLst/>
          </c:spPr>
          <c:invertIfNegative val="0"/>
          <c:dPt>
            <c:idx val="0"/>
            <c:invertIfNegative val="0"/>
            <c:bubble3D val="0"/>
            <c:extLst>
              <c:ext xmlns:c16="http://schemas.microsoft.com/office/drawing/2014/chart" uri="{C3380CC4-5D6E-409C-BE32-E72D297353CC}">
                <c16:uniqueId val="{00000001-630E-44CD-9B26-7A455AB4F378}"/>
              </c:ext>
            </c:extLst>
          </c:dPt>
          <c:dPt>
            <c:idx val="1"/>
            <c:invertIfNegative val="0"/>
            <c:bubble3D val="0"/>
            <c:spPr>
              <a:solidFill>
                <a:srgbClr val="5C77B8"/>
              </a:solidFill>
              <a:effectLst/>
            </c:spPr>
            <c:extLst>
              <c:ext xmlns:c16="http://schemas.microsoft.com/office/drawing/2014/chart" uri="{C3380CC4-5D6E-409C-BE32-E72D297353CC}">
                <c16:uniqueId val="{00000003-630E-44CD-9B26-7A455AB4F378}"/>
              </c:ext>
            </c:extLst>
          </c:dPt>
          <c:dLbls>
            <c:numFmt formatCode="0.00&quot;%&quot;" sourceLinked="0"/>
            <c:spPr>
              <a:noFill/>
              <a:ln>
                <a:noFill/>
              </a:ln>
              <a:effectLst/>
            </c:spPr>
            <c:txPr>
              <a:bodyPr/>
              <a:lstStyle/>
              <a:p>
                <a:pPr>
                  <a:defRPr sz="1200" b="0" i="0" u="none" strike="noStrike">
                    <a:solidFill>
                      <a:srgbClr val="1E2761"/>
                    </a:solidFill>
                    <a:latin typeface="Calibri"/>
                  </a:defRPr>
                </a:pPr>
                <a:endParaRPr lang="es-CO"/>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Empleado (n=6,754)</c:v>
                </c:pt>
                <c:pt idx="1">
                  <c:v>Independiente (n=4,009)</c:v>
                </c:pt>
              </c:strCache>
            </c:strRef>
          </c:cat>
          <c:val>
            <c:numRef>
              <c:f>Sheet1!$B$2:$B$3</c:f>
              <c:numCache>
                <c:formatCode>General</c:formatCode>
                <c:ptCount val="2"/>
                <c:pt idx="0">
                  <c:v>4.29</c:v>
                </c:pt>
                <c:pt idx="1">
                  <c:v>5.51</c:v>
                </c:pt>
              </c:numCache>
            </c:numRef>
          </c:val>
          <c:extLst>
            <c:ext xmlns:c16="http://schemas.microsoft.com/office/drawing/2014/chart" uri="{C3380CC4-5D6E-409C-BE32-E72D297353CC}">
              <c16:uniqueId val="{00000004-630E-44CD-9B26-7A455AB4F378}"/>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A5F73"/>
                </a:solidFill>
                <a:latin typeface="Calibri"/>
              </a:defRPr>
            </a:pPr>
            <a:endParaRPr lang="en-US"/>
          </a:p>
        </c:txPr>
        <c:crossAx val="2094734552"/>
        <c:crosses val="autoZero"/>
        <c:auto val="1"/>
        <c:lblAlgn val="ctr"/>
        <c:lblOffset val="100"/>
        <c:noMultiLvlLbl val="1"/>
      </c:catAx>
      <c:valAx>
        <c:axId val="2094734552"/>
        <c:scaling>
          <c:orientation val="minMax"/>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22878182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Bienvenida. Contexto: soy candidato a Científico de Datos Junior, se me entregó una base de datos de créditos sin diccionario de datos, y el objetivo es presentar los insights más valiosos para el negocio en 15 minutos, dirigidos tanto a un perfil técnico como a un perfil de negocio.</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diapositiva resume todo el análisis en 30 segundos, para quien solo se lleve una idea de la reunión. El resto de la presentación desarrolla cada uno de estos puntos con evidencia.</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un ejercicio real de EDA: nos entregaron el DataFrame crudo, sin diccionario, así que la primera tarea fue investigar el negocio (central de riesgo Datacrédito) para entender cada variable con criterio propio.</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diccionario no es documentación decorativa: definirlo formalmente permitió detectar tres errores metodológicos que estaban en el análisis y produjo dos hallazgos nuevos.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es la ficha concreta de las variables. Aquí se ve el rango válido del score (150-950), que es el que permitió detectar los 153 registros inválidos.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insights principales no cambiaron porque se calcularon con groupby, el método correcto. Lo que falló fueron los análisis numéricos automáticos y las reglas de validación.</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Seguimos un flujo estándar de ciencia de datos: primero entender antes de limpiar, y limpiar antes de analizar en profundidad. Cada decisión de limpieza se investigó con evidencia antes de aplicarse.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Sin estas correcciones, cualquier análisis posterior habría partido de datos falsos: edades de 122 años, salarios de miles de millones, y una variable de tendencia de ingresos parcialmente corrupta.</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punto es crítico para el equipo técnico: cualquier modelo que se entrene después debe manejar este desbalance explícitamente, y cualquier métrica de éxito debe evitar la exactitud simple.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 el hallazgo con mayor valor accionable: un cliente que ya está en mora en otro producto tiene casi 8 veces más probabilidad de incumplir este crédito. Recomendación directa: usarlo como criterio de alerta temprana.</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el líder de negocio: vale la pena preguntar qué representa el tipo de crédito 6 y por qué concentra tanto riesgo, antes de invertir en un modelo — puede ser un problema de política de originación.</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Mensaje para el técnico: esto justifica no intentar reglas de negocio simplistas de una sola variable, y sí invertir en un modelo que capture interacciones entre variables.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Valida la inversión en feature engineering: construir variables con lógica de negocio (mora previa, intensidad de consultas) rindió más que los ratios financieros tradicionales, cuyo cálculo se vio afectado por los salarios imputados.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análisis multivariado usa las técnicas pedidas: matriz de correlación, pairplot con hue, dispersión entre numéricas y tablas cruzadas. No se aplicó reducción de dimensionalidad porque corresponde a la fase de Feature Engineering.</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Estos son hallazgos secundarios pero útiles: la diferencia laboral es moderada, y la bimodalidad del score sugiere segmentar el análisis por historial crediticio en fases futuras.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 importante ser transparente con estas limitaciones frente al líder técnico: ninguna es motivo para descartar los hallazgos, pero sí para validarlos antes de tomar decisiones de alto impacto.</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Cierro la parte de insights con acciones concretas: no solo 'qué encontramos', sino 'qué hacer con esto'.</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análisis es la base para las siguientes fases del proyecto: feature engineering formal, modelado predictivo, despliegue y monitoreo continuo.</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Cierro invitando a preguntas, y menciono que todo el proceso (código, commits, decisiones documentadas) está disponible en el repositorio para su revisión.</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chart" Target="../charts/chart5.xml"/><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a:effectLst/>
      </p:bgPr>
    </p:bg>
    <p:spTree>
      <p:nvGrpSpPr>
        <p:cNvPr id="1" name=""/>
        <p:cNvGrpSpPr/>
        <p:nvPr/>
      </p:nvGrpSpPr>
      <p:grpSpPr>
        <a:xfrm>
          <a:off x="0" y="0"/>
          <a:ext cx="0" cy="0"/>
          <a:chOff x="0" y="0"/>
          <a:chExt cx="0" cy="0"/>
        </a:xfrm>
      </p:grpSpPr>
      <p:sp>
        <p:nvSpPr>
          <p:cNvPr id="2" name="Text 0"/>
          <p:cNvSpPr/>
          <p:nvPr/>
        </p:nvSpPr>
        <p:spPr>
          <a:xfrm>
            <a:off x="822960" y="1965960"/>
            <a:ext cx="10515600" cy="457200"/>
          </a:xfrm>
          <a:prstGeom prst="rect">
            <a:avLst/>
          </a:prstGeom>
          <a:noFill/>
          <a:ln/>
        </p:spPr>
        <p:txBody>
          <a:bodyPr wrap="square" lIns="0" tIns="0" rIns="0" bIns="0" rtlCol="0" anchor="ctr"/>
          <a:lstStyle/>
          <a:p>
            <a:pPr marL="0" indent="0">
              <a:buNone/>
            </a:pPr>
            <a:r>
              <a:rPr lang="en-US" sz="1500" b="1" kern="0" spc="300" dirty="0">
                <a:solidFill>
                  <a:srgbClr val="CADCFC"/>
                </a:solidFill>
                <a:latin typeface="Calibri" pitchFamily="34" charset="0"/>
                <a:ea typeface="Calibri" pitchFamily="34" charset="-122"/>
                <a:cs typeface="Calibri" pitchFamily="34" charset="-120"/>
              </a:rPr>
              <a:t>ANÁLISIS DE RIESGO CREDITICIO</a:t>
            </a:r>
            <a:endParaRPr lang="en-US" sz="1500" dirty="0"/>
          </a:p>
        </p:txBody>
      </p:sp>
      <p:sp>
        <p:nvSpPr>
          <p:cNvPr id="3" name="Text 1"/>
          <p:cNvSpPr/>
          <p:nvPr/>
        </p:nvSpPr>
        <p:spPr>
          <a:xfrm>
            <a:off x="822960" y="2423160"/>
            <a:ext cx="10515600" cy="1188720"/>
          </a:xfrm>
          <a:prstGeom prst="rect">
            <a:avLst/>
          </a:prstGeom>
          <a:noFill/>
          <a:ln/>
        </p:spPr>
        <p:txBody>
          <a:bodyPr wrap="square" lIns="0" tIns="0" rIns="0" bIns="0" rtlCol="0" anchor="ctr"/>
          <a:lstStyle/>
          <a:p>
            <a:pPr marL="0" indent="0">
              <a:buNone/>
            </a:pPr>
            <a:r>
              <a:rPr lang="en-US" sz="4200" b="1" dirty="0">
                <a:solidFill>
                  <a:srgbClr val="FFFFFF"/>
                </a:solidFill>
                <a:latin typeface="Cambria" pitchFamily="34" charset="0"/>
                <a:ea typeface="Cambria" pitchFamily="34" charset="-122"/>
                <a:cs typeface="Cambria" pitchFamily="34" charset="-120"/>
              </a:rPr>
              <a:t>Hallazgos clave del análisis exploratorio de datos</a:t>
            </a:r>
            <a:endParaRPr lang="en-US" sz="4200" dirty="0"/>
          </a:p>
        </p:txBody>
      </p:sp>
      <p:sp>
        <p:nvSpPr>
          <p:cNvPr id="4" name="Text 2"/>
          <p:cNvSpPr/>
          <p:nvPr/>
        </p:nvSpPr>
        <p:spPr>
          <a:xfrm>
            <a:off x="822960" y="3520440"/>
            <a:ext cx="10515600" cy="457200"/>
          </a:xfrm>
          <a:prstGeom prst="rect">
            <a:avLst/>
          </a:prstGeom>
          <a:noFill/>
          <a:ln/>
        </p:spPr>
        <p:txBody>
          <a:bodyPr wrap="square" lIns="0" tIns="0" rIns="0" bIns="0" rtlCol="0" anchor="ctr"/>
          <a:lstStyle/>
          <a:p>
            <a:pPr marL="0" indent="0">
              <a:buNone/>
            </a:pPr>
            <a:r>
              <a:rPr lang="en-US" sz="1600" i="1" dirty="0">
                <a:solidFill>
                  <a:srgbClr val="CADCFC"/>
                </a:solidFill>
                <a:latin typeface="Calibri" pitchFamily="34" charset="0"/>
                <a:ea typeface="Calibri" pitchFamily="34" charset="-122"/>
                <a:cs typeface="Calibri" pitchFamily="34" charset="-120"/>
              </a:rPr>
              <a:t>Entregable 2 · Ciencia de Datos en Producción</a:t>
            </a:r>
            <a:endParaRPr lang="en-US" sz="1600" dirty="0"/>
          </a:p>
        </p:txBody>
      </p:sp>
      <p:sp>
        <p:nvSpPr>
          <p:cNvPr id="5" name="Shape 3"/>
          <p:cNvSpPr/>
          <p:nvPr/>
        </p:nvSpPr>
        <p:spPr>
          <a:xfrm>
            <a:off x="822960" y="4160520"/>
            <a:ext cx="2011680" cy="0"/>
          </a:xfrm>
          <a:prstGeom prst="line">
            <a:avLst/>
          </a:prstGeom>
          <a:noFill/>
          <a:ln w="38100">
            <a:solidFill>
              <a:srgbClr val="B33A3A"/>
            </a:solidFill>
            <a:prstDash val="solid"/>
          </a:ln>
        </p:spPr>
        <p:txBody>
          <a:bodyPr/>
          <a:lstStyle/>
          <a:p>
            <a:endParaRPr lang="es-CO"/>
          </a:p>
        </p:txBody>
      </p:sp>
      <p:sp>
        <p:nvSpPr>
          <p:cNvPr id="6" name="Text 4"/>
          <p:cNvSpPr/>
          <p:nvPr/>
        </p:nvSpPr>
        <p:spPr>
          <a:xfrm>
            <a:off x="822960" y="5989320"/>
            <a:ext cx="8229600" cy="365760"/>
          </a:xfrm>
          <a:prstGeom prst="rect">
            <a:avLst/>
          </a:prstGeom>
          <a:noFill/>
          <a:ln/>
        </p:spPr>
        <p:txBody>
          <a:bodyPr wrap="square" lIns="0" tIns="0" rIns="0" bIns="0" rtlCol="0" anchor="ctr"/>
          <a:lstStyle/>
          <a:p>
            <a:pPr marL="0" indent="0">
              <a:buNone/>
            </a:pPr>
            <a:r>
              <a:rPr lang="en-US" sz="1200" dirty="0">
                <a:solidFill>
                  <a:srgbClr val="CADCFC"/>
                </a:solidFill>
                <a:latin typeface="Calibri" pitchFamily="34" charset="0"/>
                <a:ea typeface="Calibri" pitchFamily="34" charset="-122"/>
                <a:cs typeface="Calibri" pitchFamily="34" charset="-120"/>
              </a:rPr>
              <a:t>CAMILO ANDRES ARMENTA PEDROZO  ·  Ciencia de Datos en Producción</a:t>
            </a:r>
            <a:endParaRPr lang="en-US" sz="1200" dirty="0"/>
          </a:p>
        </p:txBody>
      </p:sp>
      <p:sp>
        <p:nvSpPr>
          <p:cNvPr id="7" name="Text 5"/>
          <p:cNvSpPr/>
          <p:nvPr/>
        </p:nvSpPr>
        <p:spPr>
          <a:xfrm>
            <a:off x="10058400" y="5943600"/>
            <a:ext cx="1463040" cy="457200"/>
          </a:xfrm>
          <a:prstGeom prst="rect">
            <a:avLst/>
          </a:prstGeom>
          <a:noFill/>
          <a:ln/>
        </p:spPr>
        <p:txBody>
          <a:bodyPr wrap="square" lIns="0" tIns="0" rIns="0" bIns="0" rtlCol="0" anchor="ctr"/>
          <a:lstStyle/>
          <a:p>
            <a:pPr marL="0" indent="0" algn="r">
              <a:buNone/>
            </a:pPr>
            <a:r>
              <a:rPr lang="en-US" sz="1400" b="1" dirty="0">
                <a:solidFill>
                  <a:srgbClr val="FFFFFF"/>
                </a:solidFill>
                <a:latin typeface="Calibri" pitchFamily="34" charset="0"/>
                <a:ea typeface="Calibri" pitchFamily="34" charset="-122"/>
                <a:cs typeface="Calibri" pitchFamily="34" charset="-120"/>
              </a:rPr>
              <a:t>15 min</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48640" y="411480"/>
            <a:ext cx="9144000" cy="320040"/>
          </a:xfrm>
          <a:prstGeom prst="rect">
            <a:avLst/>
          </a:prstGeom>
          <a:noFill/>
          <a:ln/>
        </p:spPr>
        <p:txBody>
          <a:bodyPr wrap="square" lIns="0" tIns="0" rIns="0" bIns="0" rtlCol="0" anchor="ctr"/>
          <a:lstStyle/>
          <a:p>
            <a:pPr marL="0" indent="0">
              <a:buNone/>
            </a:pPr>
            <a:r>
              <a:rPr lang="en-US" sz="1300" b="1" kern="0" spc="200" dirty="0">
                <a:solidFill>
                  <a:srgbClr val="B33A3A"/>
                </a:solidFill>
                <a:latin typeface="Calibri" pitchFamily="34" charset="0"/>
                <a:ea typeface="Calibri" pitchFamily="34" charset="-122"/>
                <a:cs typeface="Calibri" pitchFamily="34" charset="-120"/>
              </a:rPr>
              <a:t>EN UNA VISTA</a:t>
            </a:r>
            <a:endParaRPr lang="en-US" sz="1300" dirty="0"/>
          </a:p>
        </p:txBody>
      </p:sp>
      <p:sp>
        <p:nvSpPr>
          <p:cNvPr id="3" name="Text 1"/>
          <p:cNvSpPr/>
          <p:nvPr/>
        </p:nvSpPr>
        <p:spPr>
          <a:xfrm>
            <a:off x="548640" y="713232"/>
            <a:ext cx="10789920" cy="822960"/>
          </a:xfrm>
          <a:prstGeom prst="rect">
            <a:avLst/>
          </a:prstGeom>
          <a:noFill/>
          <a:ln/>
        </p:spPr>
        <p:txBody>
          <a:bodyPr wrap="square" lIns="0" tIns="0" rIns="0" bIns="0"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Resumen general</a:t>
            </a:r>
            <a:endParaRPr lang="en-US" sz="3000" dirty="0"/>
          </a:p>
        </p:txBody>
      </p:sp>
      <p:sp>
        <p:nvSpPr>
          <p:cNvPr id="4" name="Shape 2"/>
          <p:cNvSpPr/>
          <p:nvPr/>
        </p:nvSpPr>
        <p:spPr>
          <a:xfrm>
            <a:off x="548640" y="1965960"/>
            <a:ext cx="3520440" cy="2377440"/>
          </a:xfrm>
          <a:prstGeom prst="roundRect">
            <a:avLst>
              <a:gd name="adj" fmla="val 3846"/>
            </a:avLst>
          </a:prstGeom>
          <a:solidFill>
            <a:srgbClr val="1E2761"/>
          </a:solidFill>
          <a:ln/>
          <a:effectLst>
            <a:outerShdw blurRad="76200" dist="25400" dir="5400000" algn="bl" rotWithShape="0">
              <a:srgbClr val="000000">
                <a:alpha val="10000"/>
              </a:srgbClr>
            </a:outerShdw>
          </a:effectLst>
        </p:spPr>
        <p:txBody>
          <a:bodyPr/>
          <a:lstStyle/>
          <a:p>
            <a:endParaRPr lang="es-CO"/>
          </a:p>
        </p:txBody>
      </p:sp>
      <p:sp>
        <p:nvSpPr>
          <p:cNvPr id="5" name="Text 3"/>
          <p:cNvSpPr/>
          <p:nvPr/>
        </p:nvSpPr>
        <p:spPr>
          <a:xfrm>
            <a:off x="822960" y="2286000"/>
            <a:ext cx="2971800" cy="822960"/>
          </a:xfrm>
          <a:prstGeom prst="rect">
            <a:avLst/>
          </a:prstGeom>
          <a:noFill/>
          <a:ln/>
        </p:spPr>
        <p:txBody>
          <a:bodyPr wrap="square" lIns="0" tIns="0" rIns="0" bIns="0" rtlCol="0" anchor="ctr"/>
          <a:lstStyle/>
          <a:p>
            <a:pPr marL="0" indent="0">
              <a:buNone/>
            </a:pPr>
            <a:r>
              <a:rPr lang="en-US" sz="4000" b="1" dirty="0">
                <a:solidFill>
                  <a:srgbClr val="FFFFFF"/>
                </a:solidFill>
                <a:latin typeface="Cambria" pitchFamily="34" charset="0"/>
                <a:ea typeface="Cambria" pitchFamily="34" charset="-122"/>
                <a:cs typeface="Cambria" pitchFamily="34" charset="-120"/>
              </a:rPr>
              <a:t>8x</a:t>
            </a:r>
            <a:endParaRPr lang="en-US" sz="4000" dirty="0"/>
          </a:p>
        </p:txBody>
      </p:sp>
      <p:sp>
        <p:nvSpPr>
          <p:cNvPr id="6" name="Text 4"/>
          <p:cNvSpPr/>
          <p:nvPr/>
        </p:nvSpPr>
        <p:spPr>
          <a:xfrm>
            <a:off x="822960" y="3200400"/>
            <a:ext cx="2971800" cy="1005840"/>
          </a:xfrm>
          <a:prstGeom prst="rect">
            <a:avLst/>
          </a:prstGeom>
          <a:noFill/>
          <a:ln/>
        </p:spPr>
        <p:txBody>
          <a:bodyPr wrap="square" lIns="0" tIns="0" rIns="0" bIns="0" rtlCol="0" anchor="t"/>
          <a:lstStyle/>
          <a:p>
            <a:pPr marL="0" indent="0">
              <a:lnSpc>
                <a:spcPct val="120000"/>
              </a:lnSpc>
              <a:buNone/>
            </a:pPr>
            <a:r>
              <a:rPr lang="en-US" sz="1300" dirty="0">
                <a:solidFill>
                  <a:srgbClr val="CADCFC"/>
                </a:solidFill>
                <a:latin typeface="Calibri" pitchFamily="34" charset="0"/>
                <a:ea typeface="Calibri" pitchFamily="34" charset="-122"/>
                <a:cs typeface="Calibri" pitchFamily="34" charset="-120"/>
              </a:rPr>
              <a:t>más riesgo de mora si el cliente ya registraba saldo en mora (36,4% vs 4,6%)</a:t>
            </a:r>
            <a:endParaRPr lang="en-US" sz="1300" dirty="0"/>
          </a:p>
        </p:txBody>
      </p:sp>
      <p:sp>
        <p:nvSpPr>
          <p:cNvPr id="7" name="Shape 5"/>
          <p:cNvSpPr/>
          <p:nvPr/>
        </p:nvSpPr>
        <p:spPr>
          <a:xfrm>
            <a:off x="4343400" y="1965960"/>
            <a:ext cx="3520440" cy="2377440"/>
          </a:xfrm>
          <a:prstGeom prst="roundRect">
            <a:avLst>
              <a:gd name="adj" fmla="val 3846"/>
            </a:avLst>
          </a:prstGeom>
          <a:solidFill>
            <a:srgbClr val="F4F7FC"/>
          </a:solidFill>
          <a:ln/>
          <a:effectLst>
            <a:outerShdw blurRad="76200" dist="25400" dir="5400000" algn="bl" rotWithShape="0">
              <a:srgbClr val="000000">
                <a:alpha val="10000"/>
              </a:srgbClr>
            </a:outerShdw>
          </a:effectLst>
        </p:spPr>
        <p:txBody>
          <a:bodyPr/>
          <a:lstStyle/>
          <a:p>
            <a:endParaRPr lang="es-CO"/>
          </a:p>
        </p:txBody>
      </p:sp>
      <p:sp>
        <p:nvSpPr>
          <p:cNvPr id="8" name="Text 6"/>
          <p:cNvSpPr/>
          <p:nvPr/>
        </p:nvSpPr>
        <p:spPr>
          <a:xfrm>
            <a:off x="4617720" y="2286000"/>
            <a:ext cx="2971800" cy="822960"/>
          </a:xfrm>
          <a:prstGeom prst="rect">
            <a:avLst/>
          </a:prstGeom>
          <a:noFill/>
          <a:ln/>
        </p:spPr>
        <p:txBody>
          <a:bodyPr wrap="square" lIns="0" tIns="0" rIns="0" bIns="0" rtlCol="0" anchor="ctr"/>
          <a:lstStyle/>
          <a:p>
            <a:pPr marL="0" indent="0">
              <a:buNone/>
            </a:pPr>
            <a:r>
              <a:rPr lang="en-US" sz="4000" b="1" dirty="0">
                <a:solidFill>
                  <a:srgbClr val="B33A3A"/>
                </a:solidFill>
                <a:latin typeface="Cambria" pitchFamily="34" charset="0"/>
                <a:ea typeface="Cambria" pitchFamily="34" charset="-122"/>
                <a:cs typeface="Cambria" pitchFamily="34" charset="-120"/>
              </a:rPr>
              <a:t>42,9%</a:t>
            </a:r>
            <a:endParaRPr lang="en-US" sz="4000" dirty="0"/>
          </a:p>
        </p:txBody>
      </p:sp>
      <p:sp>
        <p:nvSpPr>
          <p:cNvPr id="9" name="Text 7"/>
          <p:cNvSpPr/>
          <p:nvPr/>
        </p:nvSpPr>
        <p:spPr>
          <a:xfrm>
            <a:off x="4617720" y="3200400"/>
            <a:ext cx="2971800" cy="1005840"/>
          </a:xfrm>
          <a:prstGeom prst="rect">
            <a:avLst/>
          </a:prstGeom>
          <a:noFill/>
          <a:ln/>
        </p:spPr>
        <p:txBody>
          <a:bodyPr wrap="square" lIns="0" tIns="0" rIns="0" bIns="0" rtlCol="0" anchor="t"/>
          <a:lstStyle/>
          <a:p>
            <a:pPr marL="0" indent="0">
              <a:lnSpc>
                <a:spcPct val="120000"/>
              </a:lnSpc>
              <a:buNone/>
            </a:pPr>
            <a:r>
              <a:rPr lang="en-US" sz="1300" dirty="0">
                <a:solidFill>
                  <a:srgbClr val="5A5F73"/>
                </a:solidFill>
                <a:latin typeface="Calibri" pitchFamily="34" charset="0"/>
                <a:ea typeface="Calibri" pitchFamily="34" charset="-122"/>
                <a:cs typeface="Calibri" pitchFamily="34" charset="-120"/>
              </a:rPr>
              <a:t>de los 21 créditos del tipo 6 cayó en mora (promedio general: 4,75%)</a:t>
            </a:r>
            <a:endParaRPr lang="en-US" sz="1300" dirty="0"/>
          </a:p>
        </p:txBody>
      </p:sp>
      <p:sp>
        <p:nvSpPr>
          <p:cNvPr id="10" name="Shape 8"/>
          <p:cNvSpPr/>
          <p:nvPr/>
        </p:nvSpPr>
        <p:spPr>
          <a:xfrm>
            <a:off x="8138160" y="1965960"/>
            <a:ext cx="3520440" cy="2377440"/>
          </a:xfrm>
          <a:prstGeom prst="roundRect">
            <a:avLst>
              <a:gd name="adj" fmla="val 3846"/>
            </a:avLst>
          </a:prstGeom>
          <a:solidFill>
            <a:srgbClr val="F4F7FC"/>
          </a:solidFill>
          <a:ln/>
          <a:effectLst>
            <a:outerShdw blurRad="76200" dist="25400" dir="5400000" algn="bl" rotWithShape="0">
              <a:srgbClr val="000000">
                <a:alpha val="10000"/>
              </a:srgbClr>
            </a:outerShdw>
          </a:effectLst>
        </p:spPr>
        <p:txBody>
          <a:bodyPr/>
          <a:lstStyle/>
          <a:p>
            <a:endParaRPr lang="es-CO"/>
          </a:p>
        </p:txBody>
      </p:sp>
      <p:sp>
        <p:nvSpPr>
          <p:cNvPr id="11" name="Text 9"/>
          <p:cNvSpPr/>
          <p:nvPr/>
        </p:nvSpPr>
        <p:spPr>
          <a:xfrm>
            <a:off x="8412480" y="2286000"/>
            <a:ext cx="2971800" cy="822960"/>
          </a:xfrm>
          <a:prstGeom prst="rect">
            <a:avLst/>
          </a:prstGeom>
          <a:noFill/>
          <a:ln/>
        </p:spPr>
        <p:txBody>
          <a:bodyPr wrap="square" lIns="0" tIns="0" rIns="0" bIns="0" rtlCol="0" anchor="ctr"/>
          <a:lstStyle/>
          <a:p>
            <a:pPr marL="0" indent="0">
              <a:buNone/>
            </a:pPr>
            <a:r>
              <a:rPr lang="en-US" sz="4000" b="1" dirty="0">
                <a:solidFill>
                  <a:srgbClr val="B33A3A"/>
                </a:solidFill>
                <a:latin typeface="Cambria" pitchFamily="34" charset="0"/>
                <a:ea typeface="Cambria" pitchFamily="34" charset="-122"/>
                <a:cs typeface="Cambria" pitchFamily="34" charset="-120"/>
              </a:rPr>
              <a:t>2.930</a:t>
            </a:r>
            <a:endParaRPr lang="en-US" sz="4000" dirty="0"/>
          </a:p>
        </p:txBody>
      </p:sp>
      <p:sp>
        <p:nvSpPr>
          <p:cNvPr id="12" name="Text 10"/>
          <p:cNvSpPr/>
          <p:nvPr/>
        </p:nvSpPr>
        <p:spPr>
          <a:xfrm>
            <a:off x="8412480" y="3200400"/>
            <a:ext cx="2971800" cy="1005840"/>
          </a:xfrm>
          <a:prstGeom prst="rect">
            <a:avLst/>
          </a:prstGeom>
          <a:noFill/>
          <a:ln/>
        </p:spPr>
        <p:txBody>
          <a:bodyPr wrap="square" lIns="0" tIns="0" rIns="0" bIns="0" rtlCol="0" anchor="t"/>
          <a:lstStyle/>
          <a:p>
            <a:pPr marL="0" indent="0">
              <a:lnSpc>
                <a:spcPct val="120000"/>
              </a:lnSpc>
              <a:buNone/>
            </a:pPr>
            <a:r>
              <a:rPr lang="en-US" sz="1300" dirty="0">
                <a:solidFill>
                  <a:srgbClr val="5A5F73"/>
                </a:solidFill>
                <a:latin typeface="Calibri" pitchFamily="34" charset="0"/>
                <a:ea typeface="Calibri" pitchFamily="34" charset="-122"/>
                <a:cs typeface="Calibri" pitchFamily="34" charset="-120"/>
              </a:rPr>
              <a:t>clientes sin reporte de ingresos en el buró: 5,73% de mora frente a 4,38%</a:t>
            </a:r>
            <a:endParaRPr lang="en-US" sz="1300" dirty="0"/>
          </a:p>
        </p:txBody>
      </p:sp>
      <p:sp>
        <p:nvSpPr>
          <p:cNvPr id="13" name="Shape 11"/>
          <p:cNvSpPr/>
          <p:nvPr/>
        </p:nvSpPr>
        <p:spPr>
          <a:xfrm>
            <a:off x="548640" y="4617720"/>
            <a:ext cx="11064240" cy="1051560"/>
          </a:xfrm>
          <a:prstGeom prst="roundRect">
            <a:avLst>
              <a:gd name="adj" fmla="val 6957"/>
            </a:avLst>
          </a:prstGeom>
          <a:solidFill>
            <a:srgbClr val="F4F7FC"/>
          </a:solidFill>
          <a:ln/>
        </p:spPr>
        <p:txBody>
          <a:bodyPr/>
          <a:lstStyle/>
          <a:p>
            <a:endParaRPr lang="es-CO"/>
          </a:p>
        </p:txBody>
      </p:sp>
      <p:sp>
        <p:nvSpPr>
          <p:cNvPr id="14" name="Text 12"/>
          <p:cNvSpPr/>
          <p:nvPr/>
        </p:nvSpPr>
        <p:spPr>
          <a:xfrm>
            <a:off x="777240" y="4754880"/>
            <a:ext cx="10607040" cy="822960"/>
          </a:xfrm>
          <a:prstGeom prst="rect">
            <a:avLst/>
          </a:prstGeom>
          <a:noFill/>
          <a:ln/>
        </p:spPr>
        <p:txBody>
          <a:bodyPr wrap="square" lIns="0" tIns="0" rIns="0" bIns="0" rtlCol="0" anchor="ctr"/>
          <a:lstStyle/>
          <a:p>
            <a:pPr marL="0" indent="0">
              <a:lnSpc>
                <a:spcPct val="120000"/>
              </a:lnSpc>
              <a:buNone/>
            </a:pPr>
            <a:r>
              <a:rPr lang="en-US" sz="1300" b="1" dirty="0">
                <a:solidFill>
                  <a:srgbClr val="1E2761"/>
                </a:solidFill>
                <a:latin typeface="Calibri" pitchFamily="34" charset="0"/>
                <a:ea typeface="Calibri" pitchFamily="34" charset="-122"/>
                <a:cs typeface="Calibri" pitchFamily="34" charset="-120"/>
              </a:rPr>
              <a:t>El mensaje central: </a:t>
            </a:r>
            <a:r>
              <a:rPr lang="en-US" sz="1300" dirty="0">
                <a:solidFill>
                  <a:srgbClr val="5A5F73"/>
                </a:solidFill>
                <a:latin typeface="Calibri" pitchFamily="34" charset="0"/>
                <a:ea typeface="Calibri" pitchFamily="34" charset="-122"/>
                <a:cs typeface="Calibri" pitchFamily="34" charset="-120"/>
              </a:rPr>
              <a:t>al depurar los 153 scores inválidos, la correlación de puntaje_datacredito con la mora pasó de 0,068 a 0,121 (+78%). Y por bandas de score la tasa de mora va de 64% a 2,9%: la correlación lineal subestima la señal.</a:t>
            </a:r>
            <a:endParaRPr lang="en-US" sz="1300" dirty="0"/>
          </a:p>
        </p:txBody>
      </p:sp>
      <p:sp>
        <p:nvSpPr>
          <p:cNvPr id="15" name="Text 13"/>
          <p:cNvSpPr/>
          <p:nvPr/>
        </p:nvSpPr>
        <p:spPr>
          <a:xfrm>
            <a:off x="457200" y="6446520"/>
            <a:ext cx="5486400" cy="274320"/>
          </a:xfrm>
          <a:prstGeom prst="rect">
            <a:avLst/>
          </a:prstGeom>
          <a:noFill/>
          <a:ln/>
        </p:spPr>
        <p:txBody>
          <a:bodyPr wrap="square" lIns="0" tIns="0" rIns="0" bIns="0" rtlCol="0" anchor="ctr"/>
          <a:lstStyle/>
          <a:p>
            <a:pPr marL="0" indent="0">
              <a:buNone/>
            </a:pPr>
            <a:r>
              <a:rPr lang="en-US" sz="1000" dirty="0">
                <a:solidFill>
                  <a:srgbClr val="8A8FA3"/>
                </a:solidFill>
                <a:latin typeface="Calibri" pitchFamily="34" charset="0"/>
                <a:ea typeface="Calibri" pitchFamily="34" charset="-122"/>
                <a:cs typeface="Calibri" pitchFamily="34" charset="-120"/>
              </a:rPr>
              <a:t>Análisis de Riesgo Crediticio</a:t>
            </a:r>
            <a:endParaRPr lang="en-US" sz="1000" dirty="0"/>
          </a:p>
        </p:txBody>
      </p:sp>
      <p:sp>
        <p:nvSpPr>
          <p:cNvPr id="16" name="Text 14"/>
          <p:cNvSpPr/>
          <p:nvPr/>
        </p:nvSpPr>
        <p:spPr>
          <a:xfrm>
            <a:off x="11247120" y="6446520"/>
            <a:ext cx="457200" cy="274320"/>
          </a:xfrm>
          <a:prstGeom prst="rect">
            <a:avLst/>
          </a:prstGeom>
          <a:noFill/>
          <a:ln/>
        </p:spPr>
        <p:txBody>
          <a:bodyPr wrap="square" lIns="0" tIns="0" rIns="0" bIns="0" rtlCol="0" anchor="ctr"/>
          <a:lstStyle/>
          <a:p>
            <a:pPr marL="0" indent="0" algn="r">
              <a:buNone/>
            </a:pPr>
            <a:r>
              <a:rPr lang="en-US" sz="1000" dirty="0">
                <a:solidFill>
                  <a:srgbClr val="8A8FA3"/>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48640" y="411480"/>
            <a:ext cx="9144000" cy="320040"/>
          </a:xfrm>
          <a:prstGeom prst="rect">
            <a:avLst/>
          </a:prstGeom>
          <a:noFill/>
          <a:ln/>
        </p:spPr>
        <p:txBody>
          <a:bodyPr wrap="square" lIns="0" tIns="0" rIns="0" bIns="0" rtlCol="0" anchor="ctr"/>
          <a:lstStyle/>
          <a:p>
            <a:pPr marL="0" indent="0">
              <a:buNone/>
            </a:pPr>
            <a:r>
              <a:rPr lang="en-US" sz="1300" b="1" kern="0" spc="200" dirty="0">
                <a:solidFill>
                  <a:srgbClr val="B33A3A"/>
                </a:solidFill>
                <a:latin typeface="Calibri" pitchFamily="34" charset="0"/>
                <a:ea typeface="Calibri" pitchFamily="34" charset="-122"/>
                <a:cs typeface="Calibri" pitchFamily="34" charset="-120"/>
              </a:rPr>
              <a:t>CONTEXTO</a:t>
            </a:r>
            <a:endParaRPr lang="en-US" sz="1300" dirty="0"/>
          </a:p>
        </p:txBody>
      </p:sp>
      <p:sp>
        <p:nvSpPr>
          <p:cNvPr id="3" name="Text 1"/>
          <p:cNvSpPr/>
          <p:nvPr/>
        </p:nvSpPr>
        <p:spPr>
          <a:xfrm>
            <a:off x="548640" y="713232"/>
            <a:ext cx="10789920" cy="822960"/>
          </a:xfrm>
          <a:prstGeom prst="rect">
            <a:avLst/>
          </a:prstGeom>
          <a:noFill/>
          <a:ln/>
        </p:spPr>
        <p:txBody>
          <a:bodyPr wrap="square" lIns="0" tIns="0" rIns="0" bIns="0"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El reto de negocio</a:t>
            </a:r>
            <a:endParaRPr lang="en-US" sz="3000" dirty="0"/>
          </a:p>
        </p:txBody>
      </p:sp>
      <p:sp>
        <p:nvSpPr>
          <p:cNvPr id="4" name="Text 2"/>
          <p:cNvSpPr/>
          <p:nvPr/>
        </p:nvSpPr>
        <p:spPr>
          <a:xfrm>
            <a:off x="548640" y="1783080"/>
            <a:ext cx="6400800" cy="1371600"/>
          </a:xfrm>
          <a:prstGeom prst="rect">
            <a:avLst/>
          </a:prstGeom>
          <a:noFill/>
          <a:ln/>
        </p:spPr>
        <p:txBody>
          <a:bodyPr wrap="square" lIns="0" tIns="0" rIns="0" bIns="0" rtlCol="0" anchor="t"/>
          <a:lstStyle/>
          <a:p>
            <a:pPr marL="0" indent="0">
              <a:lnSpc>
                <a:spcPct val="125000"/>
              </a:lnSpc>
              <a:buNone/>
            </a:pPr>
            <a:r>
              <a:rPr lang="en-US" sz="1550" dirty="0">
                <a:solidFill>
                  <a:srgbClr val="5A5F73"/>
                </a:solidFill>
                <a:latin typeface="Calibri" pitchFamily="34" charset="0"/>
                <a:ea typeface="Calibri" pitchFamily="34" charset="-122"/>
                <a:cs typeface="Calibri" pitchFamily="34" charset="-120"/>
              </a:rPr>
              <a:t>Una empresa financiera entrega una base de datos con información del crédito, del cliente y del comportamiento de pago (a tiempo o en mora). El objetivo: generar insights valiosos para la organización y comunicarlos de forma clara para la toma de decisiones.</a:t>
            </a:r>
            <a:endParaRPr lang="en-US" sz="1550" dirty="0"/>
          </a:p>
        </p:txBody>
      </p:sp>
      <p:sp>
        <p:nvSpPr>
          <p:cNvPr id="5" name="Shape 3"/>
          <p:cNvSpPr/>
          <p:nvPr/>
        </p:nvSpPr>
        <p:spPr>
          <a:xfrm>
            <a:off x="548640" y="3291840"/>
            <a:ext cx="6400800" cy="1097280"/>
          </a:xfrm>
          <a:prstGeom prst="roundRect">
            <a:avLst>
              <a:gd name="adj" fmla="val 6667"/>
            </a:avLst>
          </a:prstGeom>
          <a:solidFill>
            <a:srgbClr val="F4F7FC"/>
          </a:solidFill>
          <a:ln/>
        </p:spPr>
        <p:txBody>
          <a:bodyPr/>
          <a:lstStyle/>
          <a:p>
            <a:endParaRPr lang="es-CO"/>
          </a:p>
        </p:txBody>
      </p:sp>
      <p:sp>
        <p:nvSpPr>
          <p:cNvPr id="6" name="Text 4"/>
          <p:cNvSpPr/>
          <p:nvPr/>
        </p:nvSpPr>
        <p:spPr>
          <a:xfrm>
            <a:off x="777240" y="3429000"/>
            <a:ext cx="5943600" cy="822960"/>
          </a:xfrm>
          <a:prstGeom prst="rect">
            <a:avLst/>
          </a:prstGeom>
          <a:noFill/>
          <a:ln/>
        </p:spPr>
        <p:txBody>
          <a:bodyPr wrap="square" lIns="0" tIns="0" rIns="0" bIns="0" rtlCol="0" anchor="ctr"/>
          <a:lstStyle/>
          <a:p>
            <a:pPr marL="0" indent="0">
              <a:buNone/>
            </a:pPr>
            <a:r>
              <a:rPr lang="en-US" sz="1400" b="1" dirty="0">
                <a:solidFill>
                  <a:srgbClr val="1E2761"/>
                </a:solidFill>
                <a:latin typeface="Calibri" pitchFamily="34" charset="0"/>
                <a:ea typeface="Calibri" pitchFamily="34" charset="-122"/>
                <a:cs typeface="Calibri" pitchFamily="34" charset="-120"/>
              </a:rPr>
              <a:t>Periodo de los datos: </a:t>
            </a:r>
            <a:r>
              <a:rPr lang="en-US" sz="1400" dirty="0">
                <a:solidFill>
                  <a:srgbClr val="5A5F73"/>
                </a:solidFill>
                <a:latin typeface="Calibri" pitchFamily="34" charset="0"/>
                <a:ea typeface="Calibri" pitchFamily="34" charset="-122"/>
                <a:cs typeface="Calibri" pitchFamily="34" charset="-120"/>
              </a:rPr>
              <a:t>noviembre de 2024 a abril de 2026</a:t>
            </a:r>
            <a:endParaRPr lang="en-US" sz="1400" dirty="0"/>
          </a:p>
        </p:txBody>
      </p:sp>
      <p:sp>
        <p:nvSpPr>
          <p:cNvPr id="7" name="Shape 5"/>
          <p:cNvSpPr/>
          <p:nvPr/>
        </p:nvSpPr>
        <p:spPr>
          <a:xfrm>
            <a:off x="548640" y="4526280"/>
            <a:ext cx="6400800" cy="1188720"/>
          </a:xfrm>
          <a:prstGeom prst="roundRect">
            <a:avLst>
              <a:gd name="adj" fmla="val 6154"/>
            </a:avLst>
          </a:prstGeom>
          <a:solidFill>
            <a:srgbClr val="FBEAEA"/>
          </a:solidFill>
          <a:ln/>
        </p:spPr>
        <p:txBody>
          <a:bodyPr/>
          <a:lstStyle/>
          <a:p>
            <a:endParaRPr lang="es-CO"/>
          </a:p>
        </p:txBody>
      </p:sp>
      <p:sp>
        <p:nvSpPr>
          <p:cNvPr id="8" name="Text 6"/>
          <p:cNvSpPr/>
          <p:nvPr/>
        </p:nvSpPr>
        <p:spPr>
          <a:xfrm>
            <a:off x="777240" y="4663440"/>
            <a:ext cx="5943600" cy="914400"/>
          </a:xfrm>
          <a:prstGeom prst="rect">
            <a:avLst/>
          </a:prstGeom>
          <a:noFill/>
          <a:ln/>
        </p:spPr>
        <p:txBody>
          <a:bodyPr wrap="square" lIns="0" tIns="0" rIns="0" bIns="0" rtlCol="0" anchor="ctr"/>
          <a:lstStyle/>
          <a:p>
            <a:pPr marL="0" indent="0">
              <a:lnSpc>
                <a:spcPct val="120000"/>
              </a:lnSpc>
              <a:buNone/>
            </a:pPr>
            <a:r>
              <a:rPr lang="en-US" sz="1300" b="1" dirty="0">
                <a:solidFill>
                  <a:srgbClr val="B33A3A"/>
                </a:solidFill>
                <a:latin typeface="Calibri" pitchFamily="34" charset="0"/>
                <a:ea typeface="Calibri" pitchFamily="34" charset="-122"/>
                <a:cs typeface="Calibri" pitchFamily="34" charset="-120"/>
              </a:rPr>
              <a:t>Sin diccionario de datos. </a:t>
            </a:r>
            <a:r>
              <a:rPr lang="en-US" sz="1300" dirty="0">
                <a:solidFill>
                  <a:srgbClr val="5A5F73"/>
                </a:solidFill>
                <a:latin typeface="Calibri" pitchFamily="34" charset="0"/>
                <a:ea typeface="Calibri" pitchFamily="34" charset="-122"/>
                <a:cs typeface="Calibri" pitchFamily="34" charset="-120"/>
              </a:rPr>
              <a:t>La entidad no entregó documentación de las variables: su significado, tipo y rango válido se investigaron y construyeron durante este análisis.</a:t>
            </a:r>
            <a:endParaRPr lang="en-US" sz="1300" dirty="0"/>
          </a:p>
        </p:txBody>
      </p:sp>
      <p:sp>
        <p:nvSpPr>
          <p:cNvPr id="9" name="Shape 7"/>
          <p:cNvSpPr/>
          <p:nvPr/>
        </p:nvSpPr>
        <p:spPr>
          <a:xfrm>
            <a:off x="7406640" y="1783080"/>
            <a:ext cx="4206240" cy="1188720"/>
          </a:xfrm>
          <a:prstGeom prst="roundRect">
            <a:avLst>
              <a:gd name="adj" fmla="val 6154"/>
            </a:avLst>
          </a:prstGeom>
          <a:solidFill>
            <a:srgbClr val="F4F7FC"/>
          </a:solidFill>
          <a:ln/>
          <a:effectLst>
            <a:outerShdw blurRad="76200" dist="25400" dir="5400000" algn="bl" rotWithShape="0">
              <a:srgbClr val="000000">
                <a:alpha val="12000"/>
              </a:srgbClr>
            </a:outerShdw>
          </a:effectLst>
        </p:spPr>
        <p:txBody>
          <a:bodyPr/>
          <a:lstStyle/>
          <a:p>
            <a:endParaRPr lang="es-CO"/>
          </a:p>
        </p:txBody>
      </p:sp>
      <p:sp>
        <p:nvSpPr>
          <p:cNvPr id="10" name="Text 8"/>
          <p:cNvSpPr/>
          <p:nvPr/>
        </p:nvSpPr>
        <p:spPr>
          <a:xfrm>
            <a:off x="7635240" y="1892808"/>
            <a:ext cx="2011680" cy="960120"/>
          </a:xfrm>
          <a:prstGeom prst="rect">
            <a:avLst/>
          </a:prstGeom>
          <a:noFill/>
          <a:ln/>
        </p:spPr>
        <p:txBody>
          <a:bodyPr wrap="square" lIns="0" tIns="0" rIns="0" bIns="0" rtlCol="0" anchor="ctr"/>
          <a:lstStyle/>
          <a:p>
            <a:pPr marL="0" indent="0">
              <a:buNone/>
            </a:pPr>
            <a:r>
              <a:rPr lang="en-US" sz="3400" b="1" dirty="0">
                <a:solidFill>
                  <a:srgbClr val="1E2761"/>
                </a:solidFill>
                <a:latin typeface="Cambria" pitchFamily="34" charset="0"/>
                <a:ea typeface="Cambria" pitchFamily="34" charset="-122"/>
                <a:cs typeface="Cambria" pitchFamily="34" charset="-120"/>
              </a:rPr>
              <a:t>10.763</a:t>
            </a:r>
            <a:endParaRPr lang="en-US" sz="3400" dirty="0"/>
          </a:p>
        </p:txBody>
      </p:sp>
      <p:sp>
        <p:nvSpPr>
          <p:cNvPr id="11" name="Text 9"/>
          <p:cNvSpPr/>
          <p:nvPr/>
        </p:nvSpPr>
        <p:spPr>
          <a:xfrm>
            <a:off x="9464040" y="1783080"/>
            <a:ext cx="1965960" cy="1188720"/>
          </a:xfrm>
          <a:prstGeom prst="rect">
            <a:avLst/>
          </a:prstGeom>
          <a:noFill/>
          <a:ln/>
        </p:spPr>
        <p:txBody>
          <a:bodyPr wrap="square" lIns="0" tIns="0" rIns="0" bIns="0" rtlCol="0" anchor="ctr"/>
          <a:lstStyle/>
          <a:p>
            <a:pPr marL="0" indent="0">
              <a:buNone/>
            </a:pPr>
            <a:r>
              <a:rPr lang="en-US" sz="1200" dirty="0">
                <a:solidFill>
                  <a:srgbClr val="5A5F73"/>
                </a:solidFill>
                <a:latin typeface="Calibri" pitchFamily="34" charset="0"/>
                <a:ea typeface="Calibri" pitchFamily="34" charset="-122"/>
                <a:cs typeface="Calibri" pitchFamily="34" charset="-120"/>
              </a:rPr>
              <a:t>créditos analizados</a:t>
            </a:r>
            <a:endParaRPr lang="en-US" sz="1200" dirty="0"/>
          </a:p>
        </p:txBody>
      </p:sp>
      <p:sp>
        <p:nvSpPr>
          <p:cNvPr id="12" name="Shape 10"/>
          <p:cNvSpPr/>
          <p:nvPr/>
        </p:nvSpPr>
        <p:spPr>
          <a:xfrm>
            <a:off x="7406640" y="3200400"/>
            <a:ext cx="4206240" cy="1188720"/>
          </a:xfrm>
          <a:prstGeom prst="roundRect">
            <a:avLst>
              <a:gd name="adj" fmla="val 6154"/>
            </a:avLst>
          </a:prstGeom>
          <a:solidFill>
            <a:srgbClr val="F4F7FC"/>
          </a:solidFill>
          <a:ln/>
          <a:effectLst>
            <a:outerShdw blurRad="76200" dist="25400" dir="5400000" algn="bl" rotWithShape="0">
              <a:srgbClr val="000000">
                <a:alpha val="12000"/>
              </a:srgbClr>
            </a:outerShdw>
          </a:effectLst>
        </p:spPr>
        <p:txBody>
          <a:bodyPr/>
          <a:lstStyle/>
          <a:p>
            <a:endParaRPr lang="es-CO"/>
          </a:p>
        </p:txBody>
      </p:sp>
      <p:sp>
        <p:nvSpPr>
          <p:cNvPr id="13" name="Text 11"/>
          <p:cNvSpPr/>
          <p:nvPr/>
        </p:nvSpPr>
        <p:spPr>
          <a:xfrm>
            <a:off x="7635240" y="3310128"/>
            <a:ext cx="2011680" cy="960120"/>
          </a:xfrm>
          <a:prstGeom prst="rect">
            <a:avLst/>
          </a:prstGeom>
          <a:noFill/>
          <a:ln/>
        </p:spPr>
        <p:txBody>
          <a:bodyPr wrap="square" lIns="0" tIns="0" rIns="0" bIns="0" rtlCol="0" anchor="ctr"/>
          <a:lstStyle/>
          <a:p>
            <a:pPr marL="0" indent="0">
              <a:buNone/>
            </a:pPr>
            <a:r>
              <a:rPr lang="en-US" sz="3400" b="1" dirty="0">
                <a:solidFill>
                  <a:srgbClr val="1E2761"/>
                </a:solidFill>
                <a:latin typeface="Cambria" pitchFamily="34" charset="0"/>
                <a:ea typeface="Cambria" pitchFamily="34" charset="-122"/>
                <a:cs typeface="Cambria" pitchFamily="34" charset="-120"/>
              </a:rPr>
              <a:t>23</a:t>
            </a:r>
            <a:endParaRPr lang="en-US" sz="3400" dirty="0"/>
          </a:p>
        </p:txBody>
      </p:sp>
      <p:sp>
        <p:nvSpPr>
          <p:cNvPr id="14" name="Text 12"/>
          <p:cNvSpPr/>
          <p:nvPr/>
        </p:nvSpPr>
        <p:spPr>
          <a:xfrm>
            <a:off x="9464040" y="3200400"/>
            <a:ext cx="1965960" cy="1188720"/>
          </a:xfrm>
          <a:prstGeom prst="rect">
            <a:avLst/>
          </a:prstGeom>
          <a:noFill/>
          <a:ln/>
        </p:spPr>
        <p:txBody>
          <a:bodyPr wrap="square" lIns="0" tIns="0" rIns="0" bIns="0" rtlCol="0" anchor="ctr"/>
          <a:lstStyle/>
          <a:p>
            <a:pPr marL="0" indent="0">
              <a:buNone/>
            </a:pPr>
            <a:r>
              <a:rPr lang="en-US" sz="1200" dirty="0">
                <a:solidFill>
                  <a:srgbClr val="5A5F73"/>
                </a:solidFill>
                <a:latin typeface="Calibri" pitchFamily="34" charset="0"/>
                <a:ea typeface="Calibri" pitchFamily="34" charset="-122"/>
                <a:cs typeface="Calibri" pitchFamily="34" charset="-120"/>
              </a:rPr>
              <a:t>variables originales</a:t>
            </a:r>
            <a:endParaRPr lang="en-US" sz="1200" dirty="0"/>
          </a:p>
        </p:txBody>
      </p:sp>
      <p:sp>
        <p:nvSpPr>
          <p:cNvPr id="15" name="Shape 13"/>
          <p:cNvSpPr/>
          <p:nvPr/>
        </p:nvSpPr>
        <p:spPr>
          <a:xfrm>
            <a:off x="7406640" y="4617720"/>
            <a:ext cx="4206240" cy="1188720"/>
          </a:xfrm>
          <a:prstGeom prst="roundRect">
            <a:avLst>
              <a:gd name="adj" fmla="val 6154"/>
            </a:avLst>
          </a:prstGeom>
          <a:solidFill>
            <a:srgbClr val="F4F7FC"/>
          </a:solidFill>
          <a:ln/>
          <a:effectLst>
            <a:outerShdw blurRad="76200" dist="25400" dir="5400000" algn="bl" rotWithShape="0">
              <a:srgbClr val="000000">
                <a:alpha val="12000"/>
              </a:srgbClr>
            </a:outerShdw>
          </a:effectLst>
        </p:spPr>
        <p:txBody>
          <a:bodyPr/>
          <a:lstStyle/>
          <a:p>
            <a:endParaRPr lang="es-CO"/>
          </a:p>
        </p:txBody>
      </p:sp>
      <p:sp>
        <p:nvSpPr>
          <p:cNvPr id="16" name="Text 14"/>
          <p:cNvSpPr/>
          <p:nvPr/>
        </p:nvSpPr>
        <p:spPr>
          <a:xfrm>
            <a:off x="7635240" y="4727448"/>
            <a:ext cx="2011680" cy="960120"/>
          </a:xfrm>
          <a:prstGeom prst="rect">
            <a:avLst/>
          </a:prstGeom>
          <a:noFill/>
          <a:ln/>
        </p:spPr>
        <p:txBody>
          <a:bodyPr wrap="square" lIns="0" tIns="0" rIns="0" bIns="0" rtlCol="0" anchor="ctr"/>
          <a:lstStyle/>
          <a:p>
            <a:pPr marL="0" indent="0">
              <a:buNone/>
            </a:pPr>
            <a:r>
              <a:rPr lang="en-US" sz="1700" b="1" dirty="0">
                <a:solidFill>
                  <a:srgbClr val="1E2761"/>
                </a:solidFill>
                <a:latin typeface="Cambria" pitchFamily="34" charset="0"/>
                <a:ea typeface="Cambria" pitchFamily="34" charset="-122"/>
                <a:cs typeface="Cambria" pitchFamily="34" charset="-120"/>
              </a:rPr>
              <a:t>Pago_atiempo</a:t>
            </a:r>
            <a:endParaRPr lang="en-US" sz="1700" dirty="0"/>
          </a:p>
        </p:txBody>
      </p:sp>
      <p:sp>
        <p:nvSpPr>
          <p:cNvPr id="17" name="Text 15"/>
          <p:cNvSpPr/>
          <p:nvPr/>
        </p:nvSpPr>
        <p:spPr>
          <a:xfrm>
            <a:off x="9464040" y="4617720"/>
            <a:ext cx="1965960" cy="1188720"/>
          </a:xfrm>
          <a:prstGeom prst="rect">
            <a:avLst/>
          </a:prstGeom>
          <a:noFill/>
          <a:ln/>
        </p:spPr>
        <p:txBody>
          <a:bodyPr wrap="square" lIns="0" tIns="0" rIns="0" bIns="0" rtlCol="0" anchor="ctr"/>
          <a:lstStyle/>
          <a:p>
            <a:pPr marL="0" indent="0">
              <a:buNone/>
            </a:pPr>
            <a:r>
              <a:rPr lang="en-US" sz="1200" dirty="0">
                <a:solidFill>
                  <a:srgbClr val="5A5F73"/>
                </a:solidFill>
                <a:latin typeface="Calibri" pitchFamily="34" charset="0"/>
                <a:ea typeface="Calibri" pitchFamily="34" charset="-122"/>
                <a:cs typeface="Calibri" pitchFamily="34" charset="-120"/>
              </a:rPr>
              <a:t>variable objetivo (1 = al día, 0 = mora)</a:t>
            </a:r>
            <a:endParaRPr lang="en-US" sz="1200" dirty="0"/>
          </a:p>
        </p:txBody>
      </p:sp>
      <p:sp>
        <p:nvSpPr>
          <p:cNvPr id="18" name="Text 16"/>
          <p:cNvSpPr/>
          <p:nvPr/>
        </p:nvSpPr>
        <p:spPr>
          <a:xfrm>
            <a:off x="457200" y="6446520"/>
            <a:ext cx="5486400" cy="274320"/>
          </a:xfrm>
          <a:prstGeom prst="rect">
            <a:avLst/>
          </a:prstGeom>
          <a:noFill/>
          <a:ln/>
        </p:spPr>
        <p:txBody>
          <a:bodyPr wrap="square" lIns="0" tIns="0" rIns="0" bIns="0" rtlCol="0" anchor="ctr"/>
          <a:lstStyle/>
          <a:p>
            <a:pPr marL="0" indent="0">
              <a:buNone/>
            </a:pPr>
            <a:r>
              <a:rPr lang="en-US" sz="1000" dirty="0">
                <a:solidFill>
                  <a:srgbClr val="8A8FA3"/>
                </a:solidFill>
                <a:latin typeface="Calibri" pitchFamily="34" charset="0"/>
                <a:ea typeface="Calibri" pitchFamily="34" charset="-122"/>
                <a:cs typeface="Calibri" pitchFamily="34" charset="-120"/>
              </a:rPr>
              <a:t>Análisis de Riesgo Crediticio</a:t>
            </a:r>
            <a:endParaRPr lang="en-US" sz="1000" dirty="0"/>
          </a:p>
        </p:txBody>
      </p:sp>
      <p:sp>
        <p:nvSpPr>
          <p:cNvPr id="19" name="Text 17"/>
          <p:cNvSpPr/>
          <p:nvPr/>
        </p:nvSpPr>
        <p:spPr>
          <a:xfrm>
            <a:off x="11247120" y="6446520"/>
            <a:ext cx="457200" cy="274320"/>
          </a:xfrm>
          <a:prstGeom prst="rect">
            <a:avLst/>
          </a:prstGeom>
          <a:noFill/>
          <a:ln/>
        </p:spPr>
        <p:txBody>
          <a:bodyPr wrap="square" lIns="0" tIns="0" rIns="0" bIns="0" rtlCol="0" anchor="ctr"/>
          <a:lstStyle/>
          <a:p>
            <a:pPr marL="0" indent="0" algn="r">
              <a:buNone/>
            </a:pPr>
            <a:r>
              <a:rPr lang="en-US" sz="1000" dirty="0">
                <a:solidFill>
                  <a:srgbClr val="8A8FA3"/>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48640" y="411480"/>
            <a:ext cx="9144000" cy="320040"/>
          </a:xfrm>
          <a:prstGeom prst="rect">
            <a:avLst/>
          </a:prstGeom>
          <a:noFill/>
          <a:ln/>
        </p:spPr>
        <p:txBody>
          <a:bodyPr wrap="square" lIns="0" tIns="0" rIns="0" bIns="0" rtlCol="0" anchor="ctr"/>
          <a:lstStyle/>
          <a:p>
            <a:pPr marL="0" indent="0">
              <a:buNone/>
            </a:pPr>
            <a:r>
              <a:rPr lang="en-US" sz="1300" b="1" kern="0" spc="200" dirty="0">
                <a:solidFill>
                  <a:srgbClr val="B33A3A"/>
                </a:solidFill>
                <a:latin typeface="Calibri" pitchFamily="34" charset="0"/>
                <a:ea typeface="Calibri" pitchFamily="34" charset="-122"/>
                <a:cs typeface="Calibri" pitchFamily="34" charset="-120"/>
              </a:rPr>
              <a:t>INVESTIGACIÓN METODOLÓGICA · BANCA EN COLOMBIA</a:t>
            </a:r>
            <a:endParaRPr lang="en-US" sz="1300" dirty="0"/>
          </a:p>
        </p:txBody>
      </p:sp>
      <p:sp>
        <p:nvSpPr>
          <p:cNvPr id="3" name="Text 1"/>
          <p:cNvSpPr/>
          <p:nvPr/>
        </p:nvSpPr>
        <p:spPr>
          <a:xfrm>
            <a:off x="548640" y="713232"/>
            <a:ext cx="10789920" cy="822960"/>
          </a:xfrm>
          <a:prstGeom prst="rect">
            <a:avLst/>
          </a:prstGeom>
          <a:noFill/>
          <a:ln/>
        </p:spPr>
        <p:txBody>
          <a:bodyPr wrap="square" lIns="0" tIns="0" rIns="0" bIns="0"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El diccionario de datos</a:t>
            </a:r>
            <a:endParaRPr lang="en-US" sz="3000" dirty="0"/>
          </a:p>
        </p:txBody>
      </p:sp>
      <p:sp>
        <p:nvSpPr>
          <p:cNvPr id="4" name="Text 2"/>
          <p:cNvSpPr/>
          <p:nvPr/>
        </p:nvSpPr>
        <p:spPr>
          <a:xfrm>
            <a:off x="548640" y="1600200"/>
            <a:ext cx="11064240" cy="365760"/>
          </a:xfrm>
          <a:prstGeom prst="rect">
            <a:avLst/>
          </a:prstGeom>
          <a:noFill/>
          <a:ln/>
        </p:spPr>
        <p:txBody>
          <a:bodyPr wrap="square" lIns="0" tIns="0" rIns="0" bIns="0" rtlCol="0" anchor="ctr"/>
          <a:lstStyle/>
          <a:p>
            <a:pPr marL="0" indent="0">
              <a:buNone/>
            </a:pPr>
            <a:r>
              <a:rPr lang="en-US" sz="1400" i="1" dirty="0">
                <a:solidFill>
                  <a:srgbClr val="5A5F73"/>
                </a:solidFill>
                <a:latin typeface="Calibri" pitchFamily="34" charset="0"/>
                <a:ea typeface="Calibri" pitchFamily="34" charset="-122"/>
                <a:cs typeface="Calibri" pitchFamily="34" charset="-120"/>
              </a:rPr>
              <a:t>No se entregó diccionario. Construirlo reveló tres errores metodológicos reales.</a:t>
            </a:r>
            <a:endParaRPr lang="en-US" sz="1400" dirty="0"/>
          </a:p>
        </p:txBody>
      </p:sp>
      <p:sp>
        <p:nvSpPr>
          <p:cNvPr id="5" name="Shape 3"/>
          <p:cNvSpPr/>
          <p:nvPr/>
        </p:nvSpPr>
        <p:spPr>
          <a:xfrm>
            <a:off x="548640" y="2148840"/>
            <a:ext cx="2697480" cy="1828800"/>
          </a:xfrm>
          <a:prstGeom prst="roundRect">
            <a:avLst>
              <a:gd name="adj" fmla="val 4000"/>
            </a:avLst>
          </a:prstGeom>
          <a:solidFill>
            <a:srgbClr val="1E2761"/>
          </a:solidFill>
          <a:ln/>
        </p:spPr>
        <p:txBody>
          <a:bodyPr/>
          <a:lstStyle/>
          <a:p>
            <a:endParaRPr lang="es-CO"/>
          </a:p>
        </p:txBody>
      </p:sp>
      <p:sp>
        <p:nvSpPr>
          <p:cNvPr id="6" name="Text 4"/>
          <p:cNvSpPr/>
          <p:nvPr/>
        </p:nvSpPr>
        <p:spPr>
          <a:xfrm>
            <a:off x="777240" y="2286000"/>
            <a:ext cx="2240280" cy="548640"/>
          </a:xfrm>
          <a:prstGeom prst="rect">
            <a:avLst/>
          </a:prstGeom>
          <a:noFill/>
          <a:ln/>
        </p:spPr>
        <p:txBody>
          <a:bodyPr wrap="square" lIns="0" tIns="0" rIns="0" bIns="0"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4</a:t>
            </a:r>
            <a:endParaRPr lang="en-US" sz="3000" dirty="0"/>
          </a:p>
        </p:txBody>
      </p:sp>
      <p:sp>
        <p:nvSpPr>
          <p:cNvPr id="7" name="Text 5"/>
          <p:cNvSpPr/>
          <p:nvPr/>
        </p:nvSpPr>
        <p:spPr>
          <a:xfrm>
            <a:off x="777240" y="2807208"/>
            <a:ext cx="2240280" cy="548640"/>
          </a:xfrm>
          <a:prstGeom prst="rect">
            <a:avLst/>
          </a:prstGeom>
          <a:noFill/>
          <a:ln/>
        </p:spPr>
        <p:txBody>
          <a:bodyPr wrap="square" lIns="0" tIns="0" rIns="0" bIns="0" rtlCol="0" anchor="t"/>
          <a:lstStyle/>
          <a:p>
            <a:pPr marL="0" indent="0">
              <a:buNone/>
            </a:pPr>
            <a:r>
              <a:rPr lang="en-US" sz="1250" b="1" dirty="0">
                <a:solidFill>
                  <a:srgbClr val="CADCFC"/>
                </a:solidFill>
                <a:latin typeface="Calibri" pitchFamily="34" charset="0"/>
                <a:ea typeface="Calibri" pitchFamily="34" charset="-122"/>
                <a:cs typeface="Calibri" pitchFamily="34" charset="-120"/>
              </a:rPr>
              <a:t>Cualitativas</a:t>
            </a:r>
            <a:endParaRPr lang="en-US" sz="1250" dirty="0"/>
          </a:p>
          <a:p>
            <a:pPr marL="0" indent="0">
              <a:buNone/>
            </a:pPr>
            <a:r>
              <a:rPr lang="en-US" sz="1250" b="1" dirty="0">
                <a:solidFill>
                  <a:srgbClr val="CADCFC"/>
                </a:solidFill>
                <a:latin typeface="Calibri" pitchFamily="34" charset="0"/>
                <a:ea typeface="Calibri" pitchFamily="34" charset="-122"/>
                <a:cs typeface="Calibri" pitchFamily="34" charset="-120"/>
              </a:rPr>
              <a:t>nominales</a:t>
            </a:r>
            <a:endParaRPr lang="en-US" sz="1250" dirty="0"/>
          </a:p>
        </p:txBody>
      </p:sp>
      <p:sp>
        <p:nvSpPr>
          <p:cNvPr id="8" name="Text 6"/>
          <p:cNvSpPr/>
          <p:nvPr/>
        </p:nvSpPr>
        <p:spPr>
          <a:xfrm>
            <a:off x="777240" y="3337560"/>
            <a:ext cx="2240280" cy="548640"/>
          </a:xfrm>
          <a:prstGeom prst="rect">
            <a:avLst/>
          </a:prstGeom>
          <a:noFill/>
          <a:ln/>
        </p:spPr>
        <p:txBody>
          <a:bodyPr wrap="square" lIns="0" tIns="0" rIns="0" bIns="0" rtlCol="0" anchor="t"/>
          <a:lstStyle/>
          <a:p>
            <a:pPr marL="0" indent="0">
              <a:buNone/>
            </a:pPr>
            <a:r>
              <a:rPr lang="en-US" sz="950" dirty="0">
                <a:solidFill>
                  <a:srgbClr val="CADCFC"/>
                </a:solidFill>
                <a:latin typeface="Calibri" pitchFamily="34" charset="0"/>
                <a:ea typeface="Calibri" pitchFamily="34" charset="-122"/>
                <a:cs typeface="Calibri" pitchFamily="34" charset="-120"/>
              </a:rPr>
              <a:t>tipo_credito, tipo_laboral,</a:t>
            </a:r>
            <a:endParaRPr lang="en-US" sz="950" dirty="0"/>
          </a:p>
          <a:p>
            <a:pPr marL="0" indent="0">
              <a:buNone/>
            </a:pPr>
            <a:r>
              <a:rPr lang="en-US" sz="950" dirty="0">
                <a:solidFill>
                  <a:srgbClr val="CADCFC"/>
                </a:solidFill>
                <a:latin typeface="Calibri" pitchFamily="34" charset="0"/>
                <a:ea typeface="Calibri" pitchFamily="34" charset="-122"/>
                <a:cs typeface="Calibri" pitchFamily="34" charset="-120"/>
              </a:rPr>
              <a:t>tendencia_ingresos, Pago_atiempo</a:t>
            </a:r>
            <a:endParaRPr lang="en-US" sz="950" dirty="0"/>
          </a:p>
        </p:txBody>
      </p:sp>
      <p:sp>
        <p:nvSpPr>
          <p:cNvPr id="9" name="Shape 7"/>
          <p:cNvSpPr/>
          <p:nvPr/>
        </p:nvSpPr>
        <p:spPr>
          <a:xfrm>
            <a:off x="3447288" y="2148840"/>
            <a:ext cx="2697480" cy="1828800"/>
          </a:xfrm>
          <a:prstGeom prst="roundRect">
            <a:avLst>
              <a:gd name="adj" fmla="val 4000"/>
            </a:avLst>
          </a:prstGeom>
          <a:solidFill>
            <a:srgbClr val="F4F7FC"/>
          </a:solidFill>
          <a:ln/>
        </p:spPr>
        <p:txBody>
          <a:bodyPr/>
          <a:lstStyle/>
          <a:p>
            <a:endParaRPr lang="es-CO"/>
          </a:p>
        </p:txBody>
      </p:sp>
      <p:sp>
        <p:nvSpPr>
          <p:cNvPr id="10" name="Text 8"/>
          <p:cNvSpPr/>
          <p:nvPr/>
        </p:nvSpPr>
        <p:spPr>
          <a:xfrm>
            <a:off x="3675888" y="2286000"/>
            <a:ext cx="2240280" cy="548640"/>
          </a:xfrm>
          <a:prstGeom prst="rect">
            <a:avLst/>
          </a:prstGeom>
          <a:noFill/>
          <a:ln/>
        </p:spPr>
        <p:txBody>
          <a:bodyPr wrap="square" lIns="0" tIns="0" rIns="0" bIns="0"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9</a:t>
            </a:r>
            <a:endParaRPr lang="en-US" sz="3000" dirty="0"/>
          </a:p>
        </p:txBody>
      </p:sp>
      <p:sp>
        <p:nvSpPr>
          <p:cNvPr id="11" name="Text 9"/>
          <p:cNvSpPr/>
          <p:nvPr/>
        </p:nvSpPr>
        <p:spPr>
          <a:xfrm>
            <a:off x="3675888" y="2807208"/>
            <a:ext cx="2240280" cy="548640"/>
          </a:xfrm>
          <a:prstGeom prst="rect">
            <a:avLst/>
          </a:prstGeom>
          <a:noFill/>
          <a:ln/>
        </p:spPr>
        <p:txBody>
          <a:bodyPr wrap="square" lIns="0" tIns="0" rIns="0" bIns="0" rtlCol="0" anchor="t"/>
          <a:lstStyle/>
          <a:p>
            <a:pPr marL="0" indent="0">
              <a:buNone/>
            </a:pPr>
            <a:r>
              <a:rPr lang="en-US" sz="1250" b="1" dirty="0">
                <a:solidFill>
                  <a:srgbClr val="1E2761"/>
                </a:solidFill>
                <a:latin typeface="Calibri" pitchFamily="34" charset="0"/>
                <a:ea typeface="Calibri" pitchFamily="34" charset="-122"/>
                <a:cs typeface="Calibri" pitchFamily="34" charset="-120"/>
              </a:rPr>
              <a:t>Cuantitativas</a:t>
            </a:r>
            <a:endParaRPr lang="en-US" sz="1250" dirty="0"/>
          </a:p>
          <a:p>
            <a:pPr marL="0" indent="0">
              <a:buNone/>
            </a:pPr>
            <a:r>
              <a:rPr lang="en-US" sz="1250" b="1" dirty="0">
                <a:solidFill>
                  <a:srgbClr val="1E2761"/>
                </a:solidFill>
                <a:latin typeface="Calibri" pitchFamily="34" charset="0"/>
                <a:ea typeface="Calibri" pitchFamily="34" charset="-122"/>
                <a:cs typeface="Calibri" pitchFamily="34" charset="-120"/>
              </a:rPr>
              <a:t>continuas</a:t>
            </a:r>
            <a:endParaRPr lang="en-US" sz="1250" dirty="0"/>
          </a:p>
        </p:txBody>
      </p:sp>
      <p:sp>
        <p:nvSpPr>
          <p:cNvPr id="12" name="Text 10"/>
          <p:cNvSpPr/>
          <p:nvPr/>
        </p:nvSpPr>
        <p:spPr>
          <a:xfrm>
            <a:off x="3675888" y="3337560"/>
            <a:ext cx="2240280" cy="548640"/>
          </a:xfrm>
          <a:prstGeom prst="rect">
            <a:avLst/>
          </a:prstGeom>
          <a:noFill/>
          <a:ln/>
        </p:spPr>
        <p:txBody>
          <a:bodyPr wrap="square" lIns="0" tIns="0" rIns="0" bIns="0" rtlCol="0" anchor="t"/>
          <a:lstStyle/>
          <a:p>
            <a:pPr marL="0" indent="0">
              <a:buNone/>
            </a:pPr>
            <a:r>
              <a:rPr lang="en-US" sz="950" dirty="0">
                <a:solidFill>
                  <a:srgbClr val="5A5F73"/>
                </a:solidFill>
                <a:latin typeface="Calibri" pitchFamily="34" charset="0"/>
                <a:ea typeface="Calibri" pitchFamily="34" charset="-122"/>
                <a:cs typeface="Calibri" pitchFamily="34" charset="-120"/>
              </a:rPr>
              <a:t>capital, salario, cuota,</a:t>
            </a:r>
            <a:endParaRPr lang="en-US" sz="950" dirty="0"/>
          </a:p>
          <a:p>
            <a:pPr marL="0" indent="0">
              <a:buNone/>
            </a:pPr>
            <a:r>
              <a:rPr lang="en-US" sz="950" dirty="0">
                <a:solidFill>
                  <a:srgbClr val="5A5F73"/>
                </a:solidFill>
                <a:latin typeface="Calibri" pitchFamily="34" charset="0"/>
                <a:ea typeface="Calibri" pitchFamily="34" charset="-122"/>
                <a:cs typeface="Calibri" pitchFamily="34" charset="-120"/>
              </a:rPr>
              <a:t>saldos, ingresos buró</a:t>
            </a:r>
            <a:endParaRPr lang="en-US" sz="950" dirty="0"/>
          </a:p>
        </p:txBody>
      </p:sp>
      <p:sp>
        <p:nvSpPr>
          <p:cNvPr id="13" name="Shape 11"/>
          <p:cNvSpPr/>
          <p:nvPr/>
        </p:nvSpPr>
        <p:spPr>
          <a:xfrm>
            <a:off x="6345936" y="2148840"/>
            <a:ext cx="2697480" cy="1828800"/>
          </a:xfrm>
          <a:prstGeom prst="roundRect">
            <a:avLst>
              <a:gd name="adj" fmla="val 4000"/>
            </a:avLst>
          </a:prstGeom>
          <a:solidFill>
            <a:srgbClr val="F4F7FC"/>
          </a:solidFill>
          <a:ln/>
        </p:spPr>
        <p:txBody>
          <a:bodyPr/>
          <a:lstStyle/>
          <a:p>
            <a:endParaRPr lang="es-CO"/>
          </a:p>
        </p:txBody>
      </p:sp>
      <p:sp>
        <p:nvSpPr>
          <p:cNvPr id="14" name="Text 12"/>
          <p:cNvSpPr/>
          <p:nvPr/>
        </p:nvSpPr>
        <p:spPr>
          <a:xfrm>
            <a:off x="6574536" y="2286000"/>
            <a:ext cx="2240280" cy="548640"/>
          </a:xfrm>
          <a:prstGeom prst="rect">
            <a:avLst/>
          </a:prstGeom>
          <a:noFill/>
          <a:ln/>
        </p:spPr>
        <p:txBody>
          <a:bodyPr wrap="square" lIns="0" tIns="0" rIns="0" bIns="0"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8</a:t>
            </a:r>
            <a:endParaRPr lang="en-US" sz="3000" dirty="0"/>
          </a:p>
        </p:txBody>
      </p:sp>
      <p:sp>
        <p:nvSpPr>
          <p:cNvPr id="15" name="Text 13"/>
          <p:cNvSpPr/>
          <p:nvPr/>
        </p:nvSpPr>
        <p:spPr>
          <a:xfrm>
            <a:off x="6574536" y="2807208"/>
            <a:ext cx="2240280" cy="548640"/>
          </a:xfrm>
          <a:prstGeom prst="rect">
            <a:avLst/>
          </a:prstGeom>
          <a:noFill/>
          <a:ln/>
        </p:spPr>
        <p:txBody>
          <a:bodyPr wrap="square" lIns="0" tIns="0" rIns="0" bIns="0" rtlCol="0" anchor="t"/>
          <a:lstStyle/>
          <a:p>
            <a:pPr marL="0" indent="0">
              <a:buNone/>
            </a:pPr>
            <a:r>
              <a:rPr lang="en-US" sz="1250" b="1" dirty="0">
                <a:solidFill>
                  <a:srgbClr val="1E2761"/>
                </a:solidFill>
                <a:latin typeface="Calibri" pitchFamily="34" charset="0"/>
                <a:ea typeface="Calibri" pitchFamily="34" charset="-122"/>
                <a:cs typeface="Calibri" pitchFamily="34" charset="-120"/>
              </a:rPr>
              <a:t>Cuantitativas</a:t>
            </a:r>
            <a:endParaRPr lang="en-US" sz="1250" dirty="0"/>
          </a:p>
          <a:p>
            <a:pPr marL="0" indent="0">
              <a:buNone/>
            </a:pPr>
            <a:r>
              <a:rPr lang="en-US" sz="1250" b="1" dirty="0">
                <a:solidFill>
                  <a:srgbClr val="1E2761"/>
                </a:solidFill>
                <a:latin typeface="Calibri" pitchFamily="34" charset="0"/>
                <a:ea typeface="Calibri" pitchFamily="34" charset="-122"/>
                <a:cs typeface="Calibri" pitchFamily="34" charset="-120"/>
              </a:rPr>
              <a:t>discretas</a:t>
            </a:r>
            <a:endParaRPr lang="en-US" sz="1250" dirty="0"/>
          </a:p>
        </p:txBody>
      </p:sp>
      <p:sp>
        <p:nvSpPr>
          <p:cNvPr id="16" name="Text 14"/>
          <p:cNvSpPr/>
          <p:nvPr/>
        </p:nvSpPr>
        <p:spPr>
          <a:xfrm>
            <a:off x="6574536" y="3337560"/>
            <a:ext cx="2240280" cy="548640"/>
          </a:xfrm>
          <a:prstGeom prst="rect">
            <a:avLst/>
          </a:prstGeom>
          <a:noFill/>
          <a:ln/>
        </p:spPr>
        <p:txBody>
          <a:bodyPr wrap="square" lIns="0" tIns="0" rIns="0" bIns="0" rtlCol="0" anchor="t"/>
          <a:lstStyle/>
          <a:p>
            <a:pPr marL="0" indent="0">
              <a:buNone/>
            </a:pPr>
            <a:r>
              <a:rPr lang="en-US" sz="950" dirty="0">
                <a:solidFill>
                  <a:srgbClr val="5A5F73"/>
                </a:solidFill>
                <a:latin typeface="Calibri" pitchFamily="34" charset="0"/>
                <a:ea typeface="Calibri" pitchFamily="34" charset="-122"/>
                <a:cs typeface="Calibri" pitchFamily="34" charset="-120"/>
              </a:rPr>
              <a:t>plazo, edad, score,</a:t>
            </a:r>
            <a:endParaRPr lang="en-US" sz="950" dirty="0"/>
          </a:p>
          <a:p>
            <a:pPr marL="0" indent="0">
              <a:buNone/>
            </a:pPr>
            <a:r>
              <a:rPr lang="en-US" sz="950" dirty="0">
                <a:solidFill>
                  <a:srgbClr val="5A5F73"/>
                </a:solidFill>
                <a:latin typeface="Calibri" pitchFamily="34" charset="0"/>
                <a:ea typeface="Calibri" pitchFamily="34" charset="-122"/>
                <a:cs typeface="Calibri" pitchFamily="34" charset="-120"/>
              </a:rPr>
              <a:t>conteos de créditos</a:t>
            </a:r>
            <a:endParaRPr lang="en-US" sz="950" dirty="0"/>
          </a:p>
        </p:txBody>
      </p:sp>
      <p:sp>
        <p:nvSpPr>
          <p:cNvPr id="17" name="Shape 15"/>
          <p:cNvSpPr/>
          <p:nvPr/>
        </p:nvSpPr>
        <p:spPr>
          <a:xfrm>
            <a:off x="9244584" y="2148840"/>
            <a:ext cx="2697480" cy="1828800"/>
          </a:xfrm>
          <a:prstGeom prst="roundRect">
            <a:avLst>
              <a:gd name="adj" fmla="val 4000"/>
            </a:avLst>
          </a:prstGeom>
          <a:solidFill>
            <a:srgbClr val="F4F7FC"/>
          </a:solidFill>
          <a:ln/>
        </p:spPr>
        <p:txBody>
          <a:bodyPr/>
          <a:lstStyle/>
          <a:p>
            <a:endParaRPr lang="es-CO"/>
          </a:p>
        </p:txBody>
      </p:sp>
      <p:sp>
        <p:nvSpPr>
          <p:cNvPr id="18" name="Text 16"/>
          <p:cNvSpPr/>
          <p:nvPr/>
        </p:nvSpPr>
        <p:spPr>
          <a:xfrm>
            <a:off x="9473184" y="2286000"/>
            <a:ext cx="2240280" cy="548640"/>
          </a:xfrm>
          <a:prstGeom prst="rect">
            <a:avLst/>
          </a:prstGeom>
          <a:noFill/>
          <a:ln/>
        </p:spPr>
        <p:txBody>
          <a:bodyPr wrap="square" lIns="0" tIns="0" rIns="0" bIns="0"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1</a:t>
            </a:r>
            <a:endParaRPr lang="en-US" sz="3000" dirty="0"/>
          </a:p>
        </p:txBody>
      </p:sp>
      <p:sp>
        <p:nvSpPr>
          <p:cNvPr id="19" name="Text 17"/>
          <p:cNvSpPr/>
          <p:nvPr/>
        </p:nvSpPr>
        <p:spPr>
          <a:xfrm>
            <a:off x="9473184" y="2807208"/>
            <a:ext cx="2240280" cy="548640"/>
          </a:xfrm>
          <a:prstGeom prst="rect">
            <a:avLst/>
          </a:prstGeom>
          <a:noFill/>
          <a:ln/>
        </p:spPr>
        <p:txBody>
          <a:bodyPr wrap="square" lIns="0" tIns="0" rIns="0" bIns="0" rtlCol="0" anchor="t"/>
          <a:lstStyle/>
          <a:p>
            <a:pPr marL="0" indent="0">
              <a:buNone/>
            </a:pPr>
            <a:r>
              <a:rPr lang="en-US" sz="1250" b="1" dirty="0">
                <a:solidFill>
                  <a:srgbClr val="1E2761"/>
                </a:solidFill>
                <a:latin typeface="Calibri" pitchFamily="34" charset="0"/>
                <a:ea typeface="Calibri" pitchFamily="34" charset="-122"/>
                <a:cs typeface="Calibri" pitchFamily="34" charset="-120"/>
              </a:rPr>
              <a:t>Temporal</a:t>
            </a:r>
            <a:endParaRPr lang="en-US" sz="1250" dirty="0"/>
          </a:p>
        </p:txBody>
      </p:sp>
      <p:sp>
        <p:nvSpPr>
          <p:cNvPr id="20" name="Text 18"/>
          <p:cNvSpPr/>
          <p:nvPr/>
        </p:nvSpPr>
        <p:spPr>
          <a:xfrm>
            <a:off x="9473184" y="3337560"/>
            <a:ext cx="2240280" cy="548640"/>
          </a:xfrm>
          <a:prstGeom prst="rect">
            <a:avLst/>
          </a:prstGeom>
          <a:noFill/>
          <a:ln/>
        </p:spPr>
        <p:txBody>
          <a:bodyPr wrap="square" lIns="0" tIns="0" rIns="0" bIns="0" rtlCol="0" anchor="t"/>
          <a:lstStyle/>
          <a:p>
            <a:pPr marL="0" indent="0">
              <a:buNone/>
            </a:pPr>
            <a:r>
              <a:rPr lang="en-US" sz="950" dirty="0">
                <a:solidFill>
                  <a:srgbClr val="5A5F73"/>
                </a:solidFill>
                <a:latin typeface="Calibri" pitchFamily="34" charset="0"/>
                <a:ea typeface="Calibri" pitchFamily="34" charset="-122"/>
                <a:cs typeface="Calibri" pitchFamily="34" charset="-120"/>
              </a:rPr>
              <a:t>fecha_prestamo</a:t>
            </a:r>
            <a:endParaRPr lang="en-US" sz="950" dirty="0"/>
          </a:p>
        </p:txBody>
      </p:sp>
      <p:sp>
        <p:nvSpPr>
          <p:cNvPr id="21" name="Text 19"/>
          <p:cNvSpPr/>
          <p:nvPr/>
        </p:nvSpPr>
        <p:spPr>
          <a:xfrm>
            <a:off x="548640" y="4160520"/>
            <a:ext cx="11064240" cy="365760"/>
          </a:xfrm>
          <a:prstGeom prst="rect">
            <a:avLst/>
          </a:prstGeom>
          <a:noFill/>
          <a:ln/>
        </p:spPr>
        <p:txBody>
          <a:bodyPr wrap="square" lIns="0" tIns="0" rIns="0" bIns="0" rtlCol="0" anchor="ctr"/>
          <a:lstStyle/>
          <a:p>
            <a:pPr marL="0" indent="0">
              <a:buNone/>
            </a:pPr>
            <a:r>
              <a:rPr lang="en-US" sz="1150" dirty="0">
                <a:solidFill>
                  <a:srgbClr val="5A5F73"/>
                </a:solidFill>
                <a:latin typeface="Calibri" pitchFamily="34" charset="0"/>
                <a:ea typeface="Calibri" pitchFamily="34" charset="-122"/>
                <a:cs typeface="Calibri" pitchFamily="34" charset="-120"/>
              </a:rPr>
              <a:t>Cada variable documentada con: tipo de dato · tipo estadístico · nivel de medición · unidad · rango válido · sensibilidad legal · rol</a:t>
            </a:r>
            <a:endParaRPr lang="en-US" sz="1150" dirty="0"/>
          </a:p>
        </p:txBody>
      </p:sp>
      <p:sp>
        <p:nvSpPr>
          <p:cNvPr id="22" name="Shape 20"/>
          <p:cNvSpPr/>
          <p:nvPr/>
        </p:nvSpPr>
        <p:spPr>
          <a:xfrm>
            <a:off x="548640" y="4663440"/>
            <a:ext cx="11064240" cy="1051560"/>
          </a:xfrm>
          <a:prstGeom prst="roundRect">
            <a:avLst>
              <a:gd name="adj" fmla="val 6957"/>
            </a:avLst>
          </a:prstGeom>
          <a:solidFill>
            <a:srgbClr val="FBEAEA"/>
          </a:solidFill>
          <a:ln/>
        </p:spPr>
        <p:txBody>
          <a:bodyPr/>
          <a:lstStyle/>
          <a:p>
            <a:endParaRPr lang="es-CO"/>
          </a:p>
        </p:txBody>
      </p:sp>
      <p:sp>
        <p:nvSpPr>
          <p:cNvPr id="23" name="Text 21"/>
          <p:cNvSpPr/>
          <p:nvPr/>
        </p:nvSpPr>
        <p:spPr>
          <a:xfrm>
            <a:off x="777240" y="4800600"/>
            <a:ext cx="10607040" cy="822960"/>
          </a:xfrm>
          <a:prstGeom prst="rect">
            <a:avLst/>
          </a:prstGeom>
          <a:noFill/>
          <a:ln/>
        </p:spPr>
        <p:txBody>
          <a:bodyPr wrap="square" lIns="0" tIns="0" rIns="0" bIns="0" rtlCol="0" anchor="ctr"/>
          <a:lstStyle/>
          <a:p>
            <a:pPr marL="0" indent="0">
              <a:lnSpc>
                <a:spcPct val="120000"/>
              </a:lnSpc>
              <a:buNone/>
            </a:pPr>
            <a:r>
              <a:rPr lang="en-US" sz="1200" b="1" dirty="0">
                <a:solidFill>
                  <a:srgbClr val="1E2761"/>
                </a:solidFill>
                <a:latin typeface="Calibri" pitchFamily="34" charset="0"/>
                <a:ea typeface="Calibri" pitchFamily="34" charset="-122"/>
                <a:cs typeface="Calibri" pitchFamily="34" charset="-120"/>
              </a:rPr>
              <a:t>Marco legal aplicado: </a:t>
            </a:r>
            <a:r>
              <a:rPr lang="en-US" sz="1200" dirty="0">
                <a:solidFill>
                  <a:srgbClr val="5A5F73"/>
                </a:solidFill>
                <a:latin typeface="Calibri" pitchFamily="34" charset="0"/>
                <a:ea typeface="Calibri" pitchFamily="34" charset="-122"/>
                <a:cs typeface="Calibri" pitchFamily="34" charset="-120"/>
              </a:rPr>
              <a:t>bajo Ley 1266 de 2008 todas las variables son </a:t>
            </a:r>
            <a:r>
              <a:rPr lang="en-US" sz="1200" b="1" dirty="0">
                <a:solidFill>
                  <a:srgbClr val="B33A3A"/>
                </a:solidFill>
                <a:latin typeface="Calibri" pitchFamily="34" charset="0"/>
                <a:ea typeface="Calibri" pitchFamily="34" charset="-122"/>
                <a:cs typeface="Calibri" pitchFamily="34" charset="-120"/>
              </a:rPr>
              <a:t>semiprivadas</a:t>
            </a:r>
            <a:r>
              <a:rPr lang="en-US" sz="1200" dirty="0">
                <a:solidFill>
                  <a:srgbClr val="5A5F73"/>
                </a:solidFill>
                <a:latin typeface="Calibri" pitchFamily="34" charset="0"/>
                <a:ea typeface="Calibri" pitchFamily="34" charset="-122"/>
                <a:cs typeface="Calibri" pitchFamily="34" charset="-120"/>
              </a:rPr>
              <a:t> (dato financiero y crediticio). Ninguna es </a:t>
            </a:r>
            <a:r>
              <a:rPr lang="en-US" sz="1200" b="1" dirty="0">
                <a:solidFill>
                  <a:srgbClr val="B33A3A"/>
                </a:solidFill>
                <a:latin typeface="Calibri" pitchFamily="34" charset="0"/>
                <a:ea typeface="Calibri" pitchFamily="34" charset="-122"/>
                <a:cs typeface="Calibri" pitchFamily="34" charset="-120"/>
              </a:rPr>
              <a:t>sensible</a:t>
            </a:r>
            <a:r>
              <a:rPr lang="en-US" sz="1200" dirty="0">
                <a:solidFill>
                  <a:srgbClr val="5A5F73"/>
                </a:solidFill>
                <a:latin typeface="Calibri" pitchFamily="34" charset="0"/>
                <a:ea typeface="Calibri" pitchFamily="34" charset="-122"/>
                <a:cs typeface="Calibri" pitchFamily="34" charset="-120"/>
              </a:rPr>
              <a:t> en el sentido de la Ley 1581 art. 5 (origen racial, salud, biometría).</a:t>
            </a:r>
            <a:endParaRPr lang="en-US" sz="1200" dirty="0"/>
          </a:p>
        </p:txBody>
      </p:sp>
      <p:sp>
        <p:nvSpPr>
          <p:cNvPr id="24" name="Text 22"/>
          <p:cNvSpPr/>
          <p:nvPr/>
        </p:nvSpPr>
        <p:spPr>
          <a:xfrm>
            <a:off x="457200" y="6446520"/>
            <a:ext cx="5486400" cy="274320"/>
          </a:xfrm>
          <a:prstGeom prst="rect">
            <a:avLst/>
          </a:prstGeom>
          <a:noFill/>
          <a:ln/>
        </p:spPr>
        <p:txBody>
          <a:bodyPr wrap="square" lIns="0" tIns="0" rIns="0" bIns="0" rtlCol="0" anchor="ctr"/>
          <a:lstStyle/>
          <a:p>
            <a:pPr marL="0" indent="0">
              <a:buNone/>
            </a:pPr>
            <a:r>
              <a:rPr lang="en-US" sz="1000" dirty="0">
                <a:solidFill>
                  <a:srgbClr val="8A8FA3"/>
                </a:solidFill>
                <a:latin typeface="Calibri" pitchFamily="34" charset="0"/>
                <a:ea typeface="Calibri" pitchFamily="34" charset="-122"/>
                <a:cs typeface="Calibri" pitchFamily="34" charset="-120"/>
              </a:rPr>
              <a:t>Análisis de Riesgo Crediticio</a:t>
            </a:r>
            <a:endParaRPr lang="en-US" sz="1000" dirty="0"/>
          </a:p>
        </p:txBody>
      </p:sp>
      <p:sp>
        <p:nvSpPr>
          <p:cNvPr id="25" name="Text 23"/>
          <p:cNvSpPr/>
          <p:nvPr/>
        </p:nvSpPr>
        <p:spPr>
          <a:xfrm>
            <a:off x="11247120" y="6446520"/>
            <a:ext cx="457200" cy="274320"/>
          </a:xfrm>
          <a:prstGeom prst="rect">
            <a:avLst/>
          </a:prstGeom>
          <a:noFill/>
          <a:ln/>
        </p:spPr>
        <p:txBody>
          <a:bodyPr wrap="square" lIns="0" tIns="0" rIns="0" bIns="0" rtlCol="0" anchor="ctr"/>
          <a:lstStyle/>
          <a:p>
            <a:pPr marL="0" indent="0" algn="r">
              <a:buNone/>
            </a:pPr>
            <a:r>
              <a:rPr lang="en-US" sz="1000" dirty="0">
                <a:solidFill>
                  <a:srgbClr val="8A8FA3"/>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48640" y="411480"/>
            <a:ext cx="9144000" cy="320040"/>
          </a:xfrm>
          <a:prstGeom prst="rect">
            <a:avLst/>
          </a:prstGeom>
          <a:noFill/>
          <a:ln/>
        </p:spPr>
        <p:txBody>
          <a:bodyPr wrap="square" lIns="0" tIns="0" rIns="0" bIns="0" rtlCol="0" anchor="ctr"/>
          <a:lstStyle/>
          <a:p>
            <a:pPr marL="0" indent="0">
              <a:buNone/>
            </a:pPr>
            <a:r>
              <a:rPr lang="en-US" sz="1300" b="1" kern="0" spc="200" dirty="0">
                <a:solidFill>
                  <a:srgbClr val="B33A3A"/>
                </a:solidFill>
                <a:latin typeface="Calibri" pitchFamily="34" charset="0"/>
                <a:ea typeface="Calibri" pitchFamily="34" charset="-122"/>
                <a:cs typeface="Calibri" pitchFamily="34" charset="-120"/>
              </a:rPr>
              <a:t>DICCIONARIO DE DATOS</a:t>
            </a:r>
            <a:endParaRPr lang="en-US" sz="1300" dirty="0"/>
          </a:p>
        </p:txBody>
      </p:sp>
      <p:sp>
        <p:nvSpPr>
          <p:cNvPr id="3" name="Text 1"/>
          <p:cNvSpPr/>
          <p:nvPr/>
        </p:nvSpPr>
        <p:spPr>
          <a:xfrm>
            <a:off x="548640" y="713232"/>
            <a:ext cx="10789920" cy="822960"/>
          </a:xfrm>
          <a:prstGeom prst="rect">
            <a:avLst/>
          </a:prstGeom>
          <a:noFill/>
          <a:ln/>
        </p:spPr>
        <p:txBody>
          <a:bodyPr wrap="square" lIns="0" tIns="0" rIns="0" bIns="0"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Ficha de cada variable</a:t>
            </a:r>
            <a:endParaRPr lang="en-US" sz="3000" dirty="0"/>
          </a:p>
        </p:txBody>
      </p:sp>
      <p:sp>
        <p:nvSpPr>
          <p:cNvPr id="4" name="Text 2"/>
          <p:cNvSpPr/>
          <p:nvPr/>
        </p:nvSpPr>
        <p:spPr>
          <a:xfrm>
            <a:off x="548640" y="1572768"/>
            <a:ext cx="11064240" cy="320040"/>
          </a:xfrm>
          <a:prstGeom prst="rect">
            <a:avLst/>
          </a:prstGeom>
          <a:noFill/>
          <a:ln/>
        </p:spPr>
        <p:txBody>
          <a:bodyPr wrap="square" lIns="0" tIns="0" rIns="0" bIns="0" rtlCol="0" anchor="ctr"/>
          <a:lstStyle/>
          <a:p>
            <a:pPr marL="0" indent="0">
              <a:buNone/>
            </a:pPr>
            <a:r>
              <a:rPr lang="en-US" sz="1150" i="1" dirty="0">
                <a:solidFill>
                  <a:srgbClr val="5A5F73"/>
                </a:solidFill>
                <a:latin typeface="Calibri" pitchFamily="34" charset="0"/>
                <a:ea typeface="Calibri" pitchFamily="34" charset="-122"/>
                <a:cs typeface="Calibri" pitchFamily="34" charset="-120"/>
              </a:rPr>
              <a:t>Extracto de 6 de las 22 variables. El diccionario completo está en el notebook (constante DICCIONARIO_DATOS) y en el README.</a:t>
            </a:r>
            <a:endParaRPr lang="en-US" sz="1150" dirty="0"/>
          </a:p>
        </p:txBody>
      </p:sp>
      <p:sp>
        <p:nvSpPr>
          <p:cNvPr id="5" name="Text 3"/>
          <p:cNvSpPr/>
          <p:nvPr/>
        </p:nvSpPr>
        <p:spPr>
          <a:xfrm>
            <a:off x="548640" y="2011680"/>
            <a:ext cx="2331720" cy="365760"/>
          </a:xfrm>
          <a:prstGeom prst="rect">
            <a:avLst/>
          </a:prstGeom>
          <a:noFill/>
          <a:ln/>
        </p:spPr>
        <p:txBody>
          <a:bodyPr wrap="square" lIns="0" tIns="0" rIns="0" bIns="0" rtlCol="0" anchor="ctr"/>
          <a:lstStyle/>
          <a:p>
            <a:pPr marL="0" indent="0">
              <a:buNone/>
            </a:pPr>
            <a:r>
              <a:rPr lang="en-US" sz="1050" b="1" dirty="0">
                <a:solidFill>
                  <a:srgbClr val="5A5F73"/>
                </a:solidFill>
                <a:latin typeface="Calibri" pitchFamily="34" charset="0"/>
                <a:ea typeface="Calibri" pitchFamily="34" charset="-122"/>
                <a:cs typeface="Calibri" pitchFamily="34" charset="-120"/>
              </a:rPr>
              <a:t>Variable</a:t>
            </a:r>
            <a:endParaRPr lang="en-US" sz="1050" dirty="0"/>
          </a:p>
        </p:txBody>
      </p:sp>
      <p:sp>
        <p:nvSpPr>
          <p:cNvPr id="6" name="Text 4"/>
          <p:cNvSpPr/>
          <p:nvPr/>
        </p:nvSpPr>
        <p:spPr>
          <a:xfrm>
            <a:off x="2880360" y="2011680"/>
            <a:ext cx="1170432" cy="365760"/>
          </a:xfrm>
          <a:prstGeom prst="rect">
            <a:avLst/>
          </a:prstGeom>
          <a:noFill/>
          <a:ln/>
        </p:spPr>
        <p:txBody>
          <a:bodyPr wrap="square" lIns="0" tIns="0" rIns="0" bIns="0" rtlCol="0" anchor="ctr"/>
          <a:lstStyle/>
          <a:p>
            <a:pPr marL="0" indent="0">
              <a:buNone/>
            </a:pPr>
            <a:r>
              <a:rPr lang="en-US" sz="1050" b="1" dirty="0">
                <a:solidFill>
                  <a:srgbClr val="5A5F73"/>
                </a:solidFill>
                <a:latin typeface="Calibri" pitchFamily="34" charset="0"/>
                <a:ea typeface="Calibri" pitchFamily="34" charset="-122"/>
                <a:cs typeface="Calibri" pitchFamily="34" charset="-120"/>
              </a:rPr>
              <a:t>Tipo dato</a:t>
            </a:r>
            <a:endParaRPr lang="en-US" sz="1050" dirty="0"/>
          </a:p>
        </p:txBody>
      </p:sp>
      <p:sp>
        <p:nvSpPr>
          <p:cNvPr id="7" name="Text 5"/>
          <p:cNvSpPr/>
          <p:nvPr/>
        </p:nvSpPr>
        <p:spPr>
          <a:xfrm>
            <a:off x="4050792" y="2011680"/>
            <a:ext cx="1572768" cy="365760"/>
          </a:xfrm>
          <a:prstGeom prst="rect">
            <a:avLst/>
          </a:prstGeom>
          <a:noFill/>
          <a:ln/>
        </p:spPr>
        <p:txBody>
          <a:bodyPr wrap="square" lIns="0" tIns="0" rIns="0" bIns="0" rtlCol="0" anchor="ctr"/>
          <a:lstStyle/>
          <a:p>
            <a:pPr marL="0" indent="0">
              <a:buNone/>
            </a:pPr>
            <a:r>
              <a:rPr lang="en-US" sz="1050" b="1" dirty="0">
                <a:solidFill>
                  <a:srgbClr val="5A5F73"/>
                </a:solidFill>
                <a:latin typeface="Calibri" pitchFamily="34" charset="0"/>
                <a:ea typeface="Calibri" pitchFamily="34" charset="-122"/>
                <a:cs typeface="Calibri" pitchFamily="34" charset="-120"/>
              </a:rPr>
              <a:t>Tipo variable</a:t>
            </a:r>
            <a:endParaRPr lang="en-US" sz="1050" dirty="0"/>
          </a:p>
        </p:txBody>
      </p:sp>
      <p:sp>
        <p:nvSpPr>
          <p:cNvPr id="8" name="Text 6"/>
          <p:cNvSpPr/>
          <p:nvPr/>
        </p:nvSpPr>
        <p:spPr>
          <a:xfrm>
            <a:off x="5623560" y="2011680"/>
            <a:ext cx="1298448" cy="365760"/>
          </a:xfrm>
          <a:prstGeom prst="rect">
            <a:avLst/>
          </a:prstGeom>
          <a:noFill/>
          <a:ln/>
        </p:spPr>
        <p:txBody>
          <a:bodyPr wrap="square" lIns="0" tIns="0" rIns="0" bIns="0" rtlCol="0" anchor="ctr"/>
          <a:lstStyle/>
          <a:p>
            <a:pPr marL="0" indent="0">
              <a:buNone/>
            </a:pPr>
            <a:r>
              <a:rPr lang="en-US" sz="1050" b="1" dirty="0">
                <a:solidFill>
                  <a:srgbClr val="5A5F73"/>
                </a:solidFill>
                <a:latin typeface="Calibri" pitchFamily="34" charset="0"/>
                <a:ea typeface="Calibri" pitchFamily="34" charset="-122"/>
                <a:cs typeface="Calibri" pitchFamily="34" charset="-120"/>
              </a:rPr>
              <a:t>Nivel medición</a:t>
            </a:r>
            <a:endParaRPr lang="en-US" sz="1050" dirty="0"/>
          </a:p>
        </p:txBody>
      </p:sp>
      <p:sp>
        <p:nvSpPr>
          <p:cNvPr id="9" name="Text 7"/>
          <p:cNvSpPr/>
          <p:nvPr/>
        </p:nvSpPr>
        <p:spPr>
          <a:xfrm>
            <a:off x="6922008" y="2011680"/>
            <a:ext cx="1051560" cy="365760"/>
          </a:xfrm>
          <a:prstGeom prst="rect">
            <a:avLst/>
          </a:prstGeom>
          <a:noFill/>
          <a:ln/>
        </p:spPr>
        <p:txBody>
          <a:bodyPr wrap="square" lIns="0" tIns="0" rIns="0" bIns="0" rtlCol="0" anchor="ctr"/>
          <a:lstStyle/>
          <a:p>
            <a:pPr marL="0" indent="0">
              <a:buNone/>
            </a:pPr>
            <a:r>
              <a:rPr lang="en-US" sz="1050" b="1" dirty="0">
                <a:solidFill>
                  <a:srgbClr val="5A5F73"/>
                </a:solidFill>
                <a:latin typeface="Calibri" pitchFamily="34" charset="0"/>
                <a:ea typeface="Calibri" pitchFamily="34" charset="-122"/>
                <a:cs typeface="Calibri" pitchFamily="34" charset="-120"/>
              </a:rPr>
              <a:t>Unidad</a:t>
            </a:r>
            <a:endParaRPr lang="en-US" sz="1050" dirty="0"/>
          </a:p>
        </p:txBody>
      </p:sp>
      <p:sp>
        <p:nvSpPr>
          <p:cNvPr id="10" name="Text 8"/>
          <p:cNvSpPr/>
          <p:nvPr/>
        </p:nvSpPr>
        <p:spPr>
          <a:xfrm>
            <a:off x="7973568" y="2011680"/>
            <a:ext cx="2148840" cy="365760"/>
          </a:xfrm>
          <a:prstGeom prst="rect">
            <a:avLst/>
          </a:prstGeom>
          <a:noFill/>
          <a:ln/>
        </p:spPr>
        <p:txBody>
          <a:bodyPr wrap="square" lIns="0" tIns="0" rIns="0" bIns="0" rtlCol="0" anchor="ctr"/>
          <a:lstStyle/>
          <a:p>
            <a:pPr marL="0" indent="0">
              <a:buNone/>
            </a:pPr>
            <a:r>
              <a:rPr lang="en-US" sz="1050" b="1" dirty="0">
                <a:solidFill>
                  <a:srgbClr val="5A5F73"/>
                </a:solidFill>
                <a:latin typeface="Calibri" pitchFamily="34" charset="0"/>
                <a:ea typeface="Calibri" pitchFamily="34" charset="-122"/>
                <a:cs typeface="Calibri" pitchFamily="34" charset="-120"/>
              </a:rPr>
              <a:t>Rango válido</a:t>
            </a:r>
            <a:endParaRPr lang="en-US" sz="1050" dirty="0"/>
          </a:p>
        </p:txBody>
      </p:sp>
      <p:sp>
        <p:nvSpPr>
          <p:cNvPr id="11" name="Text 9"/>
          <p:cNvSpPr/>
          <p:nvPr/>
        </p:nvSpPr>
        <p:spPr>
          <a:xfrm>
            <a:off x="10122408" y="2011680"/>
            <a:ext cx="1490472" cy="365760"/>
          </a:xfrm>
          <a:prstGeom prst="rect">
            <a:avLst/>
          </a:prstGeom>
          <a:noFill/>
          <a:ln/>
        </p:spPr>
        <p:txBody>
          <a:bodyPr wrap="square" lIns="0" tIns="0" rIns="0" bIns="0" rtlCol="0" anchor="ctr"/>
          <a:lstStyle/>
          <a:p>
            <a:pPr marL="0" indent="0">
              <a:buNone/>
            </a:pPr>
            <a:r>
              <a:rPr lang="en-US" sz="1050" b="1" dirty="0">
                <a:solidFill>
                  <a:srgbClr val="5A5F73"/>
                </a:solidFill>
                <a:latin typeface="Calibri" pitchFamily="34" charset="0"/>
                <a:ea typeface="Calibri" pitchFamily="34" charset="-122"/>
                <a:cs typeface="Calibri" pitchFamily="34" charset="-120"/>
              </a:rPr>
              <a:t>Rol</a:t>
            </a:r>
            <a:endParaRPr lang="en-US" sz="1050" dirty="0"/>
          </a:p>
        </p:txBody>
      </p:sp>
      <p:sp>
        <p:nvSpPr>
          <p:cNvPr id="12" name="Shape 10"/>
          <p:cNvSpPr/>
          <p:nvPr/>
        </p:nvSpPr>
        <p:spPr>
          <a:xfrm>
            <a:off x="457200" y="2423160"/>
            <a:ext cx="11155680" cy="493776"/>
          </a:xfrm>
          <a:prstGeom prst="roundRect">
            <a:avLst>
              <a:gd name="adj" fmla="val 9259"/>
            </a:avLst>
          </a:prstGeom>
          <a:solidFill>
            <a:srgbClr val="F4F7FC"/>
          </a:solidFill>
          <a:ln/>
        </p:spPr>
        <p:txBody>
          <a:bodyPr/>
          <a:lstStyle/>
          <a:p>
            <a:endParaRPr lang="es-CO"/>
          </a:p>
        </p:txBody>
      </p:sp>
      <p:sp>
        <p:nvSpPr>
          <p:cNvPr id="13" name="Text 11"/>
          <p:cNvSpPr/>
          <p:nvPr/>
        </p:nvSpPr>
        <p:spPr>
          <a:xfrm>
            <a:off x="548640" y="2423160"/>
            <a:ext cx="2331720" cy="493776"/>
          </a:xfrm>
          <a:prstGeom prst="rect">
            <a:avLst/>
          </a:prstGeom>
          <a:noFill/>
          <a:ln/>
        </p:spPr>
        <p:txBody>
          <a:bodyPr wrap="square" lIns="0" tIns="0" rIns="0" bIns="0" rtlCol="0" anchor="ctr"/>
          <a:lstStyle/>
          <a:p>
            <a:pPr marL="0" indent="0">
              <a:buNone/>
            </a:pPr>
            <a:r>
              <a:rPr lang="en-US" sz="1000" b="1" dirty="0">
                <a:solidFill>
                  <a:srgbClr val="1E2761"/>
                </a:solidFill>
                <a:latin typeface="Calibri" pitchFamily="34" charset="0"/>
                <a:ea typeface="Calibri" pitchFamily="34" charset="-122"/>
                <a:cs typeface="Calibri" pitchFamily="34" charset="-120"/>
              </a:rPr>
              <a:t>tipo_credito</a:t>
            </a:r>
            <a:endParaRPr lang="en-US" sz="1000" dirty="0"/>
          </a:p>
        </p:txBody>
      </p:sp>
      <p:sp>
        <p:nvSpPr>
          <p:cNvPr id="14" name="Text 12"/>
          <p:cNvSpPr/>
          <p:nvPr/>
        </p:nvSpPr>
        <p:spPr>
          <a:xfrm>
            <a:off x="2880360" y="2423160"/>
            <a:ext cx="1170432" cy="493776"/>
          </a:xfrm>
          <a:prstGeom prst="rect">
            <a:avLst/>
          </a:prstGeom>
          <a:noFill/>
          <a:ln/>
        </p:spPr>
        <p:txBody>
          <a:bodyPr wrap="square" lIns="0" tIns="0" rIns="0" bIns="0" rtlCol="0" anchor="ctr"/>
          <a:lstStyle/>
          <a:p>
            <a:pPr marL="0" indent="0">
              <a:buNone/>
            </a:pPr>
            <a:r>
              <a:rPr lang="en-US" sz="1000" dirty="0">
                <a:solidFill>
                  <a:srgbClr val="5A5F73"/>
                </a:solidFill>
                <a:latin typeface="Calibri" pitchFamily="34" charset="0"/>
                <a:ea typeface="Calibri" pitchFamily="34" charset="-122"/>
                <a:cs typeface="Calibri" pitchFamily="34" charset="-120"/>
              </a:rPr>
              <a:t>int64</a:t>
            </a:r>
            <a:endParaRPr lang="en-US" sz="1000" dirty="0"/>
          </a:p>
        </p:txBody>
      </p:sp>
      <p:sp>
        <p:nvSpPr>
          <p:cNvPr id="15" name="Text 13"/>
          <p:cNvSpPr/>
          <p:nvPr/>
        </p:nvSpPr>
        <p:spPr>
          <a:xfrm>
            <a:off x="4050792" y="2423160"/>
            <a:ext cx="1572768" cy="493776"/>
          </a:xfrm>
          <a:prstGeom prst="rect">
            <a:avLst/>
          </a:prstGeom>
          <a:noFill/>
          <a:ln/>
        </p:spPr>
        <p:txBody>
          <a:bodyPr wrap="square" lIns="0" tIns="0" rIns="0" bIns="0" rtlCol="0" anchor="ctr"/>
          <a:lstStyle/>
          <a:p>
            <a:pPr marL="0" indent="0">
              <a:buNone/>
            </a:pPr>
            <a:r>
              <a:rPr lang="en-US" sz="1000" dirty="0">
                <a:solidFill>
                  <a:srgbClr val="5A5F73"/>
                </a:solidFill>
                <a:latin typeface="Calibri" pitchFamily="34" charset="0"/>
                <a:ea typeface="Calibri" pitchFamily="34" charset="-122"/>
                <a:cs typeface="Calibri" pitchFamily="34" charset="-120"/>
              </a:rPr>
              <a:t>Cualitativa</a:t>
            </a:r>
            <a:endParaRPr lang="en-US" sz="1000" dirty="0"/>
          </a:p>
        </p:txBody>
      </p:sp>
      <p:sp>
        <p:nvSpPr>
          <p:cNvPr id="16" name="Text 14"/>
          <p:cNvSpPr/>
          <p:nvPr/>
        </p:nvSpPr>
        <p:spPr>
          <a:xfrm>
            <a:off x="5623560" y="2423160"/>
            <a:ext cx="1298448" cy="493776"/>
          </a:xfrm>
          <a:prstGeom prst="rect">
            <a:avLst/>
          </a:prstGeom>
          <a:noFill/>
          <a:ln/>
        </p:spPr>
        <p:txBody>
          <a:bodyPr wrap="square" lIns="0" tIns="0" rIns="0" bIns="0" rtlCol="0" anchor="ctr"/>
          <a:lstStyle/>
          <a:p>
            <a:pPr marL="0" indent="0">
              <a:buNone/>
            </a:pPr>
            <a:r>
              <a:rPr lang="en-US" sz="1000" dirty="0">
                <a:solidFill>
                  <a:srgbClr val="5A5F73"/>
                </a:solidFill>
                <a:latin typeface="Calibri" pitchFamily="34" charset="0"/>
                <a:ea typeface="Calibri" pitchFamily="34" charset="-122"/>
                <a:cs typeface="Calibri" pitchFamily="34" charset="-120"/>
              </a:rPr>
              <a:t>Nominal</a:t>
            </a:r>
            <a:endParaRPr lang="en-US" sz="1000" dirty="0"/>
          </a:p>
        </p:txBody>
      </p:sp>
      <p:sp>
        <p:nvSpPr>
          <p:cNvPr id="17" name="Text 15"/>
          <p:cNvSpPr/>
          <p:nvPr/>
        </p:nvSpPr>
        <p:spPr>
          <a:xfrm>
            <a:off x="6922008" y="2423160"/>
            <a:ext cx="1051560" cy="493776"/>
          </a:xfrm>
          <a:prstGeom prst="rect">
            <a:avLst/>
          </a:prstGeom>
          <a:noFill/>
          <a:ln/>
        </p:spPr>
        <p:txBody>
          <a:bodyPr wrap="square" lIns="0" tIns="0" rIns="0" bIns="0" rtlCol="0" anchor="ctr"/>
          <a:lstStyle/>
          <a:p>
            <a:pPr marL="0" indent="0">
              <a:buNone/>
            </a:pPr>
            <a:r>
              <a:rPr lang="en-US" sz="1000" dirty="0">
                <a:solidFill>
                  <a:srgbClr val="5A5F73"/>
                </a:solidFill>
                <a:latin typeface="Calibri" pitchFamily="34" charset="0"/>
                <a:ea typeface="Calibri" pitchFamily="34" charset="-122"/>
                <a:cs typeface="Calibri" pitchFamily="34" charset="-120"/>
              </a:rPr>
              <a:t>—</a:t>
            </a:r>
            <a:endParaRPr lang="en-US" sz="1000" dirty="0"/>
          </a:p>
        </p:txBody>
      </p:sp>
      <p:sp>
        <p:nvSpPr>
          <p:cNvPr id="18" name="Text 16"/>
          <p:cNvSpPr/>
          <p:nvPr/>
        </p:nvSpPr>
        <p:spPr>
          <a:xfrm>
            <a:off x="7973568" y="2423160"/>
            <a:ext cx="2148840" cy="493776"/>
          </a:xfrm>
          <a:prstGeom prst="rect">
            <a:avLst/>
          </a:prstGeom>
          <a:noFill/>
          <a:ln/>
        </p:spPr>
        <p:txBody>
          <a:bodyPr wrap="square" lIns="0" tIns="0" rIns="0" bIns="0" rtlCol="0" anchor="ctr"/>
          <a:lstStyle/>
          <a:p>
            <a:pPr marL="0" indent="0">
              <a:buNone/>
            </a:pPr>
            <a:r>
              <a:rPr lang="en-US" sz="1000" dirty="0">
                <a:solidFill>
                  <a:srgbClr val="5A5F73"/>
                </a:solidFill>
                <a:latin typeface="Calibri" pitchFamily="34" charset="0"/>
                <a:ea typeface="Calibri" pitchFamily="34" charset="-122"/>
                <a:cs typeface="Calibri" pitchFamily="34" charset="-120"/>
              </a:rPr>
              <a:t>4, 6, 7, 9, 10, 68</a:t>
            </a:r>
            <a:endParaRPr lang="en-US" sz="1000" dirty="0"/>
          </a:p>
        </p:txBody>
      </p:sp>
      <p:sp>
        <p:nvSpPr>
          <p:cNvPr id="19" name="Text 17"/>
          <p:cNvSpPr/>
          <p:nvPr/>
        </p:nvSpPr>
        <p:spPr>
          <a:xfrm>
            <a:off x="10122408" y="2423160"/>
            <a:ext cx="1490472" cy="493776"/>
          </a:xfrm>
          <a:prstGeom prst="rect">
            <a:avLst/>
          </a:prstGeom>
          <a:noFill/>
          <a:ln/>
        </p:spPr>
        <p:txBody>
          <a:bodyPr wrap="square" lIns="0" tIns="0" rIns="0" bIns="0" rtlCol="0" anchor="ctr"/>
          <a:lstStyle/>
          <a:p>
            <a:pPr marL="0" indent="0">
              <a:buNone/>
            </a:pPr>
            <a:r>
              <a:rPr lang="en-US" sz="1000" dirty="0">
                <a:solidFill>
                  <a:srgbClr val="5A5F73"/>
                </a:solidFill>
                <a:latin typeface="Calibri" pitchFamily="34" charset="0"/>
                <a:ea typeface="Calibri" pitchFamily="34" charset="-122"/>
                <a:cs typeface="Calibri" pitchFamily="34" charset="-120"/>
              </a:rPr>
              <a:t>Predictor</a:t>
            </a:r>
            <a:endParaRPr lang="en-US" sz="1000" dirty="0"/>
          </a:p>
        </p:txBody>
      </p:sp>
      <p:sp>
        <p:nvSpPr>
          <p:cNvPr id="20" name="Shape 18"/>
          <p:cNvSpPr/>
          <p:nvPr/>
        </p:nvSpPr>
        <p:spPr>
          <a:xfrm>
            <a:off x="457200" y="2990088"/>
            <a:ext cx="11155680" cy="493776"/>
          </a:xfrm>
          <a:prstGeom prst="roundRect">
            <a:avLst>
              <a:gd name="adj" fmla="val 9259"/>
            </a:avLst>
          </a:prstGeom>
          <a:solidFill>
            <a:srgbClr val="FFFFFF"/>
          </a:solidFill>
          <a:ln/>
        </p:spPr>
        <p:txBody>
          <a:bodyPr/>
          <a:lstStyle/>
          <a:p>
            <a:endParaRPr lang="es-CO"/>
          </a:p>
        </p:txBody>
      </p:sp>
      <p:sp>
        <p:nvSpPr>
          <p:cNvPr id="21" name="Text 19"/>
          <p:cNvSpPr/>
          <p:nvPr/>
        </p:nvSpPr>
        <p:spPr>
          <a:xfrm>
            <a:off x="548640" y="2990088"/>
            <a:ext cx="2331720" cy="493776"/>
          </a:xfrm>
          <a:prstGeom prst="rect">
            <a:avLst/>
          </a:prstGeom>
          <a:noFill/>
          <a:ln/>
        </p:spPr>
        <p:txBody>
          <a:bodyPr wrap="square" lIns="0" tIns="0" rIns="0" bIns="0" rtlCol="0" anchor="ctr"/>
          <a:lstStyle/>
          <a:p>
            <a:pPr marL="0" indent="0">
              <a:buNone/>
            </a:pPr>
            <a:r>
              <a:rPr lang="en-US" sz="1000" b="1" dirty="0">
                <a:solidFill>
                  <a:srgbClr val="1E2761"/>
                </a:solidFill>
                <a:latin typeface="Calibri" pitchFamily="34" charset="0"/>
                <a:ea typeface="Calibri" pitchFamily="34" charset="-122"/>
                <a:cs typeface="Calibri" pitchFamily="34" charset="-120"/>
              </a:rPr>
              <a:t>edad_cliente</a:t>
            </a:r>
            <a:endParaRPr lang="en-US" sz="1000" dirty="0"/>
          </a:p>
        </p:txBody>
      </p:sp>
      <p:sp>
        <p:nvSpPr>
          <p:cNvPr id="22" name="Text 20"/>
          <p:cNvSpPr/>
          <p:nvPr/>
        </p:nvSpPr>
        <p:spPr>
          <a:xfrm>
            <a:off x="2880360" y="2990088"/>
            <a:ext cx="1170432" cy="493776"/>
          </a:xfrm>
          <a:prstGeom prst="rect">
            <a:avLst/>
          </a:prstGeom>
          <a:noFill/>
          <a:ln/>
        </p:spPr>
        <p:txBody>
          <a:bodyPr wrap="square" lIns="0" tIns="0" rIns="0" bIns="0" rtlCol="0" anchor="ctr"/>
          <a:lstStyle/>
          <a:p>
            <a:pPr marL="0" indent="0">
              <a:buNone/>
            </a:pPr>
            <a:r>
              <a:rPr lang="en-US" sz="1000" dirty="0">
                <a:solidFill>
                  <a:srgbClr val="5A5F73"/>
                </a:solidFill>
                <a:latin typeface="Calibri" pitchFamily="34" charset="0"/>
                <a:ea typeface="Calibri" pitchFamily="34" charset="-122"/>
                <a:cs typeface="Calibri" pitchFamily="34" charset="-120"/>
              </a:rPr>
              <a:t>int64</a:t>
            </a:r>
            <a:endParaRPr lang="en-US" sz="1000" dirty="0"/>
          </a:p>
        </p:txBody>
      </p:sp>
      <p:sp>
        <p:nvSpPr>
          <p:cNvPr id="23" name="Text 21"/>
          <p:cNvSpPr/>
          <p:nvPr/>
        </p:nvSpPr>
        <p:spPr>
          <a:xfrm>
            <a:off x="4050792" y="2990088"/>
            <a:ext cx="1572768" cy="493776"/>
          </a:xfrm>
          <a:prstGeom prst="rect">
            <a:avLst/>
          </a:prstGeom>
          <a:noFill/>
          <a:ln/>
        </p:spPr>
        <p:txBody>
          <a:bodyPr wrap="square" lIns="0" tIns="0" rIns="0" bIns="0" rtlCol="0" anchor="ctr"/>
          <a:lstStyle/>
          <a:p>
            <a:pPr marL="0" indent="0">
              <a:buNone/>
            </a:pPr>
            <a:r>
              <a:rPr lang="en-US" sz="1000" dirty="0">
                <a:solidFill>
                  <a:srgbClr val="5A5F73"/>
                </a:solidFill>
                <a:latin typeface="Calibri" pitchFamily="34" charset="0"/>
                <a:ea typeface="Calibri" pitchFamily="34" charset="-122"/>
                <a:cs typeface="Calibri" pitchFamily="34" charset="-120"/>
              </a:rPr>
              <a:t>Cuantitativa</a:t>
            </a:r>
            <a:endParaRPr lang="en-US" sz="1000" dirty="0"/>
          </a:p>
        </p:txBody>
      </p:sp>
      <p:sp>
        <p:nvSpPr>
          <p:cNvPr id="24" name="Text 22"/>
          <p:cNvSpPr/>
          <p:nvPr/>
        </p:nvSpPr>
        <p:spPr>
          <a:xfrm>
            <a:off x="5623560" y="2990088"/>
            <a:ext cx="1298448" cy="493776"/>
          </a:xfrm>
          <a:prstGeom prst="rect">
            <a:avLst/>
          </a:prstGeom>
          <a:noFill/>
          <a:ln/>
        </p:spPr>
        <p:txBody>
          <a:bodyPr wrap="square" lIns="0" tIns="0" rIns="0" bIns="0" rtlCol="0" anchor="ctr"/>
          <a:lstStyle/>
          <a:p>
            <a:pPr marL="0" indent="0">
              <a:buNone/>
            </a:pPr>
            <a:r>
              <a:rPr lang="en-US" sz="1000" dirty="0">
                <a:solidFill>
                  <a:srgbClr val="5A5F73"/>
                </a:solidFill>
                <a:latin typeface="Calibri" pitchFamily="34" charset="0"/>
                <a:ea typeface="Calibri" pitchFamily="34" charset="-122"/>
                <a:cs typeface="Calibri" pitchFamily="34" charset="-120"/>
              </a:rPr>
              <a:t>Razón</a:t>
            </a:r>
            <a:endParaRPr lang="en-US" sz="1000" dirty="0"/>
          </a:p>
        </p:txBody>
      </p:sp>
      <p:sp>
        <p:nvSpPr>
          <p:cNvPr id="25" name="Text 23"/>
          <p:cNvSpPr/>
          <p:nvPr/>
        </p:nvSpPr>
        <p:spPr>
          <a:xfrm>
            <a:off x="6922008" y="2990088"/>
            <a:ext cx="1051560" cy="493776"/>
          </a:xfrm>
          <a:prstGeom prst="rect">
            <a:avLst/>
          </a:prstGeom>
          <a:noFill/>
          <a:ln/>
        </p:spPr>
        <p:txBody>
          <a:bodyPr wrap="square" lIns="0" tIns="0" rIns="0" bIns="0" rtlCol="0" anchor="ctr"/>
          <a:lstStyle/>
          <a:p>
            <a:pPr marL="0" indent="0">
              <a:buNone/>
            </a:pPr>
            <a:r>
              <a:rPr lang="en-US" sz="1000" dirty="0">
                <a:solidFill>
                  <a:srgbClr val="5A5F73"/>
                </a:solidFill>
                <a:latin typeface="Calibri" pitchFamily="34" charset="0"/>
                <a:ea typeface="Calibri" pitchFamily="34" charset="-122"/>
                <a:cs typeface="Calibri" pitchFamily="34" charset="-120"/>
              </a:rPr>
              <a:t>años</a:t>
            </a:r>
            <a:endParaRPr lang="en-US" sz="1000" dirty="0"/>
          </a:p>
        </p:txBody>
      </p:sp>
      <p:sp>
        <p:nvSpPr>
          <p:cNvPr id="26" name="Text 24"/>
          <p:cNvSpPr/>
          <p:nvPr/>
        </p:nvSpPr>
        <p:spPr>
          <a:xfrm>
            <a:off x="7973568" y="2990088"/>
            <a:ext cx="2148840" cy="493776"/>
          </a:xfrm>
          <a:prstGeom prst="rect">
            <a:avLst/>
          </a:prstGeom>
          <a:noFill/>
          <a:ln/>
        </p:spPr>
        <p:txBody>
          <a:bodyPr wrap="square" lIns="0" tIns="0" rIns="0" bIns="0" rtlCol="0" anchor="ctr"/>
          <a:lstStyle/>
          <a:p>
            <a:pPr marL="0" indent="0">
              <a:buNone/>
            </a:pPr>
            <a:r>
              <a:rPr lang="en-US" sz="1000" dirty="0">
                <a:solidFill>
                  <a:srgbClr val="5A5F73"/>
                </a:solidFill>
                <a:latin typeface="Calibri" pitchFamily="34" charset="0"/>
                <a:ea typeface="Calibri" pitchFamily="34" charset="-122"/>
                <a:cs typeface="Calibri" pitchFamily="34" charset="-120"/>
              </a:rPr>
              <a:t>18 – 90</a:t>
            </a:r>
            <a:endParaRPr lang="en-US" sz="1000" dirty="0"/>
          </a:p>
        </p:txBody>
      </p:sp>
      <p:sp>
        <p:nvSpPr>
          <p:cNvPr id="27" name="Text 25"/>
          <p:cNvSpPr/>
          <p:nvPr/>
        </p:nvSpPr>
        <p:spPr>
          <a:xfrm>
            <a:off x="10122408" y="2990088"/>
            <a:ext cx="1490472" cy="493776"/>
          </a:xfrm>
          <a:prstGeom prst="rect">
            <a:avLst/>
          </a:prstGeom>
          <a:noFill/>
          <a:ln/>
        </p:spPr>
        <p:txBody>
          <a:bodyPr wrap="square" lIns="0" tIns="0" rIns="0" bIns="0" rtlCol="0" anchor="ctr"/>
          <a:lstStyle/>
          <a:p>
            <a:pPr marL="0" indent="0">
              <a:buNone/>
            </a:pPr>
            <a:r>
              <a:rPr lang="en-US" sz="1000" dirty="0">
                <a:solidFill>
                  <a:srgbClr val="5A5F73"/>
                </a:solidFill>
                <a:latin typeface="Calibri" pitchFamily="34" charset="0"/>
                <a:ea typeface="Calibri" pitchFamily="34" charset="-122"/>
                <a:cs typeface="Calibri" pitchFamily="34" charset="-120"/>
              </a:rPr>
              <a:t>Predictor</a:t>
            </a:r>
            <a:endParaRPr lang="en-US" sz="1000" dirty="0"/>
          </a:p>
        </p:txBody>
      </p:sp>
      <p:sp>
        <p:nvSpPr>
          <p:cNvPr id="28" name="Shape 26"/>
          <p:cNvSpPr/>
          <p:nvPr/>
        </p:nvSpPr>
        <p:spPr>
          <a:xfrm>
            <a:off x="457200" y="3557016"/>
            <a:ext cx="11155680" cy="493776"/>
          </a:xfrm>
          <a:prstGeom prst="roundRect">
            <a:avLst>
              <a:gd name="adj" fmla="val 9259"/>
            </a:avLst>
          </a:prstGeom>
          <a:solidFill>
            <a:srgbClr val="F4F7FC"/>
          </a:solidFill>
          <a:ln/>
        </p:spPr>
        <p:txBody>
          <a:bodyPr/>
          <a:lstStyle/>
          <a:p>
            <a:endParaRPr lang="es-CO"/>
          </a:p>
        </p:txBody>
      </p:sp>
      <p:sp>
        <p:nvSpPr>
          <p:cNvPr id="29" name="Text 27"/>
          <p:cNvSpPr/>
          <p:nvPr/>
        </p:nvSpPr>
        <p:spPr>
          <a:xfrm>
            <a:off x="548640" y="3557016"/>
            <a:ext cx="2331720" cy="493776"/>
          </a:xfrm>
          <a:prstGeom prst="rect">
            <a:avLst/>
          </a:prstGeom>
          <a:noFill/>
          <a:ln/>
        </p:spPr>
        <p:txBody>
          <a:bodyPr wrap="square" lIns="0" tIns="0" rIns="0" bIns="0" rtlCol="0" anchor="ctr"/>
          <a:lstStyle/>
          <a:p>
            <a:pPr marL="0" indent="0">
              <a:buNone/>
            </a:pPr>
            <a:r>
              <a:rPr lang="en-US" sz="1000" b="1" dirty="0">
                <a:solidFill>
                  <a:srgbClr val="1E2761"/>
                </a:solidFill>
                <a:latin typeface="Calibri" pitchFamily="34" charset="0"/>
                <a:ea typeface="Calibri" pitchFamily="34" charset="-122"/>
                <a:cs typeface="Calibri" pitchFamily="34" charset="-120"/>
              </a:rPr>
              <a:t>salario_cliente</a:t>
            </a:r>
            <a:endParaRPr lang="en-US" sz="1000" dirty="0"/>
          </a:p>
        </p:txBody>
      </p:sp>
      <p:sp>
        <p:nvSpPr>
          <p:cNvPr id="30" name="Text 28"/>
          <p:cNvSpPr/>
          <p:nvPr/>
        </p:nvSpPr>
        <p:spPr>
          <a:xfrm>
            <a:off x="2880360" y="3557016"/>
            <a:ext cx="1170432" cy="493776"/>
          </a:xfrm>
          <a:prstGeom prst="rect">
            <a:avLst/>
          </a:prstGeom>
          <a:noFill/>
          <a:ln/>
        </p:spPr>
        <p:txBody>
          <a:bodyPr wrap="square" lIns="0" tIns="0" rIns="0" bIns="0" rtlCol="0" anchor="ctr"/>
          <a:lstStyle/>
          <a:p>
            <a:pPr marL="0" indent="0">
              <a:buNone/>
            </a:pPr>
            <a:r>
              <a:rPr lang="en-US" sz="1000" dirty="0">
                <a:solidFill>
                  <a:srgbClr val="5A5F73"/>
                </a:solidFill>
                <a:latin typeface="Calibri" pitchFamily="34" charset="0"/>
                <a:ea typeface="Calibri" pitchFamily="34" charset="-122"/>
                <a:cs typeface="Calibri" pitchFamily="34" charset="-120"/>
              </a:rPr>
              <a:t>int64</a:t>
            </a:r>
            <a:endParaRPr lang="en-US" sz="1000" dirty="0"/>
          </a:p>
        </p:txBody>
      </p:sp>
      <p:sp>
        <p:nvSpPr>
          <p:cNvPr id="31" name="Text 29"/>
          <p:cNvSpPr/>
          <p:nvPr/>
        </p:nvSpPr>
        <p:spPr>
          <a:xfrm>
            <a:off x="4050792" y="3557016"/>
            <a:ext cx="1572768" cy="493776"/>
          </a:xfrm>
          <a:prstGeom prst="rect">
            <a:avLst/>
          </a:prstGeom>
          <a:noFill/>
          <a:ln/>
        </p:spPr>
        <p:txBody>
          <a:bodyPr wrap="square" lIns="0" tIns="0" rIns="0" bIns="0" rtlCol="0" anchor="ctr"/>
          <a:lstStyle/>
          <a:p>
            <a:pPr marL="0" indent="0">
              <a:buNone/>
            </a:pPr>
            <a:r>
              <a:rPr lang="en-US" sz="1000" dirty="0">
                <a:solidFill>
                  <a:srgbClr val="5A5F73"/>
                </a:solidFill>
                <a:latin typeface="Calibri" pitchFamily="34" charset="0"/>
                <a:ea typeface="Calibri" pitchFamily="34" charset="-122"/>
                <a:cs typeface="Calibri" pitchFamily="34" charset="-120"/>
              </a:rPr>
              <a:t>Cuantitativa</a:t>
            </a:r>
            <a:endParaRPr lang="en-US" sz="1000" dirty="0"/>
          </a:p>
        </p:txBody>
      </p:sp>
      <p:sp>
        <p:nvSpPr>
          <p:cNvPr id="32" name="Text 30"/>
          <p:cNvSpPr/>
          <p:nvPr/>
        </p:nvSpPr>
        <p:spPr>
          <a:xfrm>
            <a:off x="5623560" y="3557016"/>
            <a:ext cx="1298448" cy="493776"/>
          </a:xfrm>
          <a:prstGeom prst="rect">
            <a:avLst/>
          </a:prstGeom>
          <a:noFill/>
          <a:ln/>
        </p:spPr>
        <p:txBody>
          <a:bodyPr wrap="square" lIns="0" tIns="0" rIns="0" bIns="0" rtlCol="0" anchor="ctr"/>
          <a:lstStyle/>
          <a:p>
            <a:pPr marL="0" indent="0">
              <a:buNone/>
            </a:pPr>
            <a:r>
              <a:rPr lang="en-US" sz="1000" dirty="0">
                <a:solidFill>
                  <a:srgbClr val="5A5F73"/>
                </a:solidFill>
                <a:latin typeface="Calibri" pitchFamily="34" charset="0"/>
                <a:ea typeface="Calibri" pitchFamily="34" charset="-122"/>
                <a:cs typeface="Calibri" pitchFamily="34" charset="-120"/>
              </a:rPr>
              <a:t>Razón</a:t>
            </a:r>
            <a:endParaRPr lang="en-US" sz="1000" dirty="0"/>
          </a:p>
        </p:txBody>
      </p:sp>
      <p:sp>
        <p:nvSpPr>
          <p:cNvPr id="33" name="Text 31"/>
          <p:cNvSpPr/>
          <p:nvPr/>
        </p:nvSpPr>
        <p:spPr>
          <a:xfrm>
            <a:off x="6922008" y="3557016"/>
            <a:ext cx="1051560" cy="493776"/>
          </a:xfrm>
          <a:prstGeom prst="rect">
            <a:avLst/>
          </a:prstGeom>
          <a:noFill/>
          <a:ln/>
        </p:spPr>
        <p:txBody>
          <a:bodyPr wrap="square" lIns="0" tIns="0" rIns="0" bIns="0" rtlCol="0" anchor="ctr"/>
          <a:lstStyle/>
          <a:p>
            <a:pPr marL="0" indent="0">
              <a:buNone/>
            </a:pPr>
            <a:r>
              <a:rPr lang="en-US" sz="1000" dirty="0">
                <a:solidFill>
                  <a:srgbClr val="5A5F73"/>
                </a:solidFill>
                <a:latin typeface="Calibri" pitchFamily="34" charset="0"/>
                <a:ea typeface="Calibri" pitchFamily="34" charset="-122"/>
                <a:cs typeface="Calibri" pitchFamily="34" charset="-120"/>
              </a:rPr>
              <a:t>COP/mes</a:t>
            </a:r>
            <a:endParaRPr lang="en-US" sz="1000" dirty="0"/>
          </a:p>
        </p:txBody>
      </p:sp>
      <p:sp>
        <p:nvSpPr>
          <p:cNvPr id="34" name="Text 32"/>
          <p:cNvSpPr/>
          <p:nvPr/>
        </p:nvSpPr>
        <p:spPr>
          <a:xfrm>
            <a:off x="7973568" y="3557016"/>
            <a:ext cx="2148840" cy="493776"/>
          </a:xfrm>
          <a:prstGeom prst="rect">
            <a:avLst/>
          </a:prstGeom>
          <a:noFill/>
          <a:ln/>
        </p:spPr>
        <p:txBody>
          <a:bodyPr wrap="square" lIns="0" tIns="0" rIns="0" bIns="0" rtlCol="0" anchor="ctr"/>
          <a:lstStyle/>
          <a:p>
            <a:pPr marL="0" indent="0">
              <a:buNone/>
            </a:pPr>
            <a:r>
              <a:rPr lang="en-US" sz="1000" dirty="0">
                <a:solidFill>
                  <a:srgbClr val="5A5F73"/>
                </a:solidFill>
                <a:latin typeface="Calibri" pitchFamily="34" charset="0"/>
                <a:ea typeface="Calibri" pitchFamily="34" charset="-122"/>
                <a:cs typeface="Calibri" pitchFamily="34" charset="-120"/>
              </a:rPr>
              <a:t>1 – 20.000.000</a:t>
            </a:r>
            <a:endParaRPr lang="en-US" sz="1000" dirty="0"/>
          </a:p>
        </p:txBody>
      </p:sp>
      <p:sp>
        <p:nvSpPr>
          <p:cNvPr id="35" name="Text 33"/>
          <p:cNvSpPr/>
          <p:nvPr/>
        </p:nvSpPr>
        <p:spPr>
          <a:xfrm>
            <a:off x="10122408" y="3557016"/>
            <a:ext cx="1490472" cy="493776"/>
          </a:xfrm>
          <a:prstGeom prst="rect">
            <a:avLst/>
          </a:prstGeom>
          <a:noFill/>
          <a:ln/>
        </p:spPr>
        <p:txBody>
          <a:bodyPr wrap="square" lIns="0" tIns="0" rIns="0" bIns="0" rtlCol="0" anchor="ctr"/>
          <a:lstStyle/>
          <a:p>
            <a:pPr marL="0" indent="0">
              <a:buNone/>
            </a:pPr>
            <a:r>
              <a:rPr lang="en-US" sz="1000" dirty="0">
                <a:solidFill>
                  <a:srgbClr val="5A5F73"/>
                </a:solidFill>
                <a:latin typeface="Calibri" pitchFamily="34" charset="0"/>
                <a:ea typeface="Calibri" pitchFamily="34" charset="-122"/>
                <a:cs typeface="Calibri" pitchFamily="34" charset="-120"/>
              </a:rPr>
              <a:t>Predictor</a:t>
            </a:r>
            <a:endParaRPr lang="en-US" sz="1000" dirty="0"/>
          </a:p>
        </p:txBody>
      </p:sp>
      <p:sp>
        <p:nvSpPr>
          <p:cNvPr id="36" name="Shape 34"/>
          <p:cNvSpPr/>
          <p:nvPr/>
        </p:nvSpPr>
        <p:spPr>
          <a:xfrm>
            <a:off x="457200" y="4123944"/>
            <a:ext cx="11155680" cy="493776"/>
          </a:xfrm>
          <a:prstGeom prst="roundRect">
            <a:avLst>
              <a:gd name="adj" fmla="val 9259"/>
            </a:avLst>
          </a:prstGeom>
          <a:solidFill>
            <a:srgbClr val="FFFFFF"/>
          </a:solidFill>
          <a:ln/>
        </p:spPr>
        <p:txBody>
          <a:bodyPr/>
          <a:lstStyle/>
          <a:p>
            <a:endParaRPr lang="es-CO"/>
          </a:p>
        </p:txBody>
      </p:sp>
      <p:sp>
        <p:nvSpPr>
          <p:cNvPr id="37" name="Text 35"/>
          <p:cNvSpPr/>
          <p:nvPr/>
        </p:nvSpPr>
        <p:spPr>
          <a:xfrm>
            <a:off x="548640" y="4123944"/>
            <a:ext cx="2331720" cy="493776"/>
          </a:xfrm>
          <a:prstGeom prst="rect">
            <a:avLst/>
          </a:prstGeom>
          <a:noFill/>
          <a:ln/>
        </p:spPr>
        <p:txBody>
          <a:bodyPr wrap="square" lIns="0" tIns="0" rIns="0" bIns="0" rtlCol="0" anchor="ctr"/>
          <a:lstStyle/>
          <a:p>
            <a:pPr marL="0" indent="0">
              <a:buNone/>
            </a:pPr>
            <a:r>
              <a:rPr lang="en-US" sz="1000" b="1" dirty="0">
                <a:solidFill>
                  <a:srgbClr val="1E2761"/>
                </a:solidFill>
                <a:latin typeface="Calibri" pitchFamily="34" charset="0"/>
                <a:ea typeface="Calibri" pitchFamily="34" charset="-122"/>
                <a:cs typeface="Calibri" pitchFamily="34" charset="-120"/>
              </a:rPr>
              <a:t>puntaje_datacredito</a:t>
            </a:r>
            <a:endParaRPr lang="en-US" sz="1000" dirty="0"/>
          </a:p>
        </p:txBody>
      </p:sp>
      <p:sp>
        <p:nvSpPr>
          <p:cNvPr id="38" name="Text 36"/>
          <p:cNvSpPr/>
          <p:nvPr/>
        </p:nvSpPr>
        <p:spPr>
          <a:xfrm>
            <a:off x="2880360" y="4123944"/>
            <a:ext cx="1170432" cy="493776"/>
          </a:xfrm>
          <a:prstGeom prst="rect">
            <a:avLst/>
          </a:prstGeom>
          <a:noFill/>
          <a:ln/>
        </p:spPr>
        <p:txBody>
          <a:bodyPr wrap="square" lIns="0" tIns="0" rIns="0" bIns="0" rtlCol="0" anchor="ctr"/>
          <a:lstStyle/>
          <a:p>
            <a:pPr marL="0" indent="0">
              <a:buNone/>
            </a:pPr>
            <a:r>
              <a:rPr lang="en-US" sz="1000" dirty="0">
                <a:solidFill>
                  <a:srgbClr val="5A5F73"/>
                </a:solidFill>
                <a:latin typeface="Calibri" pitchFamily="34" charset="0"/>
                <a:ea typeface="Calibri" pitchFamily="34" charset="-122"/>
                <a:cs typeface="Calibri" pitchFamily="34" charset="-120"/>
              </a:rPr>
              <a:t>float64</a:t>
            </a:r>
            <a:endParaRPr lang="en-US" sz="1000" dirty="0"/>
          </a:p>
        </p:txBody>
      </p:sp>
      <p:sp>
        <p:nvSpPr>
          <p:cNvPr id="39" name="Text 37"/>
          <p:cNvSpPr/>
          <p:nvPr/>
        </p:nvSpPr>
        <p:spPr>
          <a:xfrm>
            <a:off x="4050792" y="4123944"/>
            <a:ext cx="1572768" cy="493776"/>
          </a:xfrm>
          <a:prstGeom prst="rect">
            <a:avLst/>
          </a:prstGeom>
          <a:noFill/>
          <a:ln/>
        </p:spPr>
        <p:txBody>
          <a:bodyPr wrap="square" lIns="0" tIns="0" rIns="0" bIns="0" rtlCol="0" anchor="ctr"/>
          <a:lstStyle/>
          <a:p>
            <a:pPr marL="0" indent="0">
              <a:buNone/>
            </a:pPr>
            <a:r>
              <a:rPr lang="en-US" sz="1000" dirty="0">
                <a:solidFill>
                  <a:srgbClr val="5A5F73"/>
                </a:solidFill>
                <a:latin typeface="Calibri" pitchFamily="34" charset="0"/>
                <a:ea typeface="Calibri" pitchFamily="34" charset="-122"/>
                <a:cs typeface="Calibri" pitchFamily="34" charset="-120"/>
              </a:rPr>
              <a:t>Cuantitativa</a:t>
            </a:r>
            <a:endParaRPr lang="en-US" sz="1000" dirty="0"/>
          </a:p>
        </p:txBody>
      </p:sp>
      <p:sp>
        <p:nvSpPr>
          <p:cNvPr id="40" name="Text 38"/>
          <p:cNvSpPr/>
          <p:nvPr/>
        </p:nvSpPr>
        <p:spPr>
          <a:xfrm>
            <a:off x="5623560" y="4123944"/>
            <a:ext cx="1298448" cy="493776"/>
          </a:xfrm>
          <a:prstGeom prst="rect">
            <a:avLst/>
          </a:prstGeom>
          <a:noFill/>
          <a:ln/>
        </p:spPr>
        <p:txBody>
          <a:bodyPr wrap="square" lIns="0" tIns="0" rIns="0" bIns="0" rtlCol="0" anchor="ctr"/>
          <a:lstStyle/>
          <a:p>
            <a:pPr marL="0" indent="0">
              <a:buNone/>
            </a:pPr>
            <a:r>
              <a:rPr lang="en-US" sz="1000" dirty="0">
                <a:solidFill>
                  <a:srgbClr val="5A5F73"/>
                </a:solidFill>
                <a:latin typeface="Calibri" pitchFamily="34" charset="0"/>
                <a:ea typeface="Calibri" pitchFamily="34" charset="-122"/>
                <a:cs typeface="Calibri" pitchFamily="34" charset="-120"/>
              </a:rPr>
              <a:t>Intervalo</a:t>
            </a:r>
            <a:endParaRPr lang="en-US" sz="1000" dirty="0"/>
          </a:p>
        </p:txBody>
      </p:sp>
      <p:sp>
        <p:nvSpPr>
          <p:cNvPr id="41" name="Text 39"/>
          <p:cNvSpPr/>
          <p:nvPr/>
        </p:nvSpPr>
        <p:spPr>
          <a:xfrm>
            <a:off x="6922008" y="4123944"/>
            <a:ext cx="1051560" cy="493776"/>
          </a:xfrm>
          <a:prstGeom prst="rect">
            <a:avLst/>
          </a:prstGeom>
          <a:noFill/>
          <a:ln/>
        </p:spPr>
        <p:txBody>
          <a:bodyPr wrap="square" lIns="0" tIns="0" rIns="0" bIns="0" rtlCol="0" anchor="ctr"/>
          <a:lstStyle/>
          <a:p>
            <a:pPr marL="0" indent="0">
              <a:buNone/>
            </a:pPr>
            <a:r>
              <a:rPr lang="en-US" sz="1000" dirty="0">
                <a:solidFill>
                  <a:srgbClr val="5A5F73"/>
                </a:solidFill>
                <a:latin typeface="Calibri" pitchFamily="34" charset="0"/>
                <a:ea typeface="Calibri" pitchFamily="34" charset="-122"/>
                <a:cs typeface="Calibri" pitchFamily="34" charset="-120"/>
              </a:rPr>
              <a:t>puntos</a:t>
            </a:r>
            <a:endParaRPr lang="en-US" sz="1000" dirty="0"/>
          </a:p>
        </p:txBody>
      </p:sp>
      <p:sp>
        <p:nvSpPr>
          <p:cNvPr id="42" name="Text 40"/>
          <p:cNvSpPr/>
          <p:nvPr/>
        </p:nvSpPr>
        <p:spPr>
          <a:xfrm>
            <a:off x="7973568" y="4123944"/>
            <a:ext cx="2148840" cy="493776"/>
          </a:xfrm>
          <a:prstGeom prst="rect">
            <a:avLst/>
          </a:prstGeom>
          <a:noFill/>
          <a:ln/>
        </p:spPr>
        <p:txBody>
          <a:bodyPr wrap="square" lIns="0" tIns="0" rIns="0" bIns="0" rtlCol="0" anchor="ctr"/>
          <a:lstStyle/>
          <a:p>
            <a:pPr marL="0" indent="0">
              <a:buNone/>
            </a:pPr>
            <a:r>
              <a:rPr lang="en-US" sz="1000" dirty="0">
                <a:solidFill>
                  <a:srgbClr val="5A5F73"/>
                </a:solidFill>
                <a:latin typeface="Calibri" pitchFamily="34" charset="0"/>
                <a:ea typeface="Calibri" pitchFamily="34" charset="-122"/>
                <a:cs typeface="Calibri" pitchFamily="34" charset="-120"/>
              </a:rPr>
              <a:t>150 – 950</a:t>
            </a:r>
            <a:endParaRPr lang="en-US" sz="1000" dirty="0"/>
          </a:p>
        </p:txBody>
      </p:sp>
      <p:sp>
        <p:nvSpPr>
          <p:cNvPr id="43" name="Text 41"/>
          <p:cNvSpPr/>
          <p:nvPr/>
        </p:nvSpPr>
        <p:spPr>
          <a:xfrm>
            <a:off x="10122408" y="4123944"/>
            <a:ext cx="1490472" cy="493776"/>
          </a:xfrm>
          <a:prstGeom prst="rect">
            <a:avLst/>
          </a:prstGeom>
          <a:noFill/>
          <a:ln/>
        </p:spPr>
        <p:txBody>
          <a:bodyPr wrap="square" lIns="0" tIns="0" rIns="0" bIns="0" rtlCol="0" anchor="ctr"/>
          <a:lstStyle/>
          <a:p>
            <a:pPr marL="0" indent="0">
              <a:buNone/>
            </a:pPr>
            <a:r>
              <a:rPr lang="en-US" sz="1000" dirty="0">
                <a:solidFill>
                  <a:srgbClr val="5A5F73"/>
                </a:solidFill>
                <a:latin typeface="Calibri" pitchFamily="34" charset="0"/>
                <a:ea typeface="Calibri" pitchFamily="34" charset="-122"/>
                <a:cs typeface="Calibri" pitchFamily="34" charset="-120"/>
              </a:rPr>
              <a:t>Predictor</a:t>
            </a:r>
            <a:endParaRPr lang="en-US" sz="1000" dirty="0"/>
          </a:p>
        </p:txBody>
      </p:sp>
      <p:sp>
        <p:nvSpPr>
          <p:cNvPr id="44" name="Shape 42"/>
          <p:cNvSpPr/>
          <p:nvPr/>
        </p:nvSpPr>
        <p:spPr>
          <a:xfrm>
            <a:off x="457200" y="4690872"/>
            <a:ext cx="11155680" cy="493776"/>
          </a:xfrm>
          <a:prstGeom prst="roundRect">
            <a:avLst>
              <a:gd name="adj" fmla="val 9259"/>
            </a:avLst>
          </a:prstGeom>
          <a:solidFill>
            <a:srgbClr val="F4F7FC"/>
          </a:solidFill>
          <a:ln/>
        </p:spPr>
        <p:txBody>
          <a:bodyPr/>
          <a:lstStyle/>
          <a:p>
            <a:endParaRPr lang="es-CO"/>
          </a:p>
        </p:txBody>
      </p:sp>
      <p:sp>
        <p:nvSpPr>
          <p:cNvPr id="45" name="Text 43"/>
          <p:cNvSpPr/>
          <p:nvPr/>
        </p:nvSpPr>
        <p:spPr>
          <a:xfrm>
            <a:off x="548640" y="4690872"/>
            <a:ext cx="2331720" cy="493776"/>
          </a:xfrm>
          <a:prstGeom prst="rect">
            <a:avLst/>
          </a:prstGeom>
          <a:noFill/>
          <a:ln/>
        </p:spPr>
        <p:txBody>
          <a:bodyPr wrap="square" lIns="0" tIns="0" rIns="0" bIns="0" rtlCol="0" anchor="ctr"/>
          <a:lstStyle/>
          <a:p>
            <a:pPr marL="0" indent="0">
              <a:buNone/>
            </a:pPr>
            <a:r>
              <a:rPr lang="en-US" sz="1000" b="1" dirty="0">
                <a:solidFill>
                  <a:srgbClr val="1E2761"/>
                </a:solidFill>
                <a:latin typeface="Calibri" pitchFamily="34" charset="0"/>
                <a:ea typeface="Calibri" pitchFamily="34" charset="-122"/>
                <a:cs typeface="Calibri" pitchFamily="34" charset="-120"/>
              </a:rPr>
              <a:t>tendencia_ingresos</a:t>
            </a:r>
            <a:endParaRPr lang="en-US" sz="1000" dirty="0"/>
          </a:p>
        </p:txBody>
      </p:sp>
      <p:sp>
        <p:nvSpPr>
          <p:cNvPr id="46" name="Text 44"/>
          <p:cNvSpPr/>
          <p:nvPr/>
        </p:nvSpPr>
        <p:spPr>
          <a:xfrm>
            <a:off x="2880360" y="4690872"/>
            <a:ext cx="1170432" cy="493776"/>
          </a:xfrm>
          <a:prstGeom prst="rect">
            <a:avLst/>
          </a:prstGeom>
          <a:noFill/>
          <a:ln/>
        </p:spPr>
        <p:txBody>
          <a:bodyPr wrap="square" lIns="0" tIns="0" rIns="0" bIns="0" rtlCol="0" anchor="ctr"/>
          <a:lstStyle/>
          <a:p>
            <a:pPr marL="0" indent="0">
              <a:buNone/>
            </a:pPr>
            <a:r>
              <a:rPr lang="en-US" sz="1000" dirty="0">
                <a:solidFill>
                  <a:srgbClr val="5A5F73"/>
                </a:solidFill>
                <a:latin typeface="Calibri" pitchFamily="34" charset="0"/>
                <a:ea typeface="Calibri" pitchFamily="34" charset="-122"/>
                <a:cs typeface="Calibri" pitchFamily="34" charset="-120"/>
              </a:rPr>
              <a:t>object</a:t>
            </a:r>
            <a:endParaRPr lang="en-US" sz="1000" dirty="0"/>
          </a:p>
        </p:txBody>
      </p:sp>
      <p:sp>
        <p:nvSpPr>
          <p:cNvPr id="47" name="Text 45"/>
          <p:cNvSpPr/>
          <p:nvPr/>
        </p:nvSpPr>
        <p:spPr>
          <a:xfrm>
            <a:off x="4050792" y="4690872"/>
            <a:ext cx="1572768" cy="493776"/>
          </a:xfrm>
          <a:prstGeom prst="rect">
            <a:avLst/>
          </a:prstGeom>
          <a:noFill/>
          <a:ln/>
        </p:spPr>
        <p:txBody>
          <a:bodyPr wrap="square" lIns="0" tIns="0" rIns="0" bIns="0" rtlCol="0" anchor="ctr"/>
          <a:lstStyle/>
          <a:p>
            <a:pPr marL="0" indent="0">
              <a:buNone/>
            </a:pPr>
            <a:r>
              <a:rPr lang="en-US" sz="1000" dirty="0">
                <a:solidFill>
                  <a:srgbClr val="5A5F73"/>
                </a:solidFill>
                <a:latin typeface="Calibri" pitchFamily="34" charset="0"/>
                <a:ea typeface="Calibri" pitchFamily="34" charset="-122"/>
                <a:cs typeface="Calibri" pitchFamily="34" charset="-120"/>
              </a:rPr>
              <a:t>Cualitativa</a:t>
            </a:r>
            <a:endParaRPr lang="en-US" sz="1000" dirty="0"/>
          </a:p>
        </p:txBody>
      </p:sp>
      <p:sp>
        <p:nvSpPr>
          <p:cNvPr id="48" name="Text 46"/>
          <p:cNvSpPr/>
          <p:nvPr/>
        </p:nvSpPr>
        <p:spPr>
          <a:xfrm>
            <a:off x="5623560" y="4690872"/>
            <a:ext cx="1298448" cy="493776"/>
          </a:xfrm>
          <a:prstGeom prst="rect">
            <a:avLst/>
          </a:prstGeom>
          <a:noFill/>
          <a:ln/>
        </p:spPr>
        <p:txBody>
          <a:bodyPr wrap="square" lIns="0" tIns="0" rIns="0" bIns="0" rtlCol="0" anchor="ctr"/>
          <a:lstStyle/>
          <a:p>
            <a:pPr marL="0" indent="0">
              <a:buNone/>
            </a:pPr>
            <a:r>
              <a:rPr lang="en-US" sz="1000" dirty="0">
                <a:solidFill>
                  <a:srgbClr val="5A5F73"/>
                </a:solidFill>
                <a:latin typeface="Calibri" pitchFamily="34" charset="0"/>
                <a:ea typeface="Calibri" pitchFamily="34" charset="-122"/>
                <a:cs typeface="Calibri" pitchFamily="34" charset="-120"/>
              </a:rPr>
              <a:t>Nominal</a:t>
            </a:r>
            <a:endParaRPr lang="en-US" sz="1000" dirty="0"/>
          </a:p>
        </p:txBody>
      </p:sp>
      <p:sp>
        <p:nvSpPr>
          <p:cNvPr id="49" name="Text 47"/>
          <p:cNvSpPr/>
          <p:nvPr/>
        </p:nvSpPr>
        <p:spPr>
          <a:xfrm>
            <a:off x="6922008" y="4690872"/>
            <a:ext cx="1051560" cy="493776"/>
          </a:xfrm>
          <a:prstGeom prst="rect">
            <a:avLst/>
          </a:prstGeom>
          <a:noFill/>
          <a:ln/>
        </p:spPr>
        <p:txBody>
          <a:bodyPr wrap="square" lIns="0" tIns="0" rIns="0" bIns="0" rtlCol="0" anchor="ctr"/>
          <a:lstStyle/>
          <a:p>
            <a:pPr marL="0" indent="0">
              <a:buNone/>
            </a:pPr>
            <a:r>
              <a:rPr lang="en-US" sz="1000" dirty="0">
                <a:solidFill>
                  <a:srgbClr val="5A5F73"/>
                </a:solidFill>
                <a:latin typeface="Calibri" pitchFamily="34" charset="0"/>
                <a:ea typeface="Calibri" pitchFamily="34" charset="-122"/>
                <a:cs typeface="Calibri" pitchFamily="34" charset="-120"/>
              </a:rPr>
              <a:t>—</a:t>
            </a:r>
            <a:endParaRPr lang="en-US" sz="1000" dirty="0"/>
          </a:p>
        </p:txBody>
      </p:sp>
      <p:sp>
        <p:nvSpPr>
          <p:cNvPr id="50" name="Text 48"/>
          <p:cNvSpPr/>
          <p:nvPr/>
        </p:nvSpPr>
        <p:spPr>
          <a:xfrm>
            <a:off x="7973568" y="4690872"/>
            <a:ext cx="2148840" cy="493776"/>
          </a:xfrm>
          <a:prstGeom prst="rect">
            <a:avLst/>
          </a:prstGeom>
          <a:noFill/>
          <a:ln/>
        </p:spPr>
        <p:txBody>
          <a:bodyPr wrap="square" lIns="0" tIns="0" rIns="0" bIns="0" rtlCol="0" anchor="ctr"/>
          <a:lstStyle/>
          <a:p>
            <a:pPr marL="0" indent="0">
              <a:buNone/>
            </a:pPr>
            <a:r>
              <a:rPr lang="en-US" sz="850" dirty="0">
                <a:solidFill>
                  <a:srgbClr val="5A5F73"/>
                </a:solidFill>
                <a:latin typeface="Calibri" pitchFamily="34" charset="0"/>
                <a:ea typeface="Calibri" pitchFamily="34" charset="-122"/>
                <a:cs typeface="Calibri" pitchFamily="34" charset="-120"/>
              </a:rPr>
              <a:t>Creciente / Decreciente / Estable / Sin_dato</a:t>
            </a:r>
            <a:endParaRPr lang="en-US" sz="850" dirty="0"/>
          </a:p>
        </p:txBody>
      </p:sp>
      <p:sp>
        <p:nvSpPr>
          <p:cNvPr id="51" name="Text 49"/>
          <p:cNvSpPr/>
          <p:nvPr/>
        </p:nvSpPr>
        <p:spPr>
          <a:xfrm>
            <a:off x="10122408" y="4690872"/>
            <a:ext cx="1490472" cy="493776"/>
          </a:xfrm>
          <a:prstGeom prst="rect">
            <a:avLst/>
          </a:prstGeom>
          <a:noFill/>
          <a:ln/>
        </p:spPr>
        <p:txBody>
          <a:bodyPr wrap="square" lIns="0" tIns="0" rIns="0" bIns="0" rtlCol="0" anchor="ctr"/>
          <a:lstStyle/>
          <a:p>
            <a:pPr marL="0" indent="0">
              <a:buNone/>
            </a:pPr>
            <a:r>
              <a:rPr lang="en-US" sz="1000" dirty="0">
                <a:solidFill>
                  <a:srgbClr val="5A5F73"/>
                </a:solidFill>
                <a:latin typeface="Calibri" pitchFamily="34" charset="0"/>
                <a:ea typeface="Calibri" pitchFamily="34" charset="-122"/>
                <a:cs typeface="Calibri" pitchFamily="34" charset="-120"/>
              </a:rPr>
              <a:t>Predictor</a:t>
            </a:r>
            <a:endParaRPr lang="en-US" sz="1000" dirty="0"/>
          </a:p>
        </p:txBody>
      </p:sp>
      <p:sp>
        <p:nvSpPr>
          <p:cNvPr id="52" name="Shape 50"/>
          <p:cNvSpPr/>
          <p:nvPr/>
        </p:nvSpPr>
        <p:spPr>
          <a:xfrm>
            <a:off x="457200" y="5257800"/>
            <a:ext cx="11155680" cy="493776"/>
          </a:xfrm>
          <a:prstGeom prst="roundRect">
            <a:avLst>
              <a:gd name="adj" fmla="val 9259"/>
            </a:avLst>
          </a:prstGeom>
          <a:solidFill>
            <a:srgbClr val="FBEAEA"/>
          </a:solidFill>
          <a:ln/>
        </p:spPr>
        <p:txBody>
          <a:bodyPr/>
          <a:lstStyle/>
          <a:p>
            <a:endParaRPr lang="es-CO"/>
          </a:p>
        </p:txBody>
      </p:sp>
      <p:sp>
        <p:nvSpPr>
          <p:cNvPr id="53" name="Text 51"/>
          <p:cNvSpPr/>
          <p:nvPr/>
        </p:nvSpPr>
        <p:spPr>
          <a:xfrm>
            <a:off x="548640" y="5257800"/>
            <a:ext cx="2331720" cy="493776"/>
          </a:xfrm>
          <a:prstGeom prst="rect">
            <a:avLst/>
          </a:prstGeom>
          <a:noFill/>
          <a:ln/>
        </p:spPr>
        <p:txBody>
          <a:bodyPr wrap="square" lIns="0" tIns="0" rIns="0" bIns="0" rtlCol="0" anchor="ctr"/>
          <a:lstStyle/>
          <a:p>
            <a:pPr marL="0" indent="0">
              <a:buNone/>
            </a:pPr>
            <a:r>
              <a:rPr lang="en-US" sz="1000" b="1" dirty="0">
                <a:solidFill>
                  <a:srgbClr val="1E2761"/>
                </a:solidFill>
                <a:latin typeface="Calibri" pitchFamily="34" charset="0"/>
                <a:ea typeface="Calibri" pitchFamily="34" charset="-122"/>
                <a:cs typeface="Calibri" pitchFamily="34" charset="-120"/>
              </a:rPr>
              <a:t>Pago_atiempo</a:t>
            </a:r>
            <a:endParaRPr lang="en-US" sz="1000" dirty="0"/>
          </a:p>
        </p:txBody>
      </p:sp>
      <p:sp>
        <p:nvSpPr>
          <p:cNvPr id="54" name="Text 52"/>
          <p:cNvSpPr/>
          <p:nvPr/>
        </p:nvSpPr>
        <p:spPr>
          <a:xfrm>
            <a:off x="2880360" y="5257800"/>
            <a:ext cx="1170432" cy="493776"/>
          </a:xfrm>
          <a:prstGeom prst="rect">
            <a:avLst/>
          </a:prstGeom>
          <a:noFill/>
          <a:ln/>
        </p:spPr>
        <p:txBody>
          <a:bodyPr wrap="square" lIns="0" tIns="0" rIns="0" bIns="0" rtlCol="0" anchor="ctr"/>
          <a:lstStyle/>
          <a:p>
            <a:pPr marL="0" indent="0">
              <a:buNone/>
            </a:pPr>
            <a:r>
              <a:rPr lang="en-US" sz="1000" dirty="0">
                <a:solidFill>
                  <a:srgbClr val="5A5F73"/>
                </a:solidFill>
                <a:latin typeface="Calibri" pitchFamily="34" charset="0"/>
                <a:ea typeface="Calibri" pitchFamily="34" charset="-122"/>
                <a:cs typeface="Calibri" pitchFamily="34" charset="-120"/>
              </a:rPr>
              <a:t>int64</a:t>
            </a:r>
            <a:endParaRPr lang="en-US" sz="1000" dirty="0"/>
          </a:p>
        </p:txBody>
      </p:sp>
      <p:sp>
        <p:nvSpPr>
          <p:cNvPr id="55" name="Text 53"/>
          <p:cNvSpPr/>
          <p:nvPr/>
        </p:nvSpPr>
        <p:spPr>
          <a:xfrm>
            <a:off x="4050792" y="5257800"/>
            <a:ext cx="1572768" cy="493776"/>
          </a:xfrm>
          <a:prstGeom prst="rect">
            <a:avLst/>
          </a:prstGeom>
          <a:noFill/>
          <a:ln/>
        </p:spPr>
        <p:txBody>
          <a:bodyPr wrap="square" lIns="0" tIns="0" rIns="0" bIns="0" rtlCol="0" anchor="ctr"/>
          <a:lstStyle/>
          <a:p>
            <a:pPr marL="0" indent="0">
              <a:buNone/>
            </a:pPr>
            <a:r>
              <a:rPr lang="en-US" sz="1000" dirty="0">
                <a:solidFill>
                  <a:srgbClr val="5A5F73"/>
                </a:solidFill>
                <a:latin typeface="Calibri" pitchFamily="34" charset="0"/>
                <a:ea typeface="Calibri" pitchFamily="34" charset="-122"/>
                <a:cs typeface="Calibri" pitchFamily="34" charset="-120"/>
              </a:rPr>
              <a:t>Cualitativa</a:t>
            </a:r>
            <a:endParaRPr lang="en-US" sz="1000" dirty="0"/>
          </a:p>
        </p:txBody>
      </p:sp>
      <p:sp>
        <p:nvSpPr>
          <p:cNvPr id="56" name="Text 54"/>
          <p:cNvSpPr/>
          <p:nvPr/>
        </p:nvSpPr>
        <p:spPr>
          <a:xfrm>
            <a:off x="5623560" y="5257800"/>
            <a:ext cx="1298448" cy="493776"/>
          </a:xfrm>
          <a:prstGeom prst="rect">
            <a:avLst/>
          </a:prstGeom>
          <a:noFill/>
          <a:ln/>
        </p:spPr>
        <p:txBody>
          <a:bodyPr wrap="square" lIns="0" tIns="0" rIns="0" bIns="0" rtlCol="0" anchor="ctr"/>
          <a:lstStyle/>
          <a:p>
            <a:pPr marL="0" indent="0">
              <a:buNone/>
            </a:pPr>
            <a:r>
              <a:rPr lang="en-US" sz="1000" dirty="0">
                <a:solidFill>
                  <a:srgbClr val="5A5F73"/>
                </a:solidFill>
                <a:latin typeface="Calibri" pitchFamily="34" charset="0"/>
                <a:ea typeface="Calibri" pitchFamily="34" charset="-122"/>
                <a:cs typeface="Calibri" pitchFamily="34" charset="-120"/>
              </a:rPr>
              <a:t>Nominal</a:t>
            </a:r>
            <a:endParaRPr lang="en-US" sz="1000" dirty="0"/>
          </a:p>
        </p:txBody>
      </p:sp>
      <p:sp>
        <p:nvSpPr>
          <p:cNvPr id="57" name="Text 55"/>
          <p:cNvSpPr/>
          <p:nvPr/>
        </p:nvSpPr>
        <p:spPr>
          <a:xfrm>
            <a:off x="6922008" y="5257800"/>
            <a:ext cx="1051560" cy="493776"/>
          </a:xfrm>
          <a:prstGeom prst="rect">
            <a:avLst/>
          </a:prstGeom>
          <a:noFill/>
          <a:ln/>
        </p:spPr>
        <p:txBody>
          <a:bodyPr wrap="square" lIns="0" tIns="0" rIns="0" bIns="0" rtlCol="0" anchor="ctr"/>
          <a:lstStyle/>
          <a:p>
            <a:pPr marL="0" indent="0">
              <a:buNone/>
            </a:pPr>
            <a:r>
              <a:rPr lang="en-US" sz="1000" dirty="0">
                <a:solidFill>
                  <a:srgbClr val="5A5F73"/>
                </a:solidFill>
                <a:latin typeface="Calibri" pitchFamily="34" charset="0"/>
                <a:ea typeface="Calibri" pitchFamily="34" charset="-122"/>
                <a:cs typeface="Calibri" pitchFamily="34" charset="-120"/>
              </a:rPr>
              <a:t>—</a:t>
            </a:r>
            <a:endParaRPr lang="en-US" sz="1000" dirty="0"/>
          </a:p>
        </p:txBody>
      </p:sp>
      <p:sp>
        <p:nvSpPr>
          <p:cNvPr id="58" name="Text 56"/>
          <p:cNvSpPr/>
          <p:nvPr/>
        </p:nvSpPr>
        <p:spPr>
          <a:xfrm>
            <a:off x="7973568" y="5257800"/>
            <a:ext cx="2148840" cy="493776"/>
          </a:xfrm>
          <a:prstGeom prst="rect">
            <a:avLst/>
          </a:prstGeom>
          <a:noFill/>
          <a:ln/>
        </p:spPr>
        <p:txBody>
          <a:bodyPr wrap="square" lIns="0" tIns="0" rIns="0" bIns="0" rtlCol="0" anchor="ctr"/>
          <a:lstStyle/>
          <a:p>
            <a:pPr marL="0" indent="0">
              <a:buNone/>
            </a:pPr>
            <a:r>
              <a:rPr lang="en-US" sz="1000" dirty="0">
                <a:solidFill>
                  <a:srgbClr val="5A5F73"/>
                </a:solidFill>
                <a:latin typeface="Calibri" pitchFamily="34" charset="0"/>
                <a:ea typeface="Calibri" pitchFamily="34" charset="-122"/>
                <a:cs typeface="Calibri" pitchFamily="34" charset="-120"/>
              </a:rPr>
              <a:t>0, 1</a:t>
            </a:r>
            <a:endParaRPr lang="en-US" sz="1000" dirty="0"/>
          </a:p>
        </p:txBody>
      </p:sp>
      <p:sp>
        <p:nvSpPr>
          <p:cNvPr id="59" name="Text 57"/>
          <p:cNvSpPr/>
          <p:nvPr/>
        </p:nvSpPr>
        <p:spPr>
          <a:xfrm>
            <a:off x="10122408" y="5257800"/>
            <a:ext cx="1490472" cy="493776"/>
          </a:xfrm>
          <a:prstGeom prst="rect">
            <a:avLst/>
          </a:prstGeom>
          <a:noFill/>
          <a:ln/>
        </p:spPr>
        <p:txBody>
          <a:bodyPr wrap="square" lIns="0" tIns="0" rIns="0" bIns="0" rtlCol="0" anchor="ctr"/>
          <a:lstStyle/>
          <a:p>
            <a:pPr marL="0" indent="0">
              <a:buNone/>
            </a:pPr>
            <a:r>
              <a:rPr lang="en-US" sz="1000" b="1" dirty="0">
                <a:solidFill>
                  <a:srgbClr val="B33A3A"/>
                </a:solidFill>
                <a:latin typeface="Calibri" pitchFamily="34" charset="0"/>
                <a:ea typeface="Calibri" pitchFamily="34" charset="-122"/>
                <a:cs typeface="Calibri" pitchFamily="34" charset="-120"/>
              </a:rPr>
              <a:t>OBJETIVO</a:t>
            </a:r>
            <a:endParaRPr lang="en-US" sz="1000" dirty="0"/>
          </a:p>
        </p:txBody>
      </p:sp>
      <p:sp>
        <p:nvSpPr>
          <p:cNvPr id="60" name="Text 58"/>
          <p:cNvSpPr/>
          <p:nvPr/>
        </p:nvSpPr>
        <p:spPr>
          <a:xfrm>
            <a:off x="548640" y="5806440"/>
            <a:ext cx="11064240" cy="365760"/>
          </a:xfrm>
          <a:prstGeom prst="rect">
            <a:avLst/>
          </a:prstGeom>
          <a:noFill/>
          <a:ln/>
        </p:spPr>
        <p:txBody>
          <a:bodyPr wrap="square" lIns="0" tIns="0" rIns="0" bIns="0" rtlCol="0" anchor="ctr"/>
          <a:lstStyle/>
          <a:p>
            <a:pPr marL="0" indent="0">
              <a:buNone/>
            </a:pPr>
            <a:r>
              <a:rPr lang="en-US" sz="1100" dirty="0">
                <a:solidFill>
                  <a:srgbClr val="5A5F73"/>
                </a:solidFill>
                <a:latin typeface="Calibri" pitchFamily="34" charset="0"/>
                <a:ea typeface="Calibri" pitchFamily="34" charset="-122"/>
                <a:cs typeface="Calibri" pitchFamily="34" charset="-120"/>
              </a:rPr>
              <a:t>Cada variable incluye además su categoría funcional, tratamiento aplicado y clasificación de sensibilidad según Ley 1266 de 2008.</a:t>
            </a:r>
            <a:endParaRPr lang="en-US" sz="1100" dirty="0"/>
          </a:p>
        </p:txBody>
      </p:sp>
      <p:sp>
        <p:nvSpPr>
          <p:cNvPr id="61" name="Text 59"/>
          <p:cNvSpPr/>
          <p:nvPr/>
        </p:nvSpPr>
        <p:spPr>
          <a:xfrm>
            <a:off x="457200" y="6446520"/>
            <a:ext cx="5486400" cy="274320"/>
          </a:xfrm>
          <a:prstGeom prst="rect">
            <a:avLst/>
          </a:prstGeom>
          <a:noFill/>
          <a:ln/>
        </p:spPr>
        <p:txBody>
          <a:bodyPr wrap="square" lIns="0" tIns="0" rIns="0" bIns="0" rtlCol="0" anchor="ctr"/>
          <a:lstStyle/>
          <a:p>
            <a:pPr marL="0" indent="0">
              <a:buNone/>
            </a:pPr>
            <a:r>
              <a:rPr lang="en-US" sz="1000" dirty="0">
                <a:solidFill>
                  <a:srgbClr val="8A8FA3"/>
                </a:solidFill>
                <a:latin typeface="Calibri" pitchFamily="34" charset="0"/>
                <a:ea typeface="Calibri" pitchFamily="34" charset="-122"/>
                <a:cs typeface="Calibri" pitchFamily="34" charset="-120"/>
              </a:rPr>
              <a:t>Análisis de Riesgo Crediticio</a:t>
            </a:r>
            <a:endParaRPr lang="en-US" sz="1000" dirty="0"/>
          </a:p>
        </p:txBody>
      </p:sp>
      <p:sp>
        <p:nvSpPr>
          <p:cNvPr id="62" name="Text 60"/>
          <p:cNvSpPr/>
          <p:nvPr/>
        </p:nvSpPr>
        <p:spPr>
          <a:xfrm>
            <a:off x="11247120" y="6446520"/>
            <a:ext cx="457200" cy="274320"/>
          </a:xfrm>
          <a:prstGeom prst="rect">
            <a:avLst/>
          </a:prstGeom>
          <a:noFill/>
          <a:ln/>
        </p:spPr>
        <p:txBody>
          <a:bodyPr wrap="square" lIns="0" tIns="0" rIns="0" bIns="0" rtlCol="0" anchor="ctr"/>
          <a:lstStyle/>
          <a:p>
            <a:pPr marL="0" indent="0" algn="r">
              <a:buNone/>
            </a:pPr>
            <a:r>
              <a:rPr lang="en-US" sz="1000" dirty="0">
                <a:solidFill>
                  <a:srgbClr val="8A8FA3"/>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48640" y="411480"/>
            <a:ext cx="9144000" cy="320040"/>
          </a:xfrm>
          <a:prstGeom prst="rect">
            <a:avLst/>
          </a:prstGeom>
          <a:noFill/>
          <a:ln/>
        </p:spPr>
        <p:txBody>
          <a:bodyPr wrap="square" lIns="0" tIns="0" rIns="0" bIns="0" rtlCol="0" anchor="ctr"/>
          <a:lstStyle/>
          <a:p>
            <a:pPr marL="0" indent="0">
              <a:buNone/>
            </a:pPr>
            <a:r>
              <a:rPr lang="en-US" sz="1300" b="1" kern="0" spc="200" dirty="0">
                <a:solidFill>
                  <a:srgbClr val="B33A3A"/>
                </a:solidFill>
                <a:latin typeface="Calibri" pitchFamily="34" charset="0"/>
                <a:ea typeface="Calibri" pitchFamily="34" charset="-122"/>
                <a:cs typeface="Calibri" pitchFamily="34" charset="-120"/>
              </a:rPr>
              <a:t>IMPACTO</a:t>
            </a:r>
            <a:endParaRPr lang="en-US" sz="1300" dirty="0"/>
          </a:p>
        </p:txBody>
      </p:sp>
      <p:sp>
        <p:nvSpPr>
          <p:cNvPr id="3" name="Text 1"/>
          <p:cNvSpPr/>
          <p:nvPr/>
        </p:nvSpPr>
        <p:spPr>
          <a:xfrm>
            <a:off x="548640" y="713232"/>
            <a:ext cx="10789920" cy="822960"/>
          </a:xfrm>
          <a:prstGeom prst="rect">
            <a:avLst/>
          </a:prstGeom>
          <a:noFill/>
          <a:ln/>
        </p:spPr>
        <p:txBody>
          <a:bodyPr wrap="square" lIns="0" tIns="0" rIns="0" bIns="0"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Tres errores que el diccionario permitió revelar</a:t>
            </a:r>
            <a:endParaRPr lang="en-US" sz="3000" dirty="0"/>
          </a:p>
        </p:txBody>
      </p:sp>
      <p:sp>
        <p:nvSpPr>
          <p:cNvPr id="4" name="Shape 2"/>
          <p:cNvSpPr/>
          <p:nvPr/>
        </p:nvSpPr>
        <p:spPr>
          <a:xfrm>
            <a:off x="548640" y="1874520"/>
            <a:ext cx="11064240" cy="1325880"/>
          </a:xfrm>
          <a:prstGeom prst="roundRect">
            <a:avLst>
              <a:gd name="adj" fmla="val 4828"/>
            </a:avLst>
          </a:prstGeom>
          <a:solidFill>
            <a:srgbClr val="F4F7FC"/>
          </a:solidFill>
          <a:ln/>
        </p:spPr>
        <p:txBody>
          <a:bodyPr/>
          <a:lstStyle/>
          <a:p>
            <a:endParaRPr lang="es-CO"/>
          </a:p>
        </p:txBody>
      </p:sp>
      <p:sp>
        <p:nvSpPr>
          <p:cNvPr id="5" name="Shape 3"/>
          <p:cNvSpPr/>
          <p:nvPr/>
        </p:nvSpPr>
        <p:spPr>
          <a:xfrm>
            <a:off x="822960" y="2455164"/>
            <a:ext cx="164592" cy="164592"/>
          </a:xfrm>
          <a:prstGeom prst="ellipse">
            <a:avLst/>
          </a:prstGeom>
          <a:solidFill>
            <a:srgbClr val="B33A3A"/>
          </a:solidFill>
          <a:ln/>
        </p:spPr>
        <p:txBody>
          <a:bodyPr/>
          <a:lstStyle/>
          <a:p>
            <a:endParaRPr lang="es-CO"/>
          </a:p>
        </p:txBody>
      </p:sp>
      <p:sp>
        <p:nvSpPr>
          <p:cNvPr id="6" name="Text 4"/>
          <p:cNvSpPr/>
          <p:nvPr/>
        </p:nvSpPr>
        <p:spPr>
          <a:xfrm>
            <a:off x="1143000" y="1874520"/>
            <a:ext cx="2651760" cy="1325880"/>
          </a:xfrm>
          <a:prstGeom prst="rect">
            <a:avLst/>
          </a:prstGeom>
          <a:noFill/>
          <a:ln/>
        </p:spPr>
        <p:txBody>
          <a:bodyPr wrap="square" lIns="0" tIns="0" rIns="0" bIns="0" rtlCol="0" anchor="ctr"/>
          <a:lstStyle/>
          <a:p>
            <a:pPr marL="0" indent="0">
              <a:buNone/>
            </a:pPr>
            <a:r>
              <a:rPr lang="en-US" sz="1300" b="1" dirty="0">
                <a:solidFill>
                  <a:srgbClr val="1E2761"/>
                </a:solidFill>
                <a:latin typeface="Calibri" pitchFamily="34" charset="0"/>
                <a:ea typeface="Calibri" pitchFamily="34" charset="-122"/>
                <a:cs typeface="Calibri" pitchFamily="34" charset="-120"/>
              </a:rPr>
              <a:t>Código tratado como número</a:t>
            </a:r>
            <a:endParaRPr lang="en-US" sz="1300" dirty="0"/>
          </a:p>
        </p:txBody>
      </p:sp>
      <p:sp>
        <p:nvSpPr>
          <p:cNvPr id="7" name="Text 5"/>
          <p:cNvSpPr/>
          <p:nvPr/>
        </p:nvSpPr>
        <p:spPr>
          <a:xfrm>
            <a:off x="3886200" y="1874520"/>
            <a:ext cx="3657600" cy="1325880"/>
          </a:xfrm>
          <a:prstGeom prst="rect">
            <a:avLst/>
          </a:prstGeom>
          <a:noFill/>
          <a:ln/>
        </p:spPr>
        <p:txBody>
          <a:bodyPr wrap="square" lIns="0" tIns="0" rIns="0" bIns="0" rtlCol="0" anchor="ctr"/>
          <a:lstStyle/>
          <a:p>
            <a:pPr marL="0" indent="0">
              <a:lnSpc>
                <a:spcPct val="115000"/>
              </a:lnSpc>
              <a:buNone/>
            </a:pPr>
            <a:r>
              <a:rPr lang="en-US" sz="1050" dirty="0">
                <a:solidFill>
                  <a:srgbClr val="5A5F73"/>
                </a:solidFill>
                <a:latin typeface="Calibri" pitchFamily="34" charset="0"/>
                <a:ea typeface="Calibri" pitchFamily="34" charset="-122"/>
                <a:cs typeface="Calibri" pitchFamily="34" charset="-120"/>
              </a:rPr>
              <a:t>tipo_credito entraba en la matriz de correlación como si fuera una cantidad: r = 0.001 sugería “sin relación”</a:t>
            </a:r>
            <a:endParaRPr lang="en-US" sz="1050" dirty="0"/>
          </a:p>
        </p:txBody>
      </p:sp>
      <p:sp>
        <p:nvSpPr>
          <p:cNvPr id="8" name="Shape 6"/>
          <p:cNvSpPr/>
          <p:nvPr/>
        </p:nvSpPr>
        <p:spPr>
          <a:xfrm>
            <a:off x="7680960" y="2103120"/>
            <a:ext cx="0" cy="868680"/>
          </a:xfrm>
          <a:prstGeom prst="line">
            <a:avLst/>
          </a:prstGeom>
          <a:noFill/>
          <a:ln w="19050">
            <a:solidFill>
              <a:srgbClr val="CADCFC"/>
            </a:solidFill>
            <a:prstDash val="solid"/>
          </a:ln>
        </p:spPr>
        <p:txBody>
          <a:bodyPr/>
          <a:lstStyle/>
          <a:p>
            <a:endParaRPr lang="es-CO"/>
          </a:p>
        </p:txBody>
      </p:sp>
      <p:sp>
        <p:nvSpPr>
          <p:cNvPr id="9" name="Text 7"/>
          <p:cNvSpPr/>
          <p:nvPr/>
        </p:nvSpPr>
        <p:spPr>
          <a:xfrm>
            <a:off x="7863840" y="1874520"/>
            <a:ext cx="3566160" cy="1325880"/>
          </a:xfrm>
          <a:prstGeom prst="rect">
            <a:avLst/>
          </a:prstGeom>
          <a:noFill/>
          <a:ln/>
        </p:spPr>
        <p:txBody>
          <a:bodyPr wrap="square" lIns="0" tIns="0" rIns="0" bIns="0" rtlCol="0" anchor="ctr"/>
          <a:lstStyle/>
          <a:p>
            <a:pPr marL="0" indent="0">
              <a:lnSpc>
                <a:spcPct val="115000"/>
              </a:lnSpc>
              <a:buNone/>
            </a:pPr>
            <a:r>
              <a:rPr lang="en-US" sz="1050" b="1" dirty="0">
                <a:solidFill>
                  <a:srgbClr val="1E2761"/>
                </a:solidFill>
                <a:latin typeface="Calibri" pitchFamily="34" charset="0"/>
                <a:ea typeface="Calibri" pitchFamily="34" charset="-122"/>
                <a:cs typeface="Calibri" pitchFamily="34" charset="-120"/>
              </a:rPr>
              <a:t>Chi-cuadrado: p = 1.8e-13. Tasa de mora de 2.6% a 42.9% según el tipo</a:t>
            </a:r>
            <a:endParaRPr lang="en-US" sz="1050" dirty="0"/>
          </a:p>
        </p:txBody>
      </p:sp>
      <p:sp>
        <p:nvSpPr>
          <p:cNvPr id="10" name="Shape 8"/>
          <p:cNvSpPr/>
          <p:nvPr/>
        </p:nvSpPr>
        <p:spPr>
          <a:xfrm>
            <a:off x="548640" y="3364992"/>
            <a:ext cx="11064240" cy="1325880"/>
          </a:xfrm>
          <a:prstGeom prst="roundRect">
            <a:avLst>
              <a:gd name="adj" fmla="val 4828"/>
            </a:avLst>
          </a:prstGeom>
          <a:solidFill>
            <a:srgbClr val="F4F7FC"/>
          </a:solidFill>
          <a:ln/>
        </p:spPr>
        <p:txBody>
          <a:bodyPr/>
          <a:lstStyle/>
          <a:p>
            <a:endParaRPr lang="es-CO"/>
          </a:p>
        </p:txBody>
      </p:sp>
      <p:sp>
        <p:nvSpPr>
          <p:cNvPr id="11" name="Shape 9"/>
          <p:cNvSpPr/>
          <p:nvPr/>
        </p:nvSpPr>
        <p:spPr>
          <a:xfrm>
            <a:off x="822960" y="3945636"/>
            <a:ext cx="164592" cy="164592"/>
          </a:xfrm>
          <a:prstGeom prst="ellipse">
            <a:avLst/>
          </a:prstGeom>
          <a:solidFill>
            <a:srgbClr val="B33A3A"/>
          </a:solidFill>
          <a:ln/>
        </p:spPr>
        <p:txBody>
          <a:bodyPr/>
          <a:lstStyle/>
          <a:p>
            <a:endParaRPr lang="es-CO"/>
          </a:p>
        </p:txBody>
      </p:sp>
      <p:sp>
        <p:nvSpPr>
          <p:cNvPr id="12" name="Text 10"/>
          <p:cNvSpPr/>
          <p:nvPr/>
        </p:nvSpPr>
        <p:spPr>
          <a:xfrm>
            <a:off x="1143000" y="3364992"/>
            <a:ext cx="2651760" cy="1325880"/>
          </a:xfrm>
          <a:prstGeom prst="rect">
            <a:avLst/>
          </a:prstGeom>
          <a:noFill/>
          <a:ln/>
        </p:spPr>
        <p:txBody>
          <a:bodyPr wrap="square" lIns="0" tIns="0" rIns="0" bIns="0" rtlCol="0" anchor="ctr"/>
          <a:lstStyle/>
          <a:p>
            <a:pPr marL="0" indent="0">
              <a:buNone/>
            </a:pPr>
            <a:r>
              <a:rPr lang="en-US" sz="1300" b="1" dirty="0">
                <a:solidFill>
                  <a:srgbClr val="1E2761"/>
                </a:solidFill>
                <a:latin typeface="Calibri" pitchFamily="34" charset="0"/>
                <a:ea typeface="Calibri" pitchFamily="34" charset="-122"/>
                <a:cs typeface="Calibri" pitchFamily="34" charset="-120"/>
              </a:rPr>
              <a:t>Rango de validación sin fuente</a:t>
            </a:r>
            <a:endParaRPr lang="en-US" sz="1300" dirty="0"/>
          </a:p>
        </p:txBody>
      </p:sp>
      <p:sp>
        <p:nvSpPr>
          <p:cNvPr id="13" name="Text 11"/>
          <p:cNvSpPr/>
          <p:nvPr/>
        </p:nvSpPr>
        <p:spPr>
          <a:xfrm>
            <a:off x="3886200" y="3364992"/>
            <a:ext cx="3657600" cy="1325880"/>
          </a:xfrm>
          <a:prstGeom prst="rect">
            <a:avLst/>
          </a:prstGeom>
          <a:noFill/>
          <a:ln/>
        </p:spPr>
        <p:txBody>
          <a:bodyPr wrap="square" lIns="0" tIns="0" rIns="0" bIns="0" rtlCol="0" anchor="ctr"/>
          <a:lstStyle/>
          <a:p>
            <a:pPr marL="0" indent="0">
              <a:lnSpc>
                <a:spcPct val="115000"/>
              </a:lnSpc>
              <a:buNone/>
            </a:pPr>
            <a:r>
              <a:rPr lang="en-US" sz="1050" dirty="0">
                <a:solidFill>
                  <a:srgbClr val="5A5F73"/>
                </a:solidFill>
                <a:latin typeface="Calibri" pitchFamily="34" charset="0"/>
                <a:ea typeface="Calibri" pitchFamily="34" charset="-122"/>
                <a:cs typeface="Calibri" pitchFamily="34" charset="-120"/>
              </a:rPr>
              <a:t>La regla [0, 1000] del score era inventada; detectaba 1 registro inválido</a:t>
            </a:r>
            <a:endParaRPr lang="en-US" sz="1050" dirty="0"/>
          </a:p>
        </p:txBody>
      </p:sp>
      <p:sp>
        <p:nvSpPr>
          <p:cNvPr id="14" name="Shape 12"/>
          <p:cNvSpPr/>
          <p:nvPr/>
        </p:nvSpPr>
        <p:spPr>
          <a:xfrm>
            <a:off x="7680960" y="3593592"/>
            <a:ext cx="0" cy="868680"/>
          </a:xfrm>
          <a:prstGeom prst="line">
            <a:avLst/>
          </a:prstGeom>
          <a:noFill/>
          <a:ln w="19050">
            <a:solidFill>
              <a:srgbClr val="CADCFC"/>
            </a:solidFill>
            <a:prstDash val="solid"/>
          </a:ln>
        </p:spPr>
        <p:txBody>
          <a:bodyPr/>
          <a:lstStyle/>
          <a:p>
            <a:endParaRPr lang="es-CO"/>
          </a:p>
        </p:txBody>
      </p:sp>
      <p:sp>
        <p:nvSpPr>
          <p:cNvPr id="15" name="Text 13"/>
          <p:cNvSpPr/>
          <p:nvPr/>
        </p:nvSpPr>
        <p:spPr>
          <a:xfrm>
            <a:off x="7863840" y="3364992"/>
            <a:ext cx="3566160" cy="1325880"/>
          </a:xfrm>
          <a:prstGeom prst="rect">
            <a:avLst/>
          </a:prstGeom>
          <a:noFill/>
          <a:ln/>
        </p:spPr>
        <p:txBody>
          <a:bodyPr wrap="square" lIns="0" tIns="0" rIns="0" bIns="0" rtlCol="0" anchor="ctr"/>
          <a:lstStyle/>
          <a:p>
            <a:pPr marL="0" indent="0">
              <a:lnSpc>
                <a:spcPct val="115000"/>
              </a:lnSpc>
              <a:buNone/>
            </a:pPr>
            <a:r>
              <a:rPr lang="en-US" sz="1050" b="1" dirty="0">
                <a:solidFill>
                  <a:srgbClr val="1E2761"/>
                </a:solidFill>
                <a:latin typeface="Calibri" pitchFamily="34" charset="0"/>
                <a:ea typeface="Calibri" pitchFamily="34" charset="-122"/>
                <a:cs typeface="Calibri" pitchFamily="34" charset="-120"/>
              </a:rPr>
              <a:t>Rango oficial [150, 950]: detecta 153 registros inválidos. Los otros 152 no eran detectados por la regla anterior</a:t>
            </a:r>
            <a:endParaRPr lang="en-US" sz="1050" dirty="0"/>
          </a:p>
        </p:txBody>
      </p:sp>
      <p:sp>
        <p:nvSpPr>
          <p:cNvPr id="16" name="Shape 14"/>
          <p:cNvSpPr/>
          <p:nvPr/>
        </p:nvSpPr>
        <p:spPr>
          <a:xfrm>
            <a:off x="548640" y="4855464"/>
            <a:ext cx="11064240" cy="1325880"/>
          </a:xfrm>
          <a:prstGeom prst="roundRect">
            <a:avLst>
              <a:gd name="adj" fmla="val 4828"/>
            </a:avLst>
          </a:prstGeom>
          <a:solidFill>
            <a:srgbClr val="F4F7FC"/>
          </a:solidFill>
          <a:ln/>
        </p:spPr>
        <p:txBody>
          <a:bodyPr/>
          <a:lstStyle/>
          <a:p>
            <a:endParaRPr lang="es-CO"/>
          </a:p>
        </p:txBody>
      </p:sp>
      <p:sp>
        <p:nvSpPr>
          <p:cNvPr id="17" name="Shape 15"/>
          <p:cNvSpPr/>
          <p:nvPr/>
        </p:nvSpPr>
        <p:spPr>
          <a:xfrm>
            <a:off x="822960" y="5436108"/>
            <a:ext cx="164592" cy="164592"/>
          </a:xfrm>
          <a:prstGeom prst="ellipse">
            <a:avLst/>
          </a:prstGeom>
          <a:solidFill>
            <a:srgbClr val="B33A3A"/>
          </a:solidFill>
          <a:ln/>
        </p:spPr>
        <p:txBody>
          <a:bodyPr/>
          <a:lstStyle/>
          <a:p>
            <a:endParaRPr lang="es-CO"/>
          </a:p>
        </p:txBody>
      </p:sp>
      <p:sp>
        <p:nvSpPr>
          <p:cNvPr id="18" name="Text 16"/>
          <p:cNvSpPr/>
          <p:nvPr/>
        </p:nvSpPr>
        <p:spPr>
          <a:xfrm>
            <a:off x="1143000" y="4855464"/>
            <a:ext cx="2651760" cy="1325880"/>
          </a:xfrm>
          <a:prstGeom prst="rect">
            <a:avLst/>
          </a:prstGeom>
          <a:noFill/>
          <a:ln/>
        </p:spPr>
        <p:txBody>
          <a:bodyPr wrap="square" lIns="0" tIns="0" rIns="0" bIns="0" rtlCol="0" anchor="ctr"/>
          <a:lstStyle/>
          <a:p>
            <a:pPr marL="0" indent="0">
              <a:buNone/>
            </a:pPr>
            <a:r>
              <a:rPr lang="en-US" sz="1300" b="1" dirty="0">
                <a:solidFill>
                  <a:srgbClr val="1E2761"/>
                </a:solidFill>
                <a:latin typeface="Calibri" pitchFamily="34" charset="0"/>
                <a:ea typeface="Calibri" pitchFamily="34" charset="-122"/>
                <a:cs typeface="Calibri" pitchFamily="34" charset="-120"/>
              </a:rPr>
              <a:t>Ceros falsos como score</a:t>
            </a:r>
            <a:endParaRPr lang="en-US" sz="1300" dirty="0"/>
          </a:p>
        </p:txBody>
      </p:sp>
      <p:sp>
        <p:nvSpPr>
          <p:cNvPr id="19" name="Text 17"/>
          <p:cNvSpPr/>
          <p:nvPr/>
        </p:nvSpPr>
        <p:spPr>
          <a:xfrm>
            <a:off x="3886200" y="4855464"/>
            <a:ext cx="3657600" cy="1325880"/>
          </a:xfrm>
          <a:prstGeom prst="rect">
            <a:avLst/>
          </a:prstGeom>
          <a:noFill/>
          <a:ln/>
        </p:spPr>
        <p:txBody>
          <a:bodyPr wrap="square" lIns="0" tIns="0" rIns="0" bIns="0" rtlCol="0" anchor="ctr"/>
          <a:lstStyle/>
          <a:p>
            <a:pPr marL="0" indent="0">
              <a:lnSpc>
                <a:spcPct val="115000"/>
              </a:lnSpc>
              <a:buNone/>
            </a:pPr>
            <a:r>
              <a:rPr lang="en-US" sz="1050" dirty="0">
                <a:solidFill>
                  <a:srgbClr val="5A5F73"/>
                </a:solidFill>
                <a:latin typeface="Calibri" pitchFamily="34" charset="0"/>
                <a:ea typeface="Calibri" pitchFamily="34" charset="-122"/>
                <a:cs typeface="Calibri" pitchFamily="34" charset="-120"/>
              </a:rPr>
              <a:t>145 registros con score = 0 se analizaban como scores reales muy bajos</a:t>
            </a:r>
            <a:endParaRPr lang="en-US" sz="1050" dirty="0"/>
          </a:p>
        </p:txBody>
      </p:sp>
      <p:sp>
        <p:nvSpPr>
          <p:cNvPr id="20" name="Shape 18"/>
          <p:cNvSpPr/>
          <p:nvPr/>
        </p:nvSpPr>
        <p:spPr>
          <a:xfrm>
            <a:off x="7680960" y="5084064"/>
            <a:ext cx="0" cy="868680"/>
          </a:xfrm>
          <a:prstGeom prst="line">
            <a:avLst/>
          </a:prstGeom>
          <a:noFill/>
          <a:ln w="19050">
            <a:solidFill>
              <a:srgbClr val="CADCFC"/>
            </a:solidFill>
            <a:prstDash val="solid"/>
          </a:ln>
        </p:spPr>
        <p:txBody>
          <a:bodyPr/>
          <a:lstStyle/>
          <a:p>
            <a:endParaRPr lang="es-CO"/>
          </a:p>
        </p:txBody>
      </p:sp>
      <p:sp>
        <p:nvSpPr>
          <p:cNvPr id="21" name="Text 19"/>
          <p:cNvSpPr/>
          <p:nvPr/>
        </p:nvSpPr>
        <p:spPr>
          <a:xfrm>
            <a:off x="7863840" y="4855464"/>
            <a:ext cx="3566160" cy="1325880"/>
          </a:xfrm>
          <a:prstGeom prst="rect">
            <a:avLst/>
          </a:prstGeom>
          <a:noFill/>
          <a:ln/>
        </p:spPr>
        <p:txBody>
          <a:bodyPr wrap="square" lIns="0" tIns="0" rIns="0" bIns="0" rtlCol="0" anchor="ctr"/>
          <a:lstStyle/>
          <a:p>
            <a:pPr marL="0" indent="0">
              <a:lnSpc>
                <a:spcPct val="115000"/>
              </a:lnSpc>
              <a:buNone/>
            </a:pPr>
            <a:r>
              <a:rPr lang="en-US" sz="1050" b="1" dirty="0">
                <a:solidFill>
                  <a:srgbClr val="1E2761"/>
                </a:solidFill>
                <a:latin typeface="Calibri" pitchFamily="34" charset="0"/>
                <a:ea typeface="Calibri" pitchFamily="34" charset="-122"/>
                <a:cs typeface="Calibri" pitchFamily="34" charset="-120"/>
              </a:rPr>
              <a:t>No son scores: son ausencia de historial. 6.54% de mora vs 4.72%</a:t>
            </a:r>
            <a:endParaRPr lang="en-US" sz="1050" dirty="0"/>
          </a:p>
        </p:txBody>
      </p:sp>
      <p:sp>
        <p:nvSpPr>
          <p:cNvPr id="22" name="Text 20"/>
          <p:cNvSpPr/>
          <p:nvPr/>
        </p:nvSpPr>
        <p:spPr>
          <a:xfrm>
            <a:off x="3886200" y="1572768"/>
            <a:ext cx="1828800" cy="274320"/>
          </a:xfrm>
          <a:prstGeom prst="rect">
            <a:avLst/>
          </a:prstGeom>
          <a:noFill/>
          <a:ln/>
        </p:spPr>
        <p:txBody>
          <a:bodyPr wrap="square" lIns="0" tIns="0" rIns="0" bIns="0" rtlCol="0" anchor="ctr"/>
          <a:lstStyle/>
          <a:p>
            <a:pPr marL="0" indent="0">
              <a:buNone/>
            </a:pPr>
            <a:r>
              <a:rPr lang="en-US" sz="1000" b="1" kern="0" spc="100" dirty="0">
                <a:solidFill>
                  <a:srgbClr val="5A5F73"/>
                </a:solidFill>
                <a:latin typeface="Calibri" pitchFamily="34" charset="0"/>
                <a:ea typeface="Calibri" pitchFamily="34" charset="-122"/>
                <a:cs typeface="Calibri" pitchFamily="34" charset="-120"/>
              </a:rPr>
              <a:t>ANTES</a:t>
            </a:r>
            <a:endParaRPr lang="en-US" sz="1000" dirty="0"/>
          </a:p>
        </p:txBody>
      </p:sp>
      <p:sp>
        <p:nvSpPr>
          <p:cNvPr id="23" name="Text 21"/>
          <p:cNvSpPr/>
          <p:nvPr/>
        </p:nvSpPr>
        <p:spPr>
          <a:xfrm>
            <a:off x="7863840" y="1572768"/>
            <a:ext cx="1828800" cy="274320"/>
          </a:xfrm>
          <a:prstGeom prst="rect">
            <a:avLst/>
          </a:prstGeom>
          <a:noFill/>
          <a:ln/>
        </p:spPr>
        <p:txBody>
          <a:bodyPr wrap="square" lIns="0" tIns="0" rIns="0" bIns="0" rtlCol="0" anchor="ctr"/>
          <a:lstStyle/>
          <a:p>
            <a:pPr marL="0" indent="0">
              <a:buNone/>
            </a:pPr>
            <a:r>
              <a:rPr lang="en-US" sz="1000" b="1" kern="0" spc="100" dirty="0">
                <a:solidFill>
                  <a:srgbClr val="B33A3A"/>
                </a:solidFill>
                <a:latin typeface="Calibri" pitchFamily="34" charset="0"/>
                <a:ea typeface="Calibri" pitchFamily="34" charset="-122"/>
                <a:cs typeface="Calibri" pitchFamily="34" charset="-120"/>
              </a:rPr>
              <a:t>DESPUÉS</a:t>
            </a:r>
            <a:endParaRPr lang="en-US" sz="1000" dirty="0"/>
          </a:p>
        </p:txBody>
      </p:sp>
      <p:sp>
        <p:nvSpPr>
          <p:cNvPr id="24" name="Text 22"/>
          <p:cNvSpPr/>
          <p:nvPr/>
        </p:nvSpPr>
        <p:spPr>
          <a:xfrm>
            <a:off x="457200" y="6446520"/>
            <a:ext cx="5486400" cy="274320"/>
          </a:xfrm>
          <a:prstGeom prst="rect">
            <a:avLst/>
          </a:prstGeom>
          <a:noFill/>
          <a:ln/>
        </p:spPr>
        <p:txBody>
          <a:bodyPr wrap="square" lIns="0" tIns="0" rIns="0" bIns="0" rtlCol="0" anchor="ctr"/>
          <a:lstStyle/>
          <a:p>
            <a:pPr marL="0" indent="0">
              <a:buNone/>
            </a:pPr>
            <a:r>
              <a:rPr lang="en-US" sz="1000" dirty="0">
                <a:solidFill>
                  <a:srgbClr val="8A8FA3"/>
                </a:solidFill>
                <a:latin typeface="Calibri" pitchFamily="34" charset="0"/>
                <a:ea typeface="Calibri" pitchFamily="34" charset="-122"/>
                <a:cs typeface="Calibri" pitchFamily="34" charset="-120"/>
              </a:rPr>
              <a:t>Análisis de Riesgo Crediticio</a:t>
            </a:r>
            <a:endParaRPr lang="en-US" sz="1000" dirty="0"/>
          </a:p>
        </p:txBody>
      </p:sp>
      <p:sp>
        <p:nvSpPr>
          <p:cNvPr id="25" name="Text 23"/>
          <p:cNvSpPr/>
          <p:nvPr/>
        </p:nvSpPr>
        <p:spPr>
          <a:xfrm>
            <a:off x="11247120" y="6446520"/>
            <a:ext cx="457200" cy="274320"/>
          </a:xfrm>
          <a:prstGeom prst="rect">
            <a:avLst/>
          </a:prstGeom>
          <a:noFill/>
          <a:ln/>
        </p:spPr>
        <p:txBody>
          <a:bodyPr wrap="square" lIns="0" tIns="0" rIns="0" bIns="0" rtlCol="0" anchor="ctr"/>
          <a:lstStyle/>
          <a:p>
            <a:pPr marL="0" indent="0" algn="r">
              <a:buNone/>
            </a:pPr>
            <a:r>
              <a:rPr lang="en-US" sz="1000" dirty="0">
                <a:solidFill>
                  <a:srgbClr val="8A8FA3"/>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48640" y="411480"/>
            <a:ext cx="9144000" cy="320040"/>
          </a:xfrm>
          <a:prstGeom prst="rect">
            <a:avLst/>
          </a:prstGeom>
          <a:noFill/>
          <a:ln/>
        </p:spPr>
        <p:txBody>
          <a:bodyPr wrap="square" lIns="0" tIns="0" rIns="0" bIns="0" rtlCol="0" anchor="ctr"/>
          <a:lstStyle/>
          <a:p>
            <a:pPr marL="0" indent="0">
              <a:buNone/>
            </a:pPr>
            <a:r>
              <a:rPr lang="en-US" sz="1300" b="1" kern="0" spc="200" dirty="0">
                <a:solidFill>
                  <a:srgbClr val="B33A3A"/>
                </a:solidFill>
                <a:latin typeface="Calibri" pitchFamily="34" charset="0"/>
                <a:ea typeface="Calibri" pitchFamily="34" charset="-122"/>
                <a:cs typeface="Calibri" pitchFamily="34" charset="-120"/>
              </a:rPr>
              <a:t>METODOLOGÍA</a:t>
            </a:r>
            <a:endParaRPr lang="en-US" sz="1300" dirty="0"/>
          </a:p>
        </p:txBody>
      </p:sp>
      <p:sp>
        <p:nvSpPr>
          <p:cNvPr id="3" name="Text 1"/>
          <p:cNvSpPr/>
          <p:nvPr/>
        </p:nvSpPr>
        <p:spPr>
          <a:xfrm>
            <a:off x="548640" y="713232"/>
            <a:ext cx="10789920" cy="822960"/>
          </a:xfrm>
          <a:prstGeom prst="rect">
            <a:avLst/>
          </a:prstGeom>
          <a:noFill/>
          <a:ln/>
        </p:spPr>
        <p:txBody>
          <a:bodyPr wrap="square" lIns="0" tIns="0" rIns="0" bIns="0"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Etapas del análisis</a:t>
            </a:r>
            <a:endParaRPr lang="en-US" sz="3000" dirty="0"/>
          </a:p>
        </p:txBody>
      </p:sp>
      <p:sp>
        <p:nvSpPr>
          <p:cNvPr id="4" name="Shape 2"/>
          <p:cNvSpPr/>
          <p:nvPr/>
        </p:nvSpPr>
        <p:spPr>
          <a:xfrm>
            <a:off x="548640" y="1965960"/>
            <a:ext cx="502920" cy="502920"/>
          </a:xfrm>
          <a:prstGeom prst="ellipse">
            <a:avLst/>
          </a:prstGeom>
          <a:solidFill>
            <a:srgbClr val="1E2761"/>
          </a:solidFill>
          <a:ln/>
        </p:spPr>
        <p:txBody>
          <a:bodyPr/>
          <a:lstStyle/>
          <a:p>
            <a:endParaRPr lang="es-CO"/>
          </a:p>
        </p:txBody>
      </p:sp>
      <p:sp>
        <p:nvSpPr>
          <p:cNvPr id="5" name="Text 3"/>
          <p:cNvSpPr/>
          <p:nvPr/>
        </p:nvSpPr>
        <p:spPr>
          <a:xfrm>
            <a:off x="548640" y="1965960"/>
            <a:ext cx="502920" cy="502920"/>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Text 4"/>
          <p:cNvSpPr/>
          <p:nvPr/>
        </p:nvSpPr>
        <p:spPr>
          <a:xfrm>
            <a:off x="548640" y="2651760"/>
            <a:ext cx="2606040" cy="777240"/>
          </a:xfrm>
          <a:prstGeom prst="rect">
            <a:avLst/>
          </a:prstGeom>
          <a:noFill/>
          <a:ln/>
        </p:spPr>
        <p:txBody>
          <a:bodyPr wrap="square" lIns="0" tIns="0" rIns="0" bIns="0" rtlCol="0" anchor="t"/>
          <a:lstStyle/>
          <a:p>
            <a:pPr marL="0" indent="0">
              <a:buNone/>
            </a:pPr>
            <a:r>
              <a:rPr lang="en-US" sz="1450" b="1" dirty="0">
                <a:solidFill>
                  <a:srgbClr val="1E2761"/>
                </a:solidFill>
                <a:latin typeface="Calibri" pitchFamily="34" charset="0"/>
                <a:ea typeface="Calibri" pitchFamily="34" charset="-122"/>
                <a:cs typeface="Calibri" pitchFamily="34" charset="-120"/>
              </a:rPr>
              <a:t>Carga y comprensión</a:t>
            </a:r>
            <a:endParaRPr lang="en-US" sz="1450" dirty="0"/>
          </a:p>
        </p:txBody>
      </p:sp>
      <p:sp>
        <p:nvSpPr>
          <p:cNvPr id="7" name="Text 5"/>
          <p:cNvSpPr/>
          <p:nvPr/>
        </p:nvSpPr>
        <p:spPr>
          <a:xfrm>
            <a:off x="548640" y="3429000"/>
            <a:ext cx="2606040" cy="1554480"/>
          </a:xfrm>
          <a:prstGeom prst="rect">
            <a:avLst/>
          </a:prstGeom>
          <a:noFill/>
          <a:ln/>
        </p:spPr>
        <p:txBody>
          <a:bodyPr wrap="square" lIns="0" tIns="0" rIns="0" bIns="0" rtlCol="0" anchor="t"/>
          <a:lstStyle/>
          <a:p>
            <a:pPr marL="0" indent="0">
              <a:lnSpc>
                <a:spcPct val="120000"/>
              </a:lnSpc>
              <a:buNone/>
            </a:pPr>
            <a:r>
              <a:rPr lang="en-US" sz="1150" dirty="0">
                <a:solidFill>
                  <a:srgbClr val="5A5F73"/>
                </a:solidFill>
                <a:latin typeface="Calibri" pitchFamily="34" charset="0"/>
                <a:ea typeface="Calibri" pitchFamily="34" charset="-122"/>
                <a:cs typeface="Calibri" pitchFamily="34" charset="-120"/>
              </a:rPr>
              <a:t>Exploración inicial: tipos, nulos, caracterización de cada variable</a:t>
            </a:r>
            <a:endParaRPr lang="en-US" sz="1150" dirty="0"/>
          </a:p>
        </p:txBody>
      </p:sp>
      <p:sp>
        <p:nvSpPr>
          <p:cNvPr id="8" name="Shape 6"/>
          <p:cNvSpPr/>
          <p:nvPr/>
        </p:nvSpPr>
        <p:spPr>
          <a:xfrm>
            <a:off x="3182112" y="2212848"/>
            <a:ext cx="173736" cy="0"/>
          </a:xfrm>
          <a:prstGeom prst="line">
            <a:avLst/>
          </a:prstGeom>
          <a:noFill/>
          <a:ln w="25400">
            <a:solidFill>
              <a:srgbClr val="CADCFC"/>
            </a:solidFill>
            <a:prstDash val="solid"/>
          </a:ln>
        </p:spPr>
        <p:txBody>
          <a:bodyPr/>
          <a:lstStyle/>
          <a:p>
            <a:endParaRPr lang="es-CO"/>
          </a:p>
        </p:txBody>
      </p:sp>
      <p:sp>
        <p:nvSpPr>
          <p:cNvPr id="9" name="Shape 7"/>
          <p:cNvSpPr/>
          <p:nvPr/>
        </p:nvSpPr>
        <p:spPr>
          <a:xfrm>
            <a:off x="3383280" y="1965960"/>
            <a:ext cx="502920" cy="502920"/>
          </a:xfrm>
          <a:prstGeom prst="ellipse">
            <a:avLst/>
          </a:prstGeom>
          <a:solidFill>
            <a:srgbClr val="1E2761"/>
          </a:solidFill>
          <a:ln/>
        </p:spPr>
        <p:txBody>
          <a:bodyPr/>
          <a:lstStyle/>
          <a:p>
            <a:endParaRPr lang="es-CO"/>
          </a:p>
        </p:txBody>
      </p:sp>
      <p:sp>
        <p:nvSpPr>
          <p:cNvPr id="10" name="Text 8"/>
          <p:cNvSpPr/>
          <p:nvPr/>
        </p:nvSpPr>
        <p:spPr>
          <a:xfrm>
            <a:off x="3383280" y="1965960"/>
            <a:ext cx="502920" cy="502920"/>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1" name="Text 9"/>
          <p:cNvSpPr/>
          <p:nvPr/>
        </p:nvSpPr>
        <p:spPr>
          <a:xfrm>
            <a:off x="3383280" y="2651760"/>
            <a:ext cx="2606040" cy="777240"/>
          </a:xfrm>
          <a:prstGeom prst="rect">
            <a:avLst/>
          </a:prstGeom>
          <a:noFill/>
          <a:ln/>
        </p:spPr>
        <p:txBody>
          <a:bodyPr wrap="square" lIns="0" tIns="0" rIns="0" bIns="0" rtlCol="0" anchor="t"/>
          <a:lstStyle/>
          <a:p>
            <a:pPr marL="0" indent="0">
              <a:buNone/>
            </a:pPr>
            <a:r>
              <a:rPr lang="en-US" sz="1450" b="1" dirty="0">
                <a:solidFill>
                  <a:srgbClr val="1E2761"/>
                </a:solidFill>
                <a:latin typeface="Calibri" pitchFamily="34" charset="0"/>
                <a:ea typeface="Calibri" pitchFamily="34" charset="-122"/>
                <a:cs typeface="Calibri" pitchFamily="34" charset="-120"/>
              </a:rPr>
              <a:t>Limpieza y corrección</a:t>
            </a:r>
            <a:endParaRPr lang="en-US" sz="1450" dirty="0"/>
          </a:p>
        </p:txBody>
      </p:sp>
      <p:sp>
        <p:nvSpPr>
          <p:cNvPr id="12" name="Text 10"/>
          <p:cNvSpPr/>
          <p:nvPr/>
        </p:nvSpPr>
        <p:spPr>
          <a:xfrm>
            <a:off x="3383280" y="3429000"/>
            <a:ext cx="2606040" cy="1554480"/>
          </a:xfrm>
          <a:prstGeom prst="rect">
            <a:avLst/>
          </a:prstGeom>
          <a:noFill/>
          <a:ln/>
        </p:spPr>
        <p:txBody>
          <a:bodyPr wrap="square" lIns="0" tIns="0" rIns="0" bIns="0" rtlCol="0" anchor="t"/>
          <a:lstStyle/>
          <a:p>
            <a:pPr marL="0" indent="0">
              <a:lnSpc>
                <a:spcPct val="120000"/>
              </a:lnSpc>
              <a:buNone/>
            </a:pPr>
            <a:r>
              <a:rPr lang="en-US" sz="1150" dirty="0">
                <a:solidFill>
                  <a:srgbClr val="5A5F73"/>
                </a:solidFill>
                <a:latin typeface="Calibri" pitchFamily="34" charset="0"/>
                <a:ea typeface="Calibri" pitchFamily="34" charset="-122"/>
                <a:cs typeface="Calibri" pitchFamily="34" charset="-120"/>
              </a:rPr>
              <a:t>Tratamiento de atípicos y nulos con evidencia, no con supuestos</a:t>
            </a:r>
            <a:endParaRPr lang="en-US" sz="1150" dirty="0"/>
          </a:p>
        </p:txBody>
      </p:sp>
      <p:sp>
        <p:nvSpPr>
          <p:cNvPr id="13" name="Shape 11"/>
          <p:cNvSpPr/>
          <p:nvPr/>
        </p:nvSpPr>
        <p:spPr>
          <a:xfrm>
            <a:off x="6016752" y="2212848"/>
            <a:ext cx="173736" cy="0"/>
          </a:xfrm>
          <a:prstGeom prst="line">
            <a:avLst/>
          </a:prstGeom>
          <a:noFill/>
          <a:ln w="25400">
            <a:solidFill>
              <a:srgbClr val="CADCFC"/>
            </a:solidFill>
            <a:prstDash val="solid"/>
          </a:ln>
        </p:spPr>
        <p:txBody>
          <a:bodyPr/>
          <a:lstStyle/>
          <a:p>
            <a:endParaRPr lang="es-CO"/>
          </a:p>
        </p:txBody>
      </p:sp>
      <p:sp>
        <p:nvSpPr>
          <p:cNvPr id="14" name="Shape 12"/>
          <p:cNvSpPr/>
          <p:nvPr/>
        </p:nvSpPr>
        <p:spPr>
          <a:xfrm>
            <a:off x="6217920" y="1965960"/>
            <a:ext cx="502920" cy="502920"/>
          </a:xfrm>
          <a:prstGeom prst="ellipse">
            <a:avLst/>
          </a:prstGeom>
          <a:solidFill>
            <a:srgbClr val="1E2761"/>
          </a:solidFill>
          <a:ln/>
        </p:spPr>
        <p:txBody>
          <a:bodyPr/>
          <a:lstStyle/>
          <a:p>
            <a:endParaRPr lang="es-CO"/>
          </a:p>
        </p:txBody>
      </p:sp>
      <p:sp>
        <p:nvSpPr>
          <p:cNvPr id="15" name="Text 13"/>
          <p:cNvSpPr/>
          <p:nvPr/>
        </p:nvSpPr>
        <p:spPr>
          <a:xfrm>
            <a:off x="6217920" y="1965960"/>
            <a:ext cx="502920" cy="502920"/>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6" name="Text 14"/>
          <p:cNvSpPr/>
          <p:nvPr/>
        </p:nvSpPr>
        <p:spPr>
          <a:xfrm>
            <a:off x="6217920" y="2651760"/>
            <a:ext cx="2606040" cy="777240"/>
          </a:xfrm>
          <a:prstGeom prst="rect">
            <a:avLst/>
          </a:prstGeom>
          <a:noFill/>
          <a:ln/>
        </p:spPr>
        <p:txBody>
          <a:bodyPr wrap="square" lIns="0" tIns="0" rIns="0" bIns="0" rtlCol="0" anchor="t"/>
          <a:lstStyle/>
          <a:p>
            <a:pPr marL="0" indent="0">
              <a:buNone/>
            </a:pPr>
            <a:r>
              <a:rPr lang="en-US" sz="1450" b="1" dirty="0">
                <a:solidFill>
                  <a:srgbClr val="1E2761"/>
                </a:solidFill>
                <a:latin typeface="Calibri" pitchFamily="34" charset="0"/>
                <a:ea typeface="Calibri" pitchFamily="34" charset="-122"/>
                <a:cs typeface="Calibri" pitchFamily="34" charset="-120"/>
              </a:rPr>
              <a:t>EDA univariado, bivariado y multivariado</a:t>
            </a:r>
            <a:endParaRPr lang="en-US" sz="1450" dirty="0"/>
          </a:p>
        </p:txBody>
      </p:sp>
      <p:sp>
        <p:nvSpPr>
          <p:cNvPr id="17" name="Text 15"/>
          <p:cNvSpPr/>
          <p:nvPr/>
        </p:nvSpPr>
        <p:spPr>
          <a:xfrm>
            <a:off x="6217920" y="3429000"/>
            <a:ext cx="2606040" cy="1554480"/>
          </a:xfrm>
          <a:prstGeom prst="rect">
            <a:avLst/>
          </a:prstGeom>
          <a:noFill/>
          <a:ln/>
        </p:spPr>
        <p:txBody>
          <a:bodyPr wrap="square" lIns="0" tIns="0" rIns="0" bIns="0" rtlCol="0" anchor="t"/>
          <a:lstStyle/>
          <a:p>
            <a:pPr marL="0" indent="0">
              <a:lnSpc>
                <a:spcPct val="120000"/>
              </a:lnSpc>
              <a:buNone/>
            </a:pPr>
            <a:r>
              <a:rPr lang="en-US" sz="1150" dirty="0">
                <a:solidFill>
                  <a:srgbClr val="5A5F73"/>
                </a:solidFill>
                <a:latin typeface="Calibri" pitchFamily="34" charset="0"/>
                <a:ea typeface="Calibri" pitchFamily="34" charset="-122"/>
                <a:cs typeface="Calibri" pitchFamily="34" charset="-120"/>
              </a:rPr>
              <a:t>Distribuciones, relación con la mora, correlaciones</a:t>
            </a:r>
            <a:endParaRPr lang="en-US" sz="1150" dirty="0"/>
          </a:p>
        </p:txBody>
      </p:sp>
      <p:sp>
        <p:nvSpPr>
          <p:cNvPr id="18" name="Shape 16"/>
          <p:cNvSpPr/>
          <p:nvPr/>
        </p:nvSpPr>
        <p:spPr>
          <a:xfrm>
            <a:off x="8851392" y="2212848"/>
            <a:ext cx="173736" cy="0"/>
          </a:xfrm>
          <a:prstGeom prst="line">
            <a:avLst/>
          </a:prstGeom>
          <a:noFill/>
          <a:ln w="25400">
            <a:solidFill>
              <a:srgbClr val="CADCFC"/>
            </a:solidFill>
            <a:prstDash val="solid"/>
          </a:ln>
        </p:spPr>
        <p:txBody>
          <a:bodyPr/>
          <a:lstStyle/>
          <a:p>
            <a:endParaRPr lang="es-CO"/>
          </a:p>
        </p:txBody>
      </p:sp>
      <p:sp>
        <p:nvSpPr>
          <p:cNvPr id="19" name="Shape 17"/>
          <p:cNvSpPr/>
          <p:nvPr/>
        </p:nvSpPr>
        <p:spPr>
          <a:xfrm>
            <a:off x="9052560" y="1965960"/>
            <a:ext cx="502920" cy="502920"/>
          </a:xfrm>
          <a:prstGeom prst="ellipse">
            <a:avLst/>
          </a:prstGeom>
          <a:solidFill>
            <a:srgbClr val="1E2761"/>
          </a:solidFill>
          <a:ln/>
        </p:spPr>
        <p:txBody>
          <a:bodyPr/>
          <a:lstStyle/>
          <a:p>
            <a:endParaRPr lang="es-CO"/>
          </a:p>
        </p:txBody>
      </p:sp>
      <p:sp>
        <p:nvSpPr>
          <p:cNvPr id="20" name="Text 18"/>
          <p:cNvSpPr/>
          <p:nvPr/>
        </p:nvSpPr>
        <p:spPr>
          <a:xfrm>
            <a:off x="9052560" y="1965960"/>
            <a:ext cx="502920" cy="502920"/>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21" name="Text 19"/>
          <p:cNvSpPr/>
          <p:nvPr/>
        </p:nvSpPr>
        <p:spPr>
          <a:xfrm>
            <a:off x="9052560" y="2651760"/>
            <a:ext cx="2606040" cy="777240"/>
          </a:xfrm>
          <a:prstGeom prst="rect">
            <a:avLst/>
          </a:prstGeom>
          <a:noFill/>
          <a:ln/>
        </p:spPr>
        <p:txBody>
          <a:bodyPr wrap="square" lIns="0" tIns="0" rIns="0" bIns="0" rtlCol="0" anchor="t"/>
          <a:lstStyle/>
          <a:p>
            <a:pPr marL="0" indent="0">
              <a:buNone/>
            </a:pPr>
            <a:r>
              <a:rPr lang="en-US" sz="1450" b="1" dirty="0">
                <a:solidFill>
                  <a:srgbClr val="1E2761"/>
                </a:solidFill>
                <a:latin typeface="Calibri" pitchFamily="34" charset="0"/>
                <a:ea typeface="Calibri" pitchFamily="34" charset="-122"/>
                <a:cs typeface="Calibri" pitchFamily="34" charset="-120"/>
              </a:rPr>
              <a:t>Ideación de atributos derivados</a:t>
            </a:r>
            <a:endParaRPr lang="en-US" sz="1450" dirty="0"/>
          </a:p>
        </p:txBody>
      </p:sp>
      <p:sp>
        <p:nvSpPr>
          <p:cNvPr id="22" name="Text 20"/>
          <p:cNvSpPr/>
          <p:nvPr/>
        </p:nvSpPr>
        <p:spPr>
          <a:xfrm>
            <a:off x="9052560" y="3429000"/>
            <a:ext cx="2606040" cy="1554480"/>
          </a:xfrm>
          <a:prstGeom prst="rect">
            <a:avLst/>
          </a:prstGeom>
          <a:noFill/>
          <a:ln/>
        </p:spPr>
        <p:txBody>
          <a:bodyPr wrap="square" lIns="0" tIns="0" rIns="0" bIns="0" rtlCol="0" anchor="t"/>
          <a:lstStyle/>
          <a:p>
            <a:pPr marL="0" indent="0">
              <a:lnSpc>
                <a:spcPct val="120000"/>
              </a:lnSpc>
              <a:buNone/>
            </a:pPr>
            <a:r>
              <a:rPr lang="en-US" sz="1150" dirty="0">
                <a:solidFill>
                  <a:srgbClr val="5A5F73"/>
                </a:solidFill>
                <a:latin typeface="Calibri" pitchFamily="34" charset="0"/>
                <a:ea typeface="Calibri" pitchFamily="34" charset="-122"/>
                <a:cs typeface="Calibri" pitchFamily="34" charset="-120"/>
              </a:rPr>
              <a:t>Combinaciones de variables con más señal que las originales</a:t>
            </a:r>
            <a:endParaRPr lang="en-US" sz="1150" dirty="0"/>
          </a:p>
        </p:txBody>
      </p:sp>
      <p:sp>
        <p:nvSpPr>
          <p:cNvPr id="23" name="Text 21"/>
          <p:cNvSpPr/>
          <p:nvPr/>
        </p:nvSpPr>
        <p:spPr>
          <a:xfrm>
            <a:off x="457200" y="6446520"/>
            <a:ext cx="5486400" cy="274320"/>
          </a:xfrm>
          <a:prstGeom prst="rect">
            <a:avLst/>
          </a:prstGeom>
          <a:noFill/>
          <a:ln/>
        </p:spPr>
        <p:txBody>
          <a:bodyPr wrap="square" lIns="0" tIns="0" rIns="0" bIns="0" rtlCol="0" anchor="ctr"/>
          <a:lstStyle/>
          <a:p>
            <a:pPr marL="0" indent="0">
              <a:buNone/>
            </a:pPr>
            <a:r>
              <a:rPr lang="en-US" sz="1000" dirty="0">
                <a:solidFill>
                  <a:srgbClr val="8A8FA3"/>
                </a:solidFill>
                <a:latin typeface="Calibri" pitchFamily="34" charset="0"/>
                <a:ea typeface="Calibri" pitchFamily="34" charset="-122"/>
                <a:cs typeface="Calibri" pitchFamily="34" charset="-120"/>
              </a:rPr>
              <a:t>Análisis de Riesgo Crediticio</a:t>
            </a:r>
            <a:endParaRPr lang="en-US" sz="1000" dirty="0"/>
          </a:p>
        </p:txBody>
      </p:sp>
      <p:sp>
        <p:nvSpPr>
          <p:cNvPr id="24" name="Text 22"/>
          <p:cNvSpPr/>
          <p:nvPr/>
        </p:nvSpPr>
        <p:spPr>
          <a:xfrm>
            <a:off x="11247120" y="6446520"/>
            <a:ext cx="457200" cy="274320"/>
          </a:xfrm>
          <a:prstGeom prst="rect">
            <a:avLst/>
          </a:prstGeom>
          <a:noFill/>
          <a:ln/>
        </p:spPr>
        <p:txBody>
          <a:bodyPr wrap="square" lIns="0" tIns="0" rIns="0" bIns="0" rtlCol="0" anchor="ctr"/>
          <a:lstStyle/>
          <a:p>
            <a:pPr marL="0" indent="0" algn="r">
              <a:buNone/>
            </a:pPr>
            <a:r>
              <a:rPr lang="en-US" sz="1000" dirty="0">
                <a:solidFill>
                  <a:srgbClr val="8A8FA3"/>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48640" y="411480"/>
            <a:ext cx="9144000" cy="320040"/>
          </a:xfrm>
          <a:prstGeom prst="rect">
            <a:avLst/>
          </a:prstGeom>
          <a:noFill/>
          <a:ln/>
        </p:spPr>
        <p:txBody>
          <a:bodyPr wrap="square" lIns="0" tIns="0" rIns="0" bIns="0" rtlCol="0" anchor="ctr"/>
          <a:lstStyle/>
          <a:p>
            <a:pPr marL="0" indent="0">
              <a:buNone/>
            </a:pPr>
            <a:r>
              <a:rPr lang="en-US" sz="1300" b="1" kern="0" spc="200" dirty="0">
                <a:solidFill>
                  <a:srgbClr val="B33A3A"/>
                </a:solidFill>
                <a:latin typeface="Calibri" pitchFamily="34" charset="0"/>
                <a:ea typeface="Calibri" pitchFamily="34" charset="-122"/>
                <a:cs typeface="Calibri" pitchFamily="34" charset="-120"/>
              </a:rPr>
              <a:t>CALIDAD DE DATOS</a:t>
            </a:r>
            <a:endParaRPr lang="en-US" sz="1300" dirty="0"/>
          </a:p>
        </p:txBody>
      </p:sp>
      <p:sp>
        <p:nvSpPr>
          <p:cNvPr id="3" name="Text 1"/>
          <p:cNvSpPr/>
          <p:nvPr/>
        </p:nvSpPr>
        <p:spPr>
          <a:xfrm>
            <a:off x="548640" y="713232"/>
            <a:ext cx="10789920" cy="822960"/>
          </a:xfrm>
          <a:prstGeom prst="rect">
            <a:avLst/>
          </a:prstGeom>
          <a:noFill/>
          <a:ln/>
        </p:spPr>
        <p:txBody>
          <a:bodyPr wrap="square" lIns="0" tIns="0" rIns="0" bIns="0"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Problemas de calidad detectados</a:t>
            </a:r>
            <a:endParaRPr lang="en-US" sz="3000" dirty="0"/>
          </a:p>
        </p:txBody>
      </p:sp>
      <p:sp>
        <p:nvSpPr>
          <p:cNvPr id="4" name="Shape 2"/>
          <p:cNvSpPr/>
          <p:nvPr/>
        </p:nvSpPr>
        <p:spPr>
          <a:xfrm>
            <a:off x="548640" y="1874520"/>
            <a:ext cx="5349240" cy="1737360"/>
          </a:xfrm>
          <a:prstGeom prst="roundRect">
            <a:avLst>
              <a:gd name="adj" fmla="val 4211"/>
            </a:avLst>
          </a:prstGeom>
          <a:solidFill>
            <a:srgbClr val="F4F7FC"/>
          </a:solidFill>
          <a:ln/>
        </p:spPr>
        <p:txBody>
          <a:bodyPr/>
          <a:lstStyle/>
          <a:p>
            <a:endParaRPr lang="es-CO"/>
          </a:p>
        </p:txBody>
      </p:sp>
      <p:sp>
        <p:nvSpPr>
          <p:cNvPr id="5" name="Shape 3"/>
          <p:cNvSpPr/>
          <p:nvPr/>
        </p:nvSpPr>
        <p:spPr>
          <a:xfrm>
            <a:off x="822960" y="2148840"/>
            <a:ext cx="146304" cy="146304"/>
          </a:xfrm>
          <a:prstGeom prst="ellipse">
            <a:avLst/>
          </a:prstGeom>
          <a:solidFill>
            <a:srgbClr val="B33A3A"/>
          </a:solidFill>
          <a:ln/>
        </p:spPr>
        <p:txBody>
          <a:bodyPr/>
          <a:lstStyle/>
          <a:p>
            <a:endParaRPr lang="es-CO"/>
          </a:p>
        </p:txBody>
      </p:sp>
      <p:sp>
        <p:nvSpPr>
          <p:cNvPr id="6" name="Text 4"/>
          <p:cNvSpPr/>
          <p:nvPr/>
        </p:nvSpPr>
        <p:spPr>
          <a:xfrm>
            <a:off x="1097280" y="2039112"/>
            <a:ext cx="4526280" cy="411480"/>
          </a:xfrm>
          <a:prstGeom prst="rect">
            <a:avLst/>
          </a:prstGeom>
          <a:noFill/>
          <a:ln/>
        </p:spPr>
        <p:txBody>
          <a:bodyPr wrap="square" lIns="0" tIns="0" rIns="0" bIns="0" rtlCol="0" anchor="ctr"/>
          <a:lstStyle/>
          <a:p>
            <a:pPr marL="0" indent="0">
              <a:buNone/>
            </a:pPr>
            <a:r>
              <a:rPr lang="en-US" sz="1500" b="1" dirty="0">
                <a:solidFill>
                  <a:srgbClr val="1E2761"/>
                </a:solidFill>
                <a:latin typeface="Calibri" pitchFamily="34" charset="0"/>
                <a:ea typeface="Calibri" pitchFamily="34" charset="-122"/>
                <a:cs typeface="Calibri" pitchFamily="34" charset="-120"/>
              </a:rPr>
              <a:t>puntaje</a:t>
            </a:r>
            <a:endParaRPr lang="en-US" sz="1500" dirty="0"/>
          </a:p>
        </p:txBody>
      </p:sp>
      <p:sp>
        <p:nvSpPr>
          <p:cNvPr id="7" name="Text 5"/>
          <p:cNvSpPr/>
          <p:nvPr/>
        </p:nvSpPr>
        <p:spPr>
          <a:xfrm>
            <a:off x="822960" y="2532888"/>
            <a:ext cx="4800600" cy="960120"/>
          </a:xfrm>
          <a:prstGeom prst="rect">
            <a:avLst/>
          </a:prstGeom>
          <a:noFill/>
          <a:ln/>
        </p:spPr>
        <p:txBody>
          <a:bodyPr wrap="square" lIns="0" tIns="0" rIns="0" bIns="0" rtlCol="0" anchor="ctr"/>
          <a:lstStyle/>
          <a:p>
            <a:pPr marL="0" indent="0">
              <a:lnSpc>
                <a:spcPct val="120000"/>
              </a:lnSpc>
              <a:buNone/>
            </a:pPr>
            <a:r>
              <a:rPr lang="en-US" sz="1200" dirty="0">
                <a:solidFill>
                  <a:srgbClr val="5A5F73"/>
                </a:solidFill>
                <a:latin typeface="Calibri" pitchFamily="34" charset="0"/>
                <a:ea typeface="Calibri" pitchFamily="34" charset="-122"/>
                <a:cs typeface="Calibri" pitchFamily="34" charset="-120"/>
              </a:rPr>
              <a:t>87.4% de los registros comparten el mismo valor — se eliminó por no aportar información</a:t>
            </a:r>
            <a:endParaRPr lang="en-US" sz="1200" dirty="0"/>
          </a:p>
        </p:txBody>
      </p:sp>
      <p:sp>
        <p:nvSpPr>
          <p:cNvPr id="8" name="Shape 6"/>
          <p:cNvSpPr/>
          <p:nvPr/>
        </p:nvSpPr>
        <p:spPr>
          <a:xfrm>
            <a:off x="6172200" y="1874520"/>
            <a:ext cx="5349240" cy="1737360"/>
          </a:xfrm>
          <a:prstGeom prst="roundRect">
            <a:avLst>
              <a:gd name="adj" fmla="val 4211"/>
            </a:avLst>
          </a:prstGeom>
          <a:solidFill>
            <a:srgbClr val="F4F7FC"/>
          </a:solidFill>
          <a:ln/>
        </p:spPr>
        <p:txBody>
          <a:bodyPr/>
          <a:lstStyle/>
          <a:p>
            <a:endParaRPr lang="es-CO"/>
          </a:p>
        </p:txBody>
      </p:sp>
      <p:sp>
        <p:nvSpPr>
          <p:cNvPr id="9" name="Shape 7"/>
          <p:cNvSpPr/>
          <p:nvPr/>
        </p:nvSpPr>
        <p:spPr>
          <a:xfrm>
            <a:off x="6446520" y="2148840"/>
            <a:ext cx="146304" cy="146304"/>
          </a:xfrm>
          <a:prstGeom prst="ellipse">
            <a:avLst/>
          </a:prstGeom>
          <a:solidFill>
            <a:srgbClr val="B33A3A"/>
          </a:solidFill>
          <a:ln/>
        </p:spPr>
        <p:txBody>
          <a:bodyPr/>
          <a:lstStyle/>
          <a:p>
            <a:endParaRPr lang="es-CO"/>
          </a:p>
        </p:txBody>
      </p:sp>
      <p:sp>
        <p:nvSpPr>
          <p:cNvPr id="10" name="Text 8"/>
          <p:cNvSpPr/>
          <p:nvPr/>
        </p:nvSpPr>
        <p:spPr>
          <a:xfrm>
            <a:off x="6720840" y="2039112"/>
            <a:ext cx="4526280" cy="411480"/>
          </a:xfrm>
          <a:prstGeom prst="rect">
            <a:avLst/>
          </a:prstGeom>
          <a:noFill/>
          <a:ln/>
        </p:spPr>
        <p:txBody>
          <a:bodyPr wrap="square" lIns="0" tIns="0" rIns="0" bIns="0" rtlCol="0" anchor="ctr"/>
          <a:lstStyle/>
          <a:p>
            <a:pPr marL="0" indent="0">
              <a:buNone/>
            </a:pPr>
            <a:r>
              <a:rPr lang="en-US" sz="1500" b="1" dirty="0">
                <a:solidFill>
                  <a:srgbClr val="1E2761"/>
                </a:solidFill>
                <a:latin typeface="Calibri" pitchFamily="34" charset="0"/>
                <a:ea typeface="Calibri" pitchFamily="34" charset="-122"/>
                <a:cs typeface="Calibri" pitchFamily="34" charset="-120"/>
              </a:rPr>
              <a:t>edad_cliente</a:t>
            </a:r>
            <a:endParaRPr lang="en-US" sz="1500" dirty="0"/>
          </a:p>
        </p:txBody>
      </p:sp>
      <p:sp>
        <p:nvSpPr>
          <p:cNvPr id="11" name="Text 9"/>
          <p:cNvSpPr/>
          <p:nvPr/>
        </p:nvSpPr>
        <p:spPr>
          <a:xfrm>
            <a:off x="6446520" y="2532888"/>
            <a:ext cx="4800600" cy="960120"/>
          </a:xfrm>
          <a:prstGeom prst="rect">
            <a:avLst/>
          </a:prstGeom>
          <a:noFill/>
          <a:ln/>
        </p:spPr>
        <p:txBody>
          <a:bodyPr wrap="square" lIns="0" tIns="0" rIns="0" bIns="0" rtlCol="0" anchor="ctr"/>
          <a:lstStyle/>
          <a:p>
            <a:pPr marL="0" indent="0">
              <a:lnSpc>
                <a:spcPct val="120000"/>
              </a:lnSpc>
              <a:buNone/>
            </a:pPr>
            <a:r>
              <a:rPr lang="en-US" sz="1200" dirty="0">
                <a:solidFill>
                  <a:srgbClr val="5A5F73"/>
                </a:solidFill>
                <a:latin typeface="Calibri" pitchFamily="34" charset="0"/>
                <a:ea typeface="Calibri" pitchFamily="34" charset="-122"/>
                <a:cs typeface="Calibri" pitchFamily="34" charset="-120"/>
              </a:rPr>
              <a:t>150 registros con 121–123 años (salto claro en la distribución) — corregidos</a:t>
            </a:r>
            <a:endParaRPr lang="en-US" sz="1200" dirty="0"/>
          </a:p>
        </p:txBody>
      </p:sp>
      <p:sp>
        <p:nvSpPr>
          <p:cNvPr id="12" name="Shape 10"/>
          <p:cNvSpPr/>
          <p:nvPr/>
        </p:nvSpPr>
        <p:spPr>
          <a:xfrm>
            <a:off x="548640" y="3840480"/>
            <a:ext cx="5349240" cy="1737360"/>
          </a:xfrm>
          <a:prstGeom prst="roundRect">
            <a:avLst>
              <a:gd name="adj" fmla="val 4211"/>
            </a:avLst>
          </a:prstGeom>
          <a:solidFill>
            <a:srgbClr val="F4F7FC"/>
          </a:solidFill>
          <a:ln/>
        </p:spPr>
        <p:txBody>
          <a:bodyPr/>
          <a:lstStyle/>
          <a:p>
            <a:endParaRPr lang="es-CO"/>
          </a:p>
        </p:txBody>
      </p:sp>
      <p:sp>
        <p:nvSpPr>
          <p:cNvPr id="13" name="Shape 11"/>
          <p:cNvSpPr/>
          <p:nvPr/>
        </p:nvSpPr>
        <p:spPr>
          <a:xfrm>
            <a:off x="822960" y="4114800"/>
            <a:ext cx="146304" cy="146304"/>
          </a:xfrm>
          <a:prstGeom prst="ellipse">
            <a:avLst/>
          </a:prstGeom>
          <a:solidFill>
            <a:srgbClr val="B33A3A"/>
          </a:solidFill>
          <a:ln/>
        </p:spPr>
        <p:txBody>
          <a:bodyPr/>
          <a:lstStyle/>
          <a:p>
            <a:endParaRPr lang="es-CO"/>
          </a:p>
        </p:txBody>
      </p:sp>
      <p:sp>
        <p:nvSpPr>
          <p:cNvPr id="14" name="Text 12"/>
          <p:cNvSpPr/>
          <p:nvPr/>
        </p:nvSpPr>
        <p:spPr>
          <a:xfrm>
            <a:off x="1097280" y="4005072"/>
            <a:ext cx="4526280" cy="411480"/>
          </a:xfrm>
          <a:prstGeom prst="rect">
            <a:avLst/>
          </a:prstGeom>
          <a:noFill/>
          <a:ln/>
        </p:spPr>
        <p:txBody>
          <a:bodyPr wrap="square" lIns="0" tIns="0" rIns="0" bIns="0" rtlCol="0" anchor="ctr"/>
          <a:lstStyle/>
          <a:p>
            <a:pPr marL="0" indent="0">
              <a:buNone/>
            </a:pPr>
            <a:r>
              <a:rPr lang="en-US" sz="1500" b="1" dirty="0">
                <a:solidFill>
                  <a:srgbClr val="1E2761"/>
                </a:solidFill>
                <a:latin typeface="Calibri" pitchFamily="34" charset="0"/>
                <a:ea typeface="Calibri" pitchFamily="34" charset="-122"/>
                <a:cs typeface="Calibri" pitchFamily="34" charset="-120"/>
              </a:rPr>
              <a:t>salario_cliente</a:t>
            </a:r>
            <a:endParaRPr lang="en-US" sz="1500" dirty="0"/>
          </a:p>
        </p:txBody>
      </p:sp>
      <p:sp>
        <p:nvSpPr>
          <p:cNvPr id="15" name="Text 13"/>
          <p:cNvSpPr/>
          <p:nvPr/>
        </p:nvSpPr>
        <p:spPr>
          <a:xfrm>
            <a:off x="822960" y="4498848"/>
            <a:ext cx="4800600" cy="960120"/>
          </a:xfrm>
          <a:prstGeom prst="rect">
            <a:avLst/>
          </a:prstGeom>
          <a:noFill/>
          <a:ln/>
        </p:spPr>
        <p:txBody>
          <a:bodyPr wrap="square" lIns="0" tIns="0" rIns="0" bIns="0" rtlCol="0" anchor="ctr"/>
          <a:lstStyle/>
          <a:p>
            <a:pPr marL="0" indent="0">
              <a:lnSpc>
                <a:spcPct val="120000"/>
              </a:lnSpc>
              <a:buNone/>
            </a:pPr>
            <a:r>
              <a:rPr lang="en-US" sz="1200" dirty="0">
                <a:solidFill>
                  <a:srgbClr val="5A5F73"/>
                </a:solidFill>
                <a:latin typeface="Calibri" pitchFamily="34" charset="0"/>
                <a:ea typeface="Calibri" pitchFamily="34" charset="-122"/>
                <a:cs typeface="Calibri" pitchFamily="34" charset="-120"/>
              </a:rPr>
              <a:t>250 valores extremos (hasta $22.000 millones) — corregidos con método estadístico robusto</a:t>
            </a:r>
            <a:endParaRPr lang="en-US" sz="1200" dirty="0"/>
          </a:p>
        </p:txBody>
      </p:sp>
      <p:sp>
        <p:nvSpPr>
          <p:cNvPr id="16" name="Shape 14"/>
          <p:cNvSpPr/>
          <p:nvPr/>
        </p:nvSpPr>
        <p:spPr>
          <a:xfrm>
            <a:off x="6172200" y="3840480"/>
            <a:ext cx="5349240" cy="1737360"/>
          </a:xfrm>
          <a:prstGeom prst="roundRect">
            <a:avLst>
              <a:gd name="adj" fmla="val 4211"/>
            </a:avLst>
          </a:prstGeom>
          <a:solidFill>
            <a:srgbClr val="F4F7FC"/>
          </a:solidFill>
          <a:ln/>
        </p:spPr>
        <p:txBody>
          <a:bodyPr/>
          <a:lstStyle/>
          <a:p>
            <a:endParaRPr lang="es-CO"/>
          </a:p>
        </p:txBody>
      </p:sp>
      <p:sp>
        <p:nvSpPr>
          <p:cNvPr id="17" name="Shape 15"/>
          <p:cNvSpPr/>
          <p:nvPr/>
        </p:nvSpPr>
        <p:spPr>
          <a:xfrm>
            <a:off x="6446520" y="4114800"/>
            <a:ext cx="146304" cy="146304"/>
          </a:xfrm>
          <a:prstGeom prst="ellipse">
            <a:avLst/>
          </a:prstGeom>
          <a:solidFill>
            <a:srgbClr val="B33A3A"/>
          </a:solidFill>
          <a:ln/>
        </p:spPr>
        <p:txBody>
          <a:bodyPr/>
          <a:lstStyle/>
          <a:p>
            <a:endParaRPr lang="es-CO"/>
          </a:p>
        </p:txBody>
      </p:sp>
      <p:sp>
        <p:nvSpPr>
          <p:cNvPr id="18" name="Text 16"/>
          <p:cNvSpPr/>
          <p:nvPr/>
        </p:nvSpPr>
        <p:spPr>
          <a:xfrm>
            <a:off x="6720840" y="4005072"/>
            <a:ext cx="4526280" cy="411480"/>
          </a:xfrm>
          <a:prstGeom prst="rect">
            <a:avLst/>
          </a:prstGeom>
          <a:noFill/>
          <a:ln/>
        </p:spPr>
        <p:txBody>
          <a:bodyPr wrap="square" lIns="0" tIns="0" rIns="0" bIns="0" rtlCol="0" anchor="ctr"/>
          <a:lstStyle/>
          <a:p>
            <a:pPr marL="0" indent="0">
              <a:buNone/>
            </a:pPr>
            <a:r>
              <a:rPr lang="en-US" sz="1500" b="1" dirty="0">
                <a:solidFill>
                  <a:srgbClr val="1E2761"/>
                </a:solidFill>
                <a:latin typeface="Calibri" pitchFamily="34" charset="0"/>
                <a:ea typeface="Calibri" pitchFamily="34" charset="-122"/>
                <a:cs typeface="Calibri" pitchFamily="34" charset="-120"/>
              </a:rPr>
              <a:t>tendencia_ingresos</a:t>
            </a:r>
            <a:endParaRPr lang="en-US" sz="1500" dirty="0"/>
          </a:p>
        </p:txBody>
      </p:sp>
      <p:sp>
        <p:nvSpPr>
          <p:cNvPr id="19" name="Text 17"/>
          <p:cNvSpPr/>
          <p:nvPr/>
        </p:nvSpPr>
        <p:spPr>
          <a:xfrm>
            <a:off x="6446520" y="4498848"/>
            <a:ext cx="4800600" cy="960120"/>
          </a:xfrm>
          <a:prstGeom prst="rect">
            <a:avLst/>
          </a:prstGeom>
          <a:noFill/>
          <a:ln/>
        </p:spPr>
        <p:txBody>
          <a:bodyPr wrap="square" lIns="0" tIns="0" rIns="0" bIns="0" rtlCol="0" anchor="ctr"/>
          <a:lstStyle/>
          <a:p>
            <a:pPr marL="0" indent="0">
              <a:lnSpc>
                <a:spcPct val="120000"/>
              </a:lnSpc>
              <a:buNone/>
            </a:pPr>
            <a:r>
              <a:rPr lang="en-US" sz="1200" dirty="0">
                <a:solidFill>
                  <a:srgbClr val="5A5F73"/>
                </a:solidFill>
                <a:latin typeface="Calibri" pitchFamily="34" charset="0"/>
                <a:ea typeface="Calibri" pitchFamily="34" charset="-122"/>
                <a:cs typeface="Calibri" pitchFamily="34" charset="-120"/>
              </a:rPr>
              <a:t>58 registros con números en vez de categoría — reconstruidos por lógica de negocio</a:t>
            </a:r>
            <a:endParaRPr lang="en-US" sz="1200" dirty="0"/>
          </a:p>
        </p:txBody>
      </p:sp>
      <p:sp>
        <p:nvSpPr>
          <p:cNvPr id="20" name="Text 18"/>
          <p:cNvSpPr/>
          <p:nvPr/>
        </p:nvSpPr>
        <p:spPr>
          <a:xfrm>
            <a:off x="457200" y="6446520"/>
            <a:ext cx="5486400" cy="274320"/>
          </a:xfrm>
          <a:prstGeom prst="rect">
            <a:avLst/>
          </a:prstGeom>
          <a:noFill/>
          <a:ln/>
        </p:spPr>
        <p:txBody>
          <a:bodyPr wrap="square" lIns="0" tIns="0" rIns="0" bIns="0" rtlCol="0" anchor="ctr"/>
          <a:lstStyle/>
          <a:p>
            <a:pPr marL="0" indent="0">
              <a:buNone/>
            </a:pPr>
            <a:r>
              <a:rPr lang="en-US" sz="1000" dirty="0">
                <a:solidFill>
                  <a:srgbClr val="8A8FA3"/>
                </a:solidFill>
                <a:latin typeface="Calibri" pitchFamily="34" charset="0"/>
                <a:ea typeface="Calibri" pitchFamily="34" charset="-122"/>
                <a:cs typeface="Calibri" pitchFamily="34" charset="-120"/>
              </a:rPr>
              <a:t>Análisis de Riesgo Crediticio</a:t>
            </a:r>
            <a:endParaRPr lang="en-US" sz="1000" dirty="0"/>
          </a:p>
        </p:txBody>
      </p:sp>
      <p:sp>
        <p:nvSpPr>
          <p:cNvPr id="21" name="Text 19"/>
          <p:cNvSpPr/>
          <p:nvPr/>
        </p:nvSpPr>
        <p:spPr>
          <a:xfrm>
            <a:off x="11247120" y="6446520"/>
            <a:ext cx="457200" cy="274320"/>
          </a:xfrm>
          <a:prstGeom prst="rect">
            <a:avLst/>
          </a:prstGeom>
          <a:noFill/>
          <a:ln/>
        </p:spPr>
        <p:txBody>
          <a:bodyPr wrap="square" lIns="0" tIns="0" rIns="0" bIns="0" rtlCol="0" anchor="ctr"/>
          <a:lstStyle/>
          <a:p>
            <a:pPr marL="0" indent="0" algn="r">
              <a:buNone/>
            </a:pPr>
            <a:r>
              <a:rPr lang="en-US" sz="1000" dirty="0">
                <a:solidFill>
                  <a:srgbClr val="8A8FA3"/>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48640" y="411480"/>
            <a:ext cx="9144000" cy="320040"/>
          </a:xfrm>
          <a:prstGeom prst="rect">
            <a:avLst/>
          </a:prstGeom>
          <a:noFill/>
          <a:ln/>
        </p:spPr>
        <p:txBody>
          <a:bodyPr wrap="square" lIns="0" tIns="0" rIns="0" bIns="0" rtlCol="0" anchor="ctr"/>
          <a:lstStyle/>
          <a:p>
            <a:pPr marL="0" indent="0">
              <a:buNone/>
            </a:pPr>
            <a:r>
              <a:rPr lang="en-US" sz="1300" b="1" kern="0" spc="200" dirty="0">
                <a:solidFill>
                  <a:srgbClr val="B33A3A"/>
                </a:solidFill>
                <a:latin typeface="Calibri" pitchFamily="34" charset="0"/>
                <a:ea typeface="Calibri" pitchFamily="34" charset="-122"/>
                <a:cs typeface="Calibri" pitchFamily="34" charset="-120"/>
              </a:rPr>
              <a:t>VARIABLE OBJETIVO</a:t>
            </a:r>
            <a:endParaRPr lang="en-US" sz="1300" dirty="0"/>
          </a:p>
        </p:txBody>
      </p:sp>
      <p:sp>
        <p:nvSpPr>
          <p:cNvPr id="3" name="Text 1"/>
          <p:cNvSpPr/>
          <p:nvPr/>
        </p:nvSpPr>
        <p:spPr>
          <a:xfrm>
            <a:off x="548640" y="713232"/>
            <a:ext cx="10789920" cy="822960"/>
          </a:xfrm>
          <a:prstGeom prst="rect">
            <a:avLst/>
          </a:prstGeom>
          <a:noFill/>
          <a:ln/>
        </p:spPr>
        <p:txBody>
          <a:bodyPr wrap="square" lIns="0" tIns="0" rIns="0" bIns="0"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Distribución de la variable objetivo</a:t>
            </a:r>
            <a:endParaRPr lang="en-US" sz="3000" dirty="0"/>
          </a:p>
        </p:txBody>
      </p:sp>
      <p:graphicFrame>
        <p:nvGraphicFramePr>
          <p:cNvPr id="4" name="Chart 0"/>
          <p:cNvGraphicFramePr/>
          <p:nvPr/>
        </p:nvGraphicFramePr>
        <p:xfrm>
          <a:off x="548640" y="1874520"/>
          <a:ext cx="4937760" cy="4206240"/>
        </p:xfrm>
        <a:graphic>
          <a:graphicData uri="http://schemas.openxmlformats.org/drawingml/2006/chart">
            <c:chart xmlns:c="http://schemas.openxmlformats.org/drawingml/2006/chart" xmlns:r="http://schemas.openxmlformats.org/officeDocument/2006/relationships" r:id="rId3"/>
          </a:graphicData>
        </a:graphic>
      </p:graphicFrame>
      <p:sp>
        <p:nvSpPr>
          <p:cNvPr id="5" name="Text 2"/>
          <p:cNvSpPr/>
          <p:nvPr/>
        </p:nvSpPr>
        <p:spPr>
          <a:xfrm>
            <a:off x="6035040" y="2057400"/>
            <a:ext cx="5577840" cy="914400"/>
          </a:xfrm>
          <a:prstGeom prst="rect">
            <a:avLst/>
          </a:prstGeom>
          <a:noFill/>
          <a:ln/>
        </p:spPr>
        <p:txBody>
          <a:bodyPr wrap="square" lIns="0" tIns="0" rIns="0" bIns="0" rtlCol="0" anchor="ctr"/>
          <a:lstStyle/>
          <a:p>
            <a:pPr marL="0" indent="0">
              <a:buNone/>
            </a:pPr>
            <a:r>
              <a:rPr lang="en-US" sz="4800" b="1" dirty="0">
                <a:solidFill>
                  <a:srgbClr val="B33A3A"/>
                </a:solidFill>
                <a:latin typeface="Cambria" pitchFamily="34" charset="0"/>
                <a:ea typeface="Cambria" pitchFamily="34" charset="-122"/>
                <a:cs typeface="Cambria" pitchFamily="34" charset="-120"/>
              </a:rPr>
              <a:t>20 a 1</a:t>
            </a:r>
            <a:endParaRPr lang="en-US" sz="4800" dirty="0"/>
          </a:p>
        </p:txBody>
      </p:sp>
      <p:sp>
        <p:nvSpPr>
          <p:cNvPr id="6" name="Text 3"/>
          <p:cNvSpPr/>
          <p:nvPr/>
        </p:nvSpPr>
        <p:spPr>
          <a:xfrm>
            <a:off x="6035040" y="2880360"/>
            <a:ext cx="5577840" cy="365760"/>
          </a:xfrm>
          <a:prstGeom prst="rect">
            <a:avLst/>
          </a:prstGeom>
          <a:noFill/>
          <a:ln/>
        </p:spPr>
        <p:txBody>
          <a:bodyPr wrap="square" lIns="0" tIns="0" rIns="0" bIns="0" rtlCol="0" anchor="ctr"/>
          <a:lstStyle/>
          <a:p>
            <a:pPr marL="0" indent="0">
              <a:buNone/>
            </a:pPr>
            <a:r>
              <a:rPr lang="en-US" sz="1300" dirty="0">
                <a:solidFill>
                  <a:srgbClr val="5A5F73"/>
                </a:solidFill>
                <a:latin typeface="Calibri" pitchFamily="34" charset="0"/>
                <a:ea typeface="Calibri" pitchFamily="34" charset="-122"/>
                <a:cs typeface="Calibri" pitchFamily="34" charset="-120"/>
              </a:rPr>
              <a:t>ratio de desbalance entre clases</a:t>
            </a:r>
            <a:endParaRPr lang="en-US" sz="1300" dirty="0"/>
          </a:p>
        </p:txBody>
      </p:sp>
      <p:sp>
        <p:nvSpPr>
          <p:cNvPr id="7" name="Text 4"/>
          <p:cNvSpPr/>
          <p:nvPr/>
        </p:nvSpPr>
        <p:spPr>
          <a:xfrm>
            <a:off x="6035040" y="3520440"/>
            <a:ext cx="5577840" cy="1188720"/>
          </a:xfrm>
          <a:prstGeom prst="rect">
            <a:avLst/>
          </a:prstGeom>
          <a:noFill/>
          <a:ln/>
        </p:spPr>
        <p:txBody>
          <a:bodyPr wrap="square" lIns="0" tIns="0" rIns="0" bIns="0" rtlCol="0" anchor="ctr"/>
          <a:lstStyle/>
          <a:p>
            <a:pPr marL="0" indent="0">
              <a:lnSpc>
                <a:spcPct val="125000"/>
              </a:lnSpc>
              <a:buNone/>
            </a:pPr>
            <a:r>
              <a:rPr lang="en-US" sz="1400" dirty="0">
                <a:solidFill>
                  <a:srgbClr val="5A5F73"/>
                </a:solidFill>
                <a:latin typeface="Calibri" pitchFamily="34" charset="0"/>
                <a:ea typeface="Calibri" pitchFamily="34" charset="-122"/>
                <a:cs typeface="Calibri" pitchFamily="34" charset="-120"/>
              </a:rPr>
              <a:t>Solo el 4.75% de los créditos cae en mora (511 de 10,763). Un modelo que prediga siempre “paga a tiempo” acertaría el 95.25% de las veces sin aprender nada útil.</a:t>
            </a:r>
            <a:endParaRPr lang="en-US" sz="1400" dirty="0"/>
          </a:p>
        </p:txBody>
      </p:sp>
      <p:sp>
        <p:nvSpPr>
          <p:cNvPr id="8" name="Shape 5"/>
          <p:cNvSpPr/>
          <p:nvPr/>
        </p:nvSpPr>
        <p:spPr>
          <a:xfrm>
            <a:off x="6035040" y="4846320"/>
            <a:ext cx="5577840" cy="1051560"/>
          </a:xfrm>
          <a:prstGeom prst="roundRect">
            <a:avLst>
              <a:gd name="adj" fmla="val 6957"/>
            </a:avLst>
          </a:prstGeom>
          <a:solidFill>
            <a:srgbClr val="F4F7FC"/>
          </a:solidFill>
          <a:ln/>
        </p:spPr>
        <p:txBody>
          <a:bodyPr/>
          <a:lstStyle/>
          <a:p>
            <a:endParaRPr lang="es-CO"/>
          </a:p>
        </p:txBody>
      </p:sp>
      <p:sp>
        <p:nvSpPr>
          <p:cNvPr id="9" name="Text 6"/>
          <p:cNvSpPr/>
          <p:nvPr/>
        </p:nvSpPr>
        <p:spPr>
          <a:xfrm>
            <a:off x="6263640" y="4937760"/>
            <a:ext cx="5120640" cy="868680"/>
          </a:xfrm>
          <a:prstGeom prst="rect">
            <a:avLst/>
          </a:prstGeom>
          <a:noFill/>
          <a:ln/>
        </p:spPr>
        <p:txBody>
          <a:bodyPr wrap="square" lIns="0" tIns="0" rIns="0" bIns="0" rtlCol="0" anchor="ctr"/>
          <a:lstStyle/>
          <a:p>
            <a:pPr marL="0" indent="0">
              <a:lnSpc>
                <a:spcPct val="120000"/>
              </a:lnSpc>
              <a:buNone/>
            </a:pPr>
            <a:r>
              <a:rPr lang="en-US" sz="1250" b="1" dirty="0">
                <a:solidFill>
                  <a:srgbClr val="1E2761"/>
                </a:solidFill>
                <a:latin typeface="Calibri" pitchFamily="34" charset="0"/>
                <a:ea typeface="Calibri" pitchFamily="34" charset="-122"/>
                <a:cs typeface="Calibri" pitchFamily="34" charset="-120"/>
              </a:rPr>
              <a:t>Implicación: </a:t>
            </a:r>
            <a:r>
              <a:rPr lang="en-US" sz="1250" dirty="0">
                <a:solidFill>
                  <a:srgbClr val="5A5F73"/>
                </a:solidFill>
                <a:latin typeface="Calibri" pitchFamily="34" charset="0"/>
                <a:ea typeface="Calibri" pitchFamily="34" charset="-122"/>
                <a:cs typeface="Calibri" pitchFamily="34" charset="-120"/>
              </a:rPr>
              <a:t>la exactitud (accuracy) no sirve como métrica. Se debe evaluar con recall, F1 y AUC-PR sobre la clase minoritaria.</a:t>
            </a:r>
            <a:endParaRPr lang="en-US" sz="1250" dirty="0"/>
          </a:p>
        </p:txBody>
      </p:sp>
      <p:sp>
        <p:nvSpPr>
          <p:cNvPr id="10" name="Text 7"/>
          <p:cNvSpPr/>
          <p:nvPr/>
        </p:nvSpPr>
        <p:spPr>
          <a:xfrm>
            <a:off x="457200" y="6446520"/>
            <a:ext cx="5486400" cy="274320"/>
          </a:xfrm>
          <a:prstGeom prst="rect">
            <a:avLst/>
          </a:prstGeom>
          <a:noFill/>
          <a:ln/>
        </p:spPr>
        <p:txBody>
          <a:bodyPr wrap="square" lIns="0" tIns="0" rIns="0" bIns="0" rtlCol="0" anchor="ctr"/>
          <a:lstStyle/>
          <a:p>
            <a:pPr marL="0" indent="0">
              <a:buNone/>
            </a:pPr>
            <a:r>
              <a:rPr lang="en-US" sz="1000" dirty="0">
                <a:solidFill>
                  <a:srgbClr val="8A8FA3"/>
                </a:solidFill>
                <a:latin typeface="Calibri" pitchFamily="34" charset="0"/>
                <a:ea typeface="Calibri" pitchFamily="34" charset="-122"/>
                <a:cs typeface="Calibri" pitchFamily="34" charset="-120"/>
              </a:rPr>
              <a:t>Análisis de Riesgo Crediticio</a:t>
            </a:r>
            <a:endParaRPr lang="en-US" sz="1000" dirty="0"/>
          </a:p>
        </p:txBody>
      </p:sp>
      <p:sp>
        <p:nvSpPr>
          <p:cNvPr id="11" name="Text 8"/>
          <p:cNvSpPr/>
          <p:nvPr/>
        </p:nvSpPr>
        <p:spPr>
          <a:xfrm>
            <a:off x="11247120" y="6446520"/>
            <a:ext cx="457200" cy="274320"/>
          </a:xfrm>
          <a:prstGeom prst="rect">
            <a:avLst/>
          </a:prstGeom>
          <a:noFill/>
          <a:ln/>
        </p:spPr>
        <p:txBody>
          <a:bodyPr wrap="square" lIns="0" tIns="0" rIns="0" bIns="0" rtlCol="0" anchor="ctr"/>
          <a:lstStyle/>
          <a:p>
            <a:pPr marL="0" indent="0" algn="r">
              <a:buNone/>
            </a:pPr>
            <a:r>
              <a:rPr lang="en-US" sz="1000" dirty="0">
                <a:solidFill>
                  <a:srgbClr val="8A8FA3"/>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48640" y="411480"/>
            <a:ext cx="9144000" cy="320040"/>
          </a:xfrm>
          <a:prstGeom prst="rect">
            <a:avLst/>
          </a:prstGeom>
          <a:noFill/>
          <a:ln/>
        </p:spPr>
        <p:txBody>
          <a:bodyPr wrap="square" lIns="0" tIns="0" rIns="0" bIns="0" rtlCol="0" anchor="ctr"/>
          <a:lstStyle/>
          <a:p>
            <a:pPr marL="0" indent="0">
              <a:buNone/>
            </a:pPr>
            <a:r>
              <a:rPr lang="en-US" sz="1300" b="1" kern="0" spc="200" dirty="0">
                <a:solidFill>
                  <a:srgbClr val="B33A3A"/>
                </a:solidFill>
                <a:latin typeface="Calibri" pitchFamily="34" charset="0"/>
                <a:ea typeface="Calibri" pitchFamily="34" charset="-122"/>
                <a:cs typeface="Calibri" pitchFamily="34" charset="-120"/>
              </a:rPr>
              <a:t>INSIGHT 1 DE 5</a:t>
            </a:r>
            <a:endParaRPr lang="en-US" sz="1300" dirty="0"/>
          </a:p>
        </p:txBody>
      </p:sp>
      <p:sp>
        <p:nvSpPr>
          <p:cNvPr id="3" name="Text 1"/>
          <p:cNvSpPr/>
          <p:nvPr/>
        </p:nvSpPr>
        <p:spPr>
          <a:xfrm>
            <a:off x="548640" y="713232"/>
            <a:ext cx="10789920" cy="822960"/>
          </a:xfrm>
          <a:prstGeom prst="rect">
            <a:avLst/>
          </a:prstGeom>
          <a:noFill/>
          <a:ln/>
        </p:spPr>
        <p:txBody>
          <a:bodyPr wrap="square" lIns="0" tIns="0" rIns="0" bIns="0"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Tasa de mora según si el cliente ya tenía mora</a:t>
            </a:r>
            <a:endParaRPr lang="en-US" sz="3000" dirty="0"/>
          </a:p>
        </p:txBody>
      </p:sp>
      <p:graphicFrame>
        <p:nvGraphicFramePr>
          <p:cNvPr id="4" name="Chart 0"/>
          <p:cNvGraphicFramePr/>
          <p:nvPr/>
        </p:nvGraphicFramePr>
        <p:xfrm>
          <a:off x="548640" y="1920240"/>
          <a:ext cx="5760720" cy="4023360"/>
        </p:xfrm>
        <a:graphic>
          <a:graphicData uri="http://schemas.openxmlformats.org/drawingml/2006/chart">
            <c:chart xmlns:c="http://schemas.openxmlformats.org/drawingml/2006/chart" xmlns:r="http://schemas.openxmlformats.org/officeDocument/2006/relationships" r:id="rId3"/>
          </a:graphicData>
        </a:graphic>
      </p:graphicFrame>
      <p:sp>
        <p:nvSpPr>
          <p:cNvPr id="5" name="Text 2"/>
          <p:cNvSpPr/>
          <p:nvPr/>
        </p:nvSpPr>
        <p:spPr>
          <a:xfrm>
            <a:off x="6858000" y="1965960"/>
            <a:ext cx="4754880" cy="1005840"/>
          </a:xfrm>
          <a:prstGeom prst="rect">
            <a:avLst/>
          </a:prstGeom>
          <a:noFill/>
          <a:ln/>
        </p:spPr>
        <p:txBody>
          <a:bodyPr wrap="square" lIns="0" tIns="0" rIns="0" bIns="0" rtlCol="0" anchor="ctr"/>
          <a:lstStyle/>
          <a:p>
            <a:pPr marL="0" indent="0">
              <a:buNone/>
            </a:pPr>
            <a:r>
              <a:rPr lang="en-US" sz="5400" b="1" dirty="0">
                <a:solidFill>
                  <a:srgbClr val="B33A3A"/>
                </a:solidFill>
                <a:latin typeface="Cambria" pitchFamily="34" charset="0"/>
                <a:ea typeface="Cambria" pitchFamily="34" charset="-122"/>
                <a:cs typeface="Cambria" pitchFamily="34" charset="-120"/>
              </a:rPr>
              <a:t>8x</a:t>
            </a:r>
            <a:endParaRPr lang="en-US" sz="5400" dirty="0"/>
          </a:p>
        </p:txBody>
      </p:sp>
      <p:sp>
        <p:nvSpPr>
          <p:cNvPr id="6" name="Text 3"/>
          <p:cNvSpPr/>
          <p:nvPr/>
        </p:nvSpPr>
        <p:spPr>
          <a:xfrm>
            <a:off x="6858000" y="2834640"/>
            <a:ext cx="4754880" cy="868680"/>
          </a:xfrm>
          <a:prstGeom prst="rect">
            <a:avLst/>
          </a:prstGeom>
          <a:noFill/>
          <a:ln/>
        </p:spPr>
        <p:txBody>
          <a:bodyPr wrap="square" lIns="0" tIns="0" rIns="0" bIns="0" rtlCol="0" anchor="ctr"/>
          <a:lstStyle/>
          <a:p>
            <a:pPr marL="0" indent="0">
              <a:lnSpc>
                <a:spcPct val="120000"/>
              </a:lnSpc>
              <a:buNone/>
            </a:pPr>
            <a:r>
              <a:rPr lang="en-US" sz="1350" dirty="0">
                <a:solidFill>
                  <a:srgbClr val="5A5F73"/>
                </a:solidFill>
                <a:latin typeface="Calibri" pitchFamily="34" charset="0"/>
                <a:ea typeface="Calibri" pitchFamily="34" charset="-122"/>
                <a:cs typeface="Calibri" pitchFamily="34" charset="-120"/>
              </a:rPr>
              <a:t>36,4% ÷ 4,6% ≈ 8 veces más riesgo de mora si el cliente ya registraba saldo en mora</a:t>
            </a:r>
            <a:endParaRPr lang="en-US" sz="1350" dirty="0"/>
          </a:p>
        </p:txBody>
      </p:sp>
      <p:sp>
        <p:nvSpPr>
          <p:cNvPr id="7" name="Shape 4"/>
          <p:cNvSpPr/>
          <p:nvPr/>
        </p:nvSpPr>
        <p:spPr>
          <a:xfrm>
            <a:off x="6858000" y="3749040"/>
            <a:ext cx="4754880" cy="1051560"/>
          </a:xfrm>
          <a:prstGeom prst="roundRect">
            <a:avLst>
              <a:gd name="adj" fmla="val 6957"/>
            </a:avLst>
          </a:prstGeom>
          <a:solidFill>
            <a:srgbClr val="FBEAEA"/>
          </a:solidFill>
          <a:ln/>
        </p:spPr>
        <p:txBody>
          <a:bodyPr/>
          <a:lstStyle/>
          <a:p>
            <a:endParaRPr lang="es-CO"/>
          </a:p>
        </p:txBody>
      </p:sp>
      <p:sp>
        <p:nvSpPr>
          <p:cNvPr id="8" name="Text 5"/>
          <p:cNvSpPr/>
          <p:nvPr/>
        </p:nvSpPr>
        <p:spPr>
          <a:xfrm>
            <a:off x="7086600" y="3858768"/>
            <a:ext cx="4297680" cy="868680"/>
          </a:xfrm>
          <a:prstGeom prst="rect">
            <a:avLst/>
          </a:prstGeom>
          <a:noFill/>
          <a:ln/>
        </p:spPr>
        <p:txBody>
          <a:bodyPr wrap="square" lIns="0" tIns="0" rIns="0" bIns="0" rtlCol="0" anchor="ctr"/>
          <a:lstStyle/>
          <a:p>
            <a:pPr marL="0" indent="0">
              <a:lnSpc>
                <a:spcPct val="120000"/>
              </a:lnSpc>
              <a:buNone/>
            </a:pPr>
            <a:r>
              <a:rPr lang="en-US" sz="1150" b="1" dirty="0">
                <a:solidFill>
                  <a:srgbClr val="B33A3A"/>
                </a:solidFill>
                <a:latin typeface="Calibri" pitchFamily="34" charset="0"/>
                <a:ea typeface="Calibri" pitchFamily="34" charset="-122"/>
                <a:cs typeface="Calibri" pitchFamily="34" charset="-120"/>
              </a:rPr>
              <a:t>Cómo leer el gráfico: </a:t>
            </a:r>
            <a:r>
              <a:rPr lang="en-US" sz="1150" dirty="0">
                <a:solidFill>
                  <a:srgbClr val="5A5F73"/>
                </a:solidFill>
                <a:latin typeface="Calibri" pitchFamily="34" charset="0"/>
                <a:ea typeface="Calibri" pitchFamily="34" charset="-122"/>
                <a:cs typeface="Calibri" pitchFamily="34" charset="-120"/>
              </a:rPr>
              <a:t>cada barra es una tasa calculada dentro de su propio grupo, no una porción de un total. Por eso no suman 100%.</a:t>
            </a:r>
            <a:endParaRPr lang="en-US" sz="1150" dirty="0"/>
          </a:p>
        </p:txBody>
      </p:sp>
      <p:sp>
        <p:nvSpPr>
          <p:cNvPr id="9" name="Shape 6"/>
          <p:cNvSpPr/>
          <p:nvPr/>
        </p:nvSpPr>
        <p:spPr>
          <a:xfrm>
            <a:off x="6858000" y="4892040"/>
            <a:ext cx="4754880" cy="914400"/>
          </a:xfrm>
          <a:prstGeom prst="roundRect">
            <a:avLst>
              <a:gd name="adj" fmla="val 8000"/>
            </a:avLst>
          </a:prstGeom>
          <a:solidFill>
            <a:srgbClr val="F4F7FC"/>
          </a:solidFill>
          <a:ln/>
        </p:spPr>
        <p:txBody>
          <a:bodyPr/>
          <a:lstStyle/>
          <a:p>
            <a:endParaRPr lang="es-CO"/>
          </a:p>
        </p:txBody>
      </p:sp>
      <p:sp>
        <p:nvSpPr>
          <p:cNvPr id="10" name="Text 7"/>
          <p:cNvSpPr/>
          <p:nvPr/>
        </p:nvSpPr>
        <p:spPr>
          <a:xfrm>
            <a:off x="7086600" y="4983480"/>
            <a:ext cx="4297680" cy="777240"/>
          </a:xfrm>
          <a:prstGeom prst="rect">
            <a:avLst/>
          </a:prstGeom>
          <a:noFill/>
          <a:ln/>
        </p:spPr>
        <p:txBody>
          <a:bodyPr wrap="square" lIns="0" tIns="0" rIns="0" bIns="0" rtlCol="0" anchor="ctr"/>
          <a:lstStyle/>
          <a:p>
            <a:pPr marL="0" indent="0">
              <a:lnSpc>
                <a:spcPct val="120000"/>
              </a:lnSpc>
              <a:buNone/>
            </a:pPr>
            <a:r>
              <a:rPr lang="en-US" sz="1150" b="1" dirty="0">
                <a:solidFill>
                  <a:srgbClr val="1E2761"/>
                </a:solidFill>
                <a:latin typeface="Calibri" pitchFamily="34" charset="0"/>
                <a:ea typeface="Calibri" pitchFamily="34" charset="-122"/>
                <a:cs typeface="Calibri" pitchFamily="34" charset="-120"/>
              </a:rPr>
              <a:t>Base: </a:t>
            </a:r>
            <a:r>
              <a:rPr lang="en-US" sz="1150" dirty="0">
                <a:solidFill>
                  <a:srgbClr val="5A5F73"/>
                </a:solidFill>
                <a:latin typeface="Calibri" pitchFamily="34" charset="0"/>
                <a:ea typeface="Calibri" pitchFamily="34" charset="-122"/>
                <a:cs typeface="Calibri" pitchFamily="34" charset="-120"/>
              </a:rPr>
              <a:t>55 registros con mora previa. Es una alerta temprana de alto valor, no una conclusión estadística definitiva.</a:t>
            </a:r>
            <a:endParaRPr lang="en-US" sz="1150" dirty="0"/>
          </a:p>
        </p:txBody>
      </p:sp>
      <p:sp>
        <p:nvSpPr>
          <p:cNvPr id="11" name="Text 8"/>
          <p:cNvSpPr/>
          <p:nvPr/>
        </p:nvSpPr>
        <p:spPr>
          <a:xfrm>
            <a:off x="457200" y="6446520"/>
            <a:ext cx="5486400" cy="274320"/>
          </a:xfrm>
          <a:prstGeom prst="rect">
            <a:avLst/>
          </a:prstGeom>
          <a:noFill/>
          <a:ln/>
        </p:spPr>
        <p:txBody>
          <a:bodyPr wrap="square" lIns="0" tIns="0" rIns="0" bIns="0" rtlCol="0" anchor="ctr"/>
          <a:lstStyle/>
          <a:p>
            <a:pPr marL="0" indent="0">
              <a:buNone/>
            </a:pPr>
            <a:r>
              <a:rPr lang="en-US" sz="1000" dirty="0">
                <a:solidFill>
                  <a:srgbClr val="8A8FA3"/>
                </a:solidFill>
                <a:latin typeface="Calibri" pitchFamily="34" charset="0"/>
                <a:ea typeface="Calibri" pitchFamily="34" charset="-122"/>
                <a:cs typeface="Calibri" pitchFamily="34" charset="-120"/>
              </a:rPr>
              <a:t>Análisis de Riesgo Crediticio</a:t>
            </a:r>
            <a:endParaRPr lang="en-US" sz="1000" dirty="0"/>
          </a:p>
        </p:txBody>
      </p:sp>
      <p:sp>
        <p:nvSpPr>
          <p:cNvPr id="12" name="Text 9"/>
          <p:cNvSpPr/>
          <p:nvPr/>
        </p:nvSpPr>
        <p:spPr>
          <a:xfrm>
            <a:off x="11247120" y="6446520"/>
            <a:ext cx="457200" cy="274320"/>
          </a:xfrm>
          <a:prstGeom prst="rect">
            <a:avLst/>
          </a:prstGeom>
          <a:noFill/>
          <a:ln/>
        </p:spPr>
        <p:txBody>
          <a:bodyPr wrap="square" lIns="0" tIns="0" rIns="0" bIns="0" rtlCol="0" anchor="ctr"/>
          <a:lstStyle/>
          <a:p>
            <a:pPr marL="0" indent="0" algn="r">
              <a:buNone/>
            </a:pPr>
            <a:r>
              <a:rPr lang="en-US" sz="1000" dirty="0">
                <a:solidFill>
                  <a:srgbClr val="8A8FA3"/>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48640" y="411480"/>
            <a:ext cx="9144000" cy="320040"/>
          </a:xfrm>
          <a:prstGeom prst="rect">
            <a:avLst/>
          </a:prstGeom>
          <a:noFill/>
          <a:ln/>
        </p:spPr>
        <p:txBody>
          <a:bodyPr wrap="square" lIns="0" tIns="0" rIns="0" bIns="0" rtlCol="0" anchor="ctr"/>
          <a:lstStyle/>
          <a:p>
            <a:pPr marL="0" indent="0">
              <a:buNone/>
            </a:pPr>
            <a:r>
              <a:rPr lang="en-US" sz="1300" b="1" kern="0" spc="200" dirty="0">
                <a:solidFill>
                  <a:srgbClr val="B33A3A"/>
                </a:solidFill>
                <a:latin typeface="Calibri" pitchFamily="34" charset="0"/>
                <a:ea typeface="Calibri" pitchFamily="34" charset="-122"/>
                <a:cs typeface="Calibri" pitchFamily="34" charset="-120"/>
              </a:rPr>
              <a:t>INSIGHT 2 DE 5</a:t>
            </a:r>
            <a:endParaRPr lang="en-US" sz="1300" dirty="0"/>
          </a:p>
        </p:txBody>
      </p:sp>
      <p:sp>
        <p:nvSpPr>
          <p:cNvPr id="3" name="Text 1"/>
          <p:cNvSpPr/>
          <p:nvPr/>
        </p:nvSpPr>
        <p:spPr>
          <a:xfrm>
            <a:off x="548640" y="713232"/>
            <a:ext cx="10789920" cy="822960"/>
          </a:xfrm>
          <a:prstGeom prst="rect">
            <a:avLst/>
          </a:prstGeom>
          <a:noFill/>
          <a:ln/>
        </p:spPr>
        <p:txBody>
          <a:bodyPr wrap="square" lIns="0" tIns="0" rIns="0" bIns="0"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Tasa de mora según el tipo de crédito</a:t>
            </a:r>
            <a:endParaRPr lang="en-US" sz="3000" dirty="0"/>
          </a:p>
        </p:txBody>
      </p:sp>
      <p:graphicFrame>
        <p:nvGraphicFramePr>
          <p:cNvPr id="4" name="Chart 0"/>
          <p:cNvGraphicFramePr/>
          <p:nvPr/>
        </p:nvGraphicFramePr>
        <p:xfrm>
          <a:off x="548640" y="1965960"/>
          <a:ext cx="7406640" cy="4114800"/>
        </p:xfrm>
        <a:graphic>
          <a:graphicData uri="http://schemas.openxmlformats.org/drawingml/2006/chart">
            <c:chart xmlns:c="http://schemas.openxmlformats.org/drawingml/2006/chart" xmlns:r="http://schemas.openxmlformats.org/officeDocument/2006/relationships" r:id="rId3"/>
          </a:graphicData>
        </a:graphic>
      </p:graphicFrame>
      <p:sp>
        <p:nvSpPr>
          <p:cNvPr id="5" name="Text 2"/>
          <p:cNvSpPr/>
          <p:nvPr/>
        </p:nvSpPr>
        <p:spPr>
          <a:xfrm>
            <a:off x="8229600" y="2148840"/>
            <a:ext cx="3383280" cy="777240"/>
          </a:xfrm>
          <a:prstGeom prst="rect">
            <a:avLst/>
          </a:prstGeom>
          <a:noFill/>
          <a:ln/>
        </p:spPr>
        <p:txBody>
          <a:bodyPr wrap="square" lIns="0" tIns="0" rIns="0" bIns="0" rtlCol="0" anchor="ctr"/>
          <a:lstStyle/>
          <a:p>
            <a:pPr marL="0" indent="0">
              <a:buNone/>
            </a:pPr>
            <a:r>
              <a:rPr lang="en-US" sz="3600" b="1" dirty="0">
                <a:solidFill>
                  <a:srgbClr val="B33A3A"/>
                </a:solidFill>
                <a:latin typeface="Cambria" pitchFamily="34" charset="0"/>
                <a:ea typeface="Cambria" pitchFamily="34" charset="-122"/>
                <a:cs typeface="Cambria" pitchFamily="34" charset="-120"/>
              </a:rPr>
              <a:t>42.9%</a:t>
            </a:r>
            <a:endParaRPr lang="en-US" sz="3600" dirty="0"/>
          </a:p>
        </p:txBody>
      </p:sp>
      <p:sp>
        <p:nvSpPr>
          <p:cNvPr id="6" name="Text 3"/>
          <p:cNvSpPr/>
          <p:nvPr/>
        </p:nvSpPr>
        <p:spPr>
          <a:xfrm>
            <a:off x="8229600" y="2926080"/>
            <a:ext cx="3383280" cy="1097280"/>
          </a:xfrm>
          <a:prstGeom prst="rect">
            <a:avLst/>
          </a:prstGeom>
          <a:noFill/>
          <a:ln/>
        </p:spPr>
        <p:txBody>
          <a:bodyPr wrap="square" lIns="0" tIns="0" rIns="0" bIns="0" rtlCol="0" anchor="ctr"/>
          <a:lstStyle/>
          <a:p>
            <a:pPr marL="0" indent="0">
              <a:lnSpc>
                <a:spcPct val="120000"/>
              </a:lnSpc>
              <a:buNone/>
            </a:pPr>
            <a:r>
              <a:rPr lang="en-US" sz="1250" dirty="0">
                <a:solidFill>
                  <a:srgbClr val="5A5F73"/>
                </a:solidFill>
                <a:latin typeface="Calibri" pitchFamily="34" charset="0"/>
                <a:ea typeface="Calibri" pitchFamily="34" charset="-122"/>
                <a:cs typeface="Calibri" pitchFamily="34" charset="-120"/>
              </a:rPr>
              <a:t>De los 21 créditos del tipo 6, nueve cayeron en mora. El promedio de toda la cartera es 4,75%.</a:t>
            </a:r>
            <a:endParaRPr lang="en-US" sz="1250" dirty="0"/>
          </a:p>
        </p:txBody>
      </p:sp>
      <p:sp>
        <p:nvSpPr>
          <p:cNvPr id="7" name="Shape 4"/>
          <p:cNvSpPr/>
          <p:nvPr/>
        </p:nvSpPr>
        <p:spPr>
          <a:xfrm>
            <a:off x="8229600" y="4160520"/>
            <a:ext cx="3383280" cy="1737360"/>
          </a:xfrm>
          <a:prstGeom prst="roundRect">
            <a:avLst>
              <a:gd name="adj" fmla="val 4211"/>
            </a:avLst>
          </a:prstGeom>
          <a:solidFill>
            <a:srgbClr val="F4F7FC"/>
          </a:solidFill>
          <a:ln/>
        </p:spPr>
        <p:txBody>
          <a:bodyPr/>
          <a:lstStyle/>
          <a:p>
            <a:endParaRPr lang="es-CO"/>
          </a:p>
        </p:txBody>
      </p:sp>
      <p:sp>
        <p:nvSpPr>
          <p:cNvPr id="8" name="Text 5"/>
          <p:cNvSpPr/>
          <p:nvPr/>
        </p:nvSpPr>
        <p:spPr>
          <a:xfrm>
            <a:off x="8458200" y="4297680"/>
            <a:ext cx="2926080" cy="1463040"/>
          </a:xfrm>
          <a:prstGeom prst="rect">
            <a:avLst/>
          </a:prstGeom>
          <a:noFill/>
          <a:ln/>
        </p:spPr>
        <p:txBody>
          <a:bodyPr wrap="square" lIns="0" tIns="0" rIns="0" bIns="0" rtlCol="0" anchor="t"/>
          <a:lstStyle/>
          <a:p>
            <a:pPr marL="0" indent="0">
              <a:lnSpc>
                <a:spcPct val="120000"/>
              </a:lnSpc>
              <a:buNone/>
            </a:pPr>
            <a:r>
              <a:rPr lang="en-US" sz="1200" dirty="0">
                <a:solidFill>
                  <a:srgbClr val="5A5F73"/>
                </a:solidFill>
                <a:latin typeface="Calibri" pitchFamily="34" charset="0"/>
                <a:ea typeface="Calibri" pitchFamily="34" charset="-122"/>
                <a:cs typeface="Calibri" pitchFamily="34" charset="-120"/>
              </a:rPr>
              <a:t>Cada barra es una tasa dentro de su propio grupo, no una porción del total; por eso no suman 100%. Con 21 registros, el tipo 6 es una alerta a priorizar, no una conclusión definitiva.</a:t>
            </a:r>
            <a:endParaRPr lang="en-US" sz="1200" dirty="0"/>
          </a:p>
        </p:txBody>
      </p:sp>
      <p:sp>
        <p:nvSpPr>
          <p:cNvPr id="9" name="Text 6"/>
          <p:cNvSpPr/>
          <p:nvPr/>
        </p:nvSpPr>
        <p:spPr>
          <a:xfrm>
            <a:off x="457200" y="6446520"/>
            <a:ext cx="5486400" cy="274320"/>
          </a:xfrm>
          <a:prstGeom prst="rect">
            <a:avLst/>
          </a:prstGeom>
          <a:noFill/>
          <a:ln/>
        </p:spPr>
        <p:txBody>
          <a:bodyPr wrap="square" lIns="0" tIns="0" rIns="0" bIns="0" rtlCol="0" anchor="ctr"/>
          <a:lstStyle/>
          <a:p>
            <a:pPr marL="0" indent="0">
              <a:buNone/>
            </a:pPr>
            <a:r>
              <a:rPr lang="en-US" sz="1000" dirty="0">
                <a:solidFill>
                  <a:srgbClr val="8A8FA3"/>
                </a:solidFill>
                <a:latin typeface="Calibri" pitchFamily="34" charset="0"/>
                <a:ea typeface="Calibri" pitchFamily="34" charset="-122"/>
                <a:cs typeface="Calibri" pitchFamily="34" charset="-120"/>
              </a:rPr>
              <a:t>Análisis de Riesgo Crediticio</a:t>
            </a:r>
            <a:endParaRPr lang="en-US" sz="1000" dirty="0"/>
          </a:p>
        </p:txBody>
      </p:sp>
      <p:sp>
        <p:nvSpPr>
          <p:cNvPr id="10" name="Text 7"/>
          <p:cNvSpPr/>
          <p:nvPr/>
        </p:nvSpPr>
        <p:spPr>
          <a:xfrm>
            <a:off x="11247120" y="6446520"/>
            <a:ext cx="457200" cy="274320"/>
          </a:xfrm>
          <a:prstGeom prst="rect">
            <a:avLst/>
          </a:prstGeom>
          <a:noFill/>
          <a:ln/>
        </p:spPr>
        <p:txBody>
          <a:bodyPr wrap="square" lIns="0" tIns="0" rIns="0" bIns="0" rtlCol="0" anchor="ctr"/>
          <a:lstStyle/>
          <a:p>
            <a:pPr marL="0" indent="0" algn="r">
              <a:buNone/>
            </a:pPr>
            <a:r>
              <a:rPr lang="en-US" sz="1000" dirty="0">
                <a:solidFill>
                  <a:srgbClr val="8A8FA3"/>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48640" y="411480"/>
            <a:ext cx="9144000" cy="320040"/>
          </a:xfrm>
          <a:prstGeom prst="rect">
            <a:avLst/>
          </a:prstGeom>
          <a:noFill/>
          <a:ln/>
        </p:spPr>
        <p:txBody>
          <a:bodyPr wrap="square" lIns="0" tIns="0" rIns="0" bIns="0" rtlCol="0" anchor="ctr"/>
          <a:lstStyle/>
          <a:p>
            <a:pPr marL="0" indent="0">
              <a:buNone/>
            </a:pPr>
            <a:r>
              <a:rPr lang="en-US" sz="1300" b="1" kern="0" spc="200" dirty="0">
                <a:solidFill>
                  <a:srgbClr val="B33A3A"/>
                </a:solidFill>
                <a:latin typeface="Calibri" pitchFamily="34" charset="0"/>
                <a:ea typeface="Calibri" pitchFamily="34" charset="-122"/>
                <a:cs typeface="Calibri" pitchFamily="34" charset="-120"/>
              </a:rPr>
              <a:t>INSIGHT 3 DE 5</a:t>
            </a:r>
            <a:endParaRPr lang="en-US" sz="1300" dirty="0"/>
          </a:p>
        </p:txBody>
      </p:sp>
      <p:sp>
        <p:nvSpPr>
          <p:cNvPr id="3" name="Text 1"/>
          <p:cNvSpPr/>
          <p:nvPr/>
        </p:nvSpPr>
        <p:spPr>
          <a:xfrm>
            <a:off x="548640" y="713232"/>
            <a:ext cx="10789920" cy="822960"/>
          </a:xfrm>
          <a:prstGeom prst="rect">
            <a:avLst/>
          </a:prstGeom>
          <a:noFill/>
          <a:ln/>
        </p:spPr>
        <p:txBody>
          <a:bodyPr wrap="square" lIns="0" tIns="0" rIns="0" bIns="0"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Correlación de cada variable con la mora</a:t>
            </a:r>
            <a:endParaRPr lang="en-US" sz="3000" dirty="0"/>
          </a:p>
        </p:txBody>
      </p:sp>
      <p:graphicFrame>
        <p:nvGraphicFramePr>
          <p:cNvPr id="4" name="Chart 0"/>
          <p:cNvGraphicFramePr/>
          <p:nvPr/>
        </p:nvGraphicFramePr>
        <p:xfrm>
          <a:off x="548640" y="1874520"/>
          <a:ext cx="7772400" cy="4343400"/>
        </p:xfrm>
        <a:graphic>
          <a:graphicData uri="http://schemas.openxmlformats.org/drawingml/2006/chart">
            <c:chart xmlns:c="http://schemas.openxmlformats.org/drawingml/2006/chart" xmlns:r="http://schemas.openxmlformats.org/officeDocument/2006/relationships" r:id="rId3"/>
          </a:graphicData>
        </a:graphic>
      </p:graphicFrame>
      <p:sp>
        <p:nvSpPr>
          <p:cNvPr id="5" name="Shape 2"/>
          <p:cNvSpPr/>
          <p:nvPr/>
        </p:nvSpPr>
        <p:spPr>
          <a:xfrm>
            <a:off x="8503920" y="1938528"/>
            <a:ext cx="201168" cy="201168"/>
          </a:xfrm>
          <a:prstGeom prst="rect">
            <a:avLst/>
          </a:prstGeom>
          <a:solidFill>
            <a:srgbClr val="B33A3A"/>
          </a:solidFill>
          <a:ln/>
        </p:spPr>
        <p:txBody>
          <a:bodyPr/>
          <a:lstStyle/>
          <a:p>
            <a:endParaRPr lang="es-CO"/>
          </a:p>
        </p:txBody>
      </p:sp>
      <p:sp>
        <p:nvSpPr>
          <p:cNvPr id="6" name="Text 3"/>
          <p:cNvSpPr/>
          <p:nvPr/>
        </p:nvSpPr>
        <p:spPr>
          <a:xfrm>
            <a:off x="8796528" y="1874520"/>
            <a:ext cx="2834640" cy="320040"/>
          </a:xfrm>
          <a:prstGeom prst="rect">
            <a:avLst/>
          </a:prstGeom>
          <a:noFill/>
          <a:ln/>
        </p:spPr>
        <p:txBody>
          <a:bodyPr wrap="square" lIns="0" tIns="0" rIns="0" bIns="0" rtlCol="0" anchor="ctr"/>
          <a:lstStyle/>
          <a:p>
            <a:pPr marL="0" indent="0">
              <a:buNone/>
            </a:pPr>
            <a:r>
              <a:rPr lang="en-US" sz="1050" dirty="0">
                <a:solidFill>
                  <a:srgbClr val="5A5F73"/>
                </a:solidFill>
                <a:latin typeface="Calibri" pitchFamily="34" charset="0"/>
                <a:ea typeface="Calibri" pitchFamily="34" charset="-122"/>
                <a:cs typeface="Calibri" pitchFamily="34" charset="-120"/>
              </a:rPr>
              <a:t>Variable depurada o derivada</a:t>
            </a:r>
            <a:endParaRPr lang="en-US" sz="1050" dirty="0"/>
          </a:p>
        </p:txBody>
      </p:sp>
      <p:sp>
        <p:nvSpPr>
          <p:cNvPr id="7" name="Shape 4"/>
          <p:cNvSpPr/>
          <p:nvPr/>
        </p:nvSpPr>
        <p:spPr>
          <a:xfrm>
            <a:off x="8503920" y="2286000"/>
            <a:ext cx="201168" cy="201168"/>
          </a:xfrm>
          <a:prstGeom prst="rect">
            <a:avLst/>
          </a:prstGeom>
          <a:solidFill>
            <a:srgbClr val="1E2761"/>
          </a:solidFill>
          <a:ln/>
        </p:spPr>
        <p:txBody>
          <a:bodyPr/>
          <a:lstStyle/>
          <a:p>
            <a:endParaRPr lang="es-CO"/>
          </a:p>
        </p:txBody>
      </p:sp>
      <p:sp>
        <p:nvSpPr>
          <p:cNvPr id="8" name="Text 5"/>
          <p:cNvSpPr/>
          <p:nvPr/>
        </p:nvSpPr>
        <p:spPr>
          <a:xfrm>
            <a:off x="8796528" y="2221992"/>
            <a:ext cx="2834640" cy="320040"/>
          </a:xfrm>
          <a:prstGeom prst="rect">
            <a:avLst/>
          </a:prstGeom>
          <a:noFill/>
          <a:ln/>
        </p:spPr>
        <p:txBody>
          <a:bodyPr wrap="square" lIns="0" tIns="0" rIns="0" bIns="0" rtlCol="0" anchor="ctr"/>
          <a:lstStyle/>
          <a:p>
            <a:pPr marL="0" indent="0">
              <a:buNone/>
            </a:pPr>
            <a:r>
              <a:rPr lang="en-US" sz="1050" dirty="0">
                <a:solidFill>
                  <a:srgbClr val="5A5F73"/>
                </a:solidFill>
                <a:latin typeface="Calibri" pitchFamily="34" charset="0"/>
                <a:ea typeface="Calibri" pitchFamily="34" charset="-122"/>
                <a:cs typeface="Calibri" pitchFamily="34" charset="-120"/>
              </a:rPr>
              <a:t>Variable original del dataset</a:t>
            </a:r>
            <a:endParaRPr lang="en-US" sz="1050" dirty="0"/>
          </a:p>
        </p:txBody>
      </p:sp>
      <p:sp>
        <p:nvSpPr>
          <p:cNvPr id="9" name="Shape 6"/>
          <p:cNvSpPr/>
          <p:nvPr/>
        </p:nvSpPr>
        <p:spPr>
          <a:xfrm>
            <a:off x="8503920" y="2788920"/>
            <a:ext cx="3108960" cy="1508760"/>
          </a:xfrm>
          <a:prstGeom prst="roundRect">
            <a:avLst>
              <a:gd name="adj" fmla="val 4242"/>
            </a:avLst>
          </a:prstGeom>
          <a:solidFill>
            <a:srgbClr val="F4F7FC"/>
          </a:solidFill>
          <a:ln/>
        </p:spPr>
        <p:txBody>
          <a:bodyPr/>
          <a:lstStyle/>
          <a:p>
            <a:endParaRPr lang="es-CO"/>
          </a:p>
        </p:txBody>
      </p:sp>
      <p:sp>
        <p:nvSpPr>
          <p:cNvPr id="10" name="Text 7"/>
          <p:cNvSpPr/>
          <p:nvPr/>
        </p:nvSpPr>
        <p:spPr>
          <a:xfrm>
            <a:off x="8732520" y="2926080"/>
            <a:ext cx="2697480" cy="1234440"/>
          </a:xfrm>
          <a:prstGeom prst="rect">
            <a:avLst/>
          </a:prstGeom>
          <a:noFill/>
          <a:ln/>
        </p:spPr>
        <p:txBody>
          <a:bodyPr wrap="square" lIns="0" tIns="0" rIns="0" bIns="0" rtlCol="0" anchor="t"/>
          <a:lstStyle/>
          <a:p>
            <a:pPr marL="0" indent="0">
              <a:lnSpc>
                <a:spcPct val="125000"/>
              </a:lnSpc>
              <a:buNone/>
            </a:pPr>
            <a:r>
              <a:rPr lang="en-US" sz="1200" b="1" dirty="0">
                <a:solidFill>
                  <a:srgbClr val="1E2761"/>
                </a:solidFill>
                <a:latin typeface="Calibri" pitchFamily="34" charset="0"/>
                <a:ea typeface="Calibri" pitchFamily="34" charset="-122"/>
                <a:cs typeface="Calibri" pitchFamily="34" charset="-120"/>
              </a:rPr>
              <a:t>Efecto de depurar el score
</a:t>
            </a:r>
            <a:endParaRPr lang="en-US" sz="1200" dirty="0"/>
          </a:p>
          <a:p>
            <a:pPr marL="0" indent="0">
              <a:lnSpc>
                <a:spcPct val="125000"/>
              </a:lnSpc>
              <a:buNone/>
            </a:pPr>
            <a:r>
              <a:rPr lang="en-US" sz="1150" dirty="0">
                <a:solidFill>
                  <a:srgbClr val="5A5F73"/>
                </a:solidFill>
                <a:latin typeface="Calibri" pitchFamily="34" charset="0"/>
                <a:ea typeface="Calibri" pitchFamily="34" charset="-122"/>
                <a:cs typeface="Calibri" pitchFamily="34" charset="-120"/>
              </a:rPr>
              <a:t>Antes: 0,068
Después: 0,121
</a:t>
            </a:r>
            <a:endParaRPr lang="en-US" sz="1200" dirty="0"/>
          </a:p>
          <a:p>
            <a:pPr marL="0" indent="0">
              <a:lnSpc>
                <a:spcPct val="125000"/>
              </a:lnSpc>
              <a:buNone/>
            </a:pPr>
            <a:r>
              <a:rPr lang="en-US" sz="1050" b="1" dirty="0">
                <a:solidFill>
                  <a:srgbClr val="B33A3A"/>
                </a:solidFill>
                <a:latin typeface="Calibri" pitchFamily="34" charset="0"/>
                <a:ea typeface="Calibri" pitchFamily="34" charset="-122"/>
                <a:cs typeface="Calibri" pitchFamily="34" charset="-120"/>
              </a:rPr>
              <a:t>(0,121 − 0,068) ÷ 0,068 = +78%</a:t>
            </a:r>
            <a:endParaRPr lang="en-US" sz="1200" dirty="0"/>
          </a:p>
        </p:txBody>
      </p:sp>
      <p:sp>
        <p:nvSpPr>
          <p:cNvPr id="11" name="Text 8"/>
          <p:cNvSpPr/>
          <p:nvPr/>
        </p:nvSpPr>
        <p:spPr>
          <a:xfrm>
            <a:off x="8503920" y="4480560"/>
            <a:ext cx="3108960" cy="1280160"/>
          </a:xfrm>
          <a:prstGeom prst="rect">
            <a:avLst/>
          </a:prstGeom>
          <a:noFill/>
          <a:ln/>
        </p:spPr>
        <p:txBody>
          <a:bodyPr wrap="square" lIns="0" tIns="0" rIns="0" bIns="0" rtlCol="0" anchor="ctr"/>
          <a:lstStyle/>
          <a:p>
            <a:pPr marL="0" indent="0">
              <a:lnSpc>
                <a:spcPct val="125000"/>
              </a:lnSpc>
              <a:buNone/>
            </a:pPr>
            <a:r>
              <a:rPr lang="en-US" sz="1150" dirty="0">
                <a:solidFill>
                  <a:srgbClr val="5A5F73"/>
                </a:solidFill>
                <a:latin typeface="Calibri" pitchFamily="34" charset="0"/>
                <a:ea typeface="Calibri" pitchFamily="34" charset="-122"/>
                <a:cs typeface="Calibri" pitchFamily="34" charset="-120"/>
              </a:rPr>
              <a:t>Ninguna variable supera 0,13: no hay relación lineal fuerte. Pero la correlación subestima el poder predictivo con un target al 4,75%. Por tramos, el score va de 64% a 2,9% de mora.</a:t>
            </a:r>
            <a:endParaRPr lang="en-US" sz="1150" dirty="0"/>
          </a:p>
        </p:txBody>
      </p:sp>
      <p:sp>
        <p:nvSpPr>
          <p:cNvPr id="12" name="Text 9"/>
          <p:cNvSpPr/>
          <p:nvPr/>
        </p:nvSpPr>
        <p:spPr>
          <a:xfrm>
            <a:off x="457200" y="6446520"/>
            <a:ext cx="5486400" cy="274320"/>
          </a:xfrm>
          <a:prstGeom prst="rect">
            <a:avLst/>
          </a:prstGeom>
          <a:noFill/>
          <a:ln/>
        </p:spPr>
        <p:txBody>
          <a:bodyPr wrap="square" lIns="0" tIns="0" rIns="0" bIns="0" rtlCol="0" anchor="ctr"/>
          <a:lstStyle/>
          <a:p>
            <a:pPr marL="0" indent="0">
              <a:buNone/>
            </a:pPr>
            <a:r>
              <a:rPr lang="en-US" sz="1000" dirty="0">
                <a:solidFill>
                  <a:srgbClr val="8A8FA3"/>
                </a:solidFill>
                <a:latin typeface="Calibri" pitchFamily="34" charset="0"/>
                <a:ea typeface="Calibri" pitchFamily="34" charset="-122"/>
                <a:cs typeface="Calibri" pitchFamily="34" charset="-120"/>
              </a:rPr>
              <a:t>Análisis de Riesgo Crediticio</a:t>
            </a:r>
            <a:endParaRPr lang="en-US" sz="1000" dirty="0"/>
          </a:p>
        </p:txBody>
      </p:sp>
      <p:sp>
        <p:nvSpPr>
          <p:cNvPr id="13" name="Text 10"/>
          <p:cNvSpPr/>
          <p:nvPr/>
        </p:nvSpPr>
        <p:spPr>
          <a:xfrm>
            <a:off x="11247120" y="6446520"/>
            <a:ext cx="457200" cy="274320"/>
          </a:xfrm>
          <a:prstGeom prst="rect">
            <a:avLst/>
          </a:prstGeom>
          <a:noFill/>
          <a:ln/>
        </p:spPr>
        <p:txBody>
          <a:bodyPr wrap="square" lIns="0" tIns="0" rIns="0" bIns="0" rtlCol="0" anchor="ctr"/>
          <a:lstStyle/>
          <a:p>
            <a:pPr marL="0" indent="0" algn="r">
              <a:buNone/>
            </a:pPr>
            <a:r>
              <a:rPr lang="en-US" sz="1000" dirty="0">
                <a:solidFill>
                  <a:srgbClr val="8A8FA3"/>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48640" y="411480"/>
            <a:ext cx="9144000" cy="320040"/>
          </a:xfrm>
          <a:prstGeom prst="rect">
            <a:avLst/>
          </a:prstGeom>
          <a:noFill/>
          <a:ln/>
        </p:spPr>
        <p:txBody>
          <a:bodyPr wrap="square" lIns="0" tIns="0" rIns="0" bIns="0" rtlCol="0" anchor="ctr"/>
          <a:lstStyle/>
          <a:p>
            <a:pPr marL="0" indent="0">
              <a:buNone/>
            </a:pPr>
            <a:r>
              <a:rPr lang="en-US" sz="1300" b="1" kern="0" spc="200" dirty="0">
                <a:solidFill>
                  <a:srgbClr val="B33A3A"/>
                </a:solidFill>
                <a:latin typeface="Calibri" pitchFamily="34" charset="0"/>
                <a:ea typeface="Calibri" pitchFamily="34" charset="-122"/>
                <a:cs typeface="Calibri" pitchFamily="34" charset="-120"/>
              </a:rPr>
              <a:t>INSIGHT 4 DE 5</a:t>
            </a:r>
            <a:endParaRPr lang="en-US" sz="1300" dirty="0"/>
          </a:p>
        </p:txBody>
      </p:sp>
      <p:sp>
        <p:nvSpPr>
          <p:cNvPr id="3" name="Text 1"/>
          <p:cNvSpPr/>
          <p:nvPr/>
        </p:nvSpPr>
        <p:spPr>
          <a:xfrm>
            <a:off x="548640" y="713232"/>
            <a:ext cx="10789920" cy="822960"/>
          </a:xfrm>
          <a:prstGeom prst="rect">
            <a:avLst/>
          </a:prstGeom>
          <a:noFill/>
          <a:ln/>
        </p:spPr>
        <p:txBody>
          <a:bodyPr wrap="square" lIns="0" tIns="0" rIns="0" bIns="0"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Atributos derivados: propuestas de alto valor</a:t>
            </a:r>
            <a:endParaRPr lang="en-US" sz="3000" dirty="0"/>
          </a:p>
        </p:txBody>
      </p:sp>
      <p:sp>
        <p:nvSpPr>
          <p:cNvPr id="4" name="Text 2"/>
          <p:cNvSpPr/>
          <p:nvPr/>
        </p:nvSpPr>
        <p:spPr>
          <a:xfrm>
            <a:off x="548640" y="1920240"/>
            <a:ext cx="2926080" cy="320040"/>
          </a:xfrm>
          <a:prstGeom prst="rect">
            <a:avLst/>
          </a:prstGeom>
          <a:noFill/>
          <a:ln/>
        </p:spPr>
        <p:txBody>
          <a:bodyPr wrap="square" lIns="0" tIns="0" rIns="0" bIns="0" rtlCol="0" anchor="ctr"/>
          <a:lstStyle/>
          <a:p>
            <a:pPr marL="0" indent="0">
              <a:buNone/>
            </a:pPr>
            <a:r>
              <a:rPr lang="en-US" sz="1100" b="1" dirty="0">
                <a:solidFill>
                  <a:srgbClr val="5A5F73"/>
                </a:solidFill>
                <a:latin typeface="Calibri" pitchFamily="34" charset="0"/>
                <a:ea typeface="Calibri" pitchFamily="34" charset="-122"/>
                <a:cs typeface="Calibri" pitchFamily="34" charset="-120"/>
              </a:rPr>
              <a:t>Variable</a:t>
            </a:r>
            <a:endParaRPr lang="en-US" sz="1100" dirty="0"/>
          </a:p>
        </p:txBody>
      </p:sp>
      <p:sp>
        <p:nvSpPr>
          <p:cNvPr id="5" name="Text 3"/>
          <p:cNvSpPr/>
          <p:nvPr/>
        </p:nvSpPr>
        <p:spPr>
          <a:xfrm>
            <a:off x="3474720" y="1920240"/>
            <a:ext cx="1645920" cy="320040"/>
          </a:xfrm>
          <a:prstGeom prst="rect">
            <a:avLst/>
          </a:prstGeom>
          <a:noFill/>
          <a:ln/>
        </p:spPr>
        <p:txBody>
          <a:bodyPr wrap="square" lIns="0" tIns="0" rIns="0" bIns="0" rtlCol="0" anchor="ctr"/>
          <a:lstStyle/>
          <a:p>
            <a:pPr marL="0" indent="0">
              <a:buNone/>
            </a:pPr>
            <a:r>
              <a:rPr lang="en-US" sz="1100" b="1" dirty="0">
                <a:solidFill>
                  <a:srgbClr val="5A5F73"/>
                </a:solidFill>
                <a:latin typeface="Calibri" pitchFamily="34" charset="0"/>
                <a:ea typeface="Calibri" pitchFamily="34" charset="-122"/>
                <a:cs typeface="Calibri" pitchFamily="34" charset="-120"/>
              </a:rPr>
              <a:t>Origen</a:t>
            </a:r>
            <a:endParaRPr lang="en-US" sz="1100" dirty="0"/>
          </a:p>
        </p:txBody>
      </p:sp>
      <p:sp>
        <p:nvSpPr>
          <p:cNvPr id="6" name="Text 4"/>
          <p:cNvSpPr/>
          <p:nvPr/>
        </p:nvSpPr>
        <p:spPr>
          <a:xfrm>
            <a:off x="5120640" y="1920240"/>
            <a:ext cx="2103120" cy="320040"/>
          </a:xfrm>
          <a:prstGeom prst="rect">
            <a:avLst/>
          </a:prstGeom>
          <a:noFill/>
          <a:ln/>
        </p:spPr>
        <p:txBody>
          <a:bodyPr wrap="square" lIns="0" tIns="0" rIns="0" bIns="0" rtlCol="0" anchor="ctr"/>
          <a:lstStyle/>
          <a:p>
            <a:pPr marL="0" indent="0">
              <a:buNone/>
            </a:pPr>
            <a:r>
              <a:rPr lang="en-US" sz="1100" b="1" dirty="0">
                <a:solidFill>
                  <a:srgbClr val="5A5F73"/>
                </a:solidFill>
                <a:latin typeface="Calibri" pitchFamily="34" charset="0"/>
                <a:ea typeface="Calibri" pitchFamily="34" charset="-122"/>
                <a:cs typeface="Calibri" pitchFamily="34" charset="-120"/>
              </a:rPr>
              <a:t>Correlación</a:t>
            </a:r>
            <a:endParaRPr lang="en-US" sz="1100" dirty="0"/>
          </a:p>
        </p:txBody>
      </p:sp>
      <p:sp>
        <p:nvSpPr>
          <p:cNvPr id="7" name="Shape 5"/>
          <p:cNvSpPr/>
          <p:nvPr/>
        </p:nvSpPr>
        <p:spPr>
          <a:xfrm>
            <a:off x="548640" y="2331720"/>
            <a:ext cx="6675120" cy="731520"/>
          </a:xfrm>
          <a:prstGeom prst="roundRect">
            <a:avLst>
              <a:gd name="adj" fmla="val 7500"/>
            </a:avLst>
          </a:prstGeom>
          <a:solidFill>
            <a:srgbClr val="FBEAEA"/>
          </a:solidFill>
          <a:ln/>
        </p:spPr>
        <p:txBody>
          <a:bodyPr/>
          <a:lstStyle/>
          <a:p>
            <a:endParaRPr lang="es-CO"/>
          </a:p>
        </p:txBody>
      </p:sp>
      <p:sp>
        <p:nvSpPr>
          <p:cNvPr id="8" name="Text 6"/>
          <p:cNvSpPr/>
          <p:nvPr/>
        </p:nvSpPr>
        <p:spPr>
          <a:xfrm>
            <a:off x="777240" y="2331720"/>
            <a:ext cx="2651760" cy="731520"/>
          </a:xfrm>
          <a:prstGeom prst="rect">
            <a:avLst/>
          </a:prstGeom>
          <a:noFill/>
          <a:ln/>
        </p:spPr>
        <p:txBody>
          <a:bodyPr wrap="square" lIns="0" tIns="0" rIns="0" bIns="0" rtlCol="0" anchor="ctr"/>
          <a:lstStyle/>
          <a:p>
            <a:pPr marL="0" indent="0">
              <a:buNone/>
            </a:pPr>
            <a:r>
              <a:rPr lang="en-US" sz="1400" b="1" dirty="0">
                <a:solidFill>
                  <a:srgbClr val="1E2761"/>
                </a:solidFill>
                <a:latin typeface="Calibri" pitchFamily="34" charset="0"/>
                <a:ea typeface="Calibri" pitchFamily="34" charset="-122"/>
                <a:cs typeface="Calibri" pitchFamily="34" charset="-120"/>
              </a:rPr>
              <a:t>tiene_mora_previa</a:t>
            </a:r>
            <a:endParaRPr lang="en-US" sz="1400" dirty="0"/>
          </a:p>
        </p:txBody>
      </p:sp>
      <p:sp>
        <p:nvSpPr>
          <p:cNvPr id="9" name="Text 7"/>
          <p:cNvSpPr/>
          <p:nvPr/>
        </p:nvSpPr>
        <p:spPr>
          <a:xfrm>
            <a:off x="3474720" y="2331720"/>
            <a:ext cx="1645920" cy="731520"/>
          </a:xfrm>
          <a:prstGeom prst="rect">
            <a:avLst/>
          </a:prstGeom>
          <a:noFill/>
          <a:ln/>
        </p:spPr>
        <p:txBody>
          <a:bodyPr wrap="square" lIns="0" tIns="0" rIns="0" bIns="0" rtlCol="0" anchor="ctr"/>
          <a:lstStyle/>
          <a:p>
            <a:pPr marL="0" indent="0">
              <a:buNone/>
            </a:pPr>
            <a:r>
              <a:rPr lang="en-US" sz="1300" b="1" dirty="0">
                <a:solidFill>
                  <a:srgbClr val="B33A3A"/>
                </a:solidFill>
                <a:latin typeface="Calibri" pitchFamily="34" charset="0"/>
                <a:ea typeface="Calibri" pitchFamily="34" charset="-122"/>
                <a:cs typeface="Calibri" pitchFamily="34" charset="-120"/>
              </a:rPr>
              <a:t>Derivada</a:t>
            </a:r>
            <a:endParaRPr lang="en-US" sz="1300" dirty="0"/>
          </a:p>
        </p:txBody>
      </p:sp>
      <p:sp>
        <p:nvSpPr>
          <p:cNvPr id="10" name="Text 8"/>
          <p:cNvSpPr/>
          <p:nvPr/>
        </p:nvSpPr>
        <p:spPr>
          <a:xfrm>
            <a:off x="5120640" y="2331720"/>
            <a:ext cx="1920240" cy="731520"/>
          </a:xfrm>
          <a:prstGeom prst="rect">
            <a:avLst/>
          </a:prstGeom>
          <a:noFill/>
          <a:ln/>
        </p:spPr>
        <p:txBody>
          <a:bodyPr wrap="square" lIns="0" tIns="0" rIns="0" bIns="0" rtlCol="0" anchor="ctr"/>
          <a:lstStyle/>
          <a:p>
            <a:pPr marL="0" indent="0">
              <a:buNone/>
            </a:pPr>
            <a:r>
              <a:rPr lang="en-US" sz="1500" b="1" dirty="0">
                <a:solidFill>
                  <a:srgbClr val="1E2761"/>
                </a:solidFill>
                <a:latin typeface="Calibri" pitchFamily="34" charset="0"/>
                <a:ea typeface="Calibri" pitchFamily="34" charset="-122"/>
                <a:cs typeface="Calibri" pitchFamily="34" charset="-120"/>
              </a:rPr>
              <a:t>0.107</a:t>
            </a:r>
            <a:endParaRPr lang="en-US" sz="1500" dirty="0"/>
          </a:p>
        </p:txBody>
      </p:sp>
      <p:sp>
        <p:nvSpPr>
          <p:cNvPr id="11" name="Shape 9"/>
          <p:cNvSpPr/>
          <p:nvPr/>
        </p:nvSpPr>
        <p:spPr>
          <a:xfrm>
            <a:off x="548640" y="3200400"/>
            <a:ext cx="6675120" cy="731520"/>
          </a:xfrm>
          <a:prstGeom prst="roundRect">
            <a:avLst>
              <a:gd name="adj" fmla="val 7500"/>
            </a:avLst>
          </a:prstGeom>
          <a:solidFill>
            <a:srgbClr val="FBEAEA"/>
          </a:solidFill>
          <a:ln/>
        </p:spPr>
        <p:txBody>
          <a:bodyPr/>
          <a:lstStyle/>
          <a:p>
            <a:endParaRPr lang="es-CO"/>
          </a:p>
        </p:txBody>
      </p:sp>
      <p:sp>
        <p:nvSpPr>
          <p:cNvPr id="12" name="Text 10"/>
          <p:cNvSpPr/>
          <p:nvPr/>
        </p:nvSpPr>
        <p:spPr>
          <a:xfrm>
            <a:off x="777240" y="3200400"/>
            <a:ext cx="2651760" cy="731520"/>
          </a:xfrm>
          <a:prstGeom prst="rect">
            <a:avLst/>
          </a:prstGeom>
          <a:noFill/>
          <a:ln/>
        </p:spPr>
        <p:txBody>
          <a:bodyPr wrap="square" lIns="0" tIns="0" rIns="0" bIns="0" rtlCol="0" anchor="ctr"/>
          <a:lstStyle/>
          <a:p>
            <a:pPr marL="0" indent="0">
              <a:buNone/>
            </a:pPr>
            <a:r>
              <a:rPr lang="en-US" sz="1400" b="1" dirty="0">
                <a:solidFill>
                  <a:srgbClr val="1E2761"/>
                </a:solidFill>
                <a:latin typeface="Calibri" pitchFamily="34" charset="0"/>
                <a:ea typeface="Calibri" pitchFamily="34" charset="-122"/>
                <a:cs typeface="Calibri" pitchFamily="34" charset="-120"/>
              </a:rPr>
              <a:t>consultas_por_credito</a:t>
            </a:r>
            <a:endParaRPr lang="en-US" sz="1400" dirty="0"/>
          </a:p>
        </p:txBody>
      </p:sp>
      <p:sp>
        <p:nvSpPr>
          <p:cNvPr id="13" name="Text 11"/>
          <p:cNvSpPr/>
          <p:nvPr/>
        </p:nvSpPr>
        <p:spPr>
          <a:xfrm>
            <a:off x="3474720" y="3200400"/>
            <a:ext cx="1645920" cy="731520"/>
          </a:xfrm>
          <a:prstGeom prst="rect">
            <a:avLst/>
          </a:prstGeom>
          <a:noFill/>
          <a:ln/>
        </p:spPr>
        <p:txBody>
          <a:bodyPr wrap="square" lIns="0" tIns="0" rIns="0" bIns="0" rtlCol="0" anchor="ctr"/>
          <a:lstStyle/>
          <a:p>
            <a:pPr marL="0" indent="0">
              <a:buNone/>
            </a:pPr>
            <a:r>
              <a:rPr lang="en-US" sz="1300" b="1" dirty="0">
                <a:solidFill>
                  <a:srgbClr val="B33A3A"/>
                </a:solidFill>
                <a:latin typeface="Calibri" pitchFamily="34" charset="0"/>
                <a:ea typeface="Calibri" pitchFamily="34" charset="-122"/>
                <a:cs typeface="Calibri" pitchFamily="34" charset="-120"/>
              </a:rPr>
              <a:t>Derivada</a:t>
            </a:r>
            <a:endParaRPr lang="en-US" sz="1300" dirty="0"/>
          </a:p>
        </p:txBody>
      </p:sp>
      <p:sp>
        <p:nvSpPr>
          <p:cNvPr id="14" name="Text 12"/>
          <p:cNvSpPr/>
          <p:nvPr/>
        </p:nvSpPr>
        <p:spPr>
          <a:xfrm>
            <a:off x="5120640" y="3200400"/>
            <a:ext cx="1920240" cy="731520"/>
          </a:xfrm>
          <a:prstGeom prst="rect">
            <a:avLst/>
          </a:prstGeom>
          <a:noFill/>
          <a:ln/>
        </p:spPr>
        <p:txBody>
          <a:bodyPr wrap="square" lIns="0" tIns="0" rIns="0" bIns="0" rtlCol="0" anchor="ctr"/>
          <a:lstStyle/>
          <a:p>
            <a:pPr marL="0" indent="0">
              <a:buNone/>
            </a:pPr>
            <a:r>
              <a:rPr lang="en-US" sz="1500" b="1" dirty="0">
                <a:solidFill>
                  <a:srgbClr val="1E2761"/>
                </a:solidFill>
                <a:latin typeface="Calibri" pitchFamily="34" charset="0"/>
                <a:ea typeface="Calibri" pitchFamily="34" charset="-122"/>
                <a:cs typeface="Calibri" pitchFamily="34" charset="-120"/>
              </a:rPr>
              <a:t>0.077</a:t>
            </a:r>
            <a:endParaRPr lang="en-US" sz="1500" dirty="0"/>
          </a:p>
        </p:txBody>
      </p:sp>
      <p:sp>
        <p:nvSpPr>
          <p:cNvPr id="15" name="Shape 13"/>
          <p:cNvSpPr/>
          <p:nvPr/>
        </p:nvSpPr>
        <p:spPr>
          <a:xfrm>
            <a:off x="548640" y="4069080"/>
            <a:ext cx="6675120" cy="731520"/>
          </a:xfrm>
          <a:prstGeom prst="roundRect">
            <a:avLst>
              <a:gd name="adj" fmla="val 7500"/>
            </a:avLst>
          </a:prstGeom>
          <a:solidFill>
            <a:srgbClr val="F4F7FC"/>
          </a:solidFill>
          <a:ln/>
        </p:spPr>
        <p:txBody>
          <a:bodyPr/>
          <a:lstStyle/>
          <a:p>
            <a:endParaRPr lang="es-CO"/>
          </a:p>
        </p:txBody>
      </p:sp>
      <p:sp>
        <p:nvSpPr>
          <p:cNvPr id="16" name="Text 14"/>
          <p:cNvSpPr/>
          <p:nvPr/>
        </p:nvSpPr>
        <p:spPr>
          <a:xfrm>
            <a:off x="777240" y="4069080"/>
            <a:ext cx="2651760" cy="731520"/>
          </a:xfrm>
          <a:prstGeom prst="rect">
            <a:avLst/>
          </a:prstGeom>
          <a:noFill/>
          <a:ln/>
        </p:spPr>
        <p:txBody>
          <a:bodyPr wrap="square" lIns="0" tIns="0" rIns="0" bIns="0" rtlCol="0" anchor="ctr"/>
          <a:lstStyle/>
          <a:p>
            <a:pPr marL="0" indent="0">
              <a:buNone/>
            </a:pPr>
            <a:r>
              <a:rPr lang="en-US" sz="1400" b="1" dirty="0">
                <a:solidFill>
                  <a:srgbClr val="1E2761"/>
                </a:solidFill>
                <a:latin typeface="Calibri" pitchFamily="34" charset="0"/>
                <a:ea typeface="Calibri" pitchFamily="34" charset="-122"/>
                <a:cs typeface="Calibri" pitchFamily="34" charset="-120"/>
              </a:rPr>
              <a:t>huella_consulta</a:t>
            </a:r>
            <a:endParaRPr lang="en-US" sz="1400" dirty="0"/>
          </a:p>
        </p:txBody>
      </p:sp>
      <p:sp>
        <p:nvSpPr>
          <p:cNvPr id="17" name="Text 15"/>
          <p:cNvSpPr/>
          <p:nvPr/>
        </p:nvSpPr>
        <p:spPr>
          <a:xfrm>
            <a:off x="3474720" y="4069080"/>
            <a:ext cx="1645920" cy="731520"/>
          </a:xfrm>
          <a:prstGeom prst="rect">
            <a:avLst/>
          </a:prstGeom>
          <a:noFill/>
          <a:ln/>
        </p:spPr>
        <p:txBody>
          <a:bodyPr wrap="square" lIns="0" tIns="0" rIns="0" bIns="0" rtlCol="0" anchor="ctr"/>
          <a:lstStyle/>
          <a:p>
            <a:pPr marL="0" indent="0">
              <a:buNone/>
            </a:pPr>
            <a:r>
              <a:rPr lang="en-US" sz="1300" dirty="0">
                <a:solidFill>
                  <a:srgbClr val="5A5F73"/>
                </a:solidFill>
                <a:latin typeface="Calibri" pitchFamily="34" charset="0"/>
                <a:ea typeface="Calibri" pitchFamily="34" charset="-122"/>
                <a:cs typeface="Calibri" pitchFamily="34" charset="-120"/>
              </a:rPr>
              <a:t>Original</a:t>
            </a:r>
            <a:endParaRPr lang="en-US" sz="1300" dirty="0"/>
          </a:p>
        </p:txBody>
      </p:sp>
      <p:sp>
        <p:nvSpPr>
          <p:cNvPr id="18" name="Text 16"/>
          <p:cNvSpPr/>
          <p:nvPr/>
        </p:nvSpPr>
        <p:spPr>
          <a:xfrm>
            <a:off x="5120640" y="4069080"/>
            <a:ext cx="1920240" cy="731520"/>
          </a:xfrm>
          <a:prstGeom prst="rect">
            <a:avLst/>
          </a:prstGeom>
          <a:noFill/>
          <a:ln/>
        </p:spPr>
        <p:txBody>
          <a:bodyPr wrap="square" lIns="0" tIns="0" rIns="0" bIns="0" rtlCol="0" anchor="ctr"/>
          <a:lstStyle/>
          <a:p>
            <a:pPr marL="0" indent="0">
              <a:buNone/>
            </a:pPr>
            <a:r>
              <a:rPr lang="en-US" sz="1500" b="1" dirty="0">
                <a:solidFill>
                  <a:srgbClr val="1E2761"/>
                </a:solidFill>
                <a:latin typeface="Calibri" pitchFamily="34" charset="0"/>
                <a:ea typeface="Calibri" pitchFamily="34" charset="-122"/>
                <a:cs typeface="Calibri" pitchFamily="34" charset="-120"/>
              </a:rPr>
              <a:t>0.074</a:t>
            </a:r>
            <a:endParaRPr lang="en-US" sz="1500" dirty="0"/>
          </a:p>
        </p:txBody>
      </p:sp>
      <p:sp>
        <p:nvSpPr>
          <p:cNvPr id="19" name="Shape 17"/>
          <p:cNvSpPr/>
          <p:nvPr/>
        </p:nvSpPr>
        <p:spPr>
          <a:xfrm>
            <a:off x="548640" y="4937760"/>
            <a:ext cx="6675120" cy="731520"/>
          </a:xfrm>
          <a:prstGeom prst="roundRect">
            <a:avLst>
              <a:gd name="adj" fmla="val 7500"/>
            </a:avLst>
          </a:prstGeom>
          <a:solidFill>
            <a:srgbClr val="F4F7FC"/>
          </a:solidFill>
          <a:ln/>
        </p:spPr>
        <p:txBody>
          <a:bodyPr/>
          <a:lstStyle/>
          <a:p>
            <a:endParaRPr lang="es-CO"/>
          </a:p>
        </p:txBody>
      </p:sp>
      <p:sp>
        <p:nvSpPr>
          <p:cNvPr id="20" name="Text 18"/>
          <p:cNvSpPr/>
          <p:nvPr/>
        </p:nvSpPr>
        <p:spPr>
          <a:xfrm>
            <a:off x="777240" y="4937760"/>
            <a:ext cx="2651760" cy="731520"/>
          </a:xfrm>
          <a:prstGeom prst="rect">
            <a:avLst/>
          </a:prstGeom>
          <a:noFill/>
          <a:ln/>
        </p:spPr>
        <p:txBody>
          <a:bodyPr wrap="square" lIns="0" tIns="0" rIns="0" bIns="0" rtlCol="0" anchor="ctr"/>
          <a:lstStyle/>
          <a:p>
            <a:pPr marL="0" indent="0">
              <a:buNone/>
            </a:pPr>
            <a:r>
              <a:rPr lang="en-US" sz="1400" b="1" dirty="0">
                <a:solidFill>
                  <a:srgbClr val="1E2761"/>
                </a:solidFill>
                <a:latin typeface="Calibri" pitchFamily="34" charset="0"/>
                <a:ea typeface="Calibri" pitchFamily="34" charset="-122"/>
                <a:cs typeface="Calibri" pitchFamily="34" charset="-120"/>
              </a:rPr>
              <a:t>saldo_mora</a:t>
            </a:r>
            <a:endParaRPr lang="en-US" sz="1400" dirty="0"/>
          </a:p>
        </p:txBody>
      </p:sp>
      <p:sp>
        <p:nvSpPr>
          <p:cNvPr id="21" name="Text 19"/>
          <p:cNvSpPr/>
          <p:nvPr/>
        </p:nvSpPr>
        <p:spPr>
          <a:xfrm>
            <a:off x="3474720" y="4937760"/>
            <a:ext cx="1645920" cy="731520"/>
          </a:xfrm>
          <a:prstGeom prst="rect">
            <a:avLst/>
          </a:prstGeom>
          <a:noFill/>
          <a:ln/>
        </p:spPr>
        <p:txBody>
          <a:bodyPr wrap="square" lIns="0" tIns="0" rIns="0" bIns="0" rtlCol="0" anchor="ctr"/>
          <a:lstStyle/>
          <a:p>
            <a:pPr marL="0" indent="0">
              <a:buNone/>
            </a:pPr>
            <a:r>
              <a:rPr lang="en-US" sz="1300" dirty="0">
                <a:solidFill>
                  <a:srgbClr val="5A5F73"/>
                </a:solidFill>
                <a:latin typeface="Calibri" pitchFamily="34" charset="0"/>
                <a:ea typeface="Calibri" pitchFamily="34" charset="-122"/>
                <a:cs typeface="Calibri" pitchFamily="34" charset="-120"/>
              </a:rPr>
              <a:t>Original</a:t>
            </a:r>
            <a:endParaRPr lang="en-US" sz="1300" dirty="0"/>
          </a:p>
        </p:txBody>
      </p:sp>
      <p:sp>
        <p:nvSpPr>
          <p:cNvPr id="22" name="Text 20"/>
          <p:cNvSpPr/>
          <p:nvPr/>
        </p:nvSpPr>
        <p:spPr>
          <a:xfrm>
            <a:off x="5120640" y="4937760"/>
            <a:ext cx="1920240" cy="731520"/>
          </a:xfrm>
          <a:prstGeom prst="rect">
            <a:avLst/>
          </a:prstGeom>
          <a:noFill/>
          <a:ln/>
        </p:spPr>
        <p:txBody>
          <a:bodyPr wrap="square" lIns="0" tIns="0" rIns="0" bIns="0" rtlCol="0" anchor="ctr"/>
          <a:lstStyle/>
          <a:p>
            <a:pPr marL="0" indent="0">
              <a:buNone/>
            </a:pPr>
            <a:r>
              <a:rPr lang="en-US" sz="1500" b="1" dirty="0">
                <a:solidFill>
                  <a:srgbClr val="1E2761"/>
                </a:solidFill>
                <a:latin typeface="Calibri" pitchFamily="34" charset="0"/>
                <a:ea typeface="Calibri" pitchFamily="34" charset="-122"/>
                <a:cs typeface="Calibri" pitchFamily="34" charset="-120"/>
              </a:rPr>
              <a:t>0.073</a:t>
            </a:r>
            <a:endParaRPr lang="en-US" sz="1500" dirty="0"/>
          </a:p>
        </p:txBody>
      </p:sp>
      <p:sp>
        <p:nvSpPr>
          <p:cNvPr id="23" name="Shape 21"/>
          <p:cNvSpPr/>
          <p:nvPr/>
        </p:nvSpPr>
        <p:spPr>
          <a:xfrm>
            <a:off x="7589520" y="1965960"/>
            <a:ext cx="4023360" cy="4160520"/>
          </a:xfrm>
          <a:prstGeom prst="roundRect">
            <a:avLst>
              <a:gd name="adj" fmla="val 1818"/>
            </a:avLst>
          </a:prstGeom>
          <a:solidFill>
            <a:srgbClr val="1E2761"/>
          </a:solidFill>
          <a:ln/>
        </p:spPr>
        <p:txBody>
          <a:bodyPr/>
          <a:lstStyle/>
          <a:p>
            <a:endParaRPr lang="es-CO"/>
          </a:p>
        </p:txBody>
      </p:sp>
      <p:sp>
        <p:nvSpPr>
          <p:cNvPr id="24" name="Text 22"/>
          <p:cNvSpPr/>
          <p:nvPr/>
        </p:nvSpPr>
        <p:spPr>
          <a:xfrm>
            <a:off x="7863840" y="2240280"/>
            <a:ext cx="3474720" cy="548640"/>
          </a:xfrm>
          <a:prstGeom prst="rect">
            <a:avLst/>
          </a:prstGeom>
          <a:noFill/>
          <a:ln/>
        </p:spPr>
        <p:txBody>
          <a:bodyPr wrap="square" lIns="0" tIns="0" rIns="0" bIns="0" rtlCol="0" anchor="ctr"/>
          <a:lstStyle/>
          <a:p>
            <a:pPr marL="0" indent="0">
              <a:buNone/>
            </a:pPr>
            <a:r>
              <a:rPr lang="en-US" sz="2300" b="1" dirty="0">
                <a:solidFill>
                  <a:srgbClr val="FFFFFF"/>
                </a:solidFill>
                <a:latin typeface="Cambria" pitchFamily="34" charset="0"/>
                <a:ea typeface="Cambria" pitchFamily="34" charset="-122"/>
                <a:cs typeface="Cambria" pitchFamily="34" charset="-120"/>
              </a:rPr>
              <a:t>Propuestas</a:t>
            </a:r>
            <a:endParaRPr lang="en-US" sz="2300" dirty="0"/>
          </a:p>
        </p:txBody>
      </p:sp>
      <p:sp>
        <p:nvSpPr>
          <p:cNvPr id="25" name="Text 23"/>
          <p:cNvSpPr/>
          <p:nvPr/>
        </p:nvSpPr>
        <p:spPr>
          <a:xfrm>
            <a:off x="7863840" y="2834640"/>
            <a:ext cx="3474720" cy="1143000"/>
          </a:xfrm>
          <a:prstGeom prst="rect">
            <a:avLst/>
          </a:prstGeom>
          <a:noFill/>
          <a:ln/>
        </p:spPr>
        <p:txBody>
          <a:bodyPr wrap="square" lIns="0" tIns="0" rIns="0" bIns="0" rtlCol="0" anchor="ctr"/>
          <a:lstStyle/>
          <a:p>
            <a:pPr marL="0" indent="0">
              <a:lnSpc>
                <a:spcPct val="120000"/>
              </a:lnSpc>
              <a:buNone/>
            </a:pPr>
            <a:r>
              <a:rPr lang="en-US" sz="1200" dirty="0">
                <a:solidFill>
                  <a:srgbClr val="CADCFC"/>
                </a:solidFill>
                <a:latin typeface="Calibri" pitchFamily="34" charset="0"/>
                <a:ea typeface="Calibri" pitchFamily="34" charset="-122"/>
                <a:cs typeface="Calibri" pitchFamily="34" charset="-120"/>
              </a:rPr>
              <a:t>Identificadas y evaluadas durante el EDA. Se implementarán en la Fase 2; ninguna se incorporó al dataset limpio.</a:t>
            </a:r>
            <a:endParaRPr lang="en-US" sz="1200" dirty="0"/>
          </a:p>
        </p:txBody>
      </p:sp>
      <p:sp>
        <p:nvSpPr>
          <p:cNvPr id="26" name="Text 24"/>
          <p:cNvSpPr/>
          <p:nvPr/>
        </p:nvSpPr>
        <p:spPr>
          <a:xfrm>
            <a:off x="7863840" y="4069080"/>
            <a:ext cx="3474720" cy="1874520"/>
          </a:xfrm>
          <a:prstGeom prst="rect">
            <a:avLst/>
          </a:prstGeom>
          <a:noFill/>
          <a:ln/>
        </p:spPr>
        <p:txBody>
          <a:bodyPr wrap="square" lIns="0" tIns="0" rIns="0" bIns="0" rtlCol="0" anchor="ctr"/>
          <a:lstStyle/>
          <a:p>
            <a:pPr marL="0" indent="0">
              <a:lnSpc>
                <a:spcPct val="125000"/>
              </a:lnSpc>
              <a:buNone/>
            </a:pPr>
            <a:r>
              <a:rPr lang="en-US" sz="1200" dirty="0">
                <a:solidFill>
                  <a:srgbClr val="CADCFC"/>
                </a:solidFill>
                <a:latin typeface="Calibri" pitchFamily="34" charset="0"/>
                <a:ea typeface="Calibri" pitchFamily="34" charset="-122"/>
                <a:cs typeface="Calibri" pitchFamily="34" charset="-120"/>
              </a:rPr>
              <a:t>Los ratios cuota/ingreso y deuda/ingreso dieron correlación cercana a 0. Se comprobó que NO se debe a los salarios imputados: excluirlos no cambia el resultado. La causa es la métrica — por tramos sí muestran señal débil.</a:t>
            </a:r>
            <a:endParaRPr lang="en-US" sz="1200" dirty="0"/>
          </a:p>
        </p:txBody>
      </p:sp>
      <p:sp>
        <p:nvSpPr>
          <p:cNvPr id="27" name="Text 25"/>
          <p:cNvSpPr/>
          <p:nvPr/>
        </p:nvSpPr>
        <p:spPr>
          <a:xfrm>
            <a:off x="457200" y="6446520"/>
            <a:ext cx="5486400" cy="274320"/>
          </a:xfrm>
          <a:prstGeom prst="rect">
            <a:avLst/>
          </a:prstGeom>
          <a:noFill/>
          <a:ln/>
        </p:spPr>
        <p:txBody>
          <a:bodyPr wrap="square" lIns="0" tIns="0" rIns="0" bIns="0" rtlCol="0" anchor="ctr"/>
          <a:lstStyle/>
          <a:p>
            <a:pPr marL="0" indent="0">
              <a:buNone/>
            </a:pPr>
            <a:r>
              <a:rPr lang="en-US" sz="1000" dirty="0">
                <a:solidFill>
                  <a:srgbClr val="8A8FA3"/>
                </a:solidFill>
                <a:latin typeface="Calibri" pitchFamily="34" charset="0"/>
                <a:ea typeface="Calibri" pitchFamily="34" charset="-122"/>
                <a:cs typeface="Calibri" pitchFamily="34" charset="-120"/>
              </a:rPr>
              <a:t>Análisis de Riesgo Crediticio</a:t>
            </a:r>
            <a:endParaRPr lang="en-US" sz="1000" dirty="0"/>
          </a:p>
        </p:txBody>
      </p:sp>
      <p:sp>
        <p:nvSpPr>
          <p:cNvPr id="28" name="Text 26"/>
          <p:cNvSpPr/>
          <p:nvPr/>
        </p:nvSpPr>
        <p:spPr>
          <a:xfrm>
            <a:off x="11247120" y="6446520"/>
            <a:ext cx="457200" cy="274320"/>
          </a:xfrm>
          <a:prstGeom prst="rect">
            <a:avLst/>
          </a:prstGeom>
          <a:noFill/>
          <a:ln/>
        </p:spPr>
        <p:txBody>
          <a:bodyPr wrap="square" lIns="0" tIns="0" rIns="0" bIns="0" rtlCol="0" anchor="ctr"/>
          <a:lstStyle/>
          <a:p>
            <a:pPr marL="0" indent="0" algn="r">
              <a:buNone/>
            </a:pPr>
            <a:r>
              <a:rPr lang="en-US" sz="1000" dirty="0">
                <a:solidFill>
                  <a:srgbClr val="8A8FA3"/>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48640" y="411480"/>
            <a:ext cx="9144000" cy="320040"/>
          </a:xfrm>
          <a:prstGeom prst="rect">
            <a:avLst/>
          </a:prstGeom>
          <a:noFill/>
          <a:ln/>
        </p:spPr>
        <p:txBody>
          <a:bodyPr wrap="square" lIns="0" tIns="0" rIns="0" bIns="0" rtlCol="0" anchor="ctr"/>
          <a:lstStyle/>
          <a:p>
            <a:pPr marL="0" indent="0">
              <a:buNone/>
            </a:pPr>
            <a:r>
              <a:rPr lang="en-US" sz="1300" b="1" kern="0" spc="200" dirty="0">
                <a:solidFill>
                  <a:srgbClr val="B33A3A"/>
                </a:solidFill>
                <a:latin typeface="Calibri" pitchFamily="34" charset="0"/>
                <a:ea typeface="Calibri" pitchFamily="34" charset="-122"/>
                <a:cs typeface="Calibri" pitchFamily="34" charset="-120"/>
              </a:rPr>
              <a:t>ANÁLISIS MULTIVARIADO</a:t>
            </a:r>
            <a:endParaRPr lang="en-US" sz="1300" dirty="0"/>
          </a:p>
        </p:txBody>
      </p:sp>
      <p:sp>
        <p:nvSpPr>
          <p:cNvPr id="3" name="Text 1"/>
          <p:cNvSpPr/>
          <p:nvPr/>
        </p:nvSpPr>
        <p:spPr>
          <a:xfrm>
            <a:off x="548640" y="713232"/>
            <a:ext cx="10789920" cy="822960"/>
          </a:xfrm>
          <a:prstGeom prst="rect">
            <a:avLst/>
          </a:prstGeom>
          <a:noFill/>
          <a:ln/>
        </p:spPr>
        <p:txBody>
          <a:bodyPr wrap="square" lIns="0" tIns="0" rIns="0" bIns="0"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Relaciones entre variables</a:t>
            </a:r>
            <a:endParaRPr lang="en-US" sz="3000" dirty="0"/>
          </a:p>
        </p:txBody>
      </p:sp>
      <p:sp>
        <p:nvSpPr>
          <p:cNvPr id="4" name="Shape 2"/>
          <p:cNvSpPr/>
          <p:nvPr/>
        </p:nvSpPr>
        <p:spPr>
          <a:xfrm>
            <a:off x="548640" y="1965960"/>
            <a:ext cx="2670048" cy="1920240"/>
          </a:xfrm>
          <a:prstGeom prst="roundRect">
            <a:avLst>
              <a:gd name="adj" fmla="val 3810"/>
            </a:avLst>
          </a:prstGeom>
          <a:solidFill>
            <a:srgbClr val="1E2761"/>
          </a:solidFill>
          <a:ln/>
        </p:spPr>
        <p:txBody>
          <a:bodyPr/>
          <a:lstStyle/>
          <a:p>
            <a:endParaRPr lang="es-CO"/>
          </a:p>
        </p:txBody>
      </p:sp>
      <p:sp>
        <p:nvSpPr>
          <p:cNvPr id="5" name="Text 3"/>
          <p:cNvSpPr/>
          <p:nvPr/>
        </p:nvSpPr>
        <p:spPr>
          <a:xfrm>
            <a:off x="804672" y="2221992"/>
            <a:ext cx="2157984" cy="685800"/>
          </a:xfrm>
          <a:prstGeom prst="rect">
            <a:avLst/>
          </a:prstGeom>
          <a:noFill/>
          <a:ln/>
        </p:spPr>
        <p:txBody>
          <a:bodyPr wrap="square" lIns="0" tIns="0" rIns="0" bIns="0" rtlCol="0" anchor="t"/>
          <a:lstStyle/>
          <a:p>
            <a:pPr marL="0" indent="0">
              <a:buNone/>
            </a:pPr>
            <a:r>
              <a:rPr lang="en-US" sz="1400" b="1" dirty="0">
                <a:solidFill>
                  <a:srgbClr val="FFFFFF"/>
                </a:solidFill>
                <a:latin typeface="Calibri" pitchFamily="34" charset="0"/>
                <a:ea typeface="Calibri" pitchFamily="34" charset="-122"/>
                <a:cs typeface="Calibri" pitchFamily="34" charset="-120"/>
              </a:rPr>
              <a:t>Matriz de correlación</a:t>
            </a:r>
            <a:endParaRPr lang="en-US" sz="1400" dirty="0"/>
          </a:p>
        </p:txBody>
      </p:sp>
      <p:sp>
        <p:nvSpPr>
          <p:cNvPr id="6" name="Text 4"/>
          <p:cNvSpPr/>
          <p:nvPr/>
        </p:nvSpPr>
        <p:spPr>
          <a:xfrm>
            <a:off x="804672" y="2880360"/>
            <a:ext cx="2157984" cy="914400"/>
          </a:xfrm>
          <a:prstGeom prst="rect">
            <a:avLst/>
          </a:prstGeom>
          <a:noFill/>
          <a:ln/>
        </p:spPr>
        <p:txBody>
          <a:bodyPr wrap="square" lIns="0" tIns="0" rIns="0" bIns="0" rtlCol="0" anchor="t"/>
          <a:lstStyle/>
          <a:p>
            <a:pPr marL="0" indent="0">
              <a:lnSpc>
                <a:spcPct val="120000"/>
              </a:lnSpc>
              <a:buNone/>
            </a:pPr>
            <a:r>
              <a:rPr lang="en-US" sz="1100" dirty="0">
                <a:solidFill>
                  <a:srgbClr val="CADCFC"/>
                </a:solidFill>
                <a:latin typeface="Calibri" pitchFamily="34" charset="0"/>
                <a:ea typeface="Calibri" pitchFamily="34" charset="-122"/>
                <a:cs typeface="Calibri" pitchFamily="34" charset="-120"/>
              </a:rPr>
              <a:t>Sobre variables cuantitativas.</a:t>
            </a:r>
            <a:endParaRPr lang="en-US" sz="1100" dirty="0"/>
          </a:p>
          <a:p>
            <a:pPr marL="0" indent="0">
              <a:lnSpc>
                <a:spcPct val="120000"/>
              </a:lnSpc>
              <a:buNone/>
            </a:pPr>
            <a:r>
              <a:rPr lang="en-US" sz="1100" dirty="0">
                <a:solidFill>
                  <a:srgbClr val="CADCFC"/>
                </a:solidFill>
                <a:latin typeface="Calibri" pitchFamily="34" charset="0"/>
                <a:ea typeface="Calibri" pitchFamily="34" charset="-122"/>
                <a:cs typeface="Calibri" pitchFamily="34" charset="-120"/>
              </a:rPr>
              <a:t>Detecta multicolinealidad:</a:t>
            </a:r>
            <a:endParaRPr lang="en-US" sz="1100" dirty="0"/>
          </a:p>
          <a:p>
            <a:pPr marL="0" indent="0">
              <a:lnSpc>
                <a:spcPct val="120000"/>
              </a:lnSpc>
              <a:buNone/>
            </a:pPr>
            <a:r>
              <a:rPr lang="en-US" sz="1100" dirty="0">
                <a:solidFill>
                  <a:srgbClr val="CADCFC"/>
                </a:solidFill>
                <a:latin typeface="Calibri" pitchFamily="34" charset="0"/>
                <a:ea typeface="Calibri" pitchFamily="34" charset="-122"/>
                <a:cs typeface="Calibri" pitchFamily="34" charset="-120"/>
              </a:rPr>
              <a:t>capital vs cuota (r = 0.764)</a:t>
            </a:r>
            <a:endParaRPr lang="en-US" sz="1100" dirty="0"/>
          </a:p>
        </p:txBody>
      </p:sp>
      <p:sp>
        <p:nvSpPr>
          <p:cNvPr id="7" name="Shape 5"/>
          <p:cNvSpPr/>
          <p:nvPr/>
        </p:nvSpPr>
        <p:spPr>
          <a:xfrm>
            <a:off x="3438144" y="1965960"/>
            <a:ext cx="2670048" cy="1920240"/>
          </a:xfrm>
          <a:prstGeom prst="roundRect">
            <a:avLst>
              <a:gd name="adj" fmla="val 3810"/>
            </a:avLst>
          </a:prstGeom>
          <a:solidFill>
            <a:srgbClr val="F4F7FC"/>
          </a:solidFill>
          <a:ln/>
        </p:spPr>
        <p:txBody>
          <a:bodyPr/>
          <a:lstStyle/>
          <a:p>
            <a:endParaRPr lang="es-CO"/>
          </a:p>
        </p:txBody>
      </p:sp>
      <p:sp>
        <p:nvSpPr>
          <p:cNvPr id="8" name="Text 6"/>
          <p:cNvSpPr/>
          <p:nvPr/>
        </p:nvSpPr>
        <p:spPr>
          <a:xfrm>
            <a:off x="3694176" y="2221992"/>
            <a:ext cx="2157984" cy="685800"/>
          </a:xfrm>
          <a:prstGeom prst="rect">
            <a:avLst/>
          </a:prstGeom>
          <a:noFill/>
          <a:ln/>
        </p:spPr>
        <p:txBody>
          <a:bodyPr wrap="square" lIns="0" tIns="0" rIns="0" bIns="0" rtlCol="0" anchor="t"/>
          <a:lstStyle/>
          <a:p>
            <a:pPr marL="0" indent="0">
              <a:buNone/>
            </a:pPr>
            <a:r>
              <a:rPr lang="en-US" sz="1400" b="1" dirty="0">
                <a:solidFill>
                  <a:srgbClr val="1E2761"/>
                </a:solidFill>
                <a:latin typeface="Calibri" pitchFamily="34" charset="0"/>
                <a:ea typeface="Calibri" pitchFamily="34" charset="-122"/>
                <a:cs typeface="Calibri" pitchFamily="34" charset="-120"/>
              </a:rPr>
              <a:t>Pairplot con hue</a:t>
            </a:r>
            <a:endParaRPr lang="en-US" sz="1400" dirty="0"/>
          </a:p>
        </p:txBody>
      </p:sp>
      <p:sp>
        <p:nvSpPr>
          <p:cNvPr id="9" name="Text 7"/>
          <p:cNvSpPr/>
          <p:nvPr/>
        </p:nvSpPr>
        <p:spPr>
          <a:xfrm>
            <a:off x="3694176" y="2880360"/>
            <a:ext cx="2157984" cy="914400"/>
          </a:xfrm>
          <a:prstGeom prst="rect">
            <a:avLst/>
          </a:prstGeom>
          <a:noFill/>
          <a:ln/>
        </p:spPr>
        <p:txBody>
          <a:bodyPr wrap="square" lIns="0" tIns="0" rIns="0" bIns="0" rtlCol="0" anchor="t"/>
          <a:lstStyle/>
          <a:p>
            <a:pPr marL="0" indent="0">
              <a:lnSpc>
                <a:spcPct val="120000"/>
              </a:lnSpc>
              <a:buNone/>
            </a:pPr>
            <a:r>
              <a:rPr lang="en-US" sz="1100" dirty="0">
                <a:solidFill>
                  <a:srgbClr val="5A5F73"/>
                </a:solidFill>
                <a:latin typeface="Calibri" pitchFamily="34" charset="0"/>
                <a:ea typeface="Calibri" pitchFamily="34" charset="-122"/>
                <a:cs typeface="Calibri" pitchFamily="34" charset="-120"/>
              </a:rPr>
              <a:t>Muestra de 1.500 registros</a:t>
            </a:r>
            <a:endParaRPr lang="en-US" sz="1100" dirty="0"/>
          </a:p>
          <a:p>
            <a:pPr marL="0" indent="0">
              <a:lnSpc>
                <a:spcPct val="120000"/>
              </a:lnSpc>
              <a:buNone/>
            </a:pPr>
            <a:r>
              <a:rPr lang="en-US" sz="1100" dirty="0">
                <a:solidFill>
                  <a:srgbClr val="5A5F73"/>
                </a:solidFill>
                <a:latin typeface="Calibri" pitchFamily="34" charset="0"/>
                <a:ea typeface="Calibri" pitchFamily="34" charset="-122"/>
                <a:cs typeface="Calibri" pitchFamily="34" charset="-120"/>
              </a:rPr>
              <a:t>coloreada por resultado de pago</a:t>
            </a:r>
            <a:endParaRPr lang="en-US" sz="1100" dirty="0"/>
          </a:p>
        </p:txBody>
      </p:sp>
      <p:sp>
        <p:nvSpPr>
          <p:cNvPr id="10" name="Shape 8"/>
          <p:cNvSpPr/>
          <p:nvPr/>
        </p:nvSpPr>
        <p:spPr>
          <a:xfrm>
            <a:off x="6327648" y="1965960"/>
            <a:ext cx="2670048" cy="1920240"/>
          </a:xfrm>
          <a:prstGeom prst="roundRect">
            <a:avLst>
              <a:gd name="adj" fmla="val 3810"/>
            </a:avLst>
          </a:prstGeom>
          <a:solidFill>
            <a:srgbClr val="F4F7FC"/>
          </a:solidFill>
          <a:ln/>
        </p:spPr>
        <p:txBody>
          <a:bodyPr/>
          <a:lstStyle/>
          <a:p>
            <a:endParaRPr lang="es-CO"/>
          </a:p>
        </p:txBody>
      </p:sp>
      <p:sp>
        <p:nvSpPr>
          <p:cNvPr id="11" name="Text 9"/>
          <p:cNvSpPr/>
          <p:nvPr/>
        </p:nvSpPr>
        <p:spPr>
          <a:xfrm>
            <a:off x="6583680" y="2221992"/>
            <a:ext cx="2157984" cy="685800"/>
          </a:xfrm>
          <a:prstGeom prst="rect">
            <a:avLst/>
          </a:prstGeom>
          <a:noFill/>
          <a:ln/>
        </p:spPr>
        <p:txBody>
          <a:bodyPr wrap="square" lIns="0" tIns="0" rIns="0" bIns="0" rtlCol="0" anchor="t"/>
          <a:lstStyle/>
          <a:p>
            <a:pPr marL="0" indent="0">
              <a:buNone/>
            </a:pPr>
            <a:r>
              <a:rPr lang="en-US" sz="1400" b="1" dirty="0">
                <a:solidFill>
                  <a:srgbClr val="1E2761"/>
                </a:solidFill>
                <a:latin typeface="Calibri" pitchFamily="34" charset="0"/>
                <a:ea typeface="Calibri" pitchFamily="34" charset="-122"/>
                <a:cs typeface="Calibri" pitchFamily="34" charset="-120"/>
              </a:rPr>
              <a:t>Dispersión entre numéricas</a:t>
            </a:r>
            <a:endParaRPr lang="en-US" sz="1400" dirty="0"/>
          </a:p>
        </p:txBody>
      </p:sp>
      <p:sp>
        <p:nvSpPr>
          <p:cNvPr id="12" name="Text 10"/>
          <p:cNvSpPr/>
          <p:nvPr/>
        </p:nvSpPr>
        <p:spPr>
          <a:xfrm>
            <a:off x="6583680" y="2880360"/>
            <a:ext cx="2157984" cy="914400"/>
          </a:xfrm>
          <a:prstGeom prst="rect">
            <a:avLst/>
          </a:prstGeom>
          <a:noFill/>
          <a:ln/>
        </p:spPr>
        <p:txBody>
          <a:bodyPr wrap="square" lIns="0" tIns="0" rIns="0" bIns="0" rtlCol="0" anchor="t"/>
          <a:lstStyle/>
          <a:p>
            <a:pPr marL="0" indent="0">
              <a:lnSpc>
                <a:spcPct val="120000"/>
              </a:lnSpc>
              <a:buNone/>
            </a:pPr>
            <a:r>
              <a:rPr lang="en-US" sz="1100" dirty="0">
                <a:solidFill>
                  <a:srgbClr val="5A5F73"/>
                </a:solidFill>
                <a:latin typeface="Calibri" pitchFamily="34" charset="0"/>
                <a:ea typeface="Calibri" pitchFamily="34" charset="-122"/>
                <a:cs typeface="Calibri" pitchFamily="34" charset="-120"/>
              </a:rPr>
              <a:t>Cuatro pares clave,</a:t>
            </a:r>
            <a:endParaRPr lang="en-US" sz="1100" dirty="0"/>
          </a:p>
          <a:p>
            <a:pPr marL="0" indent="0">
              <a:lnSpc>
                <a:spcPct val="120000"/>
              </a:lnSpc>
              <a:buNone/>
            </a:pPr>
            <a:r>
              <a:rPr lang="en-US" sz="1100" dirty="0">
                <a:solidFill>
                  <a:srgbClr val="5A5F73"/>
                </a:solidFill>
                <a:latin typeface="Calibri" pitchFamily="34" charset="0"/>
                <a:ea typeface="Calibri" pitchFamily="34" charset="-122"/>
                <a:cs typeface="Calibri" pitchFamily="34" charset="-120"/>
              </a:rPr>
              <a:t>diferenciando mora y al día</a:t>
            </a:r>
            <a:endParaRPr lang="en-US" sz="1100" dirty="0"/>
          </a:p>
        </p:txBody>
      </p:sp>
      <p:sp>
        <p:nvSpPr>
          <p:cNvPr id="13" name="Shape 11"/>
          <p:cNvSpPr/>
          <p:nvPr/>
        </p:nvSpPr>
        <p:spPr>
          <a:xfrm>
            <a:off x="9217152" y="1965960"/>
            <a:ext cx="2670048" cy="1920240"/>
          </a:xfrm>
          <a:prstGeom prst="roundRect">
            <a:avLst>
              <a:gd name="adj" fmla="val 3810"/>
            </a:avLst>
          </a:prstGeom>
          <a:solidFill>
            <a:srgbClr val="F4F7FC"/>
          </a:solidFill>
          <a:ln/>
        </p:spPr>
        <p:txBody>
          <a:bodyPr/>
          <a:lstStyle/>
          <a:p>
            <a:endParaRPr lang="es-CO"/>
          </a:p>
        </p:txBody>
      </p:sp>
      <p:sp>
        <p:nvSpPr>
          <p:cNvPr id="14" name="Text 12"/>
          <p:cNvSpPr/>
          <p:nvPr/>
        </p:nvSpPr>
        <p:spPr>
          <a:xfrm>
            <a:off x="9473184" y="2221992"/>
            <a:ext cx="2157984" cy="685800"/>
          </a:xfrm>
          <a:prstGeom prst="rect">
            <a:avLst/>
          </a:prstGeom>
          <a:noFill/>
          <a:ln/>
        </p:spPr>
        <p:txBody>
          <a:bodyPr wrap="square" lIns="0" tIns="0" rIns="0" bIns="0" rtlCol="0" anchor="t"/>
          <a:lstStyle/>
          <a:p>
            <a:pPr marL="0" indent="0">
              <a:buNone/>
            </a:pPr>
            <a:r>
              <a:rPr lang="en-US" sz="1400" b="1" dirty="0">
                <a:solidFill>
                  <a:srgbClr val="1E2761"/>
                </a:solidFill>
                <a:latin typeface="Calibri" pitchFamily="34" charset="0"/>
                <a:ea typeface="Calibri" pitchFamily="34" charset="-122"/>
                <a:cs typeface="Calibri" pitchFamily="34" charset="-120"/>
              </a:rPr>
              <a:t>Tablas de contingencia</a:t>
            </a:r>
            <a:endParaRPr lang="en-US" sz="1400" dirty="0"/>
          </a:p>
        </p:txBody>
      </p:sp>
      <p:sp>
        <p:nvSpPr>
          <p:cNvPr id="15" name="Text 13"/>
          <p:cNvSpPr/>
          <p:nvPr/>
        </p:nvSpPr>
        <p:spPr>
          <a:xfrm>
            <a:off x="9473184" y="2880360"/>
            <a:ext cx="2157984" cy="914400"/>
          </a:xfrm>
          <a:prstGeom prst="rect">
            <a:avLst/>
          </a:prstGeom>
          <a:noFill/>
          <a:ln/>
        </p:spPr>
        <p:txBody>
          <a:bodyPr wrap="square" lIns="0" tIns="0" rIns="0" bIns="0" rtlCol="0" anchor="t"/>
          <a:lstStyle/>
          <a:p>
            <a:pPr marL="0" indent="0">
              <a:lnSpc>
                <a:spcPct val="120000"/>
              </a:lnSpc>
              <a:buNone/>
            </a:pPr>
            <a:r>
              <a:rPr lang="en-US" sz="1100" dirty="0">
                <a:solidFill>
                  <a:srgbClr val="5A5F73"/>
                </a:solidFill>
                <a:latin typeface="Calibri" pitchFamily="34" charset="0"/>
                <a:ea typeface="Calibri" pitchFamily="34" charset="-122"/>
                <a:cs typeface="Calibri" pitchFamily="34" charset="-120"/>
              </a:rPr>
              <a:t>Cruces entre variables</a:t>
            </a:r>
            <a:endParaRPr lang="en-US" sz="1100" dirty="0"/>
          </a:p>
          <a:p>
            <a:pPr marL="0" indent="0">
              <a:lnSpc>
                <a:spcPct val="120000"/>
              </a:lnSpc>
              <a:buNone/>
            </a:pPr>
            <a:r>
              <a:rPr lang="en-US" sz="1100" dirty="0">
                <a:solidFill>
                  <a:srgbClr val="5A5F73"/>
                </a:solidFill>
                <a:latin typeface="Calibri" pitchFamily="34" charset="0"/>
                <a:ea typeface="Calibri" pitchFamily="34" charset="-122"/>
                <a:cs typeface="Calibri" pitchFamily="34" charset="-120"/>
              </a:rPr>
              <a:t>categóricas y el objetivo</a:t>
            </a:r>
            <a:endParaRPr lang="en-US" sz="1100" dirty="0"/>
          </a:p>
        </p:txBody>
      </p:sp>
      <p:sp>
        <p:nvSpPr>
          <p:cNvPr id="16" name="Shape 14"/>
          <p:cNvSpPr/>
          <p:nvPr/>
        </p:nvSpPr>
        <p:spPr>
          <a:xfrm>
            <a:off x="548640" y="4206240"/>
            <a:ext cx="11064240" cy="1600200"/>
          </a:xfrm>
          <a:prstGeom prst="roundRect">
            <a:avLst>
              <a:gd name="adj" fmla="val 4571"/>
            </a:avLst>
          </a:prstGeom>
          <a:solidFill>
            <a:srgbClr val="FBEAEA"/>
          </a:solidFill>
          <a:ln/>
        </p:spPr>
        <p:txBody>
          <a:bodyPr/>
          <a:lstStyle/>
          <a:p>
            <a:endParaRPr lang="es-CO"/>
          </a:p>
        </p:txBody>
      </p:sp>
      <p:sp>
        <p:nvSpPr>
          <p:cNvPr id="17" name="Text 15"/>
          <p:cNvSpPr/>
          <p:nvPr/>
        </p:nvSpPr>
        <p:spPr>
          <a:xfrm>
            <a:off x="822960" y="4389120"/>
            <a:ext cx="10515600" cy="1280160"/>
          </a:xfrm>
          <a:prstGeom prst="rect">
            <a:avLst/>
          </a:prstGeom>
          <a:noFill/>
          <a:ln/>
        </p:spPr>
        <p:txBody>
          <a:bodyPr wrap="square" lIns="0" tIns="0" rIns="0" bIns="0" rtlCol="0" anchor="t"/>
          <a:lstStyle/>
          <a:p>
            <a:pPr marL="0" indent="0">
              <a:lnSpc>
                <a:spcPct val="125000"/>
              </a:lnSpc>
              <a:buNone/>
            </a:pPr>
            <a:r>
              <a:rPr lang="en-US" sz="1400" b="1" dirty="0">
                <a:solidFill>
                  <a:srgbClr val="1E2761"/>
                </a:solidFill>
                <a:latin typeface="Calibri" pitchFamily="34" charset="0"/>
                <a:ea typeface="Calibri" pitchFamily="34" charset="-122"/>
                <a:cs typeface="Calibri" pitchFamily="34" charset="-120"/>
              </a:rPr>
              <a:t>Conclusión del multivariado:
</a:t>
            </a:r>
            <a:endParaRPr lang="en-US" sz="1400" dirty="0"/>
          </a:p>
          <a:p>
            <a:pPr marL="0" indent="0">
              <a:lnSpc>
                <a:spcPct val="125000"/>
              </a:lnSpc>
              <a:buNone/>
            </a:pPr>
            <a:r>
              <a:rPr lang="en-US" sz="1250" dirty="0">
                <a:solidFill>
                  <a:srgbClr val="5A5F73"/>
                </a:solidFill>
                <a:latin typeface="Calibri" pitchFamily="34" charset="0"/>
                <a:ea typeface="Calibri" pitchFamily="34" charset="-122"/>
                <a:cs typeface="Calibri" pitchFamily="34" charset="-120"/>
              </a:rPr>
              <a:t>ninguna combinación de dos variables separa a los clientes en mora. Las nubes de puntos se superponen ampliamente en todos los gráficos. Esto confirma que el riesgo depende de múltiples factores simultáneos y justifica un modelo multivariado en la siguiente fase.</a:t>
            </a:r>
            <a:endParaRPr lang="en-US" sz="1400" dirty="0"/>
          </a:p>
        </p:txBody>
      </p:sp>
      <p:sp>
        <p:nvSpPr>
          <p:cNvPr id="18" name="Text 16"/>
          <p:cNvSpPr/>
          <p:nvPr/>
        </p:nvSpPr>
        <p:spPr>
          <a:xfrm>
            <a:off x="457200" y="6446520"/>
            <a:ext cx="5486400" cy="274320"/>
          </a:xfrm>
          <a:prstGeom prst="rect">
            <a:avLst/>
          </a:prstGeom>
          <a:noFill/>
          <a:ln/>
        </p:spPr>
        <p:txBody>
          <a:bodyPr wrap="square" lIns="0" tIns="0" rIns="0" bIns="0" rtlCol="0" anchor="ctr"/>
          <a:lstStyle/>
          <a:p>
            <a:pPr marL="0" indent="0">
              <a:buNone/>
            </a:pPr>
            <a:r>
              <a:rPr lang="en-US" sz="1000" dirty="0">
                <a:solidFill>
                  <a:srgbClr val="8A8FA3"/>
                </a:solidFill>
                <a:latin typeface="Calibri" pitchFamily="34" charset="0"/>
                <a:ea typeface="Calibri" pitchFamily="34" charset="-122"/>
                <a:cs typeface="Calibri" pitchFamily="34" charset="-120"/>
              </a:rPr>
              <a:t>Análisis de Riesgo Crediticio</a:t>
            </a:r>
            <a:endParaRPr lang="en-US" sz="1000" dirty="0"/>
          </a:p>
        </p:txBody>
      </p:sp>
      <p:sp>
        <p:nvSpPr>
          <p:cNvPr id="19" name="Text 17"/>
          <p:cNvSpPr/>
          <p:nvPr/>
        </p:nvSpPr>
        <p:spPr>
          <a:xfrm>
            <a:off x="11247120" y="6446520"/>
            <a:ext cx="457200" cy="274320"/>
          </a:xfrm>
          <a:prstGeom prst="rect">
            <a:avLst/>
          </a:prstGeom>
          <a:noFill/>
          <a:ln/>
        </p:spPr>
        <p:txBody>
          <a:bodyPr wrap="square" lIns="0" tIns="0" rIns="0" bIns="0" rtlCol="0" anchor="ctr"/>
          <a:lstStyle/>
          <a:p>
            <a:pPr marL="0" indent="0" algn="r">
              <a:buNone/>
            </a:pPr>
            <a:r>
              <a:rPr lang="en-US" sz="1000" dirty="0">
                <a:solidFill>
                  <a:srgbClr val="8A8FA3"/>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48640" y="411480"/>
            <a:ext cx="9144000" cy="320040"/>
          </a:xfrm>
          <a:prstGeom prst="rect">
            <a:avLst/>
          </a:prstGeom>
          <a:noFill/>
          <a:ln/>
        </p:spPr>
        <p:txBody>
          <a:bodyPr wrap="square" lIns="0" tIns="0" rIns="0" bIns="0" rtlCol="0" anchor="ctr"/>
          <a:lstStyle/>
          <a:p>
            <a:pPr marL="0" indent="0">
              <a:buNone/>
            </a:pPr>
            <a:r>
              <a:rPr lang="en-US" sz="1300" b="1" kern="0" spc="200" dirty="0">
                <a:solidFill>
                  <a:srgbClr val="B33A3A"/>
                </a:solidFill>
                <a:latin typeface="Calibri" pitchFamily="34" charset="0"/>
                <a:ea typeface="Calibri" pitchFamily="34" charset="-122"/>
                <a:cs typeface="Calibri" pitchFamily="34" charset="-120"/>
              </a:rPr>
              <a:t>HALLAZGOS ADICIONALES</a:t>
            </a:r>
            <a:endParaRPr lang="en-US" sz="1300" dirty="0"/>
          </a:p>
        </p:txBody>
      </p:sp>
      <p:sp>
        <p:nvSpPr>
          <p:cNvPr id="3" name="Text 1"/>
          <p:cNvSpPr/>
          <p:nvPr/>
        </p:nvSpPr>
        <p:spPr>
          <a:xfrm>
            <a:off x="548640" y="713232"/>
            <a:ext cx="10789920" cy="822960"/>
          </a:xfrm>
          <a:prstGeom prst="rect">
            <a:avLst/>
          </a:prstGeom>
          <a:noFill/>
          <a:ln/>
        </p:spPr>
        <p:txBody>
          <a:bodyPr wrap="square" lIns="0" tIns="0" rIns="0" bIns="0"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Otras señales relevantes</a:t>
            </a:r>
            <a:endParaRPr lang="en-US" sz="3000" dirty="0"/>
          </a:p>
        </p:txBody>
      </p:sp>
      <p:graphicFrame>
        <p:nvGraphicFramePr>
          <p:cNvPr id="4" name="Chart 0"/>
          <p:cNvGraphicFramePr/>
          <p:nvPr/>
        </p:nvGraphicFramePr>
        <p:xfrm>
          <a:off x="548640" y="1920240"/>
          <a:ext cx="5394960" cy="4114800"/>
        </p:xfrm>
        <a:graphic>
          <a:graphicData uri="http://schemas.openxmlformats.org/drawingml/2006/chart">
            <c:chart xmlns:c="http://schemas.openxmlformats.org/drawingml/2006/chart" xmlns:r="http://schemas.openxmlformats.org/officeDocument/2006/relationships" r:id="rId3"/>
          </a:graphicData>
        </a:graphic>
      </p:graphicFrame>
      <p:sp>
        <p:nvSpPr>
          <p:cNvPr id="5" name="Shape 2"/>
          <p:cNvSpPr/>
          <p:nvPr/>
        </p:nvSpPr>
        <p:spPr>
          <a:xfrm>
            <a:off x="6309360" y="1920240"/>
            <a:ext cx="5303520" cy="1920240"/>
          </a:xfrm>
          <a:prstGeom prst="roundRect">
            <a:avLst>
              <a:gd name="adj" fmla="val 3810"/>
            </a:avLst>
          </a:prstGeom>
          <a:solidFill>
            <a:srgbClr val="F4F7FC"/>
          </a:solidFill>
          <a:ln/>
        </p:spPr>
        <p:txBody>
          <a:bodyPr/>
          <a:lstStyle/>
          <a:p>
            <a:endParaRPr lang="es-CO"/>
          </a:p>
        </p:txBody>
      </p:sp>
      <p:sp>
        <p:nvSpPr>
          <p:cNvPr id="6" name="Text 3"/>
          <p:cNvSpPr/>
          <p:nvPr/>
        </p:nvSpPr>
        <p:spPr>
          <a:xfrm>
            <a:off x="6537960" y="2103120"/>
            <a:ext cx="4846320" cy="1600200"/>
          </a:xfrm>
          <a:prstGeom prst="rect">
            <a:avLst/>
          </a:prstGeom>
          <a:noFill/>
          <a:ln/>
        </p:spPr>
        <p:txBody>
          <a:bodyPr wrap="square" lIns="0" tIns="0" rIns="0" bIns="0" rtlCol="0" anchor="t"/>
          <a:lstStyle/>
          <a:p>
            <a:pPr marL="0" indent="0">
              <a:lnSpc>
                <a:spcPct val="120000"/>
              </a:lnSpc>
              <a:buNone/>
            </a:pPr>
            <a:r>
              <a:rPr lang="en-US" sz="1500" b="1" dirty="0">
                <a:solidFill>
                  <a:srgbClr val="1E2761"/>
                </a:solidFill>
              </a:rPr>
              <a:t>Independientes vs. empleados
</a:t>
            </a:r>
            <a:endParaRPr lang="en-US" sz="1500" dirty="0"/>
          </a:p>
          <a:p>
            <a:pPr marL="0" indent="0">
              <a:lnSpc>
                <a:spcPct val="120000"/>
              </a:lnSpc>
              <a:buNone/>
            </a:pPr>
            <a:r>
              <a:rPr lang="en-US" sz="1250" dirty="0">
                <a:solidFill>
                  <a:srgbClr val="5A5F73"/>
                </a:solidFill>
              </a:rPr>
              <a:t>Mayor tasa de mora (5.51% vs 4.29%), coherente con la mayor variabilidad de ingresos de ese segmento.</a:t>
            </a:r>
            <a:endParaRPr lang="en-US" sz="1500" dirty="0"/>
          </a:p>
        </p:txBody>
      </p:sp>
      <p:sp>
        <p:nvSpPr>
          <p:cNvPr id="7" name="Shape 4"/>
          <p:cNvSpPr/>
          <p:nvPr/>
        </p:nvSpPr>
        <p:spPr>
          <a:xfrm>
            <a:off x="6309360" y="4069080"/>
            <a:ext cx="5303520" cy="2011680"/>
          </a:xfrm>
          <a:prstGeom prst="roundRect">
            <a:avLst>
              <a:gd name="adj" fmla="val 3636"/>
            </a:avLst>
          </a:prstGeom>
          <a:solidFill>
            <a:srgbClr val="F4F7FC"/>
          </a:solidFill>
          <a:ln/>
        </p:spPr>
        <p:txBody>
          <a:bodyPr/>
          <a:lstStyle/>
          <a:p>
            <a:endParaRPr lang="es-CO"/>
          </a:p>
        </p:txBody>
      </p:sp>
      <p:sp>
        <p:nvSpPr>
          <p:cNvPr id="8" name="Text 5"/>
          <p:cNvSpPr/>
          <p:nvPr/>
        </p:nvSpPr>
        <p:spPr>
          <a:xfrm>
            <a:off x="6537960" y="4251960"/>
            <a:ext cx="4846320" cy="1691640"/>
          </a:xfrm>
          <a:prstGeom prst="rect">
            <a:avLst/>
          </a:prstGeom>
          <a:noFill/>
          <a:ln/>
        </p:spPr>
        <p:txBody>
          <a:bodyPr wrap="square" lIns="0" tIns="0" rIns="0" bIns="0" rtlCol="0" anchor="t"/>
          <a:lstStyle/>
          <a:p>
            <a:pPr marL="0" indent="0">
              <a:lnSpc>
                <a:spcPct val="120000"/>
              </a:lnSpc>
              <a:buNone/>
            </a:pPr>
            <a:r>
              <a:rPr lang="en-US" sz="1500" b="1" dirty="0">
                <a:solidFill>
                  <a:srgbClr val="1E2761"/>
                </a:solidFill>
              </a:rPr>
              <a:t>El score discrimina, pero no linealmente</a:t>
            </a:r>
            <a:endParaRPr lang="en-US" sz="1500" dirty="0"/>
          </a:p>
          <a:p>
            <a:pPr marL="0" indent="0">
              <a:lnSpc>
                <a:spcPct val="120000"/>
              </a:lnSpc>
              <a:buNone/>
            </a:pPr>
            <a:r>
              <a:rPr lang="en-US" sz="1250" dirty="0">
                <a:solidFill>
                  <a:srgbClr val="5A5F73"/>
                </a:solidFill>
              </a:rPr>
              <a:t>Por bandas, la tasa de mora va de 64,0% por debajo de 600 puntos a 2,9% por encima de 850. Su correlación de Pearson es solo 0,121.</a:t>
            </a:r>
            <a:endParaRPr lang="en-US" sz="1500" dirty="0"/>
          </a:p>
        </p:txBody>
      </p:sp>
      <p:sp>
        <p:nvSpPr>
          <p:cNvPr id="9" name="Text 6"/>
          <p:cNvSpPr/>
          <p:nvPr/>
        </p:nvSpPr>
        <p:spPr>
          <a:xfrm>
            <a:off x="457200" y="6446520"/>
            <a:ext cx="5486400" cy="274320"/>
          </a:xfrm>
          <a:prstGeom prst="rect">
            <a:avLst/>
          </a:prstGeom>
          <a:noFill/>
          <a:ln/>
        </p:spPr>
        <p:txBody>
          <a:bodyPr wrap="square" lIns="0" tIns="0" rIns="0" bIns="0" rtlCol="0" anchor="ctr"/>
          <a:lstStyle/>
          <a:p>
            <a:pPr marL="0" indent="0">
              <a:buNone/>
            </a:pPr>
            <a:r>
              <a:rPr lang="en-US" sz="1000" dirty="0">
                <a:solidFill>
                  <a:srgbClr val="8A8FA3"/>
                </a:solidFill>
                <a:latin typeface="Calibri" pitchFamily="34" charset="0"/>
                <a:ea typeface="Calibri" pitchFamily="34" charset="-122"/>
                <a:cs typeface="Calibri" pitchFamily="34" charset="-120"/>
              </a:rPr>
              <a:t>Análisis de Riesgo Crediticio</a:t>
            </a:r>
            <a:endParaRPr lang="en-US" sz="1000" dirty="0"/>
          </a:p>
        </p:txBody>
      </p:sp>
      <p:sp>
        <p:nvSpPr>
          <p:cNvPr id="10" name="Text 7"/>
          <p:cNvSpPr/>
          <p:nvPr/>
        </p:nvSpPr>
        <p:spPr>
          <a:xfrm>
            <a:off x="11247120" y="6446520"/>
            <a:ext cx="457200" cy="274320"/>
          </a:xfrm>
          <a:prstGeom prst="rect">
            <a:avLst/>
          </a:prstGeom>
          <a:noFill/>
          <a:ln/>
        </p:spPr>
        <p:txBody>
          <a:bodyPr wrap="square" lIns="0" tIns="0" rIns="0" bIns="0" rtlCol="0" anchor="ctr"/>
          <a:lstStyle/>
          <a:p>
            <a:pPr marL="0" indent="0" algn="r">
              <a:buNone/>
            </a:pPr>
            <a:r>
              <a:rPr lang="en-US" sz="1000" dirty="0">
                <a:solidFill>
                  <a:srgbClr val="8A8FA3"/>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48640" y="411480"/>
            <a:ext cx="9144000" cy="320040"/>
          </a:xfrm>
          <a:prstGeom prst="rect">
            <a:avLst/>
          </a:prstGeom>
          <a:noFill/>
          <a:ln/>
        </p:spPr>
        <p:txBody>
          <a:bodyPr wrap="square" lIns="0" tIns="0" rIns="0" bIns="0" rtlCol="0" anchor="ctr"/>
          <a:lstStyle/>
          <a:p>
            <a:pPr marL="0" indent="0">
              <a:buNone/>
            </a:pPr>
            <a:r>
              <a:rPr lang="en-US" sz="1300" b="1" kern="0" spc="200" dirty="0">
                <a:solidFill>
                  <a:srgbClr val="B33A3A"/>
                </a:solidFill>
                <a:latin typeface="Calibri" pitchFamily="34" charset="0"/>
                <a:ea typeface="Calibri" pitchFamily="34" charset="-122"/>
                <a:cs typeface="Calibri" pitchFamily="34" charset="-120"/>
              </a:rPr>
              <a:t>TRANSPARENCIA</a:t>
            </a:r>
            <a:endParaRPr lang="en-US" sz="1300" dirty="0"/>
          </a:p>
        </p:txBody>
      </p:sp>
      <p:sp>
        <p:nvSpPr>
          <p:cNvPr id="3" name="Text 1"/>
          <p:cNvSpPr/>
          <p:nvPr/>
        </p:nvSpPr>
        <p:spPr>
          <a:xfrm>
            <a:off x="548640" y="713232"/>
            <a:ext cx="10789920" cy="822960"/>
          </a:xfrm>
          <a:prstGeom prst="rect">
            <a:avLst/>
          </a:prstGeom>
          <a:noFill/>
          <a:ln/>
        </p:spPr>
        <p:txBody>
          <a:bodyPr wrap="square" lIns="0" tIns="0" rIns="0" bIns="0"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Riesgos y limitaciones del análisis</a:t>
            </a:r>
            <a:endParaRPr lang="en-US" sz="3000" dirty="0"/>
          </a:p>
        </p:txBody>
      </p:sp>
      <p:sp>
        <p:nvSpPr>
          <p:cNvPr id="4" name="Shape 2"/>
          <p:cNvSpPr/>
          <p:nvPr/>
        </p:nvSpPr>
        <p:spPr>
          <a:xfrm>
            <a:off x="548640" y="1874520"/>
            <a:ext cx="11064240" cy="1005840"/>
          </a:xfrm>
          <a:prstGeom prst="roundRect">
            <a:avLst>
              <a:gd name="adj" fmla="val 5455"/>
            </a:avLst>
          </a:prstGeom>
          <a:solidFill>
            <a:srgbClr val="F4F7FC"/>
          </a:solidFill>
          <a:ln/>
        </p:spPr>
        <p:txBody>
          <a:bodyPr/>
          <a:lstStyle/>
          <a:p>
            <a:endParaRPr lang="es-CO"/>
          </a:p>
        </p:txBody>
      </p:sp>
      <p:sp>
        <p:nvSpPr>
          <p:cNvPr id="5" name="Shape 3"/>
          <p:cNvSpPr/>
          <p:nvPr/>
        </p:nvSpPr>
        <p:spPr>
          <a:xfrm>
            <a:off x="822960" y="2304288"/>
            <a:ext cx="146304" cy="146304"/>
          </a:xfrm>
          <a:prstGeom prst="ellipse">
            <a:avLst/>
          </a:prstGeom>
          <a:solidFill>
            <a:srgbClr val="B33A3A"/>
          </a:solidFill>
          <a:ln/>
        </p:spPr>
        <p:txBody>
          <a:bodyPr/>
          <a:lstStyle/>
          <a:p>
            <a:endParaRPr lang="es-CO"/>
          </a:p>
        </p:txBody>
      </p:sp>
      <p:sp>
        <p:nvSpPr>
          <p:cNvPr id="6" name="Text 4"/>
          <p:cNvSpPr/>
          <p:nvPr/>
        </p:nvSpPr>
        <p:spPr>
          <a:xfrm>
            <a:off x="1143000" y="1874520"/>
            <a:ext cx="3291840" cy="1005840"/>
          </a:xfrm>
          <a:prstGeom prst="rect">
            <a:avLst/>
          </a:prstGeom>
          <a:noFill/>
          <a:ln/>
        </p:spPr>
        <p:txBody>
          <a:bodyPr wrap="square" lIns="0" tIns="0" rIns="0" bIns="0" rtlCol="0" anchor="ctr"/>
          <a:lstStyle/>
          <a:p>
            <a:pPr marL="0" indent="0">
              <a:buNone/>
            </a:pPr>
            <a:r>
              <a:rPr lang="en-US" sz="1350" b="1" dirty="0">
                <a:solidFill>
                  <a:srgbClr val="1E2761"/>
                </a:solidFill>
                <a:latin typeface="Calibri" pitchFamily="34" charset="0"/>
                <a:ea typeface="Calibri" pitchFamily="34" charset="-122"/>
                <a:cs typeface="Calibri" pitchFamily="34" charset="-120"/>
              </a:rPr>
              <a:t>Posible fuga de información</a:t>
            </a:r>
            <a:endParaRPr lang="en-US" sz="1350" dirty="0"/>
          </a:p>
        </p:txBody>
      </p:sp>
      <p:sp>
        <p:nvSpPr>
          <p:cNvPr id="7" name="Text 5"/>
          <p:cNvSpPr/>
          <p:nvPr/>
        </p:nvSpPr>
        <p:spPr>
          <a:xfrm>
            <a:off x="4572000" y="1874520"/>
            <a:ext cx="6675120" cy="1005840"/>
          </a:xfrm>
          <a:prstGeom prst="rect">
            <a:avLst/>
          </a:prstGeom>
          <a:noFill/>
          <a:ln/>
        </p:spPr>
        <p:txBody>
          <a:bodyPr wrap="square" lIns="0" tIns="0" rIns="0" bIns="0" rtlCol="0" anchor="ctr"/>
          <a:lstStyle/>
          <a:p>
            <a:pPr marL="0" indent="0">
              <a:lnSpc>
                <a:spcPct val="115000"/>
              </a:lnSpc>
              <a:buNone/>
            </a:pPr>
            <a:r>
              <a:rPr lang="en-US" sz="1200" dirty="0">
                <a:solidFill>
                  <a:srgbClr val="5A5F73"/>
                </a:solidFill>
                <a:latin typeface="Calibri" pitchFamily="34" charset="0"/>
                <a:ea typeface="Calibri" pitchFamily="34" charset="-122"/>
                <a:cs typeface="Calibri" pitchFamily="34" charset="-120"/>
              </a:rPr>
              <a:t>Las variables de saldo en mora podrían registrarse después del desembolso — deben validarse con el negocio antes de modelar.</a:t>
            </a:r>
            <a:endParaRPr lang="en-US" sz="1200" dirty="0"/>
          </a:p>
        </p:txBody>
      </p:sp>
      <p:sp>
        <p:nvSpPr>
          <p:cNvPr id="8" name="Shape 6"/>
          <p:cNvSpPr/>
          <p:nvPr/>
        </p:nvSpPr>
        <p:spPr>
          <a:xfrm>
            <a:off x="548640" y="2990088"/>
            <a:ext cx="11064240" cy="1005840"/>
          </a:xfrm>
          <a:prstGeom prst="roundRect">
            <a:avLst>
              <a:gd name="adj" fmla="val 5455"/>
            </a:avLst>
          </a:prstGeom>
          <a:solidFill>
            <a:srgbClr val="F4F7FC"/>
          </a:solidFill>
          <a:ln/>
        </p:spPr>
        <p:txBody>
          <a:bodyPr/>
          <a:lstStyle/>
          <a:p>
            <a:endParaRPr lang="es-CO"/>
          </a:p>
        </p:txBody>
      </p:sp>
      <p:sp>
        <p:nvSpPr>
          <p:cNvPr id="9" name="Shape 7"/>
          <p:cNvSpPr/>
          <p:nvPr/>
        </p:nvSpPr>
        <p:spPr>
          <a:xfrm>
            <a:off x="822960" y="3419856"/>
            <a:ext cx="146304" cy="146304"/>
          </a:xfrm>
          <a:prstGeom prst="ellipse">
            <a:avLst/>
          </a:prstGeom>
          <a:solidFill>
            <a:srgbClr val="B33A3A"/>
          </a:solidFill>
          <a:ln/>
        </p:spPr>
        <p:txBody>
          <a:bodyPr/>
          <a:lstStyle/>
          <a:p>
            <a:endParaRPr lang="es-CO"/>
          </a:p>
        </p:txBody>
      </p:sp>
      <p:sp>
        <p:nvSpPr>
          <p:cNvPr id="10" name="Text 8"/>
          <p:cNvSpPr/>
          <p:nvPr/>
        </p:nvSpPr>
        <p:spPr>
          <a:xfrm>
            <a:off x="1143000" y="2990088"/>
            <a:ext cx="3291840" cy="1005840"/>
          </a:xfrm>
          <a:prstGeom prst="rect">
            <a:avLst/>
          </a:prstGeom>
          <a:noFill/>
          <a:ln/>
        </p:spPr>
        <p:txBody>
          <a:bodyPr wrap="square" lIns="0" tIns="0" rIns="0" bIns="0" rtlCol="0" anchor="ctr"/>
          <a:lstStyle/>
          <a:p>
            <a:pPr marL="0" indent="0">
              <a:buNone/>
            </a:pPr>
            <a:r>
              <a:rPr lang="en-US" sz="1350" b="1" dirty="0">
                <a:solidFill>
                  <a:srgbClr val="1E2761"/>
                </a:solidFill>
                <a:latin typeface="Calibri" pitchFamily="34" charset="0"/>
                <a:ea typeface="Calibri" pitchFamily="34" charset="-122"/>
                <a:cs typeface="Calibri" pitchFamily="34" charset="-120"/>
              </a:rPr>
              <a:t>Muestras pequeñas en hallazgos clave</a:t>
            </a:r>
            <a:endParaRPr lang="en-US" sz="1350" dirty="0"/>
          </a:p>
        </p:txBody>
      </p:sp>
      <p:sp>
        <p:nvSpPr>
          <p:cNvPr id="11" name="Text 9"/>
          <p:cNvSpPr/>
          <p:nvPr/>
        </p:nvSpPr>
        <p:spPr>
          <a:xfrm>
            <a:off x="4572000" y="2990088"/>
            <a:ext cx="6675120" cy="1005840"/>
          </a:xfrm>
          <a:prstGeom prst="rect">
            <a:avLst/>
          </a:prstGeom>
          <a:noFill/>
          <a:ln/>
        </p:spPr>
        <p:txBody>
          <a:bodyPr wrap="square" lIns="0" tIns="0" rIns="0" bIns="0" rtlCol="0" anchor="ctr"/>
          <a:lstStyle/>
          <a:p>
            <a:pPr marL="0" indent="0">
              <a:lnSpc>
                <a:spcPct val="115000"/>
              </a:lnSpc>
              <a:buNone/>
            </a:pPr>
            <a:r>
              <a:rPr lang="en-US" sz="1200" dirty="0">
                <a:solidFill>
                  <a:srgbClr val="5A5F73"/>
                </a:solidFill>
                <a:latin typeface="Calibri" pitchFamily="34" charset="0"/>
                <a:ea typeface="Calibri" pitchFamily="34" charset="-122"/>
                <a:cs typeface="Calibri" pitchFamily="34" charset="-120"/>
              </a:rPr>
              <a:t>El tipo de crédito 6 (21) y la mora previa (55) tienen bases reducidas; sus tasas son indicativas, no concluyentes.</a:t>
            </a:r>
            <a:endParaRPr lang="en-US" sz="1200" dirty="0"/>
          </a:p>
        </p:txBody>
      </p:sp>
      <p:sp>
        <p:nvSpPr>
          <p:cNvPr id="12" name="Shape 10"/>
          <p:cNvSpPr/>
          <p:nvPr/>
        </p:nvSpPr>
        <p:spPr>
          <a:xfrm>
            <a:off x="548640" y="4105656"/>
            <a:ext cx="11064240" cy="1005840"/>
          </a:xfrm>
          <a:prstGeom prst="roundRect">
            <a:avLst>
              <a:gd name="adj" fmla="val 5455"/>
            </a:avLst>
          </a:prstGeom>
          <a:solidFill>
            <a:srgbClr val="F4F7FC"/>
          </a:solidFill>
          <a:ln/>
        </p:spPr>
        <p:txBody>
          <a:bodyPr/>
          <a:lstStyle/>
          <a:p>
            <a:endParaRPr lang="es-CO"/>
          </a:p>
        </p:txBody>
      </p:sp>
      <p:sp>
        <p:nvSpPr>
          <p:cNvPr id="13" name="Shape 11"/>
          <p:cNvSpPr/>
          <p:nvPr/>
        </p:nvSpPr>
        <p:spPr>
          <a:xfrm>
            <a:off x="822960" y="4535424"/>
            <a:ext cx="146304" cy="146304"/>
          </a:xfrm>
          <a:prstGeom prst="ellipse">
            <a:avLst/>
          </a:prstGeom>
          <a:solidFill>
            <a:srgbClr val="B33A3A"/>
          </a:solidFill>
          <a:ln/>
        </p:spPr>
        <p:txBody>
          <a:bodyPr/>
          <a:lstStyle/>
          <a:p>
            <a:endParaRPr lang="es-CO"/>
          </a:p>
        </p:txBody>
      </p:sp>
      <p:sp>
        <p:nvSpPr>
          <p:cNvPr id="14" name="Text 12"/>
          <p:cNvSpPr/>
          <p:nvPr/>
        </p:nvSpPr>
        <p:spPr>
          <a:xfrm>
            <a:off x="1143000" y="4105656"/>
            <a:ext cx="3291840" cy="1005840"/>
          </a:xfrm>
          <a:prstGeom prst="rect">
            <a:avLst/>
          </a:prstGeom>
          <a:noFill/>
          <a:ln/>
        </p:spPr>
        <p:txBody>
          <a:bodyPr wrap="square" lIns="0" tIns="0" rIns="0" bIns="0" rtlCol="0" anchor="ctr"/>
          <a:lstStyle/>
          <a:p>
            <a:pPr marL="0" indent="0">
              <a:buNone/>
            </a:pPr>
            <a:r>
              <a:rPr lang="en-US" sz="1350" b="1" dirty="0">
                <a:solidFill>
                  <a:srgbClr val="1E2761"/>
                </a:solidFill>
                <a:latin typeface="Calibri" pitchFamily="34" charset="0"/>
                <a:ea typeface="Calibri" pitchFamily="34" charset="-122"/>
                <a:cs typeface="Calibri" pitchFamily="34" charset="-120"/>
              </a:rPr>
              <a:t>Etiqueta no homogénea en el tiempo</a:t>
            </a:r>
            <a:endParaRPr lang="en-US" sz="1350" dirty="0"/>
          </a:p>
        </p:txBody>
      </p:sp>
      <p:sp>
        <p:nvSpPr>
          <p:cNvPr id="15" name="Text 13"/>
          <p:cNvSpPr/>
          <p:nvPr/>
        </p:nvSpPr>
        <p:spPr>
          <a:xfrm>
            <a:off x="4572000" y="4105656"/>
            <a:ext cx="6675120" cy="1005840"/>
          </a:xfrm>
          <a:prstGeom prst="rect">
            <a:avLst/>
          </a:prstGeom>
          <a:noFill/>
          <a:ln/>
        </p:spPr>
        <p:txBody>
          <a:bodyPr wrap="square" lIns="0" tIns="0" rIns="0" bIns="0" rtlCol="0" anchor="ctr"/>
          <a:lstStyle/>
          <a:p>
            <a:pPr marL="0" indent="0">
              <a:lnSpc>
                <a:spcPct val="115000"/>
              </a:lnSpc>
              <a:buNone/>
            </a:pPr>
            <a:r>
              <a:rPr lang="en-US" sz="1200" dirty="0">
                <a:solidFill>
                  <a:srgbClr val="5A5F73"/>
                </a:solidFill>
                <a:latin typeface="Calibri" pitchFamily="34" charset="0"/>
                <a:ea typeface="Calibri" pitchFamily="34" charset="-122"/>
                <a:cs typeface="Calibri" pitchFamily="34" charset="-120"/>
              </a:rPr>
              <a:t>El 19,9% de los créditos vence después del corte de datos: su resultado de pago aún no es definitivo (6,40% vs 4,34%).</a:t>
            </a:r>
            <a:endParaRPr lang="en-US" sz="1200" dirty="0"/>
          </a:p>
        </p:txBody>
      </p:sp>
      <p:sp>
        <p:nvSpPr>
          <p:cNvPr id="16" name="Shape 14"/>
          <p:cNvSpPr/>
          <p:nvPr/>
        </p:nvSpPr>
        <p:spPr>
          <a:xfrm>
            <a:off x="548640" y="5221224"/>
            <a:ext cx="11064240" cy="1005840"/>
          </a:xfrm>
          <a:prstGeom prst="roundRect">
            <a:avLst>
              <a:gd name="adj" fmla="val 5455"/>
            </a:avLst>
          </a:prstGeom>
          <a:solidFill>
            <a:srgbClr val="F4F7FC"/>
          </a:solidFill>
          <a:ln/>
        </p:spPr>
        <p:txBody>
          <a:bodyPr/>
          <a:lstStyle/>
          <a:p>
            <a:endParaRPr lang="es-CO"/>
          </a:p>
        </p:txBody>
      </p:sp>
      <p:sp>
        <p:nvSpPr>
          <p:cNvPr id="17" name="Shape 15"/>
          <p:cNvSpPr/>
          <p:nvPr/>
        </p:nvSpPr>
        <p:spPr>
          <a:xfrm>
            <a:off x="822960" y="5650992"/>
            <a:ext cx="146304" cy="146304"/>
          </a:xfrm>
          <a:prstGeom prst="ellipse">
            <a:avLst/>
          </a:prstGeom>
          <a:solidFill>
            <a:srgbClr val="B33A3A"/>
          </a:solidFill>
          <a:ln/>
        </p:spPr>
        <p:txBody>
          <a:bodyPr/>
          <a:lstStyle/>
          <a:p>
            <a:endParaRPr lang="es-CO"/>
          </a:p>
        </p:txBody>
      </p:sp>
      <p:sp>
        <p:nvSpPr>
          <p:cNvPr id="18" name="Text 16"/>
          <p:cNvSpPr/>
          <p:nvPr/>
        </p:nvSpPr>
        <p:spPr>
          <a:xfrm>
            <a:off x="1143000" y="5221224"/>
            <a:ext cx="3291840" cy="1005840"/>
          </a:xfrm>
          <a:prstGeom prst="rect">
            <a:avLst/>
          </a:prstGeom>
          <a:noFill/>
          <a:ln/>
        </p:spPr>
        <p:txBody>
          <a:bodyPr wrap="square" lIns="0" tIns="0" rIns="0" bIns="0" rtlCol="0" anchor="ctr"/>
          <a:lstStyle/>
          <a:p>
            <a:pPr marL="0" indent="0">
              <a:buNone/>
            </a:pPr>
            <a:r>
              <a:rPr lang="en-US" sz="1350" b="1" dirty="0">
                <a:solidFill>
                  <a:srgbClr val="1E2761"/>
                </a:solidFill>
                <a:latin typeface="Calibri" pitchFamily="34" charset="0"/>
                <a:ea typeface="Calibri" pitchFamily="34" charset="-122"/>
                <a:cs typeface="Calibri" pitchFamily="34" charset="-120"/>
              </a:rPr>
              <a:t>Ausencia de diccionario de datos</a:t>
            </a:r>
            <a:endParaRPr lang="en-US" sz="1350" dirty="0"/>
          </a:p>
        </p:txBody>
      </p:sp>
      <p:sp>
        <p:nvSpPr>
          <p:cNvPr id="19" name="Text 17"/>
          <p:cNvSpPr/>
          <p:nvPr/>
        </p:nvSpPr>
        <p:spPr>
          <a:xfrm>
            <a:off x="4572000" y="5221224"/>
            <a:ext cx="6675120" cy="1005840"/>
          </a:xfrm>
          <a:prstGeom prst="rect">
            <a:avLst/>
          </a:prstGeom>
          <a:noFill/>
          <a:ln/>
        </p:spPr>
        <p:txBody>
          <a:bodyPr wrap="square" lIns="0" tIns="0" rIns="0" bIns="0" rtlCol="0" anchor="ctr"/>
          <a:lstStyle/>
          <a:p>
            <a:pPr marL="0" indent="0">
              <a:lnSpc>
                <a:spcPct val="115000"/>
              </a:lnSpc>
              <a:buNone/>
            </a:pPr>
            <a:r>
              <a:rPr lang="en-US" sz="1200" dirty="0">
                <a:solidFill>
                  <a:srgbClr val="5A5F73"/>
                </a:solidFill>
                <a:latin typeface="Calibri" pitchFamily="34" charset="0"/>
                <a:ea typeface="Calibri" pitchFamily="34" charset="-122"/>
                <a:cs typeface="Calibri" pitchFamily="34" charset="-120"/>
              </a:rPr>
              <a:t>La interpretación de varias variables, en especial tipo_credito, se basa en inferencia propia.</a:t>
            </a:r>
            <a:endParaRPr lang="en-US" sz="1200" dirty="0"/>
          </a:p>
        </p:txBody>
      </p:sp>
      <p:sp>
        <p:nvSpPr>
          <p:cNvPr id="20" name="Text 18"/>
          <p:cNvSpPr/>
          <p:nvPr/>
        </p:nvSpPr>
        <p:spPr>
          <a:xfrm>
            <a:off x="457200" y="6446520"/>
            <a:ext cx="5486400" cy="274320"/>
          </a:xfrm>
          <a:prstGeom prst="rect">
            <a:avLst/>
          </a:prstGeom>
          <a:noFill/>
          <a:ln/>
        </p:spPr>
        <p:txBody>
          <a:bodyPr wrap="square" lIns="0" tIns="0" rIns="0" bIns="0" rtlCol="0" anchor="ctr"/>
          <a:lstStyle/>
          <a:p>
            <a:pPr marL="0" indent="0">
              <a:buNone/>
            </a:pPr>
            <a:r>
              <a:rPr lang="en-US" sz="1000" dirty="0">
                <a:solidFill>
                  <a:srgbClr val="8A8FA3"/>
                </a:solidFill>
                <a:latin typeface="Calibri" pitchFamily="34" charset="0"/>
                <a:ea typeface="Calibri" pitchFamily="34" charset="-122"/>
                <a:cs typeface="Calibri" pitchFamily="34" charset="-120"/>
              </a:rPr>
              <a:t>Análisis de Riesgo Crediticio</a:t>
            </a:r>
            <a:endParaRPr lang="en-US" sz="1000" dirty="0"/>
          </a:p>
        </p:txBody>
      </p:sp>
      <p:sp>
        <p:nvSpPr>
          <p:cNvPr id="21" name="Text 19"/>
          <p:cNvSpPr/>
          <p:nvPr/>
        </p:nvSpPr>
        <p:spPr>
          <a:xfrm>
            <a:off x="11247120" y="6446520"/>
            <a:ext cx="457200" cy="274320"/>
          </a:xfrm>
          <a:prstGeom prst="rect">
            <a:avLst/>
          </a:prstGeom>
          <a:noFill/>
          <a:ln/>
        </p:spPr>
        <p:txBody>
          <a:bodyPr wrap="square" lIns="0" tIns="0" rIns="0" bIns="0" rtlCol="0" anchor="ctr"/>
          <a:lstStyle/>
          <a:p>
            <a:pPr marL="0" indent="0" algn="r">
              <a:buNone/>
            </a:pPr>
            <a:r>
              <a:rPr lang="en-US" sz="1000" dirty="0">
                <a:solidFill>
                  <a:srgbClr val="8A8FA3"/>
                </a:solidFill>
                <a:latin typeface="Calibri" pitchFamily="34" charset="0"/>
                <a:ea typeface="Calibri" pitchFamily="34" charset="-122"/>
                <a:cs typeface="Calibri"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48640" y="411480"/>
            <a:ext cx="9144000" cy="320040"/>
          </a:xfrm>
          <a:prstGeom prst="rect">
            <a:avLst/>
          </a:prstGeom>
          <a:noFill/>
          <a:ln/>
        </p:spPr>
        <p:txBody>
          <a:bodyPr wrap="square" lIns="0" tIns="0" rIns="0" bIns="0" rtlCol="0" anchor="ctr"/>
          <a:lstStyle/>
          <a:p>
            <a:pPr marL="0" indent="0">
              <a:buNone/>
            </a:pPr>
            <a:r>
              <a:rPr lang="en-US" sz="1300" b="1" kern="0" spc="200" dirty="0">
                <a:solidFill>
                  <a:srgbClr val="B33A3A"/>
                </a:solidFill>
                <a:latin typeface="Calibri" pitchFamily="34" charset="0"/>
                <a:ea typeface="Calibri" pitchFamily="34" charset="-122"/>
                <a:cs typeface="Calibri" pitchFamily="34" charset="-120"/>
              </a:rPr>
              <a:t>PARA EL NEGOCIO</a:t>
            </a:r>
            <a:endParaRPr lang="en-US" sz="1300" dirty="0"/>
          </a:p>
        </p:txBody>
      </p:sp>
      <p:sp>
        <p:nvSpPr>
          <p:cNvPr id="3" name="Text 1"/>
          <p:cNvSpPr/>
          <p:nvPr/>
        </p:nvSpPr>
        <p:spPr>
          <a:xfrm>
            <a:off x="548640" y="713232"/>
            <a:ext cx="10789920" cy="822960"/>
          </a:xfrm>
          <a:prstGeom prst="rect">
            <a:avLst/>
          </a:prstGeom>
          <a:noFill/>
          <a:ln/>
        </p:spPr>
        <p:txBody>
          <a:bodyPr wrap="square" lIns="0" tIns="0" rIns="0" bIns="0"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Recomendaciones accionables</a:t>
            </a:r>
            <a:endParaRPr lang="en-US" sz="3000" dirty="0"/>
          </a:p>
        </p:txBody>
      </p:sp>
      <p:sp>
        <p:nvSpPr>
          <p:cNvPr id="4" name="Shape 2"/>
          <p:cNvSpPr/>
          <p:nvPr/>
        </p:nvSpPr>
        <p:spPr>
          <a:xfrm>
            <a:off x="548640" y="1965960"/>
            <a:ext cx="3566160" cy="4023360"/>
          </a:xfrm>
          <a:prstGeom prst="roundRect">
            <a:avLst>
              <a:gd name="adj" fmla="val 2564"/>
            </a:avLst>
          </a:prstGeom>
          <a:solidFill>
            <a:srgbClr val="1E2761"/>
          </a:solidFill>
          <a:ln/>
        </p:spPr>
        <p:txBody>
          <a:bodyPr/>
          <a:lstStyle/>
          <a:p>
            <a:endParaRPr lang="es-CO"/>
          </a:p>
        </p:txBody>
      </p:sp>
      <p:sp>
        <p:nvSpPr>
          <p:cNvPr id="5" name="Shape 3"/>
          <p:cNvSpPr/>
          <p:nvPr/>
        </p:nvSpPr>
        <p:spPr>
          <a:xfrm>
            <a:off x="868680" y="2286000"/>
            <a:ext cx="548640" cy="548640"/>
          </a:xfrm>
          <a:prstGeom prst="ellipse">
            <a:avLst/>
          </a:prstGeom>
          <a:solidFill>
            <a:srgbClr val="1E2761"/>
          </a:solidFill>
          <a:ln/>
        </p:spPr>
        <p:txBody>
          <a:bodyPr/>
          <a:lstStyle/>
          <a:p>
            <a:endParaRPr lang="es-CO"/>
          </a:p>
        </p:txBody>
      </p:sp>
      <p:sp>
        <p:nvSpPr>
          <p:cNvPr id="6" name="Text 4"/>
          <p:cNvSpPr/>
          <p:nvPr/>
        </p:nvSpPr>
        <p:spPr>
          <a:xfrm>
            <a:off x="868680" y="2286000"/>
            <a:ext cx="548640" cy="548640"/>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7" name="Text 5"/>
          <p:cNvSpPr/>
          <p:nvPr/>
        </p:nvSpPr>
        <p:spPr>
          <a:xfrm>
            <a:off x="868680" y="3063240"/>
            <a:ext cx="2926080" cy="640080"/>
          </a:xfrm>
          <a:prstGeom prst="rect">
            <a:avLst/>
          </a:prstGeom>
          <a:noFill/>
          <a:ln/>
        </p:spPr>
        <p:txBody>
          <a:bodyPr wrap="square" lIns="0" tIns="0" rIns="0" bIns="0" rtlCol="0" anchor="ctr"/>
          <a:lstStyle/>
          <a:p>
            <a:pPr marL="0" indent="0">
              <a:buNone/>
            </a:pPr>
            <a:r>
              <a:rPr lang="en-US" sz="1800" b="1" dirty="0">
                <a:solidFill>
                  <a:srgbClr val="FFFFFF"/>
                </a:solidFill>
                <a:latin typeface="Cambria" pitchFamily="34" charset="0"/>
                <a:ea typeface="Cambria" pitchFamily="34" charset="-122"/>
                <a:cs typeface="Cambria" pitchFamily="34" charset="-120"/>
              </a:rPr>
              <a:t>Alerta temprana</a:t>
            </a:r>
            <a:endParaRPr lang="en-US" sz="1800" dirty="0"/>
          </a:p>
        </p:txBody>
      </p:sp>
      <p:sp>
        <p:nvSpPr>
          <p:cNvPr id="8" name="Text 6"/>
          <p:cNvSpPr/>
          <p:nvPr/>
        </p:nvSpPr>
        <p:spPr>
          <a:xfrm>
            <a:off x="868680" y="3794760"/>
            <a:ext cx="2926080" cy="2011680"/>
          </a:xfrm>
          <a:prstGeom prst="rect">
            <a:avLst/>
          </a:prstGeom>
          <a:noFill/>
          <a:ln/>
        </p:spPr>
        <p:txBody>
          <a:bodyPr wrap="square" lIns="0" tIns="0" rIns="0" bIns="0" rtlCol="0" anchor="t"/>
          <a:lstStyle/>
          <a:p>
            <a:pPr marL="0" indent="0">
              <a:lnSpc>
                <a:spcPct val="125000"/>
              </a:lnSpc>
              <a:buNone/>
            </a:pPr>
            <a:r>
              <a:rPr lang="en-US" sz="1300" dirty="0">
                <a:solidFill>
                  <a:srgbClr val="CADCFC"/>
                </a:solidFill>
                <a:latin typeface="Calibri" pitchFamily="34" charset="0"/>
                <a:ea typeface="Calibri" pitchFamily="34" charset="-122"/>
                <a:cs typeface="Calibri" pitchFamily="34" charset="-120"/>
              </a:rPr>
              <a:t>Incorporar mora previa y el tipo de crédito 6 como criterios de alerta en la originación.</a:t>
            </a:r>
            <a:endParaRPr lang="en-US" sz="1300" dirty="0"/>
          </a:p>
        </p:txBody>
      </p:sp>
      <p:sp>
        <p:nvSpPr>
          <p:cNvPr id="9" name="Shape 7"/>
          <p:cNvSpPr/>
          <p:nvPr/>
        </p:nvSpPr>
        <p:spPr>
          <a:xfrm>
            <a:off x="4343400" y="1965960"/>
            <a:ext cx="3566160" cy="4023360"/>
          </a:xfrm>
          <a:prstGeom prst="roundRect">
            <a:avLst>
              <a:gd name="adj" fmla="val 2564"/>
            </a:avLst>
          </a:prstGeom>
          <a:solidFill>
            <a:srgbClr val="F4F7FC"/>
          </a:solidFill>
          <a:ln/>
        </p:spPr>
        <p:txBody>
          <a:bodyPr/>
          <a:lstStyle/>
          <a:p>
            <a:endParaRPr lang="es-CO"/>
          </a:p>
        </p:txBody>
      </p:sp>
      <p:sp>
        <p:nvSpPr>
          <p:cNvPr id="10" name="Shape 8"/>
          <p:cNvSpPr/>
          <p:nvPr/>
        </p:nvSpPr>
        <p:spPr>
          <a:xfrm>
            <a:off x="4663440" y="2286000"/>
            <a:ext cx="548640" cy="548640"/>
          </a:xfrm>
          <a:prstGeom prst="ellipse">
            <a:avLst/>
          </a:prstGeom>
          <a:solidFill>
            <a:srgbClr val="1E2761"/>
          </a:solidFill>
          <a:ln/>
        </p:spPr>
        <p:txBody>
          <a:bodyPr/>
          <a:lstStyle/>
          <a:p>
            <a:endParaRPr lang="es-CO"/>
          </a:p>
        </p:txBody>
      </p:sp>
      <p:sp>
        <p:nvSpPr>
          <p:cNvPr id="11" name="Text 9"/>
          <p:cNvSpPr/>
          <p:nvPr/>
        </p:nvSpPr>
        <p:spPr>
          <a:xfrm>
            <a:off x="4663440" y="2286000"/>
            <a:ext cx="548640" cy="548640"/>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2" name="Text 10"/>
          <p:cNvSpPr/>
          <p:nvPr/>
        </p:nvSpPr>
        <p:spPr>
          <a:xfrm>
            <a:off x="4663440" y="3063240"/>
            <a:ext cx="2926080" cy="640080"/>
          </a:xfrm>
          <a:prstGeom prst="rect">
            <a:avLst/>
          </a:prstGeom>
          <a:noFill/>
          <a:ln/>
        </p:spPr>
        <p:txBody>
          <a:bodyPr wrap="square" lIns="0" tIns="0" rIns="0" bIns="0" rtlCol="0" anchor="ctr"/>
          <a:lstStyle/>
          <a:p>
            <a:pPr marL="0" indent="0">
              <a:buNone/>
            </a:pPr>
            <a:r>
              <a:rPr lang="en-US" sz="1800" b="1" dirty="0">
                <a:solidFill>
                  <a:srgbClr val="1E2761"/>
                </a:solidFill>
                <a:latin typeface="Cambria" pitchFamily="34" charset="0"/>
                <a:ea typeface="Cambria" pitchFamily="34" charset="-122"/>
                <a:cs typeface="Cambria" pitchFamily="34" charset="-120"/>
              </a:rPr>
              <a:t>Auditoría de origen</a:t>
            </a:r>
            <a:endParaRPr lang="en-US" sz="1800" dirty="0"/>
          </a:p>
        </p:txBody>
      </p:sp>
      <p:sp>
        <p:nvSpPr>
          <p:cNvPr id="13" name="Text 11"/>
          <p:cNvSpPr/>
          <p:nvPr/>
        </p:nvSpPr>
        <p:spPr>
          <a:xfrm>
            <a:off x="4663440" y="3794760"/>
            <a:ext cx="2926080" cy="2011680"/>
          </a:xfrm>
          <a:prstGeom prst="rect">
            <a:avLst/>
          </a:prstGeom>
          <a:noFill/>
          <a:ln/>
        </p:spPr>
        <p:txBody>
          <a:bodyPr wrap="square" lIns="0" tIns="0" rIns="0" bIns="0" rtlCol="0" anchor="t"/>
          <a:lstStyle/>
          <a:p>
            <a:pPr marL="0" indent="0">
              <a:lnSpc>
                <a:spcPct val="125000"/>
              </a:lnSpc>
              <a:buNone/>
            </a:pPr>
            <a:r>
              <a:rPr lang="en-US" sz="1300" dirty="0">
                <a:solidFill>
                  <a:srgbClr val="5A5F73"/>
                </a:solidFill>
                <a:latin typeface="Calibri" pitchFamily="34" charset="0"/>
                <a:ea typeface="Calibri" pitchFamily="34" charset="-122"/>
                <a:cs typeface="Calibri" pitchFamily="34" charset="-120"/>
              </a:rPr>
              <a:t>Corregir en la fuente los errores de captura (edades, salarios, categorías) que hoy se corrigen en el análisis.</a:t>
            </a:r>
            <a:endParaRPr lang="en-US" sz="1300" dirty="0"/>
          </a:p>
        </p:txBody>
      </p:sp>
      <p:sp>
        <p:nvSpPr>
          <p:cNvPr id="14" name="Shape 12"/>
          <p:cNvSpPr/>
          <p:nvPr/>
        </p:nvSpPr>
        <p:spPr>
          <a:xfrm>
            <a:off x="8138160" y="1965960"/>
            <a:ext cx="3566160" cy="4023360"/>
          </a:xfrm>
          <a:prstGeom prst="roundRect">
            <a:avLst>
              <a:gd name="adj" fmla="val 2564"/>
            </a:avLst>
          </a:prstGeom>
          <a:solidFill>
            <a:srgbClr val="F4F7FC"/>
          </a:solidFill>
          <a:ln/>
        </p:spPr>
        <p:txBody>
          <a:bodyPr/>
          <a:lstStyle/>
          <a:p>
            <a:endParaRPr lang="es-CO"/>
          </a:p>
        </p:txBody>
      </p:sp>
      <p:sp>
        <p:nvSpPr>
          <p:cNvPr id="15" name="Shape 13"/>
          <p:cNvSpPr/>
          <p:nvPr/>
        </p:nvSpPr>
        <p:spPr>
          <a:xfrm>
            <a:off x="8458200" y="2286000"/>
            <a:ext cx="548640" cy="548640"/>
          </a:xfrm>
          <a:prstGeom prst="ellipse">
            <a:avLst/>
          </a:prstGeom>
          <a:solidFill>
            <a:srgbClr val="1E2761"/>
          </a:solidFill>
          <a:ln/>
        </p:spPr>
        <p:txBody>
          <a:bodyPr/>
          <a:lstStyle/>
          <a:p>
            <a:endParaRPr lang="es-CO"/>
          </a:p>
        </p:txBody>
      </p:sp>
      <p:sp>
        <p:nvSpPr>
          <p:cNvPr id="16" name="Text 14"/>
          <p:cNvSpPr/>
          <p:nvPr/>
        </p:nvSpPr>
        <p:spPr>
          <a:xfrm>
            <a:off x="8458200" y="2286000"/>
            <a:ext cx="548640" cy="548640"/>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7" name="Text 15"/>
          <p:cNvSpPr/>
          <p:nvPr/>
        </p:nvSpPr>
        <p:spPr>
          <a:xfrm>
            <a:off x="8458200" y="3063240"/>
            <a:ext cx="2926080" cy="640080"/>
          </a:xfrm>
          <a:prstGeom prst="rect">
            <a:avLst/>
          </a:prstGeom>
          <a:noFill/>
          <a:ln/>
        </p:spPr>
        <p:txBody>
          <a:bodyPr wrap="square" lIns="0" tIns="0" rIns="0" bIns="0" rtlCol="0" anchor="ctr"/>
          <a:lstStyle/>
          <a:p>
            <a:pPr marL="0" indent="0">
              <a:buNone/>
            </a:pPr>
            <a:r>
              <a:rPr lang="en-US" sz="1800" b="1" dirty="0">
                <a:solidFill>
                  <a:srgbClr val="1E2761"/>
                </a:solidFill>
                <a:latin typeface="Cambria" pitchFamily="34" charset="0"/>
                <a:ea typeface="Cambria" pitchFamily="34" charset="-122"/>
                <a:cs typeface="Cambria" pitchFamily="34" charset="-120"/>
              </a:rPr>
              <a:t>Investigación dirigida</a:t>
            </a:r>
            <a:endParaRPr lang="en-US" sz="1800" dirty="0"/>
          </a:p>
        </p:txBody>
      </p:sp>
      <p:sp>
        <p:nvSpPr>
          <p:cNvPr id="18" name="Text 16"/>
          <p:cNvSpPr/>
          <p:nvPr/>
        </p:nvSpPr>
        <p:spPr>
          <a:xfrm>
            <a:off x="8458200" y="3794760"/>
            <a:ext cx="2926080" cy="2011680"/>
          </a:xfrm>
          <a:prstGeom prst="rect">
            <a:avLst/>
          </a:prstGeom>
          <a:noFill/>
          <a:ln/>
        </p:spPr>
        <p:txBody>
          <a:bodyPr wrap="square" lIns="0" tIns="0" rIns="0" bIns="0" rtlCol="0" anchor="t"/>
          <a:lstStyle/>
          <a:p>
            <a:pPr marL="0" indent="0">
              <a:lnSpc>
                <a:spcPct val="125000"/>
              </a:lnSpc>
              <a:buNone/>
            </a:pPr>
            <a:r>
              <a:rPr lang="en-US" sz="1300" dirty="0">
                <a:solidFill>
                  <a:srgbClr val="5A5F73"/>
                </a:solidFill>
                <a:latin typeface="Calibri" pitchFamily="34" charset="0"/>
                <a:ea typeface="Calibri" pitchFamily="34" charset="-122"/>
                <a:cs typeface="Calibri" pitchFamily="34" charset="-120"/>
              </a:rPr>
              <a:t>Trabajar con el área de producto para entender qué representa el tipo de crédito 6.</a:t>
            </a:r>
            <a:endParaRPr lang="en-US" sz="1300" dirty="0"/>
          </a:p>
        </p:txBody>
      </p:sp>
      <p:sp>
        <p:nvSpPr>
          <p:cNvPr id="19" name="Text 17"/>
          <p:cNvSpPr/>
          <p:nvPr/>
        </p:nvSpPr>
        <p:spPr>
          <a:xfrm>
            <a:off x="457200" y="6446520"/>
            <a:ext cx="5486400" cy="274320"/>
          </a:xfrm>
          <a:prstGeom prst="rect">
            <a:avLst/>
          </a:prstGeom>
          <a:noFill/>
          <a:ln/>
        </p:spPr>
        <p:txBody>
          <a:bodyPr wrap="square" lIns="0" tIns="0" rIns="0" bIns="0" rtlCol="0" anchor="ctr"/>
          <a:lstStyle/>
          <a:p>
            <a:pPr marL="0" indent="0">
              <a:buNone/>
            </a:pPr>
            <a:r>
              <a:rPr lang="en-US" sz="1000" dirty="0">
                <a:solidFill>
                  <a:srgbClr val="8A8FA3"/>
                </a:solidFill>
                <a:latin typeface="Calibri" pitchFamily="34" charset="0"/>
                <a:ea typeface="Calibri" pitchFamily="34" charset="-122"/>
                <a:cs typeface="Calibri" pitchFamily="34" charset="-120"/>
              </a:rPr>
              <a:t>Análisis de Riesgo Crediticio</a:t>
            </a:r>
            <a:endParaRPr lang="en-US" sz="1000" dirty="0"/>
          </a:p>
        </p:txBody>
      </p:sp>
      <p:sp>
        <p:nvSpPr>
          <p:cNvPr id="20" name="Text 18"/>
          <p:cNvSpPr/>
          <p:nvPr/>
        </p:nvSpPr>
        <p:spPr>
          <a:xfrm>
            <a:off x="11247120" y="6446520"/>
            <a:ext cx="457200" cy="274320"/>
          </a:xfrm>
          <a:prstGeom prst="rect">
            <a:avLst/>
          </a:prstGeom>
          <a:noFill/>
          <a:ln/>
        </p:spPr>
        <p:txBody>
          <a:bodyPr wrap="square" lIns="0" tIns="0" rIns="0" bIns="0" rtlCol="0" anchor="ctr"/>
          <a:lstStyle/>
          <a:p>
            <a:pPr marL="0" indent="0" algn="r">
              <a:buNone/>
            </a:pPr>
            <a:r>
              <a:rPr lang="en-US" sz="1000" dirty="0">
                <a:solidFill>
                  <a:srgbClr val="8A8FA3"/>
                </a:solidFill>
                <a:latin typeface="Calibri" pitchFamily="34" charset="0"/>
                <a:ea typeface="Calibri" pitchFamily="34" charset="-122"/>
                <a:cs typeface="Calibri" pitchFamily="34" charset="-120"/>
              </a:rPr>
              <a:t>17</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4" name="Shape 2"/>
          <p:cNvSpPr/>
          <p:nvPr/>
        </p:nvSpPr>
        <p:spPr>
          <a:xfrm>
            <a:off x="548640" y="1920240"/>
            <a:ext cx="502920" cy="502920"/>
          </a:xfrm>
          <a:prstGeom prst="ellipse">
            <a:avLst/>
          </a:prstGeom>
          <a:solidFill>
            <a:srgbClr val="B33A3A"/>
          </a:solidFill>
          <a:ln/>
        </p:spPr>
        <p:txBody>
          <a:bodyPr/>
          <a:lstStyle/>
          <a:p>
            <a:endParaRPr lang="es-CO"/>
          </a:p>
        </p:txBody>
      </p:sp>
      <p:sp>
        <p:nvSpPr>
          <p:cNvPr id="5" name="Text 3"/>
          <p:cNvSpPr/>
          <p:nvPr/>
        </p:nvSpPr>
        <p:spPr>
          <a:xfrm>
            <a:off x="548640" y="1920240"/>
            <a:ext cx="502920" cy="502920"/>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6" name="Text 4"/>
          <p:cNvSpPr/>
          <p:nvPr/>
        </p:nvSpPr>
        <p:spPr>
          <a:xfrm>
            <a:off x="548640" y="2578608"/>
            <a:ext cx="2084832" cy="640080"/>
          </a:xfrm>
          <a:prstGeom prst="rect">
            <a:avLst/>
          </a:prstGeom>
          <a:noFill/>
          <a:ln/>
        </p:spPr>
        <p:txBody>
          <a:bodyPr wrap="square" lIns="0" tIns="0" rIns="0" bIns="0" rtlCol="0" anchor="t"/>
          <a:lstStyle/>
          <a:p>
            <a:pPr marL="0" indent="0">
              <a:buNone/>
            </a:pPr>
            <a:r>
              <a:rPr lang="en-US" sz="1300" b="1" dirty="0">
                <a:solidFill>
                  <a:srgbClr val="B33A3A"/>
                </a:solidFill>
                <a:latin typeface="Calibri" pitchFamily="34" charset="0"/>
                <a:ea typeface="Calibri" pitchFamily="34" charset="-122"/>
                <a:cs typeface="Calibri" pitchFamily="34" charset="-120"/>
              </a:rPr>
              <a:t>EDA + Limpieza</a:t>
            </a:r>
            <a:endParaRPr lang="en-US" sz="1300" dirty="0"/>
          </a:p>
        </p:txBody>
      </p:sp>
      <p:sp>
        <p:nvSpPr>
          <p:cNvPr id="7" name="Text 5"/>
          <p:cNvSpPr/>
          <p:nvPr/>
        </p:nvSpPr>
        <p:spPr>
          <a:xfrm>
            <a:off x="548640" y="3200400"/>
            <a:ext cx="2084832" cy="1417320"/>
          </a:xfrm>
          <a:prstGeom prst="rect">
            <a:avLst/>
          </a:prstGeom>
          <a:noFill/>
          <a:ln/>
        </p:spPr>
        <p:txBody>
          <a:bodyPr wrap="square" lIns="0" tIns="0" rIns="0" bIns="0" rtlCol="0" anchor="t"/>
          <a:lstStyle/>
          <a:p>
            <a:pPr marL="0" indent="0">
              <a:lnSpc>
                <a:spcPct val="115000"/>
              </a:lnSpc>
              <a:buNone/>
            </a:pPr>
            <a:r>
              <a:rPr lang="en-US" sz="1000" dirty="0">
                <a:solidFill>
                  <a:srgbClr val="5A5F73"/>
                </a:solidFill>
                <a:latin typeface="Calibri" pitchFamily="34" charset="0"/>
                <a:ea typeface="Calibri" pitchFamily="34" charset="-122"/>
                <a:cs typeface="Calibri" pitchFamily="34" charset="-120"/>
              </a:rPr>
              <a:t>Comprensión, calidad de datos e insights</a:t>
            </a:r>
            <a:endParaRPr lang="en-US" sz="1000" dirty="0"/>
          </a:p>
        </p:txBody>
      </p:sp>
      <p:sp>
        <p:nvSpPr>
          <p:cNvPr id="8" name="Text 6"/>
          <p:cNvSpPr/>
          <p:nvPr/>
        </p:nvSpPr>
        <p:spPr>
          <a:xfrm>
            <a:off x="548640" y="4663440"/>
            <a:ext cx="2084832" cy="320040"/>
          </a:xfrm>
          <a:prstGeom prst="rect">
            <a:avLst/>
          </a:prstGeom>
          <a:noFill/>
          <a:ln/>
        </p:spPr>
        <p:txBody>
          <a:bodyPr wrap="square" lIns="0" tIns="0" rIns="0" bIns="0" rtlCol="0" anchor="ctr"/>
          <a:lstStyle/>
          <a:p>
            <a:pPr marL="0" indent="0">
              <a:buNone/>
            </a:pPr>
            <a:r>
              <a:rPr lang="en-US" sz="900" i="1" dirty="0">
                <a:solidFill>
                  <a:srgbClr val="8A8FA3"/>
                </a:solidFill>
                <a:latin typeface="Consolas" pitchFamily="34" charset="0"/>
                <a:ea typeface="Consolas" pitchFamily="34" charset="-122"/>
                <a:cs typeface="Consolas" pitchFamily="34" charset="-120"/>
              </a:rPr>
              <a:t>transformacion_eda.ipynb</a:t>
            </a:r>
            <a:endParaRPr lang="en-US" sz="900" dirty="0"/>
          </a:p>
        </p:txBody>
      </p:sp>
      <p:sp>
        <p:nvSpPr>
          <p:cNvPr id="9" name="Shape 7"/>
          <p:cNvSpPr/>
          <p:nvPr/>
        </p:nvSpPr>
        <p:spPr>
          <a:xfrm>
            <a:off x="2651760" y="2167128"/>
            <a:ext cx="128016" cy="0"/>
          </a:xfrm>
          <a:prstGeom prst="line">
            <a:avLst/>
          </a:prstGeom>
          <a:noFill/>
          <a:ln w="25400">
            <a:solidFill>
              <a:srgbClr val="CADCFC"/>
            </a:solidFill>
            <a:prstDash val="solid"/>
          </a:ln>
        </p:spPr>
        <p:txBody>
          <a:bodyPr/>
          <a:lstStyle/>
          <a:p>
            <a:endParaRPr lang="es-CO"/>
          </a:p>
        </p:txBody>
      </p:sp>
      <p:sp>
        <p:nvSpPr>
          <p:cNvPr id="10" name="Shape 8"/>
          <p:cNvSpPr/>
          <p:nvPr/>
        </p:nvSpPr>
        <p:spPr>
          <a:xfrm>
            <a:off x="2798064" y="1920240"/>
            <a:ext cx="502920" cy="502920"/>
          </a:xfrm>
          <a:prstGeom prst="ellipse">
            <a:avLst/>
          </a:prstGeom>
          <a:solidFill>
            <a:srgbClr val="1E2761"/>
          </a:solidFill>
          <a:ln/>
        </p:spPr>
        <p:txBody>
          <a:bodyPr/>
          <a:lstStyle/>
          <a:p>
            <a:endParaRPr lang="es-CO"/>
          </a:p>
        </p:txBody>
      </p:sp>
      <p:sp>
        <p:nvSpPr>
          <p:cNvPr id="11" name="Text 9"/>
          <p:cNvSpPr/>
          <p:nvPr/>
        </p:nvSpPr>
        <p:spPr>
          <a:xfrm>
            <a:off x="2798064" y="1920240"/>
            <a:ext cx="502920" cy="502920"/>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2" name="Text 10"/>
          <p:cNvSpPr/>
          <p:nvPr/>
        </p:nvSpPr>
        <p:spPr>
          <a:xfrm>
            <a:off x="2798064" y="2578608"/>
            <a:ext cx="2084832" cy="640080"/>
          </a:xfrm>
          <a:prstGeom prst="rect">
            <a:avLst/>
          </a:prstGeom>
          <a:noFill/>
          <a:ln/>
        </p:spPr>
        <p:txBody>
          <a:bodyPr wrap="square" lIns="0" tIns="0" rIns="0" bIns="0" rtlCol="0" anchor="t"/>
          <a:lstStyle/>
          <a:p>
            <a:pPr marL="0" indent="0">
              <a:buNone/>
            </a:pPr>
            <a:r>
              <a:rPr lang="en-US" sz="1300" b="1" dirty="0">
                <a:solidFill>
                  <a:srgbClr val="1E2761"/>
                </a:solidFill>
                <a:latin typeface="Calibri" pitchFamily="34" charset="0"/>
                <a:ea typeface="Calibri" pitchFamily="34" charset="-122"/>
                <a:cs typeface="Calibri" pitchFamily="34" charset="-120"/>
              </a:rPr>
              <a:t>Feature Engineering</a:t>
            </a:r>
            <a:endParaRPr lang="en-US" sz="1300" dirty="0"/>
          </a:p>
        </p:txBody>
      </p:sp>
      <p:sp>
        <p:nvSpPr>
          <p:cNvPr id="13" name="Text 11"/>
          <p:cNvSpPr/>
          <p:nvPr/>
        </p:nvSpPr>
        <p:spPr>
          <a:xfrm>
            <a:off x="2798064" y="3200400"/>
            <a:ext cx="2084832" cy="1417320"/>
          </a:xfrm>
          <a:prstGeom prst="rect">
            <a:avLst/>
          </a:prstGeom>
          <a:noFill/>
          <a:ln/>
        </p:spPr>
        <p:txBody>
          <a:bodyPr wrap="square" lIns="0" tIns="0" rIns="0" bIns="0" rtlCol="0" anchor="t"/>
          <a:lstStyle/>
          <a:p>
            <a:pPr marL="0" indent="0">
              <a:lnSpc>
                <a:spcPct val="115000"/>
              </a:lnSpc>
              <a:buNone/>
            </a:pPr>
            <a:r>
              <a:rPr lang="en-US" sz="1000" dirty="0">
                <a:solidFill>
                  <a:srgbClr val="5A5F73"/>
                </a:solidFill>
                <a:latin typeface="Calibri" pitchFamily="34" charset="0"/>
                <a:ea typeface="Calibri" pitchFamily="34" charset="-122"/>
                <a:cs typeface="Calibri" pitchFamily="34" charset="-120"/>
              </a:rPr>
              <a:t>Formalizar tiene_mora_previa y consultas_por_credito</a:t>
            </a:r>
            <a:endParaRPr lang="en-US" sz="1000" dirty="0"/>
          </a:p>
        </p:txBody>
      </p:sp>
      <p:sp>
        <p:nvSpPr>
          <p:cNvPr id="14" name="Text 12"/>
          <p:cNvSpPr/>
          <p:nvPr/>
        </p:nvSpPr>
        <p:spPr>
          <a:xfrm>
            <a:off x="2798064" y="4663440"/>
            <a:ext cx="2084832" cy="320040"/>
          </a:xfrm>
          <a:prstGeom prst="rect">
            <a:avLst/>
          </a:prstGeom>
          <a:noFill/>
          <a:ln/>
        </p:spPr>
        <p:txBody>
          <a:bodyPr wrap="square" lIns="0" tIns="0" rIns="0" bIns="0" rtlCol="0" anchor="ctr"/>
          <a:lstStyle/>
          <a:p>
            <a:pPr marL="0" indent="0">
              <a:buNone/>
            </a:pPr>
            <a:r>
              <a:rPr lang="en-US" sz="900" i="1" dirty="0">
                <a:solidFill>
                  <a:srgbClr val="8A8FA3"/>
                </a:solidFill>
                <a:latin typeface="Consolas" pitchFamily="34" charset="0"/>
                <a:ea typeface="Consolas" pitchFamily="34" charset="-122"/>
                <a:cs typeface="Consolas" pitchFamily="34" charset="-120"/>
              </a:rPr>
              <a:t>ft_engineering.py</a:t>
            </a:r>
            <a:endParaRPr lang="en-US" sz="900" dirty="0"/>
          </a:p>
        </p:txBody>
      </p:sp>
      <p:sp>
        <p:nvSpPr>
          <p:cNvPr id="15" name="Shape 13"/>
          <p:cNvSpPr/>
          <p:nvPr/>
        </p:nvSpPr>
        <p:spPr>
          <a:xfrm>
            <a:off x="4901184" y="2167128"/>
            <a:ext cx="128016" cy="0"/>
          </a:xfrm>
          <a:prstGeom prst="line">
            <a:avLst/>
          </a:prstGeom>
          <a:noFill/>
          <a:ln w="25400">
            <a:solidFill>
              <a:srgbClr val="CADCFC"/>
            </a:solidFill>
            <a:prstDash val="solid"/>
          </a:ln>
        </p:spPr>
        <p:txBody>
          <a:bodyPr/>
          <a:lstStyle/>
          <a:p>
            <a:endParaRPr lang="es-CO"/>
          </a:p>
        </p:txBody>
      </p:sp>
      <p:sp>
        <p:nvSpPr>
          <p:cNvPr id="16" name="Shape 14"/>
          <p:cNvSpPr/>
          <p:nvPr/>
        </p:nvSpPr>
        <p:spPr>
          <a:xfrm>
            <a:off x="5047488" y="1920240"/>
            <a:ext cx="502920" cy="502920"/>
          </a:xfrm>
          <a:prstGeom prst="ellipse">
            <a:avLst/>
          </a:prstGeom>
          <a:solidFill>
            <a:srgbClr val="1E2761"/>
          </a:solidFill>
          <a:ln/>
        </p:spPr>
        <p:txBody>
          <a:bodyPr/>
          <a:lstStyle/>
          <a:p>
            <a:endParaRPr lang="es-CO"/>
          </a:p>
        </p:txBody>
      </p:sp>
      <p:sp>
        <p:nvSpPr>
          <p:cNvPr id="17" name="Text 15"/>
          <p:cNvSpPr/>
          <p:nvPr/>
        </p:nvSpPr>
        <p:spPr>
          <a:xfrm>
            <a:off x="5047488" y="1920240"/>
            <a:ext cx="502920" cy="502920"/>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8" name="Text 16"/>
          <p:cNvSpPr/>
          <p:nvPr/>
        </p:nvSpPr>
        <p:spPr>
          <a:xfrm>
            <a:off x="5047488" y="2578608"/>
            <a:ext cx="2084832" cy="640080"/>
          </a:xfrm>
          <a:prstGeom prst="rect">
            <a:avLst/>
          </a:prstGeom>
          <a:noFill/>
          <a:ln/>
        </p:spPr>
        <p:txBody>
          <a:bodyPr wrap="square" lIns="0" tIns="0" rIns="0" bIns="0" rtlCol="0" anchor="t"/>
          <a:lstStyle/>
          <a:p>
            <a:pPr marL="0" indent="0">
              <a:buNone/>
            </a:pPr>
            <a:r>
              <a:rPr lang="en-US" sz="1300" b="1" dirty="0">
                <a:solidFill>
                  <a:srgbClr val="1E2761"/>
                </a:solidFill>
                <a:latin typeface="Calibri" pitchFamily="34" charset="0"/>
                <a:ea typeface="Calibri" pitchFamily="34" charset="-122"/>
                <a:cs typeface="Calibri" pitchFamily="34" charset="-120"/>
              </a:rPr>
              <a:t>Modelado predictivo</a:t>
            </a:r>
            <a:endParaRPr lang="en-US" sz="1300" dirty="0"/>
          </a:p>
        </p:txBody>
      </p:sp>
      <p:sp>
        <p:nvSpPr>
          <p:cNvPr id="19" name="Text 17"/>
          <p:cNvSpPr/>
          <p:nvPr/>
        </p:nvSpPr>
        <p:spPr>
          <a:xfrm>
            <a:off x="5047488" y="3200400"/>
            <a:ext cx="2084832" cy="1417320"/>
          </a:xfrm>
          <a:prstGeom prst="rect">
            <a:avLst/>
          </a:prstGeom>
          <a:noFill/>
          <a:ln/>
        </p:spPr>
        <p:txBody>
          <a:bodyPr wrap="square" lIns="0" tIns="0" rIns="0" bIns="0" rtlCol="0" anchor="t"/>
          <a:lstStyle/>
          <a:p>
            <a:pPr marL="0" indent="0">
              <a:lnSpc>
                <a:spcPct val="115000"/>
              </a:lnSpc>
              <a:buNone/>
            </a:pPr>
            <a:r>
              <a:rPr lang="en-US" sz="1000" dirty="0">
                <a:solidFill>
                  <a:srgbClr val="5A5F73"/>
                </a:solidFill>
                <a:latin typeface="Calibri" pitchFamily="34" charset="0"/>
                <a:ea typeface="Calibri" pitchFamily="34" charset="-122"/>
                <a:cs typeface="Calibri" pitchFamily="34" charset="-120"/>
              </a:rPr>
              <a:t>Manejo del desbalance (20:1), métricas recall/F1/AUC-PR</a:t>
            </a:r>
            <a:endParaRPr lang="en-US" sz="1000" dirty="0"/>
          </a:p>
        </p:txBody>
      </p:sp>
      <p:sp>
        <p:nvSpPr>
          <p:cNvPr id="20" name="Text 18"/>
          <p:cNvSpPr/>
          <p:nvPr/>
        </p:nvSpPr>
        <p:spPr>
          <a:xfrm>
            <a:off x="5047488" y="4663440"/>
            <a:ext cx="2084832" cy="320040"/>
          </a:xfrm>
          <a:prstGeom prst="rect">
            <a:avLst/>
          </a:prstGeom>
          <a:noFill/>
          <a:ln/>
        </p:spPr>
        <p:txBody>
          <a:bodyPr wrap="square" lIns="0" tIns="0" rIns="0" bIns="0" rtlCol="0" anchor="ctr"/>
          <a:lstStyle/>
          <a:p>
            <a:pPr marL="0" indent="0">
              <a:buNone/>
            </a:pPr>
            <a:r>
              <a:rPr lang="en-US" sz="900" i="1" dirty="0">
                <a:solidFill>
                  <a:srgbClr val="8A8FA3"/>
                </a:solidFill>
                <a:latin typeface="Consolas" pitchFamily="34" charset="0"/>
                <a:ea typeface="Consolas" pitchFamily="34" charset="-122"/>
                <a:cs typeface="Consolas" pitchFamily="34" charset="-120"/>
              </a:rPr>
              <a:t>model_training_evaluation.py</a:t>
            </a:r>
            <a:endParaRPr lang="en-US" sz="900" dirty="0"/>
          </a:p>
        </p:txBody>
      </p:sp>
      <p:sp>
        <p:nvSpPr>
          <p:cNvPr id="21" name="Shape 19"/>
          <p:cNvSpPr/>
          <p:nvPr/>
        </p:nvSpPr>
        <p:spPr>
          <a:xfrm>
            <a:off x="7150608" y="2167128"/>
            <a:ext cx="128016" cy="0"/>
          </a:xfrm>
          <a:prstGeom prst="line">
            <a:avLst/>
          </a:prstGeom>
          <a:noFill/>
          <a:ln w="25400">
            <a:solidFill>
              <a:srgbClr val="CADCFC"/>
            </a:solidFill>
            <a:prstDash val="solid"/>
          </a:ln>
        </p:spPr>
        <p:txBody>
          <a:bodyPr/>
          <a:lstStyle/>
          <a:p>
            <a:endParaRPr lang="es-CO"/>
          </a:p>
        </p:txBody>
      </p:sp>
      <p:sp>
        <p:nvSpPr>
          <p:cNvPr id="22" name="Shape 20"/>
          <p:cNvSpPr/>
          <p:nvPr/>
        </p:nvSpPr>
        <p:spPr>
          <a:xfrm>
            <a:off x="7296912" y="1920240"/>
            <a:ext cx="502920" cy="502920"/>
          </a:xfrm>
          <a:prstGeom prst="ellipse">
            <a:avLst/>
          </a:prstGeom>
          <a:solidFill>
            <a:srgbClr val="1E2761"/>
          </a:solidFill>
          <a:ln/>
        </p:spPr>
        <p:txBody>
          <a:bodyPr/>
          <a:lstStyle/>
          <a:p>
            <a:endParaRPr lang="es-CO"/>
          </a:p>
        </p:txBody>
      </p:sp>
      <p:sp>
        <p:nvSpPr>
          <p:cNvPr id="23" name="Text 21"/>
          <p:cNvSpPr/>
          <p:nvPr/>
        </p:nvSpPr>
        <p:spPr>
          <a:xfrm>
            <a:off x="7296912" y="1920240"/>
            <a:ext cx="502920" cy="502920"/>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24" name="Text 22"/>
          <p:cNvSpPr/>
          <p:nvPr/>
        </p:nvSpPr>
        <p:spPr>
          <a:xfrm>
            <a:off x="7296912" y="2578608"/>
            <a:ext cx="2084832" cy="640080"/>
          </a:xfrm>
          <a:prstGeom prst="rect">
            <a:avLst/>
          </a:prstGeom>
          <a:noFill/>
          <a:ln/>
        </p:spPr>
        <p:txBody>
          <a:bodyPr wrap="square" lIns="0" tIns="0" rIns="0" bIns="0" rtlCol="0" anchor="t"/>
          <a:lstStyle/>
          <a:p>
            <a:pPr marL="0" indent="0">
              <a:buNone/>
            </a:pPr>
            <a:r>
              <a:rPr lang="en-US" sz="1300" b="1" dirty="0">
                <a:solidFill>
                  <a:srgbClr val="1E2761"/>
                </a:solidFill>
                <a:latin typeface="Calibri" pitchFamily="34" charset="0"/>
                <a:ea typeface="Calibri" pitchFamily="34" charset="-122"/>
                <a:cs typeface="Calibri" pitchFamily="34" charset="-120"/>
              </a:rPr>
              <a:t>Despliegue</a:t>
            </a:r>
            <a:endParaRPr lang="en-US" sz="1300" dirty="0"/>
          </a:p>
        </p:txBody>
      </p:sp>
      <p:sp>
        <p:nvSpPr>
          <p:cNvPr id="25" name="Text 23"/>
          <p:cNvSpPr/>
          <p:nvPr/>
        </p:nvSpPr>
        <p:spPr>
          <a:xfrm>
            <a:off x="7296912" y="3200400"/>
            <a:ext cx="2084832" cy="1417320"/>
          </a:xfrm>
          <a:prstGeom prst="rect">
            <a:avLst/>
          </a:prstGeom>
          <a:noFill/>
          <a:ln/>
        </p:spPr>
        <p:txBody>
          <a:bodyPr wrap="square" lIns="0" tIns="0" rIns="0" bIns="0" rtlCol="0" anchor="t"/>
          <a:lstStyle/>
          <a:p>
            <a:pPr marL="0" indent="0">
              <a:lnSpc>
                <a:spcPct val="115000"/>
              </a:lnSpc>
              <a:buNone/>
            </a:pPr>
            <a:r>
              <a:rPr lang="en-US" sz="1000" dirty="0">
                <a:solidFill>
                  <a:srgbClr val="5A5F73"/>
                </a:solidFill>
                <a:latin typeface="Calibri" pitchFamily="34" charset="0"/>
                <a:ea typeface="Calibri" pitchFamily="34" charset="-122"/>
                <a:cs typeface="Calibri" pitchFamily="34" charset="-120"/>
              </a:rPr>
              <a:t>Poner el modelo en producción</a:t>
            </a:r>
            <a:endParaRPr lang="en-US" sz="1000" dirty="0"/>
          </a:p>
        </p:txBody>
      </p:sp>
      <p:sp>
        <p:nvSpPr>
          <p:cNvPr id="26" name="Text 24"/>
          <p:cNvSpPr/>
          <p:nvPr/>
        </p:nvSpPr>
        <p:spPr>
          <a:xfrm>
            <a:off x="7296912" y="4663440"/>
            <a:ext cx="2084832" cy="320040"/>
          </a:xfrm>
          <a:prstGeom prst="rect">
            <a:avLst/>
          </a:prstGeom>
          <a:noFill/>
          <a:ln/>
        </p:spPr>
        <p:txBody>
          <a:bodyPr wrap="square" lIns="0" tIns="0" rIns="0" bIns="0" rtlCol="0" anchor="ctr"/>
          <a:lstStyle/>
          <a:p>
            <a:pPr marL="0" indent="0">
              <a:buNone/>
            </a:pPr>
            <a:r>
              <a:rPr lang="en-US" sz="900" i="1" dirty="0">
                <a:solidFill>
                  <a:srgbClr val="8A8FA3"/>
                </a:solidFill>
                <a:latin typeface="Consolas" pitchFamily="34" charset="0"/>
                <a:ea typeface="Consolas" pitchFamily="34" charset="-122"/>
                <a:cs typeface="Consolas" pitchFamily="34" charset="-120"/>
              </a:rPr>
              <a:t>model_deploy.py</a:t>
            </a:r>
            <a:endParaRPr lang="en-US" sz="900" dirty="0"/>
          </a:p>
        </p:txBody>
      </p:sp>
      <p:sp>
        <p:nvSpPr>
          <p:cNvPr id="27" name="Shape 25"/>
          <p:cNvSpPr/>
          <p:nvPr/>
        </p:nvSpPr>
        <p:spPr>
          <a:xfrm>
            <a:off x="9400032" y="2167128"/>
            <a:ext cx="128016" cy="0"/>
          </a:xfrm>
          <a:prstGeom prst="line">
            <a:avLst/>
          </a:prstGeom>
          <a:noFill/>
          <a:ln w="25400">
            <a:solidFill>
              <a:srgbClr val="CADCFC"/>
            </a:solidFill>
            <a:prstDash val="solid"/>
          </a:ln>
        </p:spPr>
        <p:txBody>
          <a:bodyPr/>
          <a:lstStyle/>
          <a:p>
            <a:endParaRPr lang="es-CO"/>
          </a:p>
        </p:txBody>
      </p:sp>
      <p:sp>
        <p:nvSpPr>
          <p:cNvPr id="28" name="Shape 26"/>
          <p:cNvSpPr/>
          <p:nvPr/>
        </p:nvSpPr>
        <p:spPr>
          <a:xfrm>
            <a:off x="9546336" y="1920240"/>
            <a:ext cx="502920" cy="502920"/>
          </a:xfrm>
          <a:prstGeom prst="ellipse">
            <a:avLst/>
          </a:prstGeom>
          <a:solidFill>
            <a:srgbClr val="1E2761"/>
          </a:solidFill>
          <a:ln/>
        </p:spPr>
        <p:txBody>
          <a:bodyPr/>
          <a:lstStyle/>
          <a:p>
            <a:endParaRPr lang="es-CO"/>
          </a:p>
        </p:txBody>
      </p:sp>
      <p:sp>
        <p:nvSpPr>
          <p:cNvPr id="29" name="Text 27"/>
          <p:cNvSpPr/>
          <p:nvPr/>
        </p:nvSpPr>
        <p:spPr>
          <a:xfrm>
            <a:off x="9546336" y="1920240"/>
            <a:ext cx="502920" cy="502920"/>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5</a:t>
            </a:r>
            <a:endParaRPr lang="en-US" sz="2000" dirty="0"/>
          </a:p>
        </p:txBody>
      </p:sp>
      <p:sp>
        <p:nvSpPr>
          <p:cNvPr id="30" name="Text 28"/>
          <p:cNvSpPr/>
          <p:nvPr/>
        </p:nvSpPr>
        <p:spPr>
          <a:xfrm>
            <a:off x="9546336" y="2578608"/>
            <a:ext cx="2084832" cy="640080"/>
          </a:xfrm>
          <a:prstGeom prst="rect">
            <a:avLst/>
          </a:prstGeom>
          <a:noFill/>
          <a:ln/>
        </p:spPr>
        <p:txBody>
          <a:bodyPr wrap="square" lIns="0" tIns="0" rIns="0" bIns="0" rtlCol="0" anchor="t"/>
          <a:lstStyle/>
          <a:p>
            <a:pPr marL="0" indent="0">
              <a:buNone/>
            </a:pPr>
            <a:r>
              <a:rPr lang="en-US" sz="1300" b="1" dirty="0">
                <a:solidFill>
                  <a:srgbClr val="1E2761"/>
                </a:solidFill>
                <a:latin typeface="Calibri" pitchFamily="34" charset="0"/>
                <a:ea typeface="Calibri" pitchFamily="34" charset="-122"/>
                <a:cs typeface="Calibri" pitchFamily="34" charset="-120"/>
              </a:rPr>
              <a:t>Monitoreo</a:t>
            </a:r>
            <a:endParaRPr lang="en-US" sz="1300" dirty="0"/>
          </a:p>
        </p:txBody>
      </p:sp>
      <p:sp>
        <p:nvSpPr>
          <p:cNvPr id="31" name="Text 29"/>
          <p:cNvSpPr/>
          <p:nvPr/>
        </p:nvSpPr>
        <p:spPr>
          <a:xfrm>
            <a:off x="9546336" y="3200400"/>
            <a:ext cx="2084832" cy="1417320"/>
          </a:xfrm>
          <a:prstGeom prst="rect">
            <a:avLst/>
          </a:prstGeom>
          <a:noFill/>
          <a:ln/>
        </p:spPr>
        <p:txBody>
          <a:bodyPr wrap="square" lIns="0" tIns="0" rIns="0" bIns="0" rtlCol="0" anchor="t"/>
          <a:lstStyle/>
          <a:p>
            <a:pPr marL="0" indent="0">
              <a:lnSpc>
                <a:spcPct val="115000"/>
              </a:lnSpc>
              <a:buNone/>
            </a:pPr>
            <a:r>
              <a:rPr lang="en-US" sz="1000" dirty="0">
                <a:solidFill>
                  <a:srgbClr val="5A5F73"/>
                </a:solidFill>
                <a:latin typeface="Calibri" pitchFamily="34" charset="0"/>
                <a:ea typeface="Calibri" pitchFamily="34" charset="-122"/>
                <a:cs typeface="Calibri" pitchFamily="34" charset="-120"/>
              </a:rPr>
              <a:t>Vigilar el desempeño del modelo en el tiempo</a:t>
            </a:r>
            <a:endParaRPr lang="en-US" sz="1000" dirty="0"/>
          </a:p>
        </p:txBody>
      </p:sp>
      <p:sp>
        <p:nvSpPr>
          <p:cNvPr id="32" name="Text 30"/>
          <p:cNvSpPr/>
          <p:nvPr/>
        </p:nvSpPr>
        <p:spPr>
          <a:xfrm>
            <a:off x="9546336" y="4663440"/>
            <a:ext cx="2084832" cy="320040"/>
          </a:xfrm>
          <a:prstGeom prst="rect">
            <a:avLst/>
          </a:prstGeom>
          <a:noFill/>
          <a:ln/>
        </p:spPr>
        <p:txBody>
          <a:bodyPr wrap="square" lIns="0" tIns="0" rIns="0" bIns="0" rtlCol="0" anchor="ctr"/>
          <a:lstStyle/>
          <a:p>
            <a:pPr marL="0" indent="0">
              <a:buNone/>
            </a:pPr>
            <a:r>
              <a:rPr lang="en-US" sz="900" i="1" dirty="0">
                <a:solidFill>
                  <a:srgbClr val="8A8FA3"/>
                </a:solidFill>
                <a:latin typeface="Consolas" pitchFamily="34" charset="0"/>
                <a:ea typeface="Consolas" pitchFamily="34" charset="-122"/>
                <a:cs typeface="Consolas" pitchFamily="34" charset="-120"/>
              </a:rPr>
              <a:t>model_monitoring.py</a:t>
            </a:r>
            <a:endParaRPr lang="en-US" sz="900" dirty="0"/>
          </a:p>
        </p:txBody>
      </p:sp>
      <p:sp>
        <p:nvSpPr>
          <p:cNvPr id="34" name="Text 32"/>
          <p:cNvSpPr/>
          <p:nvPr/>
        </p:nvSpPr>
        <p:spPr>
          <a:xfrm>
            <a:off x="457200" y="6446520"/>
            <a:ext cx="5486400" cy="274320"/>
          </a:xfrm>
          <a:prstGeom prst="rect">
            <a:avLst/>
          </a:prstGeom>
          <a:noFill/>
          <a:ln/>
        </p:spPr>
        <p:txBody>
          <a:bodyPr wrap="square" lIns="0" tIns="0" rIns="0" bIns="0" rtlCol="0" anchor="ctr"/>
          <a:lstStyle/>
          <a:p>
            <a:pPr marL="0" indent="0">
              <a:buNone/>
            </a:pPr>
            <a:r>
              <a:rPr lang="en-US" sz="1000" dirty="0">
                <a:solidFill>
                  <a:srgbClr val="8A8FA3"/>
                </a:solidFill>
                <a:latin typeface="Calibri" pitchFamily="34" charset="0"/>
                <a:ea typeface="Calibri" pitchFamily="34" charset="-122"/>
                <a:cs typeface="Calibri" pitchFamily="34" charset="-120"/>
              </a:rPr>
              <a:t>Análisis de Riesgo Crediticio</a:t>
            </a:r>
            <a:endParaRPr lang="en-US" sz="1000" dirty="0"/>
          </a:p>
        </p:txBody>
      </p:sp>
      <p:sp>
        <p:nvSpPr>
          <p:cNvPr id="35" name="Text 33"/>
          <p:cNvSpPr/>
          <p:nvPr/>
        </p:nvSpPr>
        <p:spPr>
          <a:xfrm>
            <a:off x="11247120" y="6446520"/>
            <a:ext cx="457200" cy="274320"/>
          </a:xfrm>
          <a:prstGeom prst="rect">
            <a:avLst/>
          </a:prstGeom>
          <a:noFill/>
          <a:ln/>
        </p:spPr>
        <p:txBody>
          <a:bodyPr wrap="square" lIns="0" tIns="0" rIns="0" bIns="0" rtlCol="0" anchor="ctr"/>
          <a:lstStyle/>
          <a:p>
            <a:pPr marL="0" indent="0" algn="r">
              <a:buNone/>
            </a:pPr>
            <a:r>
              <a:rPr lang="en-US" sz="1000" dirty="0">
                <a:solidFill>
                  <a:srgbClr val="8A8FA3"/>
                </a:solidFill>
                <a:latin typeface="Calibri" pitchFamily="34" charset="0"/>
                <a:ea typeface="Calibri" pitchFamily="34" charset="-122"/>
                <a:cs typeface="Calibri" pitchFamily="34" charset="-120"/>
              </a:rPr>
              <a:t>18</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E2761"/>
        </a:solidFill>
        <a:effectLst/>
      </p:bgPr>
    </p:bg>
    <p:spTree>
      <p:nvGrpSpPr>
        <p:cNvPr id="1" name=""/>
        <p:cNvGrpSpPr/>
        <p:nvPr/>
      </p:nvGrpSpPr>
      <p:grpSpPr>
        <a:xfrm>
          <a:off x="0" y="0"/>
          <a:ext cx="0" cy="0"/>
          <a:chOff x="0" y="0"/>
          <a:chExt cx="0" cy="0"/>
        </a:xfrm>
      </p:grpSpPr>
      <p:sp>
        <p:nvSpPr>
          <p:cNvPr id="2" name="Text 0"/>
          <p:cNvSpPr/>
          <p:nvPr/>
        </p:nvSpPr>
        <p:spPr>
          <a:xfrm>
            <a:off x="822960" y="2468880"/>
            <a:ext cx="10515600" cy="1188720"/>
          </a:xfrm>
          <a:prstGeom prst="rect">
            <a:avLst/>
          </a:prstGeom>
          <a:noFill/>
          <a:ln/>
        </p:spPr>
        <p:txBody>
          <a:bodyPr wrap="square" lIns="0" tIns="0" rIns="0" bIns="0" rtlCol="0" anchor="ctr"/>
          <a:lstStyle/>
          <a:p>
            <a:pPr marL="0" indent="0">
              <a:buNone/>
            </a:pPr>
            <a:r>
              <a:rPr lang="en-US" sz="4800" b="1" dirty="0">
                <a:solidFill>
                  <a:srgbClr val="FFFFFF"/>
                </a:solidFill>
                <a:latin typeface="Cambria" pitchFamily="34" charset="0"/>
                <a:ea typeface="Cambria" pitchFamily="34" charset="-122"/>
                <a:cs typeface="Cambria" pitchFamily="34" charset="-120"/>
              </a:rPr>
              <a:t>Gracias</a:t>
            </a:r>
            <a:endParaRPr lang="en-US" sz="4800" dirty="0"/>
          </a:p>
        </p:txBody>
      </p:sp>
      <p:sp>
        <p:nvSpPr>
          <p:cNvPr id="3" name="Text 1"/>
          <p:cNvSpPr/>
          <p:nvPr/>
        </p:nvSpPr>
        <p:spPr>
          <a:xfrm>
            <a:off x="822960" y="3429000"/>
            <a:ext cx="10515600" cy="548640"/>
          </a:xfrm>
          <a:prstGeom prst="rect">
            <a:avLst/>
          </a:prstGeom>
          <a:noFill/>
          <a:ln/>
        </p:spPr>
        <p:txBody>
          <a:bodyPr wrap="square" lIns="0" tIns="0" rIns="0" bIns="0" rtlCol="0" anchor="ctr"/>
          <a:lstStyle/>
          <a:p>
            <a:pPr marL="0" indent="0">
              <a:buNone/>
            </a:pPr>
            <a:r>
              <a:rPr lang="en-US" sz="1800" i="1" dirty="0">
                <a:solidFill>
                  <a:srgbClr val="CADCFC"/>
                </a:solidFill>
                <a:latin typeface="Calibri" pitchFamily="34" charset="0"/>
                <a:ea typeface="Calibri" pitchFamily="34" charset="-122"/>
                <a:cs typeface="Calibri" pitchFamily="34" charset="-120"/>
              </a:rPr>
              <a:t>Preguntas y discusión</a:t>
            </a:r>
            <a:endParaRPr lang="en-US" sz="1800" dirty="0"/>
          </a:p>
        </p:txBody>
      </p:sp>
      <p:sp>
        <p:nvSpPr>
          <p:cNvPr id="4" name="Shape 2"/>
          <p:cNvSpPr/>
          <p:nvPr/>
        </p:nvSpPr>
        <p:spPr>
          <a:xfrm>
            <a:off x="822960" y="4114800"/>
            <a:ext cx="2011680" cy="0"/>
          </a:xfrm>
          <a:prstGeom prst="line">
            <a:avLst/>
          </a:prstGeom>
          <a:noFill/>
          <a:ln w="38100">
            <a:solidFill>
              <a:srgbClr val="B33A3A"/>
            </a:solidFill>
            <a:prstDash val="solid"/>
          </a:ln>
        </p:spPr>
        <p:txBody>
          <a:bodyPr/>
          <a:lstStyle/>
          <a:p>
            <a:endParaRPr lang="es-CO"/>
          </a:p>
        </p:txBody>
      </p:sp>
      <p:sp>
        <p:nvSpPr>
          <p:cNvPr id="5" name="Text 3"/>
          <p:cNvSpPr/>
          <p:nvPr/>
        </p:nvSpPr>
        <p:spPr>
          <a:xfrm>
            <a:off x="822960" y="5989320"/>
            <a:ext cx="8229600" cy="365760"/>
          </a:xfrm>
          <a:prstGeom prst="rect">
            <a:avLst/>
          </a:prstGeom>
          <a:noFill/>
          <a:ln/>
        </p:spPr>
        <p:txBody>
          <a:bodyPr wrap="square" lIns="0" tIns="0" rIns="0" bIns="0" rtlCol="0" anchor="ctr"/>
          <a:lstStyle/>
          <a:p>
            <a:pPr marL="0" indent="0">
              <a:buNone/>
            </a:pPr>
            <a:r>
              <a:rPr lang="en-US" sz="1200" dirty="0">
                <a:solidFill>
                  <a:srgbClr val="CADCFC"/>
                </a:solidFill>
                <a:latin typeface="Calibri" pitchFamily="34" charset="0"/>
                <a:ea typeface="Calibri" pitchFamily="34" charset="-122"/>
                <a:cs typeface="Calibri" pitchFamily="34" charset="-120"/>
              </a:rPr>
              <a:t>Repositorio: github.com/papiarcacamilo/MLOPS_CURSE</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TotalTime>
  <Words>2470</Words>
  <Application>Microsoft Office PowerPoint</Application>
  <PresentationFormat>Panorámica</PresentationFormat>
  <Paragraphs>329</Paragraphs>
  <Slides>19</Slides>
  <Notes>19</Notes>
  <HiddenSlides>0</HiddenSlides>
  <MMClips>0</MMClips>
  <ScaleCrop>false</ScaleCrop>
  <HeadingPairs>
    <vt:vector size="6" baseType="variant">
      <vt:variant>
        <vt:lpstr>Fuentes usadas</vt:lpstr>
      </vt:variant>
      <vt:variant>
        <vt:i4>4</vt:i4>
      </vt:variant>
      <vt:variant>
        <vt:lpstr>Tema</vt:lpstr>
      </vt:variant>
      <vt:variant>
        <vt:i4>1</vt:i4>
      </vt:variant>
      <vt:variant>
        <vt:lpstr>Títulos de diapositiva</vt:lpstr>
      </vt:variant>
      <vt:variant>
        <vt:i4>19</vt:i4>
      </vt:variant>
    </vt:vector>
  </HeadingPairs>
  <TitlesOfParts>
    <vt:vector size="24" baseType="lpstr">
      <vt:lpstr>Arial</vt:lpstr>
      <vt:lpstr>Calibri</vt:lpstr>
      <vt:lpstr>Cambria</vt:lpstr>
      <vt:lpstr>Consolas</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Camilo Andres Armenta Pedrozo</cp:lastModifiedBy>
  <cp:revision>2</cp:revision>
  <dcterms:created xsi:type="dcterms:W3CDTF">2026-08-23T23:01:48Z</dcterms:created>
  <dcterms:modified xsi:type="dcterms:W3CDTF">2026-08-23T23:06:46Z</dcterms:modified>
</cp:coreProperties>
</file>