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charts/chart4.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5.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Distribución de Pago_atiempo (%)</a:t>
            </a:r>
          </a:p>
        </c:rich>
      </c:tx>
      <c:overlay val="0"/>
    </c:title>
    <c:autoTitleDeleted val="0"/>
    <c:plotArea>
      <c:layout/>
      <c:pieChart>
        <c:varyColors val="1"/>
        <c:ser>
          <c:idx val="0"/>
          <c:order val="0"/>
          <c:tx>
            <c:strRef>
              <c:f>Sheet1!$B$1</c:f>
              <c:strCache>
                <c:ptCount val="1"/>
                <c:pt idx="0">
                  <c:v>Pago_atiempo</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D9A9-43B9-99B2-1E42F13B03AE}"/>
              </c:ext>
            </c:extLst>
          </c:dPt>
          <c:dPt>
            <c:idx val="1"/>
            <c:bubble3D val="0"/>
            <c:spPr>
              <a:solidFill>
                <a:srgbClr val="B33A3A"/>
              </a:solidFill>
              <a:effectLst/>
            </c:spPr>
            <c:extLst>
              <c:ext xmlns:c16="http://schemas.microsoft.com/office/drawing/2014/chart" uri="{C3380CC4-5D6E-409C-BE32-E72D297353CC}">
                <c16:uniqueId val="{00000003-D9A9-43B9-99B2-1E42F13B03AE}"/>
              </c:ext>
            </c:extLst>
          </c:dPt>
          <c:dLbls>
            <c:dLbl>
              <c:idx val="0"/>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9A9-43B9-99B2-1E42F13B03AE}"/>
                </c:ext>
              </c:extLst>
            </c:dLbl>
            <c:dLbl>
              <c:idx val="1"/>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9A9-43B9-99B2-1E42F13B03AE}"/>
                </c:ext>
              </c:extLst>
            </c:dLbl>
            <c:numFmt formatCode="0.0&quot;%&quot;" sourceLinked="0"/>
            <c:spPr>
              <a:noFill/>
              <a:ln>
                <a:noFill/>
              </a:ln>
              <a:effectLst/>
            </c:spPr>
            <c:txPr>
              <a:bodyPr/>
              <a:lstStyle/>
              <a:p>
                <a:pPr>
                  <a:defRPr sz="1800" b="0" i="0" u="none" strike="noStrike">
                    <a:solidFill>
                      <a:srgbClr val="000000"/>
                    </a:solidFill>
                    <a:latin typeface="Arial"/>
                  </a:defRPr>
                </a:pPr>
                <a:endParaRPr lang="es-CO"/>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Al día</c:v>
                </c:pt>
                <c:pt idx="1">
                  <c:v>En mora</c:v>
                </c:pt>
              </c:strCache>
            </c:strRef>
          </c:cat>
          <c:val>
            <c:numRef>
              <c:f>Sheet1!$B$2:$B$3</c:f>
              <c:numCache>
                <c:formatCode>General</c:formatCode>
                <c:ptCount val="2"/>
                <c:pt idx="0">
                  <c:v>95.25</c:v>
                </c:pt>
                <c:pt idx="1">
                  <c:v>4.75</c:v>
                </c:pt>
              </c:numCache>
            </c:numRef>
          </c:val>
          <c:extLst>
            <c:ext xmlns:c16="http://schemas.microsoft.com/office/drawing/2014/chart" uri="{C3380CC4-5D6E-409C-BE32-E72D297353CC}">
              <c16:uniqueId val="{00000004-D9A9-43B9-99B2-1E42F13B03AE}"/>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6CFE-44F6-8626-33ADD0173059}"/>
              </c:ext>
            </c:extLst>
          </c:dPt>
          <c:dPt>
            <c:idx val="1"/>
            <c:invertIfNegative val="0"/>
            <c:bubble3D val="0"/>
            <c:spPr>
              <a:solidFill>
                <a:srgbClr val="B33A3A"/>
              </a:solidFill>
              <a:effectLst/>
            </c:spPr>
            <c:extLst>
              <c:ext xmlns:c16="http://schemas.microsoft.com/office/drawing/2014/chart" uri="{C3380CC4-5D6E-409C-BE32-E72D297353CC}">
                <c16:uniqueId val="{00000003-6CFE-44F6-8626-33ADD0173059}"/>
              </c:ext>
            </c:extLst>
          </c:dPt>
          <c:dLbls>
            <c:numFmt formatCode="0.0&quot;%&quot;" sourceLinked="0"/>
            <c:spPr>
              <a:noFill/>
              <a:ln>
                <a:noFill/>
              </a:ln>
              <a:effectLst/>
            </c:spPr>
            <c:txPr>
              <a:bodyPr/>
              <a:lstStyle/>
              <a:p>
                <a:pPr>
                  <a:defRPr sz="14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Sin mora previa
(10,708 clientes)</c:v>
                </c:pt>
                <c:pt idx="1">
                  <c:v>Con mora previa
(55 clientes)</c:v>
                </c:pt>
              </c:strCache>
            </c:strRef>
          </c:cat>
          <c:val>
            <c:numRef>
              <c:f>Sheet1!$B$2:$B$3</c:f>
              <c:numCache>
                <c:formatCode>General</c:formatCode>
                <c:ptCount val="2"/>
                <c:pt idx="0">
                  <c:v>4.59</c:v>
                </c:pt>
                <c:pt idx="1">
                  <c:v>36.36</c:v>
                </c:pt>
              </c:numCache>
            </c:numRef>
          </c:val>
          <c:extLst>
            <c:ext xmlns:c16="http://schemas.microsoft.com/office/drawing/2014/chart" uri="{C3380CC4-5D6E-409C-BE32-E72D297353CC}">
              <c16:uniqueId val="{00000004-6CFE-44F6-8626-33ADD017305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max val="42"/>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Tasa de mora por tipo de crédito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39F2-4A5A-92F3-5EC0E0FFBEAC}"/>
              </c:ext>
            </c:extLst>
          </c:dPt>
          <c:dPt>
            <c:idx val="1"/>
            <c:invertIfNegative val="0"/>
            <c:bubble3D val="0"/>
            <c:spPr>
              <a:solidFill>
                <a:srgbClr val="1E2761"/>
              </a:solidFill>
              <a:effectLst/>
            </c:spPr>
            <c:extLst>
              <c:ext xmlns:c16="http://schemas.microsoft.com/office/drawing/2014/chart" uri="{C3380CC4-5D6E-409C-BE32-E72D297353CC}">
                <c16:uniqueId val="{00000003-39F2-4A5A-92F3-5EC0E0FFBEAC}"/>
              </c:ext>
            </c:extLst>
          </c:dPt>
          <c:dPt>
            <c:idx val="2"/>
            <c:invertIfNegative val="0"/>
            <c:bubble3D val="0"/>
            <c:spPr>
              <a:solidFill>
                <a:srgbClr val="1E2761"/>
              </a:solidFill>
              <a:effectLst/>
            </c:spPr>
            <c:extLst>
              <c:ext xmlns:c16="http://schemas.microsoft.com/office/drawing/2014/chart" uri="{C3380CC4-5D6E-409C-BE32-E72D297353CC}">
                <c16:uniqueId val="{00000005-39F2-4A5A-92F3-5EC0E0FFBEAC}"/>
              </c:ext>
            </c:extLst>
          </c:dPt>
          <c:dPt>
            <c:idx val="3"/>
            <c:invertIfNegative val="0"/>
            <c:bubble3D val="0"/>
            <c:spPr>
              <a:solidFill>
                <a:srgbClr val="1E2761"/>
              </a:solidFill>
              <a:effectLst/>
            </c:spPr>
            <c:extLst>
              <c:ext xmlns:c16="http://schemas.microsoft.com/office/drawing/2014/chart" uri="{C3380CC4-5D6E-409C-BE32-E72D297353CC}">
                <c16:uniqueId val="{00000007-39F2-4A5A-92F3-5EC0E0FFBEAC}"/>
              </c:ext>
            </c:extLst>
          </c:dPt>
          <c:dLbls>
            <c:numFmt formatCode="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Tipo 6
(n=21)</c:v>
                </c:pt>
                <c:pt idx="1">
                  <c:v>Tipo 9
(n=2,876)</c:v>
                </c:pt>
                <c:pt idx="2">
                  <c:v>Tipo 4
(n=7,747)</c:v>
                </c:pt>
                <c:pt idx="3">
                  <c:v>Tipo 10
(n=116)</c:v>
                </c:pt>
              </c:strCache>
            </c:strRef>
          </c:cat>
          <c:val>
            <c:numRef>
              <c:f>Sheet1!$B$2:$B$5</c:f>
              <c:numCache>
                <c:formatCode>General</c:formatCode>
                <c:ptCount val="4"/>
                <c:pt idx="0">
                  <c:v>42.86</c:v>
                </c:pt>
                <c:pt idx="1">
                  <c:v>4.7300000000000004</c:v>
                </c:pt>
                <c:pt idx="2">
                  <c:v>4.6900000000000004</c:v>
                </c:pt>
                <c:pt idx="3">
                  <c:v>2.59</c:v>
                </c:pt>
              </c:numCache>
            </c:numRef>
          </c:val>
          <c:extLst>
            <c:ext xmlns:c16="http://schemas.microsoft.com/office/drawing/2014/chart" uri="{C3380CC4-5D6E-409C-BE32-E72D297353CC}">
              <c16:uniqueId val="{00000008-39F2-4A5A-92F3-5EC0E0FFBEA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Correlación absoluta con Pago_atiempo</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8CAB-4BDD-A07D-7DD100802456}"/>
              </c:ext>
            </c:extLst>
          </c:dPt>
          <c:dPt>
            <c:idx val="1"/>
            <c:invertIfNegative val="0"/>
            <c:bubble3D val="0"/>
            <c:extLst>
              <c:ext xmlns:c16="http://schemas.microsoft.com/office/drawing/2014/chart" uri="{C3380CC4-5D6E-409C-BE32-E72D297353CC}">
                <c16:uniqueId val="{00000003-8CAB-4BDD-A07D-7DD100802456}"/>
              </c:ext>
            </c:extLst>
          </c:dPt>
          <c:dPt>
            <c:idx val="2"/>
            <c:invertIfNegative val="0"/>
            <c:bubble3D val="0"/>
            <c:extLst>
              <c:ext xmlns:c16="http://schemas.microsoft.com/office/drawing/2014/chart" uri="{C3380CC4-5D6E-409C-BE32-E72D297353CC}">
                <c16:uniqueId val="{00000005-8CAB-4BDD-A07D-7DD100802456}"/>
              </c:ext>
            </c:extLst>
          </c:dPt>
          <c:dPt>
            <c:idx val="3"/>
            <c:invertIfNegative val="0"/>
            <c:bubble3D val="0"/>
            <c:spPr>
              <a:solidFill>
                <a:srgbClr val="1E2761"/>
              </a:solidFill>
              <a:effectLst/>
            </c:spPr>
            <c:extLst>
              <c:ext xmlns:c16="http://schemas.microsoft.com/office/drawing/2014/chart" uri="{C3380CC4-5D6E-409C-BE32-E72D297353CC}">
                <c16:uniqueId val="{00000007-8CAB-4BDD-A07D-7DD100802456}"/>
              </c:ext>
            </c:extLst>
          </c:dPt>
          <c:dPt>
            <c:idx val="4"/>
            <c:invertIfNegative val="0"/>
            <c:bubble3D val="0"/>
            <c:spPr>
              <a:solidFill>
                <a:srgbClr val="1E2761"/>
              </a:solidFill>
              <a:effectLst/>
            </c:spPr>
            <c:extLst>
              <c:ext xmlns:c16="http://schemas.microsoft.com/office/drawing/2014/chart" uri="{C3380CC4-5D6E-409C-BE32-E72D297353CC}">
                <c16:uniqueId val="{00000009-8CAB-4BDD-A07D-7DD100802456}"/>
              </c:ext>
            </c:extLst>
          </c:dPt>
          <c:dPt>
            <c:idx val="5"/>
            <c:invertIfNegative val="0"/>
            <c:bubble3D val="0"/>
            <c:spPr>
              <a:solidFill>
                <a:srgbClr val="1E2761"/>
              </a:solidFill>
              <a:effectLst/>
            </c:spPr>
            <c:extLst>
              <c:ext xmlns:c16="http://schemas.microsoft.com/office/drawing/2014/chart" uri="{C3380CC4-5D6E-409C-BE32-E72D297353CC}">
                <c16:uniqueId val="{0000000B-8CAB-4BDD-A07D-7DD100802456}"/>
              </c:ext>
            </c:extLst>
          </c:dPt>
          <c:dPt>
            <c:idx val="6"/>
            <c:invertIfNegative val="0"/>
            <c:bubble3D val="0"/>
            <c:spPr>
              <a:solidFill>
                <a:srgbClr val="1E2761"/>
              </a:solidFill>
              <a:effectLst/>
            </c:spPr>
            <c:extLst>
              <c:ext xmlns:c16="http://schemas.microsoft.com/office/drawing/2014/chart" uri="{C3380CC4-5D6E-409C-BE32-E72D297353CC}">
                <c16:uniqueId val="{0000000D-8CAB-4BDD-A07D-7DD100802456}"/>
              </c:ext>
            </c:extLst>
          </c:dPt>
          <c:dPt>
            <c:idx val="7"/>
            <c:invertIfNegative val="0"/>
            <c:bubble3D val="0"/>
            <c:spPr>
              <a:solidFill>
                <a:srgbClr val="1E2761"/>
              </a:solidFill>
              <a:effectLst/>
            </c:spPr>
            <c:extLst>
              <c:ext xmlns:c16="http://schemas.microsoft.com/office/drawing/2014/chart" uri="{C3380CC4-5D6E-409C-BE32-E72D297353CC}">
                <c16:uniqueId val="{0000000F-8CAB-4BDD-A07D-7DD100802456}"/>
              </c:ext>
            </c:extLst>
          </c:dPt>
          <c:dLbls>
            <c:numFmt formatCode="0.000" sourceLinked="0"/>
            <c:spPr>
              <a:noFill/>
              <a:ln>
                <a:noFill/>
              </a:ln>
              <a:effectLst/>
            </c:spPr>
            <c:txPr>
              <a:bodyPr/>
              <a:lstStyle/>
              <a:p>
                <a:pPr>
                  <a:defRPr sz="105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puntaje_datacredito (depurado)</c:v>
                </c:pt>
                <c:pt idx="1">
                  <c:v>tiene_mora_previa</c:v>
                </c:pt>
                <c:pt idx="2">
                  <c:v>consultas_por_credito</c:v>
                </c:pt>
                <c:pt idx="3">
                  <c:v>huella_consulta</c:v>
                </c:pt>
                <c:pt idx="4">
                  <c:v>saldo_mora</c:v>
                </c:pt>
                <c:pt idx="5">
                  <c:v>plazo_meses</c:v>
                </c:pt>
                <c:pt idx="6">
                  <c:v>edad_cliente</c:v>
                </c:pt>
                <c:pt idx="7">
                  <c:v>capital_prestado</c:v>
                </c:pt>
              </c:strCache>
            </c:strRef>
          </c:cat>
          <c:val>
            <c:numRef>
              <c:f>Sheet1!$B$2:$B$9</c:f>
              <c:numCache>
                <c:formatCode>General</c:formatCode>
                <c:ptCount val="8"/>
                <c:pt idx="0">
                  <c:v>0.121</c:v>
                </c:pt>
                <c:pt idx="1">
                  <c:v>0.107</c:v>
                </c:pt>
                <c:pt idx="2">
                  <c:v>7.6999999999999999E-2</c:v>
                </c:pt>
                <c:pt idx="3">
                  <c:v>7.3999999999999996E-2</c:v>
                </c:pt>
                <c:pt idx="4">
                  <c:v>7.2999999999999995E-2</c:v>
                </c:pt>
                <c:pt idx="5">
                  <c:v>6.3E-2</c:v>
                </c:pt>
                <c:pt idx="6">
                  <c:v>5.1999999999999998E-2</c:v>
                </c:pt>
                <c:pt idx="7">
                  <c:v>4.1000000000000002E-2</c:v>
                </c:pt>
              </c:numCache>
            </c:numRef>
          </c:val>
          <c:extLst>
            <c:ext xmlns:c16="http://schemas.microsoft.com/office/drawing/2014/chart" uri="{C3380CC4-5D6E-409C-BE32-E72D297353CC}">
              <c16:uniqueId val="{00000010-8CAB-4BDD-A07D-7DD10080245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1E2761"/>
                </a:solidFill>
                <a:latin typeface="Calibri"/>
              </a:defRPr>
            </a:pPr>
            <a:r>
              <a:rPr lang="es-CO" sz="1300" b="0" i="0" u="none" strike="noStrike">
                <a:solidFill>
                  <a:srgbClr val="1E2761"/>
                </a:solidFill>
                <a:latin typeface="Calibri"/>
              </a:rPr>
              <a:t>Tasa de mora por tipo laboral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02EC-40B8-A8D6-5D239C87059B}"/>
              </c:ext>
            </c:extLst>
          </c:dPt>
          <c:dPt>
            <c:idx val="1"/>
            <c:invertIfNegative val="0"/>
            <c:bubble3D val="0"/>
            <c:spPr>
              <a:solidFill>
                <a:srgbClr val="5C77B8"/>
              </a:solidFill>
              <a:effectLst/>
            </c:spPr>
            <c:extLst>
              <c:ext xmlns:c16="http://schemas.microsoft.com/office/drawing/2014/chart" uri="{C3380CC4-5D6E-409C-BE32-E72D297353CC}">
                <c16:uniqueId val="{00000003-02EC-40B8-A8D6-5D239C87059B}"/>
              </c:ext>
            </c:extLst>
          </c:dPt>
          <c:dLbls>
            <c:numFmt formatCode="0.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Empleado (n=6,754)</c:v>
                </c:pt>
                <c:pt idx="1">
                  <c:v>Independiente (n=4,009)</c:v>
                </c:pt>
              </c:strCache>
            </c:strRef>
          </c:cat>
          <c:val>
            <c:numRef>
              <c:f>Sheet1!$B$2:$B$3</c:f>
              <c:numCache>
                <c:formatCode>General</c:formatCode>
                <c:ptCount val="2"/>
                <c:pt idx="0">
                  <c:v>4.29</c:v>
                </c:pt>
                <c:pt idx="1">
                  <c:v>5.51</c:v>
                </c:pt>
              </c:numCache>
            </c:numRef>
          </c:val>
          <c:extLst>
            <c:ext xmlns:c16="http://schemas.microsoft.com/office/drawing/2014/chart" uri="{C3380CC4-5D6E-409C-BE32-E72D297353CC}">
              <c16:uniqueId val="{00000004-02EC-40B8-A8D6-5D239C87059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57034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Contexto: soy candidato a Científico de Datos Junior, se me entregó una base de datos de créditos sin diccionario de datos, y el objetivo es presentar los insights más valiosos para el negocio en 15 minutos, dirigidos tanto a un perfil técnico como a un perfil de negocio.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 el análisis en 30 segundos, para quien solo se lleve una idea de la reunión. El resto de la presentación desarrolla cada uno de estos puntos con evidencia.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ejercicio real de EDA: nos entregaron el DataFrame crudo, sin diccionario, así que la primera tarea fue investigar el negocio (central de riesgo Datacrédito) para entender cada variable con criterio propio.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diccionario no es documentación decorativa: definirlo formalmente destapó tres errores metodológicos que estaban en el análisis y produjo dos hallazgos nuevos.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insights principales no cambiaron porque se calcularon con groupby, el método correcto. Lo que falló fueron los análisis numéricos automáticos y las reglas de validación.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Seguimos un flujo estándar de ciencia de datos: primero entender antes de limpiar, y limpiar antes de analizar en profundidad. Cada decisión de limpieza se investigó con evidencia antes de aplicarse.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estas correcciones, cualquier análisis posterior habría partido de datos falsos: edades de 122 años, salarios de miles de millones, y una variable de tendencia de ingresos parcialmente corrupta.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punto es crítico para el equipo técnico: cualquier modelo que se entrene después debe manejar este desbalance explícitamente, y cualquier métrica de éxito debe evitar la exactitud simple.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hallazgo con mayor valor accionable: un cliente que ya está en mora en otro producto tiene casi 8 veces más probabilidad de incumplir este crédito. Recomendación directa: usarlo como criterio de alerta temprana.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líder de negocio: vale la pena preguntar qué representa el tipo de crédito 6 y por qué concentra tanto riesgo, antes de invertir en un modelo — puede ser un problema de política de originación.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para el técnico: esto justifica no intentar reglas de negocio simplistas de una sola variable, y sí invertir en un modelo que capture interacciones entre variables.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 la inversión en feature engineering: construir variables con lógica de negocio (mora previa, intensidad de consultas) rindió más que los ratios financieros tradicionales en este dataset específico.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multivariado usa las técnicas pedidas: matriz de correlación, pairplot con hue, dispersión entre numéricas y tablas cruzadas. No se aplicó reducción de dimensionalidad porque corresponde a la fase de Feature Engineering.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hallazgos secundarios pero útiles: la diferencia laboral es moderada, y la bimodalidad del score sugiere segmentar el análisis por historial crediticio en fases futuras.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importante ser transparente con estas limitaciones frente al líder técnico: ninguna es motivo para descartar los hallazgos, pero sí para validarlos antes de tomar decisiones de alto impacto.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la parte de insights con acciones concretas: no solo 'qué encontramos', sino 'qué hacer con esto'.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análisis es la base para las siguientes fases del proyecto: feature engineering formal, modelado predictivo, despliegue y monitoreo continuo.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invitando a preguntas, y menciono que todo el proceso (código, commits, decisiones documentadas) está disponible en el repositorio para su revisión.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457200"/>
          </a:xfrm>
          <a:prstGeom prst="rect">
            <a:avLst/>
          </a:prstGeom>
          <a:noFill/>
          <a:ln/>
        </p:spPr>
        <p:txBody>
          <a:bodyPr wrap="square" lIns="0" tIns="0" rIns="0" bIns="0" rtlCol="0" anchor="ctr"/>
          <a:lstStyle/>
          <a:p>
            <a:pPr marL="0" indent="0">
              <a:buNone/>
            </a:pPr>
            <a:r>
              <a:rPr lang="en-US" sz="1500" b="1" kern="0" spc="300" dirty="0">
                <a:solidFill>
                  <a:srgbClr val="CADCFC"/>
                </a:solidFill>
                <a:latin typeface="Calibri" pitchFamily="34" charset="0"/>
                <a:ea typeface="Calibri" pitchFamily="34" charset="-122"/>
                <a:cs typeface="Calibri" pitchFamily="34" charset="-120"/>
              </a:rPr>
              <a:t>ANÁLISIS DE RIESGO CREDITICIO</a:t>
            </a:r>
            <a:endParaRPr lang="en-US" sz="1500" dirty="0"/>
          </a:p>
        </p:txBody>
      </p:sp>
      <p:sp>
        <p:nvSpPr>
          <p:cNvPr id="3" name="Text 1"/>
          <p:cNvSpPr/>
          <p:nvPr/>
        </p:nvSpPr>
        <p:spPr>
          <a:xfrm>
            <a:off x="822960" y="2423160"/>
            <a:ext cx="105156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Hallazgos clave del análisis exploratorio de datos</a:t>
            </a:r>
            <a:endParaRPr lang="en-US" sz="4200" dirty="0"/>
          </a:p>
        </p:txBody>
      </p:sp>
      <p:sp>
        <p:nvSpPr>
          <p:cNvPr id="4" name="Text 2"/>
          <p:cNvSpPr/>
          <p:nvPr/>
        </p:nvSpPr>
        <p:spPr>
          <a:xfrm>
            <a:off x="822960" y="3520440"/>
            <a:ext cx="10515600" cy="457200"/>
          </a:xfrm>
          <a:prstGeom prst="rect">
            <a:avLst/>
          </a:prstGeom>
          <a:noFill/>
          <a:ln/>
        </p:spPr>
        <p:txBody>
          <a:bodyPr wrap="square" lIns="0" tIns="0" rIns="0" bIns="0"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Entregable 2 · Ciencia de Datos en Producción</a:t>
            </a:r>
            <a:endParaRPr lang="en-US" sz="1600" dirty="0"/>
          </a:p>
        </p:txBody>
      </p:sp>
      <p:sp>
        <p:nvSpPr>
          <p:cNvPr id="5" name="Shape 3"/>
          <p:cNvSpPr/>
          <p:nvPr/>
        </p:nvSpPr>
        <p:spPr>
          <a:xfrm>
            <a:off x="822960" y="4160520"/>
            <a:ext cx="2011680" cy="0"/>
          </a:xfrm>
          <a:prstGeom prst="line">
            <a:avLst/>
          </a:prstGeom>
          <a:noFill/>
          <a:ln w="38100">
            <a:solidFill>
              <a:srgbClr val="B33A3A"/>
            </a:solidFill>
            <a:prstDash val="solid"/>
          </a:ln>
        </p:spPr>
        <p:txBody>
          <a:bodyPr/>
          <a:lstStyle/>
          <a:p>
            <a:endParaRPr lang="es-CO"/>
          </a:p>
        </p:txBody>
      </p:sp>
      <p:sp>
        <p:nvSpPr>
          <p:cNvPr id="6" name="Text 4"/>
          <p:cNvSpPr/>
          <p:nvPr/>
        </p:nvSpPr>
        <p:spPr>
          <a:xfrm>
            <a:off x="822960" y="4343401"/>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CAMILO ANDRES ARMENTA PEDROZO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E</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err="1">
                <a:solidFill>
                  <a:srgbClr val="1E2761"/>
                </a:solidFill>
                <a:latin typeface="Cambria" pitchFamily="34" charset="0"/>
                <a:ea typeface="Cambria" pitchFamily="34" charset="-122"/>
                <a:cs typeface="Cambria" pitchFamily="34" charset="-120"/>
              </a:rPr>
              <a:t>Resumen</a:t>
            </a:r>
            <a:r>
              <a:rPr lang="en-US" sz="3000" b="1" dirty="0">
                <a:solidFill>
                  <a:srgbClr val="1E2761"/>
                </a:solidFill>
                <a:latin typeface="Cambria" pitchFamily="34" charset="0"/>
                <a:ea typeface="Cambria" pitchFamily="34" charset="-122"/>
                <a:cs typeface="Cambria" pitchFamily="34" charset="-120"/>
              </a:rPr>
              <a:t> general</a:t>
            </a:r>
            <a:endParaRPr lang="en-US" sz="3000" dirty="0"/>
          </a:p>
        </p:txBody>
      </p:sp>
      <p:sp>
        <p:nvSpPr>
          <p:cNvPr id="4" name="Shape 2"/>
          <p:cNvSpPr/>
          <p:nvPr/>
        </p:nvSpPr>
        <p:spPr>
          <a:xfrm>
            <a:off x="548640" y="1965960"/>
            <a:ext cx="3520440" cy="2377440"/>
          </a:xfrm>
          <a:prstGeom prst="roundRect">
            <a:avLst>
              <a:gd name="adj" fmla="val 3846"/>
            </a:avLst>
          </a:prstGeom>
          <a:solidFill>
            <a:srgbClr val="1E2761"/>
          </a:solidFill>
          <a:ln/>
          <a:effectLst>
            <a:outerShdw blurRad="76200" dist="25400" dir="5400000" algn="bl" rotWithShape="0">
              <a:srgbClr val="000000">
                <a:alpha val="10000"/>
              </a:srgbClr>
            </a:outerShdw>
          </a:effectLst>
        </p:spPr>
        <p:txBody>
          <a:bodyPr/>
          <a:lstStyle/>
          <a:p>
            <a:endParaRPr lang="es-CO"/>
          </a:p>
        </p:txBody>
      </p:sp>
      <p:sp>
        <p:nvSpPr>
          <p:cNvPr id="5" name="Text 3"/>
          <p:cNvSpPr/>
          <p:nvPr/>
        </p:nvSpPr>
        <p:spPr>
          <a:xfrm>
            <a:off x="822960" y="2286000"/>
            <a:ext cx="29718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8x</a:t>
            </a:r>
            <a:endParaRPr lang="en-US" sz="4000" dirty="0"/>
          </a:p>
        </p:txBody>
      </p:sp>
      <p:sp>
        <p:nvSpPr>
          <p:cNvPr id="6" name="Text 4"/>
          <p:cNvSpPr/>
          <p:nvPr/>
        </p:nvSpPr>
        <p:spPr>
          <a:xfrm>
            <a:off x="82296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más riesgo si el cliente ya tiene mora previa registrada</a:t>
            </a:r>
            <a:endParaRPr lang="en-US" sz="1300" dirty="0"/>
          </a:p>
        </p:txBody>
      </p:sp>
      <p:sp>
        <p:nvSpPr>
          <p:cNvPr id="7" name="Shape 5"/>
          <p:cNvSpPr/>
          <p:nvPr/>
        </p:nvSpPr>
        <p:spPr>
          <a:xfrm>
            <a:off x="434340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8" name="Text 6"/>
          <p:cNvSpPr/>
          <p:nvPr/>
        </p:nvSpPr>
        <p:spPr>
          <a:xfrm>
            <a:off x="461772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42.9%</a:t>
            </a:r>
            <a:endParaRPr lang="en-US" sz="4000" dirty="0"/>
          </a:p>
        </p:txBody>
      </p:sp>
      <p:sp>
        <p:nvSpPr>
          <p:cNvPr id="9" name="Text 7"/>
          <p:cNvSpPr/>
          <p:nvPr/>
        </p:nvSpPr>
        <p:spPr>
          <a:xfrm>
            <a:off x="461772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de crédito 6 (vs. 4.75% promedio)</a:t>
            </a:r>
            <a:endParaRPr lang="en-US" sz="1300" dirty="0"/>
          </a:p>
        </p:txBody>
      </p:sp>
      <p:sp>
        <p:nvSpPr>
          <p:cNvPr id="10" name="Shape 8"/>
          <p:cNvSpPr/>
          <p:nvPr/>
        </p:nvSpPr>
        <p:spPr>
          <a:xfrm>
            <a:off x="813816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11" name="Text 9"/>
          <p:cNvSpPr/>
          <p:nvPr/>
        </p:nvSpPr>
        <p:spPr>
          <a:xfrm>
            <a:off x="841248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153</a:t>
            </a:r>
            <a:endParaRPr lang="en-US" sz="4000" dirty="0"/>
          </a:p>
        </p:txBody>
      </p:sp>
      <p:sp>
        <p:nvSpPr>
          <p:cNvPr id="12" name="Text 10"/>
          <p:cNvSpPr/>
          <p:nvPr/>
        </p:nvSpPr>
        <p:spPr>
          <a:xfrm>
            <a:off x="841248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clientes sin historial crediticio: 6.54% de mora vs 4.72%</a:t>
            </a:r>
            <a:endParaRPr lang="en-US" sz="1300" dirty="0"/>
          </a:p>
        </p:txBody>
      </p:sp>
      <p:sp>
        <p:nvSpPr>
          <p:cNvPr id="13" name="Shape 11"/>
          <p:cNvSpPr/>
          <p:nvPr/>
        </p:nvSpPr>
        <p:spPr>
          <a:xfrm>
            <a:off x="548640" y="4617720"/>
            <a:ext cx="11064240" cy="1051560"/>
          </a:xfrm>
          <a:prstGeom prst="roundRect">
            <a:avLst>
              <a:gd name="adj" fmla="val 6957"/>
            </a:avLst>
          </a:prstGeom>
          <a:solidFill>
            <a:srgbClr val="F4F7FC"/>
          </a:solidFill>
          <a:ln/>
        </p:spPr>
        <p:txBody>
          <a:bodyPr/>
          <a:lstStyle/>
          <a:p>
            <a:endParaRPr lang="es-CO"/>
          </a:p>
        </p:txBody>
      </p:sp>
      <p:sp>
        <p:nvSpPr>
          <p:cNvPr id="14" name="Text 12"/>
          <p:cNvSpPr/>
          <p:nvPr/>
        </p:nvSpPr>
        <p:spPr>
          <a:xfrm>
            <a:off x="777240" y="4754880"/>
            <a:ext cx="10607040" cy="822960"/>
          </a:xfrm>
          <a:prstGeom prst="rect">
            <a:avLst/>
          </a:prstGeom>
          <a:noFill/>
          <a:ln/>
        </p:spPr>
        <p:txBody>
          <a:bodyPr wrap="square" lIns="0" tIns="0" rIns="0" bIns="0"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El mensaje central: </a:t>
            </a:r>
            <a:r>
              <a:rPr lang="en-US" sz="1300" dirty="0">
                <a:solidFill>
                  <a:srgbClr val="5A5F73"/>
                </a:solidFill>
                <a:latin typeface="Calibri" pitchFamily="34" charset="0"/>
                <a:ea typeface="Calibri" pitchFamily="34" charset="-122"/>
                <a:cs typeface="Calibri" pitchFamily="34" charset="-120"/>
              </a:rPr>
              <a:t>depurar los datos según el diccionario fortaleció la señal del score un 78%; aun así ninguna variable individual basta, y los atributos derivados superan a la mayoría de columnas originales.</a:t>
            </a:r>
            <a:endParaRPr lang="en-US" sz="1300" dirty="0"/>
          </a:p>
        </p:txBody>
      </p:sp>
      <p:sp>
        <p:nvSpPr>
          <p:cNvPr id="15" name="Text 13"/>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CONTEXTO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reto de negocio</a:t>
            </a:r>
            <a:endParaRPr lang="en-US" sz="3000" dirty="0"/>
          </a:p>
        </p:txBody>
      </p:sp>
      <p:sp>
        <p:nvSpPr>
          <p:cNvPr id="4" name="Text 2"/>
          <p:cNvSpPr/>
          <p:nvPr/>
        </p:nvSpPr>
        <p:spPr>
          <a:xfrm>
            <a:off x="548640" y="1828800"/>
            <a:ext cx="6400800" cy="2926080"/>
          </a:xfrm>
          <a:prstGeom prst="rect">
            <a:avLst/>
          </a:prstGeom>
          <a:noFill/>
          <a:ln/>
        </p:spPr>
        <p:txBody>
          <a:bodyPr wrap="square" lIns="0" tIns="0" rIns="0" bIns="0" rtlCol="0" anchor="t"/>
          <a:lstStyle/>
          <a:p>
            <a:pPr marL="0" indent="0">
              <a:lnSpc>
                <a:spcPct val="125000"/>
              </a:lnSpc>
              <a:buNone/>
            </a:pPr>
            <a:r>
              <a:rPr lang="en-US" sz="1600" dirty="0">
                <a:solidFill>
                  <a:srgbClr val="5A5F73"/>
                </a:solidFill>
                <a:latin typeface="Calibri" pitchFamily="34" charset="0"/>
                <a:ea typeface="Calibri" pitchFamily="34" charset="-122"/>
                <a:cs typeface="Calibri" pitchFamily="34" charset="-120"/>
              </a:rPr>
              <a:t>Una empresa financiera entrega una base de datos con información del crédito, del cliente y del comportamiento de pago (a tiempo o en mora). El objetivo: generar insights valiosos para la organización y comunicarlos de forma </a:t>
            </a:r>
            <a:r>
              <a:rPr lang="en-US" sz="1600" dirty="0" err="1">
                <a:solidFill>
                  <a:srgbClr val="5A5F73"/>
                </a:solidFill>
                <a:latin typeface="Calibri" pitchFamily="34" charset="0"/>
                <a:ea typeface="Calibri" pitchFamily="34" charset="-122"/>
                <a:cs typeface="Calibri" pitchFamily="34" charset="-120"/>
              </a:rPr>
              <a:t>clara</a:t>
            </a:r>
            <a:r>
              <a:rPr lang="en-US" sz="1600" dirty="0">
                <a:solidFill>
                  <a:srgbClr val="5A5F73"/>
                </a:solidFill>
                <a:latin typeface="Calibri" pitchFamily="34" charset="0"/>
                <a:ea typeface="Calibri" pitchFamily="34" charset="-122"/>
                <a:cs typeface="Calibri" pitchFamily="34" charset="-120"/>
              </a:rPr>
              <a:t>  para la </a:t>
            </a:r>
            <a:r>
              <a:rPr lang="en-US" sz="1600" dirty="0" err="1">
                <a:solidFill>
                  <a:srgbClr val="5A5F73"/>
                </a:solidFill>
                <a:latin typeface="Calibri" pitchFamily="34" charset="0"/>
                <a:ea typeface="Calibri" pitchFamily="34" charset="-122"/>
                <a:cs typeface="Calibri" pitchFamily="34" charset="-120"/>
              </a:rPr>
              <a:t>toma</a:t>
            </a:r>
            <a:r>
              <a:rPr lang="en-US" sz="1600" dirty="0">
                <a:solidFill>
                  <a:srgbClr val="5A5F73"/>
                </a:solidFill>
                <a:latin typeface="Calibri" pitchFamily="34" charset="0"/>
                <a:ea typeface="Calibri" pitchFamily="34" charset="-122"/>
                <a:cs typeface="Calibri" pitchFamily="34" charset="-120"/>
              </a:rPr>
              <a:t> de </a:t>
            </a:r>
            <a:r>
              <a:rPr lang="en-US" sz="1600" dirty="0" err="1">
                <a:solidFill>
                  <a:srgbClr val="5A5F73"/>
                </a:solidFill>
                <a:latin typeface="Calibri" pitchFamily="34" charset="0"/>
                <a:ea typeface="Calibri" pitchFamily="34" charset="-122"/>
                <a:cs typeface="Calibri" pitchFamily="34" charset="-120"/>
              </a:rPr>
              <a:t>decisiones</a:t>
            </a:r>
            <a:endParaRPr lang="en-US" sz="1600" dirty="0">
              <a:solidFill>
                <a:srgbClr val="5A5F73"/>
              </a:solidFill>
              <a:latin typeface="Calibri" pitchFamily="34" charset="0"/>
              <a:ea typeface="Calibri" pitchFamily="34" charset="-122"/>
              <a:cs typeface="Calibri" pitchFamily="34" charset="-120"/>
            </a:endParaRPr>
          </a:p>
          <a:p>
            <a:pPr marL="0" indent="0">
              <a:lnSpc>
                <a:spcPct val="125000"/>
              </a:lnSpc>
              <a:buNone/>
            </a:pPr>
            <a:endParaRPr lang="en-US" sz="1600" dirty="0">
              <a:solidFill>
                <a:srgbClr val="5A5F73"/>
              </a:solidFill>
              <a:latin typeface="Calibri" pitchFamily="34" charset="0"/>
              <a:ea typeface="Calibri" pitchFamily="34" charset="-122"/>
              <a:cs typeface="Calibri" pitchFamily="34" charset="-120"/>
            </a:endParaRPr>
          </a:p>
          <a:p>
            <a:pPr marL="0" indent="0">
              <a:lnSpc>
                <a:spcPct val="125000"/>
              </a:lnSpc>
              <a:buNone/>
            </a:pPr>
            <a:r>
              <a:rPr lang="en-US" sz="1600" dirty="0">
                <a:solidFill>
                  <a:srgbClr val="5A5F73"/>
                </a:solidFill>
                <a:latin typeface="Calibri" pitchFamily="34" charset="0"/>
                <a:ea typeface="Calibri" pitchFamily="34" charset="-122"/>
                <a:cs typeface="Calibri" pitchFamily="34" charset="-120"/>
              </a:rPr>
              <a:t>Los </a:t>
            </a:r>
            <a:r>
              <a:rPr lang="en-US" sz="1600" dirty="0" err="1">
                <a:solidFill>
                  <a:srgbClr val="5A5F73"/>
                </a:solidFill>
                <a:latin typeface="Calibri" pitchFamily="34" charset="0"/>
                <a:ea typeface="Calibri" pitchFamily="34" charset="-122"/>
                <a:cs typeface="Calibri" pitchFamily="34" charset="-120"/>
              </a:rPr>
              <a:t>dato</a:t>
            </a:r>
            <a:r>
              <a:rPr lang="en-US" sz="1600" dirty="0">
                <a:solidFill>
                  <a:srgbClr val="5A5F73"/>
                </a:solidFill>
                <a:latin typeface="Calibri" pitchFamily="34" charset="0"/>
                <a:ea typeface="Calibri" pitchFamily="34" charset="-122"/>
                <a:cs typeface="Calibri" pitchFamily="34" charset="-120"/>
              </a:rPr>
              <a:t> se dan </a:t>
            </a:r>
            <a:r>
              <a:rPr lang="en-US" sz="1600" dirty="0" err="1">
                <a:solidFill>
                  <a:srgbClr val="5A5F73"/>
                </a:solidFill>
                <a:latin typeface="Calibri" pitchFamily="34" charset="0"/>
                <a:ea typeface="Calibri" pitchFamily="34" charset="-122"/>
                <a:cs typeface="Calibri" pitchFamily="34" charset="-120"/>
              </a:rPr>
              <a:t>desde</a:t>
            </a:r>
            <a:r>
              <a:rPr lang="en-US" sz="1600" dirty="0">
                <a:solidFill>
                  <a:srgbClr val="5A5F73"/>
                </a:solidFill>
                <a:latin typeface="Calibri" pitchFamily="34" charset="0"/>
                <a:ea typeface="Calibri" pitchFamily="34" charset="-122"/>
                <a:cs typeface="Calibri" pitchFamily="34" charset="-120"/>
              </a:rPr>
              <a:t> </a:t>
            </a:r>
            <a:r>
              <a:rPr lang="en-US" sz="1600" dirty="0" err="1">
                <a:solidFill>
                  <a:srgbClr val="5A5F73"/>
                </a:solidFill>
                <a:latin typeface="Calibri" pitchFamily="34" charset="0"/>
                <a:ea typeface="Calibri" pitchFamily="34" charset="-122"/>
                <a:cs typeface="Calibri" pitchFamily="34" charset="-120"/>
              </a:rPr>
              <a:t>noviembre</a:t>
            </a:r>
            <a:r>
              <a:rPr lang="en-US" sz="1600" dirty="0">
                <a:solidFill>
                  <a:srgbClr val="5A5F73"/>
                </a:solidFill>
                <a:latin typeface="Calibri" pitchFamily="34" charset="0"/>
                <a:ea typeface="Calibri" pitchFamily="34" charset="-122"/>
                <a:cs typeface="Calibri" pitchFamily="34" charset="-120"/>
              </a:rPr>
              <a:t> del 2024 hasta </a:t>
            </a:r>
            <a:r>
              <a:rPr lang="en-US" sz="1600" dirty="0" err="1">
                <a:solidFill>
                  <a:srgbClr val="5A5F73"/>
                </a:solidFill>
                <a:latin typeface="Calibri" pitchFamily="34" charset="0"/>
                <a:ea typeface="Calibri" pitchFamily="34" charset="-122"/>
                <a:cs typeface="Calibri" pitchFamily="34" charset="-120"/>
              </a:rPr>
              <a:t>abril</a:t>
            </a:r>
            <a:r>
              <a:rPr lang="en-US" sz="1600" dirty="0">
                <a:solidFill>
                  <a:srgbClr val="5A5F73"/>
                </a:solidFill>
                <a:latin typeface="Calibri" pitchFamily="34" charset="0"/>
                <a:ea typeface="Calibri" pitchFamily="34" charset="-122"/>
                <a:cs typeface="Calibri" pitchFamily="34" charset="-120"/>
              </a:rPr>
              <a:t> 2026</a:t>
            </a:r>
            <a:endParaRPr lang="en-US" sz="1600" dirty="0"/>
          </a:p>
        </p:txBody>
      </p:sp>
      <p:sp>
        <p:nvSpPr>
          <p:cNvPr id="5" name="Shape 3"/>
          <p:cNvSpPr/>
          <p:nvPr/>
        </p:nvSpPr>
        <p:spPr>
          <a:xfrm>
            <a:off x="7406640" y="178308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6" name="Text 4"/>
          <p:cNvSpPr/>
          <p:nvPr/>
        </p:nvSpPr>
        <p:spPr>
          <a:xfrm>
            <a:off x="7635240" y="1892808"/>
            <a:ext cx="182880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10,763</a:t>
            </a:r>
            <a:endParaRPr lang="en-US" sz="3400" dirty="0"/>
          </a:p>
        </p:txBody>
      </p:sp>
      <p:sp>
        <p:nvSpPr>
          <p:cNvPr id="7" name="Text 5"/>
          <p:cNvSpPr/>
          <p:nvPr/>
        </p:nvSpPr>
        <p:spPr>
          <a:xfrm>
            <a:off x="9281160" y="178308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créditos analizados</a:t>
            </a:r>
            <a:endParaRPr lang="en-US" sz="1300" dirty="0"/>
          </a:p>
        </p:txBody>
      </p:sp>
      <p:sp>
        <p:nvSpPr>
          <p:cNvPr id="8" name="Shape 6"/>
          <p:cNvSpPr/>
          <p:nvPr/>
        </p:nvSpPr>
        <p:spPr>
          <a:xfrm>
            <a:off x="7406640" y="320040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9" name="Text 7"/>
          <p:cNvSpPr/>
          <p:nvPr/>
        </p:nvSpPr>
        <p:spPr>
          <a:xfrm>
            <a:off x="7635240" y="3310128"/>
            <a:ext cx="182880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23</a:t>
            </a:r>
            <a:endParaRPr lang="en-US" sz="3400" dirty="0"/>
          </a:p>
        </p:txBody>
      </p:sp>
      <p:sp>
        <p:nvSpPr>
          <p:cNvPr id="10" name="Text 8"/>
          <p:cNvSpPr/>
          <p:nvPr/>
        </p:nvSpPr>
        <p:spPr>
          <a:xfrm>
            <a:off x="9281160" y="320040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variables originales</a:t>
            </a:r>
            <a:endParaRPr lang="en-US" sz="1300" dirty="0"/>
          </a:p>
        </p:txBody>
      </p:sp>
      <p:sp>
        <p:nvSpPr>
          <p:cNvPr id="11" name="Shape 9"/>
          <p:cNvSpPr/>
          <p:nvPr/>
        </p:nvSpPr>
        <p:spPr>
          <a:xfrm>
            <a:off x="7406640" y="461772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2" name="Text 10"/>
          <p:cNvSpPr/>
          <p:nvPr/>
        </p:nvSpPr>
        <p:spPr>
          <a:xfrm>
            <a:off x="7635240" y="4727448"/>
            <a:ext cx="1828800" cy="685800"/>
          </a:xfrm>
          <a:prstGeom prst="rect">
            <a:avLst/>
          </a:prstGeom>
          <a:noFill/>
          <a:ln/>
        </p:spPr>
        <p:txBody>
          <a:bodyPr wrap="square" lIns="0" tIns="0" rIns="0" bIns="0" rtlCol="0" anchor="ctr"/>
          <a:lstStyle/>
          <a:p>
            <a:pPr marL="0" indent="0">
              <a:buNone/>
            </a:pPr>
            <a:endParaRPr lang="en-US" sz="3400" dirty="0"/>
          </a:p>
        </p:txBody>
      </p:sp>
      <p:sp>
        <p:nvSpPr>
          <p:cNvPr id="13" name="Text 11"/>
          <p:cNvSpPr/>
          <p:nvPr/>
        </p:nvSpPr>
        <p:spPr>
          <a:xfrm>
            <a:off x="9281160" y="461772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diccionario de datos</a:t>
            </a:r>
            <a:endParaRPr lang="en-US" sz="1300" dirty="0"/>
          </a:p>
        </p:txBody>
      </p:sp>
      <p:sp>
        <p:nvSpPr>
          <p:cNvPr id="14" name="Text 1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5" name="Text 1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3</a:t>
            </a:r>
            <a:endParaRPr lang="en-US" sz="1000" dirty="0"/>
          </a:p>
        </p:txBody>
      </p:sp>
      <p:sp>
        <p:nvSpPr>
          <p:cNvPr id="17" name="Shape 9">
            <a:extLst>
              <a:ext uri="{FF2B5EF4-FFF2-40B4-BE49-F238E27FC236}">
                <a16:creationId xmlns:a16="http://schemas.microsoft.com/office/drawing/2014/main" id="{D525EDD1-6568-B6D4-8B70-CD8A670FC315}"/>
              </a:ext>
            </a:extLst>
          </p:cNvPr>
          <p:cNvSpPr/>
          <p:nvPr/>
        </p:nvSpPr>
        <p:spPr>
          <a:xfrm>
            <a:off x="457200" y="441198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r>
              <a:rPr lang="es-CO" dirty="0"/>
              <a:t>TARGET : Pago a tiempo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INVESTIGACIÓN METODOLÓGICA BANCOS EN COLOMBIA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diccionario de datos</a:t>
            </a:r>
            <a:endParaRPr lang="en-US" sz="3000" dirty="0"/>
          </a:p>
        </p:txBody>
      </p:sp>
      <p:sp>
        <p:nvSpPr>
          <p:cNvPr id="4" name="Text 2"/>
          <p:cNvSpPr/>
          <p:nvPr/>
        </p:nvSpPr>
        <p:spPr>
          <a:xfrm>
            <a:off x="548640" y="1600200"/>
            <a:ext cx="11064240" cy="365760"/>
          </a:xfrm>
          <a:prstGeom prst="rect">
            <a:avLst/>
          </a:prstGeom>
          <a:noFill/>
          <a:ln/>
        </p:spPr>
        <p:txBody>
          <a:bodyPr wrap="square" lIns="0" tIns="0" rIns="0" bIns="0" rtlCol="0" anchor="ctr"/>
          <a:lstStyle/>
          <a:p>
            <a:pPr marL="0" indent="0">
              <a:buNone/>
            </a:pPr>
            <a:r>
              <a:rPr lang="en-US" sz="1400" i="1" dirty="0">
                <a:solidFill>
                  <a:srgbClr val="5A5F73"/>
                </a:solidFill>
                <a:latin typeface="Calibri" pitchFamily="34" charset="0"/>
                <a:ea typeface="Calibri" pitchFamily="34" charset="-122"/>
                <a:cs typeface="Calibri" pitchFamily="34" charset="-120"/>
              </a:rPr>
              <a:t>No se entregó diccionario. Construirlo reveló tres errores metodológicos reales.</a:t>
            </a:r>
            <a:endParaRPr lang="en-US" sz="1400" dirty="0"/>
          </a:p>
        </p:txBody>
      </p:sp>
      <p:sp>
        <p:nvSpPr>
          <p:cNvPr id="5" name="Shape 3"/>
          <p:cNvSpPr/>
          <p:nvPr/>
        </p:nvSpPr>
        <p:spPr>
          <a:xfrm>
            <a:off x="548640" y="2148840"/>
            <a:ext cx="2697480" cy="1828800"/>
          </a:xfrm>
          <a:prstGeom prst="roundRect">
            <a:avLst>
              <a:gd name="adj" fmla="val 4000"/>
            </a:avLst>
          </a:prstGeom>
          <a:solidFill>
            <a:srgbClr val="1E2761"/>
          </a:solidFill>
          <a:ln/>
        </p:spPr>
        <p:txBody>
          <a:bodyPr/>
          <a:lstStyle/>
          <a:p>
            <a:endParaRPr lang="es-CO"/>
          </a:p>
        </p:txBody>
      </p:sp>
      <p:sp>
        <p:nvSpPr>
          <p:cNvPr id="6" name="Text 4"/>
          <p:cNvSpPr/>
          <p:nvPr/>
        </p:nvSpPr>
        <p:spPr>
          <a:xfrm>
            <a:off x="777240" y="2286000"/>
            <a:ext cx="224028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7" name="Text 5"/>
          <p:cNvSpPr/>
          <p:nvPr/>
        </p:nvSpPr>
        <p:spPr>
          <a:xfrm>
            <a:off x="777240" y="2807208"/>
            <a:ext cx="2240280" cy="548640"/>
          </a:xfrm>
          <a:prstGeom prst="rect">
            <a:avLst/>
          </a:prstGeom>
          <a:noFill/>
          <a:ln/>
        </p:spPr>
        <p:txBody>
          <a:bodyPr wrap="square" lIns="0" tIns="0" rIns="0" bIns="0" rtlCol="0" anchor="t"/>
          <a:lstStyle/>
          <a:p>
            <a:pPr marL="0" indent="0">
              <a:buNone/>
            </a:pPr>
            <a:r>
              <a:rPr lang="en-US" sz="1250" b="1" dirty="0">
                <a:solidFill>
                  <a:srgbClr val="CADCFC"/>
                </a:solidFill>
                <a:latin typeface="Calibri" pitchFamily="34" charset="0"/>
                <a:ea typeface="Calibri" pitchFamily="34" charset="-122"/>
                <a:cs typeface="Calibri" pitchFamily="34" charset="-120"/>
              </a:rPr>
              <a:t>Cualitativas</a:t>
            </a:r>
            <a:endParaRPr lang="en-US" sz="1250" dirty="0"/>
          </a:p>
          <a:p>
            <a:pPr marL="0" indent="0">
              <a:buNone/>
            </a:pPr>
            <a:r>
              <a:rPr lang="en-US" sz="1250" b="1" dirty="0">
                <a:solidFill>
                  <a:srgbClr val="CADCFC"/>
                </a:solidFill>
                <a:latin typeface="Calibri" pitchFamily="34" charset="0"/>
                <a:ea typeface="Calibri" pitchFamily="34" charset="-122"/>
                <a:cs typeface="Calibri" pitchFamily="34" charset="-120"/>
              </a:rPr>
              <a:t>nominales</a:t>
            </a:r>
            <a:endParaRPr lang="en-US" sz="1250" dirty="0"/>
          </a:p>
        </p:txBody>
      </p:sp>
      <p:sp>
        <p:nvSpPr>
          <p:cNvPr id="8" name="Text 6"/>
          <p:cNvSpPr/>
          <p:nvPr/>
        </p:nvSpPr>
        <p:spPr>
          <a:xfrm>
            <a:off x="777240" y="3337560"/>
            <a:ext cx="2240280" cy="548640"/>
          </a:xfrm>
          <a:prstGeom prst="rect">
            <a:avLst/>
          </a:prstGeom>
          <a:noFill/>
          <a:ln/>
        </p:spPr>
        <p:txBody>
          <a:bodyPr wrap="square" lIns="0" tIns="0" rIns="0" bIns="0" rtlCol="0" anchor="t"/>
          <a:lstStyle/>
          <a:p>
            <a:pPr marL="0" indent="0">
              <a:buNone/>
            </a:pPr>
            <a:r>
              <a:rPr lang="en-US" sz="950" dirty="0">
                <a:solidFill>
                  <a:srgbClr val="CADCFC"/>
                </a:solidFill>
                <a:latin typeface="Calibri" pitchFamily="34" charset="0"/>
                <a:ea typeface="Calibri" pitchFamily="34" charset="-122"/>
                <a:cs typeface="Calibri" pitchFamily="34" charset="-120"/>
              </a:rPr>
              <a:t>tipo_credito, tipo_laboral,</a:t>
            </a:r>
            <a:endParaRPr lang="en-US" sz="950" dirty="0"/>
          </a:p>
          <a:p>
            <a:pPr marL="0" indent="0">
              <a:buNone/>
            </a:pPr>
            <a:r>
              <a:rPr lang="en-US" sz="950" dirty="0">
                <a:solidFill>
                  <a:srgbClr val="CADCFC"/>
                </a:solidFill>
                <a:latin typeface="Calibri" pitchFamily="34" charset="0"/>
                <a:ea typeface="Calibri" pitchFamily="34" charset="-122"/>
                <a:cs typeface="Calibri" pitchFamily="34" charset="-120"/>
              </a:rPr>
              <a:t>tendencia_ingresos, Pago_atiempo</a:t>
            </a:r>
            <a:endParaRPr lang="en-US" sz="950" dirty="0"/>
          </a:p>
        </p:txBody>
      </p:sp>
      <p:sp>
        <p:nvSpPr>
          <p:cNvPr id="9" name="Shape 7"/>
          <p:cNvSpPr/>
          <p:nvPr/>
        </p:nvSpPr>
        <p:spPr>
          <a:xfrm>
            <a:off x="3447288" y="2148840"/>
            <a:ext cx="2697480" cy="1828800"/>
          </a:xfrm>
          <a:prstGeom prst="roundRect">
            <a:avLst>
              <a:gd name="adj" fmla="val 4000"/>
            </a:avLst>
          </a:prstGeom>
          <a:solidFill>
            <a:srgbClr val="F4F7FC"/>
          </a:solidFill>
          <a:ln/>
        </p:spPr>
        <p:txBody>
          <a:bodyPr/>
          <a:lstStyle/>
          <a:p>
            <a:endParaRPr lang="es-CO"/>
          </a:p>
        </p:txBody>
      </p:sp>
      <p:sp>
        <p:nvSpPr>
          <p:cNvPr id="10" name="Text 8"/>
          <p:cNvSpPr/>
          <p:nvPr/>
        </p:nvSpPr>
        <p:spPr>
          <a:xfrm>
            <a:off x="3675888"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9</a:t>
            </a:r>
            <a:endParaRPr lang="en-US" sz="3000" dirty="0"/>
          </a:p>
        </p:txBody>
      </p:sp>
      <p:sp>
        <p:nvSpPr>
          <p:cNvPr id="11" name="Text 9"/>
          <p:cNvSpPr/>
          <p:nvPr/>
        </p:nvSpPr>
        <p:spPr>
          <a:xfrm>
            <a:off x="3675888"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continuas</a:t>
            </a:r>
            <a:endParaRPr lang="en-US" sz="1250" dirty="0"/>
          </a:p>
        </p:txBody>
      </p:sp>
      <p:sp>
        <p:nvSpPr>
          <p:cNvPr id="12" name="Text 10"/>
          <p:cNvSpPr/>
          <p:nvPr/>
        </p:nvSpPr>
        <p:spPr>
          <a:xfrm>
            <a:off x="3675888"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capital, salario, cuota,</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saldos, ingresos buró</a:t>
            </a:r>
            <a:endParaRPr lang="en-US" sz="950" dirty="0"/>
          </a:p>
        </p:txBody>
      </p:sp>
      <p:sp>
        <p:nvSpPr>
          <p:cNvPr id="13" name="Shape 11"/>
          <p:cNvSpPr/>
          <p:nvPr/>
        </p:nvSpPr>
        <p:spPr>
          <a:xfrm>
            <a:off x="6345936" y="2148840"/>
            <a:ext cx="2697480" cy="1828800"/>
          </a:xfrm>
          <a:prstGeom prst="roundRect">
            <a:avLst>
              <a:gd name="adj" fmla="val 4000"/>
            </a:avLst>
          </a:prstGeom>
          <a:solidFill>
            <a:srgbClr val="F4F7FC"/>
          </a:solidFill>
          <a:ln/>
        </p:spPr>
        <p:txBody>
          <a:bodyPr/>
          <a:lstStyle/>
          <a:p>
            <a:endParaRPr lang="es-CO"/>
          </a:p>
        </p:txBody>
      </p:sp>
      <p:sp>
        <p:nvSpPr>
          <p:cNvPr id="14" name="Text 12"/>
          <p:cNvSpPr/>
          <p:nvPr/>
        </p:nvSpPr>
        <p:spPr>
          <a:xfrm>
            <a:off x="6574536"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8</a:t>
            </a:r>
            <a:endParaRPr lang="en-US" sz="3000" dirty="0"/>
          </a:p>
        </p:txBody>
      </p:sp>
      <p:sp>
        <p:nvSpPr>
          <p:cNvPr id="15" name="Text 13"/>
          <p:cNvSpPr/>
          <p:nvPr/>
        </p:nvSpPr>
        <p:spPr>
          <a:xfrm>
            <a:off x="6574536"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marL="0" indent="0">
              <a:buNone/>
            </a:pPr>
            <a:r>
              <a:rPr lang="en-US" sz="1250" b="1" dirty="0">
                <a:solidFill>
                  <a:srgbClr val="1E2761"/>
                </a:solidFill>
                <a:latin typeface="Calibri" pitchFamily="34" charset="0"/>
                <a:ea typeface="Calibri" pitchFamily="34" charset="-122"/>
                <a:cs typeface="Calibri" pitchFamily="34" charset="-120"/>
              </a:rPr>
              <a:t>discretas</a:t>
            </a:r>
            <a:endParaRPr lang="en-US" sz="1250" dirty="0"/>
          </a:p>
        </p:txBody>
      </p:sp>
      <p:sp>
        <p:nvSpPr>
          <p:cNvPr id="16" name="Text 14"/>
          <p:cNvSpPr/>
          <p:nvPr/>
        </p:nvSpPr>
        <p:spPr>
          <a:xfrm>
            <a:off x="6574536"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plazo, edad, score,</a:t>
            </a:r>
            <a:endParaRPr lang="en-US" sz="950" dirty="0"/>
          </a:p>
          <a:p>
            <a:pPr marL="0" indent="0">
              <a:buNone/>
            </a:pPr>
            <a:r>
              <a:rPr lang="en-US" sz="950" dirty="0">
                <a:solidFill>
                  <a:srgbClr val="5A5F73"/>
                </a:solidFill>
                <a:latin typeface="Calibri" pitchFamily="34" charset="0"/>
                <a:ea typeface="Calibri" pitchFamily="34" charset="-122"/>
                <a:cs typeface="Calibri" pitchFamily="34" charset="-120"/>
              </a:rPr>
              <a:t>conteos de créditos</a:t>
            </a:r>
            <a:endParaRPr lang="en-US" sz="950" dirty="0"/>
          </a:p>
        </p:txBody>
      </p:sp>
      <p:sp>
        <p:nvSpPr>
          <p:cNvPr id="17" name="Shape 15"/>
          <p:cNvSpPr/>
          <p:nvPr/>
        </p:nvSpPr>
        <p:spPr>
          <a:xfrm>
            <a:off x="9244584" y="2148840"/>
            <a:ext cx="2697480" cy="1828800"/>
          </a:xfrm>
          <a:prstGeom prst="roundRect">
            <a:avLst>
              <a:gd name="adj" fmla="val 4000"/>
            </a:avLst>
          </a:prstGeom>
          <a:solidFill>
            <a:srgbClr val="F4F7FC"/>
          </a:solidFill>
          <a:ln/>
        </p:spPr>
        <p:txBody>
          <a:bodyPr/>
          <a:lstStyle/>
          <a:p>
            <a:endParaRPr lang="es-CO"/>
          </a:p>
        </p:txBody>
      </p:sp>
      <p:sp>
        <p:nvSpPr>
          <p:cNvPr id="18" name="Text 16"/>
          <p:cNvSpPr/>
          <p:nvPr/>
        </p:nvSpPr>
        <p:spPr>
          <a:xfrm>
            <a:off x="9473184" y="2286000"/>
            <a:ext cx="224028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1</a:t>
            </a:r>
            <a:endParaRPr lang="en-US" sz="3000" dirty="0"/>
          </a:p>
        </p:txBody>
      </p:sp>
      <p:sp>
        <p:nvSpPr>
          <p:cNvPr id="19" name="Text 17"/>
          <p:cNvSpPr/>
          <p:nvPr/>
        </p:nvSpPr>
        <p:spPr>
          <a:xfrm>
            <a:off x="9473184" y="2807208"/>
            <a:ext cx="2240280" cy="548640"/>
          </a:xfrm>
          <a:prstGeom prst="rect">
            <a:avLst/>
          </a:prstGeom>
          <a:noFill/>
          <a:ln/>
        </p:spPr>
        <p:txBody>
          <a:bodyPr wrap="square" lIns="0" tIns="0" rIns="0" bIns="0" rtlCol="0" anchor="t"/>
          <a:lstStyle/>
          <a:p>
            <a:pPr marL="0" indent="0">
              <a:buNone/>
            </a:pPr>
            <a:r>
              <a:rPr lang="en-US" sz="1250" b="1" dirty="0">
                <a:solidFill>
                  <a:srgbClr val="1E2761"/>
                </a:solidFill>
                <a:latin typeface="Calibri" pitchFamily="34" charset="0"/>
                <a:ea typeface="Calibri" pitchFamily="34" charset="-122"/>
                <a:cs typeface="Calibri" pitchFamily="34" charset="-120"/>
              </a:rPr>
              <a:t>Temporal</a:t>
            </a:r>
            <a:endParaRPr lang="en-US" sz="1250" dirty="0"/>
          </a:p>
        </p:txBody>
      </p:sp>
      <p:sp>
        <p:nvSpPr>
          <p:cNvPr id="20" name="Text 18"/>
          <p:cNvSpPr/>
          <p:nvPr/>
        </p:nvSpPr>
        <p:spPr>
          <a:xfrm>
            <a:off x="9473184" y="3337560"/>
            <a:ext cx="2240280" cy="548640"/>
          </a:xfrm>
          <a:prstGeom prst="rect">
            <a:avLst/>
          </a:prstGeom>
          <a:noFill/>
          <a:ln/>
        </p:spPr>
        <p:txBody>
          <a:bodyPr wrap="square" lIns="0" tIns="0" rIns="0" bIns="0" rtlCol="0" anchor="t"/>
          <a:lstStyle/>
          <a:p>
            <a:pPr marL="0" indent="0">
              <a:buNone/>
            </a:pPr>
            <a:r>
              <a:rPr lang="en-US" sz="950" dirty="0">
                <a:solidFill>
                  <a:srgbClr val="5A5F73"/>
                </a:solidFill>
                <a:latin typeface="Calibri" pitchFamily="34" charset="0"/>
                <a:ea typeface="Calibri" pitchFamily="34" charset="-122"/>
                <a:cs typeface="Calibri" pitchFamily="34" charset="-120"/>
              </a:rPr>
              <a:t>fecha_prestamo</a:t>
            </a:r>
            <a:endParaRPr lang="en-US" sz="950" dirty="0"/>
          </a:p>
        </p:txBody>
      </p:sp>
      <p:sp>
        <p:nvSpPr>
          <p:cNvPr id="21" name="Text 19"/>
          <p:cNvSpPr/>
          <p:nvPr/>
        </p:nvSpPr>
        <p:spPr>
          <a:xfrm>
            <a:off x="548640" y="4160520"/>
            <a:ext cx="11064240" cy="365760"/>
          </a:xfrm>
          <a:prstGeom prst="rect">
            <a:avLst/>
          </a:prstGeom>
          <a:noFill/>
          <a:ln/>
        </p:spPr>
        <p:txBody>
          <a:bodyPr wrap="square" lIns="0" tIns="0" rIns="0" bIns="0" rtlCol="0" anchor="ctr"/>
          <a:lstStyle/>
          <a:p>
            <a:pPr marL="0" indent="0">
              <a:buNone/>
            </a:pPr>
            <a:r>
              <a:rPr lang="en-US" sz="1150" dirty="0">
                <a:solidFill>
                  <a:srgbClr val="5A5F73"/>
                </a:solidFill>
                <a:latin typeface="Calibri" pitchFamily="34" charset="0"/>
                <a:ea typeface="Calibri" pitchFamily="34" charset="-122"/>
                <a:cs typeface="Calibri" pitchFamily="34" charset="-120"/>
              </a:rPr>
              <a:t>Cada variable documentada con: tipo de dato · tipo estadístico · nivel de medición · unidad · rango válido · sensibilidad legal · rol</a:t>
            </a:r>
            <a:endParaRPr lang="en-US" sz="1150" dirty="0"/>
          </a:p>
        </p:txBody>
      </p:sp>
      <p:sp>
        <p:nvSpPr>
          <p:cNvPr id="22" name="Shape 20"/>
          <p:cNvSpPr/>
          <p:nvPr/>
        </p:nvSpPr>
        <p:spPr>
          <a:xfrm>
            <a:off x="548640" y="4663440"/>
            <a:ext cx="11064240" cy="1051560"/>
          </a:xfrm>
          <a:prstGeom prst="roundRect">
            <a:avLst>
              <a:gd name="adj" fmla="val 6957"/>
            </a:avLst>
          </a:prstGeom>
          <a:solidFill>
            <a:srgbClr val="FBEAEA"/>
          </a:solidFill>
          <a:ln/>
        </p:spPr>
        <p:txBody>
          <a:bodyPr/>
          <a:lstStyle/>
          <a:p>
            <a:endParaRPr lang="es-CO"/>
          </a:p>
        </p:txBody>
      </p:sp>
      <p:sp>
        <p:nvSpPr>
          <p:cNvPr id="23" name="Text 21"/>
          <p:cNvSpPr/>
          <p:nvPr/>
        </p:nvSpPr>
        <p:spPr>
          <a:xfrm>
            <a:off x="777240" y="4800600"/>
            <a:ext cx="10607040" cy="822960"/>
          </a:xfrm>
          <a:prstGeom prst="rect">
            <a:avLst/>
          </a:prstGeom>
          <a:noFill/>
          <a:ln/>
        </p:spPr>
        <p:txBody>
          <a:bodyPr wrap="square" lIns="0" tIns="0" rIns="0" bIns="0" rtlCol="0" anchor="ctr"/>
          <a:lstStyle/>
          <a:p>
            <a:pPr marL="0" indent="0">
              <a:lnSpc>
                <a:spcPct val="120000"/>
              </a:lnSpc>
              <a:buNone/>
            </a:pPr>
            <a:r>
              <a:rPr lang="en-US" sz="1200" b="1" dirty="0">
                <a:latin typeface="Calibri" pitchFamily="34" charset="0"/>
                <a:ea typeface="Calibri" pitchFamily="34" charset="-122"/>
                <a:cs typeface="Calibri" pitchFamily="34" charset="-120"/>
              </a:rPr>
              <a:t>Marco legal aplicado: </a:t>
            </a:r>
            <a:r>
              <a:rPr lang="en-US" sz="1200" dirty="0">
                <a:latin typeface="Calibri" pitchFamily="34" charset="0"/>
                <a:ea typeface="Calibri" pitchFamily="34" charset="-122"/>
                <a:cs typeface="Calibri" pitchFamily="34" charset="-120"/>
              </a:rPr>
              <a:t>bajo Ley 1266 de 2008 todas las variables son </a:t>
            </a:r>
            <a:r>
              <a:rPr lang="en-US" sz="1200" b="1" dirty="0">
                <a:latin typeface="Calibri" pitchFamily="34" charset="0"/>
                <a:ea typeface="Calibri" pitchFamily="34" charset="-122"/>
                <a:cs typeface="Calibri" pitchFamily="34" charset="-120"/>
              </a:rPr>
              <a:t>semiprivadas</a:t>
            </a:r>
            <a:r>
              <a:rPr lang="en-US" sz="1200" dirty="0">
                <a:latin typeface="Calibri" pitchFamily="34" charset="0"/>
                <a:ea typeface="Calibri" pitchFamily="34" charset="-122"/>
                <a:cs typeface="Calibri" pitchFamily="34" charset="-120"/>
              </a:rPr>
              <a:t> (dato financiero y crediticio). Ninguna es </a:t>
            </a:r>
            <a:r>
              <a:rPr lang="en-US" sz="1200" b="1" dirty="0">
                <a:latin typeface="Calibri" pitchFamily="34" charset="0"/>
                <a:ea typeface="Calibri" pitchFamily="34" charset="-122"/>
                <a:cs typeface="Calibri" pitchFamily="34" charset="-120"/>
              </a:rPr>
              <a:t>sensible</a:t>
            </a:r>
            <a:r>
              <a:rPr lang="en-US" sz="1200" dirty="0">
                <a:latin typeface="Calibri" pitchFamily="34" charset="0"/>
                <a:ea typeface="Calibri" pitchFamily="34" charset="-122"/>
                <a:cs typeface="Calibri" pitchFamily="34" charset="-120"/>
              </a:rPr>
              <a:t> en el sentido de la Ley 1581 art. 5 (origen racial, salud, biometría).</a:t>
            </a:r>
            <a:endParaRPr lang="en-US" sz="12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IMPACTO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Tres errores que el </a:t>
            </a:r>
            <a:r>
              <a:rPr lang="en-US" sz="3000" b="1" dirty="0" err="1">
                <a:solidFill>
                  <a:srgbClr val="1E2761"/>
                </a:solidFill>
                <a:latin typeface="Cambria" pitchFamily="34" charset="0"/>
                <a:ea typeface="Cambria" pitchFamily="34" charset="-122"/>
                <a:cs typeface="Cambria" pitchFamily="34" charset="-120"/>
              </a:rPr>
              <a:t>diccionario</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permitió</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revelar</a:t>
            </a:r>
            <a:endParaRPr lang="en-US" sz="3000" dirty="0"/>
          </a:p>
        </p:txBody>
      </p:sp>
      <p:sp>
        <p:nvSpPr>
          <p:cNvPr id="4" name="Shape 2"/>
          <p:cNvSpPr/>
          <p:nvPr/>
        </p:nvSpPr>
        <p:spPr>
          <a:xfrm>
            <a:off x="548640" y="1874520"/>
            <a:ext cx="11064240" cy="1325880"/>
          </a:xfrm>
          <a:prstGeom prst="roundRect">
            <a:avLst>
              <a:gd name="adj" fmla="val 4828"/>
            </a:avLst>
          </a:prstGeom>
          <a:solidFill>
            <a:srgbClr val="F4F7FC"/>
          </a:solidFill>
          <a:ln/>
        </p:spPr>
        <p:txBody>
          <a:bodyPr/>
          <a:lstStyle/>
          <a:p>
            <a:endParaRPr lang="es-CO"/>
          </a:p>
        </p:txBody>
      </p:sp>
      <p:sp>
        <p:nvSpPr>
          <p:cNvPr id="5" name="Shape 3"/>
          <p:cNvSpPr/>
          <p:nvPr/>
        </p:nvSpPr>
        <p:spPr>
          <a:xfrm>
            <a:off x="822960" y="2455164"/>
            <a:ext cx="164592" cy="164592"/>
          </a:xfrm>
          <a:prstGeom prst="ellipse">
            <a:avLst/>
          </a:prstGeom>
          <a:solidFill>
            <a:srgbClr val="B33A3A"/>
          </a:solidFill>
          <a:ln/>
        </p:spPr>
        <p:txBody>
          <a:bodyPr/>
          <a:lstStyle/>
          <a:p>
            <a:endParaRPr lang="es-CO"/>
          </a:p>
        </p:txBody>
      </p:sp>
      <p:sp>
        <p:nvSpPr>
          <p:cNvPr id="6" name="Text 4"/>
          <p:cNvSpPr/>
          <p:nvPr/>
        </p:nvSpPr>
        <p:spPr>
          <a:xfrm>
            <a:off x="1143000" y="1874520"/>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Código tratado como número</a:t>
            </a:r>
            <a:endParaRPr lang="en-US" sz="1300" dirty="0"/>
          </a:p>
        </p:txBody>
      </p:sp>
      <p:sp>
        <p:nvSpPr>
          <p:cNvPr id="7" name="Text 5"/>
          <p:cNvSpPr/>
          <p:nvPr/>
        </p:nvSpPr>
        <p:spPr>
          <a:xfrm>
            <a:off x="3886200" y="1874520"/>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tipo_credito entraba en la matriz de correlación como si fuera una cantidad: r = 0.001 sugería “sin relación”</a:t>
            </a:r>
            <a:endParaRPr lang="en-US" sz="1050" dirty="0"/>
          </a:p>
        </p:txBody>
      </p:sp>
      <p:sp>
        <p:nvSpPr>
          <p:cNvPr id="8" name="Shape 6"/>
          <p:cNvSpPr/>
          <p:nvPr/>
        </p:nvSpPr>
        <p:spPr>
          <a:xfrm>
            <a:off x="7680960" y="2103120"/>
            <a:ext cx="0" cy="868680"/>
          </a:xfrm>
          <a:prstGeom prst="line">
            <a:avLst/>
          </a:prstGeom>
          <a:noFill/>
          <a:ln w="19050">
            <a:solidFill>
              <a:srgbClr val="CADCFC"/>
            </a:solidFill>
            <a:prstDash val="solid"/>
          </a:ln>
        </p:spPr>
        <p:txBody>
          <a:bodyPr/>
          <a:lstStyle/>
          <a:p>
            <a:endParaRPr lang="es-CO"/>
          </a:p>
        </p:txBody>
      </p:sp>
      <p:sp>
        <p:nvSpPr>
          <p:cNvPr id="9" name="Text 7"/>
          <p:cNvSpPr/>
          <p:nvPr/>
        </p:nvSpPr>
        <p:spPr>
          <a:xfrm>
            <a:off x="7863840" y="1874520"/>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Chi-cuadrado: p = 1.8e-13. Tasa de mora de 2.6% a 42.9% según el tipo</a:t>
            </a:r>
            <a:endParaRPr lang="en-US" sz="1050" dirty="0"/>
          </a:p>
        </p:txBody>
      </p:sp>
      <p:sp>
        <p:nvSpPr>
          <p:cNvPr id="10" name="Shape 8"/>
          <p:cNvSpPr/>
          <p:nvPr/>
        </p:nvSpPr>
        <p:spPr>
          <a:xfrm>
            <a:off x="548640" y="3364992"/>
            <a:ext cx="11064240" cy="1325880"/>
          </a:xfrm>
          <a:prstGeom prst="roundRect">
            <a:avLst>
              <a:gd name="adj" fmla="val 4828"/>
            </a:avLst>
          </a:prstGeom>
          <a:solidFill>
            <a:srgbClr val="F4F7FC"/>
          </a:solidFill>
          <a:ln/>
        </p:spPr>
        <p:txBody>
          <a:bodyPr/>
          <a:lstStyle/>
          <a:p>
            <a:endParaRPr lang="es-CO"/>
          </a:p>
        </p:txBody>
      </p:sp>
      <p:sp>
        <p:nvSpPr>
          <p:cNvPr id="11" name="Shape 9"/>
          <p:cNvSpPr/>
          <p:nvPr/>
        </p:nvSpPr>
        <p:spPr>
          <a:xfrm>
            <a:off x="822960" y="3945636"/>
            <a:ext cx="164592" cy="164592"/>
          </a:xfrm>
          <a:prstGeom prst="ellipse">
            <a:avLst/>
          </a:prstGeom>
          <a:solidFill>
            <a:srgbClr val="B33A3A"/>
          </a:solidFill>
          <a:ln/>
        </p:spPr>
        <p:txBody>
          <a:bodyPr/>
          <a:lstStyle/>
          <a:p>
            <a:endParaRPr lang="es-CO"/>
          </a:p>
        </p:txBody>
      </p:sp>
      <p:sp>
        <p:nvSpPr>
          <p:cNvPr id="12" name="Text 10"/>
          <p:cNvSpPr/>
          <p:nvPr/>
        </p:nvSpPr>
        <p:spPr>
          <a:xfrm>
            <a:off x="1143000" y="3364992"/>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Rango de validación sin fuente</a:t>
            </a:r>
            <a:endParaRPr lang="en-US" sz="1300" dirty="0"/>
          </a:p>
        </p:txBody>
      </p:sp>
      <p:sp>
        <p:nvSpPr>
          <p:cNvPr id="13" name="Text 11"/>
          <p:cNvSpPr/>
          <p:nvPr/>
        </p:nvSpPr>
        <p:spPr>
          <a:xfrm>
            <a:off x="3886200" y="3364992"/>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La regla [0, 1000] del score era inventada; detectaba 1 registro inválido</a:t>
            </a:r>
            <a:endParaRPr lang="en-US" sz="1050" dirty="0"/>
          </a:p>
        </p:txBody>
      </p:sp>
      <p:sp>
        <p:nvSpPr>
          <p:cNvPr id="14" name="Shape 12"/>
          <p:cNvSpPr/>
          <p:nvPr/>
        </p:nvSpPr>
        <p:spPr>
          <a:xfrm>
            <a:off x="7680960" y="3593592"/>
            <a:ext cx="0" cy="868680"/>
          </a:xfrm>
          <a:prstGeom prst="line">
            <a:avLst/>
          </a:prstGeom>
          <a:noFill/>
          <a:ln w="19050">
            <a:solidFill>
              <a:srgbClr val="CADCFC"/>
            </a:solidFill>
            <a:prstDash val="solid"/>
          </a:ln>
        </p:spPr>
        <p:txBody>
          <a:bodyPr/>
          <a:lstStyle/>
          <a:p>
            <a:endParaRPr lang="es-CO"/>
          </a:p>
        </p:txBody>
      </p:sp>
      <p:sp>
        <p:nvSpPr>
          <p:cNvPr id="15" name="Text 13"/>
          <p:cNvSpPr/>
          <p:nvPr/>
        </p:nvSpPr>
        <p:spPr>
          <a:xfrm>
            <a:off x="7863840" y="3364992"/>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Rango oficial [150, 950]: detecta 153. Pasaban 152 en silencio</a:t>
            </a:r>
            <a:endParaRPr lang="en-US" sz="1050" dirty="0"/>
          </a:p>
        </p:txBody>
      </p:sp>
      <p:sp>
        <p:nvSpPr>
          <p:cNvPr id="16" name="Shape 14"/>
          <p:cNvSpPr/>
          <p:nvPr/>
        </p:nvSpPr>
        <p:spPr>
          <a:xfrm>
            <a:off x="548640" y="4855464"/>
            <a:ext cx="11064240" cy="1325880"/>
          </a:xfrm>
          <a:prstGeom prst="roundRect">
            <a:avLst>
              <a:gd name="adj" fmla="val 4828"/>
            </a:avLst>
          </a:prstGeom>
          <a:solidFill>
            <a:srgbClr val="F4F7FC"/>
          </a:solidFill>
          <a:ln/>
        </p:spPr>
        <p:txBody>
          <a:bodyPr/>
          <a:lstStyle/>
          <a:p>
            <a:endParaRPr lang="es-CO"/>
          </a:p>
        </p:txBody>
      </p:sp>
      <p:sp>
        <p:nvSpPr>
          <p:cNvPr id="17" name="Shape 15"/>
          <p:cNvSpPr/>
          <p:nvPr/>
        </p:nvSpPr>
        <p:spPr>
          <a:xfrm>
            <a:off x="822960" y="5436108"/>
            <a:ext cx="164592" cy="164592"/>
          </a:xfrm>
          <a:prstGeom prst="ellipse">
            <a:avLst/>
          </a:prstGeom>
          <a:solidFill>
            <a:srgbClr val="B33A3A"/>
          </a:solidFill>
          <a:ln/>
        </p:spPr>
        <p:txBody>
          <a:bodyPr/>
          <a:lstStyle/>
          <a:p>
            <a:endParaRPr lang="es-CO"/>
          </a:p>
        </p:txBody>
      </p:sp>
      <p:sp>
        <p:nvSpPr>
          <p:cNvPr id="18" name="Text 16"/>
          <p:cNvSpPr/>
          <p:nvPr/>
        </p:nvSpPr>
        <p:spPr>
          <a:xfrm>
            <a:off x="1143000" y="4855464"/>
            <a:ext cx="2651760" cy="132588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Ceros falsos como score</a:t>
            </a:r>
            <a:endParaRPr lang="en-US" sz="1300" dirty="0"/>
          </a:p>
        </p:txBody>
      </p:sp>
      <p:sp>
        <p:nvSpPr>
          <p:cNvPr id="19" name="Text 17"/>
          <p:cNvSpPr/>
          <p:nvPr/>
        </p:nvSpPr>
        <p:spPr>
          <a:xfrm>
            <a:off x="3886200" y="4855464"/>
            <a:ext cx="3657600" cy="1325880"/>
          </a:xfrm>
          <a:prstGeom prst="rect">
            <a:avLst/>
          </a:prstGeom>
          <a:noFill/>
          <a:ln/>
        </p:spPr>
        <p:txBody>
          <a:bodyPr wrap="square" lIns="0" tIns="0" rIns="0" bIns="0" rtlCol="0" anchor="ctr"/>
          <a:lstStyle/>
          <a:p>
            <a:pPr marL="0" indent="0">
              <a:lnSpc>
                <a:spcPct val="115000"/>
              </a:lnSpc>
              <a:buNone/>
            </a:pPr>
            <a:r>
              <a:rPr lang="en-US" sz="1050" dirty="0">
                <a:solidFill>
                  <a:srgbClr val="5A5F73"/>
                </a:solidFill>
                <a:latin typeface="Calibri" pitchFamily="34" charset="0"/>
                <a:ea typeface="Calibri" pitchFamily="34" charset="-122"/>
                <a:cs typeface="Calibri" pitchFamily="34" charset="-120"/>
              </a:rPr>
              <a:t>145 registros con score = 0 se analizaban como scores reales muy bajos</a:t>
            </a:r>
            <a:endParaRPr lang="en-US" sz="1050" dirty="0"/>
          </a:p>
        </p:txBody>
      </p:sp>
      <p:sp>
        <p:nvSpPr>
          <p:cNvPr id="20" name="Shape 18"/>
          <p:cNvSpPr/>
          <p:nvPr/>
        </p:nvSpPr>
        <p:spPr>
          <a:xfrm>
            <a:off x="7680960" y="5084064"/>
            <a:ext cx="0" cy="868680"/>
          </a:xfrm>
          <a:prstGeom prst="line">
            <a:avLst/>
          </a:prstGeom>
          <a:noFill/>
          <a:ln w="19050">
            <a:solidFill>
              <a:srgbClr val="CADCFC"/>
            </a:solidFill>
            <a:prstDash val="solid"/>
          </a:ln>
        </p:spPr>
        <p:txBody>
          <a:bodyPr/>
          <a:lstStyle/>
          <a:p>
            <a:endParaRPr lang="es-CO"/>
          </a:p>
        </p:txBody>
      </p:sp>
      <p:sp>
        <p:nvSpPr>
          <p:cNvPr id="21" name="Text 19"/>
          <p:cNvSpPr/>
          <p:nvPr/>
        </p:nvSpPr>
        <p:spPr>
          <a:xfrm>
            <a:off x="7863840" y="4855464"/>
            <a:ext cx="3566160" cy="1325880"/>
          </a:xfrm>
          <a:prstGeom prst="rect">
            <a:avLst/>
          </a:prstGeom>
          <a:noFill/>
          <a:ln/>
        </p:spPr>
        <p:txBody>
          <a:bodyPr wrap="square" lIns="0" tIns="0" rIns="0" bIns="0" rtlCol="0" anchor="ctr"/>
          <a:lstStyle/>
          <a:p>
            <a:pPr marL="0" indent="0">
              <a:lnSpc>
                <a:spcPct val="115000"/>
              </a:lnSpc>
              <a:buNone/>
            </a:pPr>
            <a:r>
              <a:rPr lang="en-US" sz="1050" b="1" dirty="0">
                <a:solidFill>
                  <a:srgbClr val="1E2761"/>
                </a:solidFill>
                <a:latin typeface="Calibri" pitchFamily="34" charset="0"/>
                <a:ea typeface="Calibri" pitchFamily="34" charset="-122"/>
                <a:cs typeface="Calibri" pitchFamily="34" charset="-120"/>
              </a:rPr>
              <a:t>No son scores: son ausencia de historial. 6.54% de mora vs 4.72%</a:t>
            </a:r>
            <a:endParaRPr lang="en-US" sz="1050" dirty="0"/>
          </a:p>
        </p:txBody>
      </p:sp>
      <p:sp>
        <p:nvSpPr>
          <p:cNvPr id="22" name="Text 20"/>
          <p:cNvSpPr/>
          <p:nvPr/>
        </p:nvSpPr>
        <p:spPr>
          <a:xfrm>
            <a:off x="3886200" y="1572768"/>
            <a:ext cx="1828800" cy="274320"/>
          </a:xfrm>
          <a:prstGeom prst="rect">
            <a:avLst/>
          </a:prstGeom>
          <a:noFill/>
          <a:ln/>
        </p:spPr>
        <p:txBody>
          <a:bodyPr wrap="square" lIns="0" tIns="0" rIns="0" bIns="0" rtlCol="0" anchor="ctr"/>
          <a:lstStyle/>
          <a:p>
            <a:pPr marL="0" indent="0">
              <a:buNone/>
            </a:pPr>
            <a:r>
              <a:rPr lang="en-US" sz="1000" b="1" kern="0" spc="100" dirty="0">
                <a:solidFill>
                  <a:srgbClr val="5A5F73"/>
                </a:solidFill>
                <a:latin typeface="Calibri" pitchFamily="34" charset="0"/>
                <a:ea typeface="Calibri" pitchFamily="34" charset="-122"/>
                <a:cs typeface="Calibri" pitchFamily="34" charset="-120"/>
              </a:rPr>
              <a:t>ANTES</a:t>
            </a:r>
            <a:endParaRPr lang="en-US" sz="1000" dirty="0"/>
          </a:p>
        </p:txBody>
      </p:sp>
      <p:sp>
        <p:nvSpPr>
          <p:cNvPr id="23" name="Text 21"/>
          <p:cNvSpPr/>
          <p:nvPr/>
        </p:nvSpPr>
        <p:spPr>
          <a:xfrm>
            <a:off x="7863840" y="1572768"/>
            <a:ext cx="1828800" cy="274320"/>
          </a:xfrm>
          <a:prstGeom prst="rect">
            <a:avLst/>
          </a:prstGeom>
          <a:noFill/>
          <a:ln/>
        </p:spPr>
        <p:txBody>
          <a:bodyPr wrap="square" lIns="0" tIns="0" rIns="0" bIns="0" rtlCol="0" anchor="ctr"/>
          <a:lstStyle/>
          <a:p>
            <a:pPr marL="0" indent="0">
              <a:buNone/>
            </a:pPr>
            <a:r>
              <a:rPr lang="en-US" sz="1000" b="1" kern="0" spc="100" dirty="0">
                <a:solidFill>
                  <a:srgbClr val="B33A3A"/>
                </a:solidFill>
                <a:latin typeface="Calibri" pitchFamily="34" charset="0"/>
                <a:ea typeface="Calibri" pitchFamily="34" charset="-122"/>
                <a:cs typeface="Calibri" pitchFamily="34" charset="-120"/>
              </a:rPr>
              <a:t>DESPUÉS</a:t>
            </a:r>
            <a:endParaRPr lang="en-US" sz="10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METODOLOGÍA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 los datos crudos a los insights</a:t>
            </a:r>
            <a:endParaRPr lang="en-US" sz="3000" dirty="0"/>
          </a:p>
        </p:txBody>
      </p:sp>
      <p:sp>
        <p:nvSpPr>
          <p:cNvPr id="4" name="Shape 2"/>
          <p:cNvSpPr/>
          <p:nvPr/>
        </p:nvSpPr>
        <p:spPr>
          <a:xfrm>
            <a:off x="548640" y="1965960"/>
            <a:ext cx="502920" cy="502920"/>
          </a:xfrm>
          <a:prstGeom prst="ellipse">
            <a:avLst/>
          </a:prstGeom>
          <a:solidFill>
            <a:srgbClr val="1E2761"/>
          </a:solidFill>
          <a:ln/>
        </p:spPr>
        <p:txBody>
          <a:bodyPr/>
          <a:lstStyle/>
          <a:p>
            <a:endParaRPr lang="es-CO"/>
          </a:p>
        </p:txBody>
      </p:sp>
      <p:sp>
        <p:nvSpPr>
          <p:cNvPr id="5" name="Text 3"/>
          <p:cNvSpPr/>
          <p:nvPr/>
        </p:nvSpPr>
        <p:spPr>
          <a:xfrm>
            <a:off x="54864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54864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Carga y comprensión</a:t>
            </a:r>
            <a:endParaRPr lang="en-US" sz="1450" dirty="0"/>
          </a:p>
        </p:txBody>
      </p:sp>
      <p:sp>
        <p:nvSpPr>
          <p:cNvPr id="7" name="Text 5"/>
          <p:cNvSpPr/>
          <p:nvPr/>
        </p:nvSpPr>
        <p:spPr>
          <a:xfrm>
            <a:off x="54864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Exploración inicial: tipos, nulos, caracterización de cada variable</a:t>
            </a:r>
            <a:endParaRPr lang="en-US" sz="1150" dirty="0"/>
          </a:p>
        </p:txBody>
      </p:sp>
      <p:sp>
        <p:nvSpPr>
          <p:cNvPr id="8" name="Shape 6"/>
          <p:cNvSpPr/>
          <p:nvPr/>
        </p:nvSpPr>
        <p:spPr>
          <a:xfrm>
            <a:off x="3182112" y="2212848"/>
            <a:ext cx="173736" cy="0"/>
          </a:xfrm>
          <a:prstGeom prst="line">
            <a:avLst/>
          </a:prstGeom>
          <a:noFill/>
          <a:ln w="25400">
            <a:solidFill>
              <a:srgbClr val="CADCFC"/>
            </a:solidFill>
            <a:prstDash val="solid"/>
          </a:ln>
        </p:spPr>
        <p:txBody>
          <a:bodyPr/>
          <a:lstStyle/>
          <a:p>
            <a:endParaRPr lang="es-CO"/>
          </a:p>
        </p:txBody>
      </p:sp>
      <p:sp>
        <p:nvSpPr>
          <p:cNvPr id="9" name="Shape 7"/>
          <p:cNvSpPr/>
          <p:nvPr/>
        </p:nvSpPr>
        <p:spPr>
          <a:xfrm>
            <a:off x="3383280" y="1965960"/>
            <a:ext cx="502920" cy="502920"/>
          </a:xfrm>
          <a:prstGeom prst="ellipse">
            <a:avLst/>
          </a:prstGeom>
          <a:solidFill>
            <a:srgbClr val="1E2761"/>
          </a:solidFill>
          <a:ln/>
        </p:spPr>
        <p:txBody>
          <a:bodyPr/>
          <a:lstStyle/>
          <a:p>
            <a:endParaRPr lang="es-CO"/>
          </a:p>
        </p:txBody>
      </p:sp>
      <p:sp>
        <p:nvSpPr>
          <p:cNvPr id="10" name="Text 8"/>
          <p:cNvSpPr/>
          <p:nvPr/>
        </p:nvSpPr>
        <p:spPr>
          <a:xfrm>
            <a:off x="338328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338328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Limpieza y corrección</a:t>
            </a:r>
            <a:endParaRPr lang="en-US" sz="1450" dirty="0"/>
          </a:p>
        </p:txBody>
      </p:sp>
      <p:sp>
        <p:nvSpPr>
          <p:cNvPr id="12" name="Text 10"/>
          <p:cNvSpPr/>
          <p:nvPr/>
        </p:nvSpPr>
        <p:spPr>
          <a:xfrm>
            <a:off x="338328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Tratamiento de atípicos y nulos con evidencia, no con supuestos</a:t>
            </a:r>
            <a:endParaRPr lang="en-US" sz="1150" dirty="0"/>
          </a:p>
        </p:txBody>
      </p:sp>
      <p:sp>
        <p:nvSpPr>
          <p:cNvPr id="13" name="Shape 11"/>
          <p:cNvSpPr/>
          <p:nvPr/>
        </p:nvSpPr>
        <p:spPr>
          <a:xfrm>
            <a:off x="6016752" y="2212848"/>
            <a:ext cx="173736" cy="0"/>
          </a:xfrm>
          <a:prstGeom prst="line">
            <a:avLst/>
          </a:prstGeom>
          <a:noFill/>
          <a:ln w="25400">
            <a:solidFill>
              <a:srgbClr val="CADCFC"/>
            </a:solidFill>
            <a:prstDash val="solid"/>
          </a:ln>
        </p:spPr>
        <p:txBody>
          <a:bodyPr/>
          <a:lstStyle/>
          <a:p>
            <a:endParaRPr lang="es-CO"/>
          </a:p>
        </p:txBody>
      </p:sp>
      <p:sp>
        <p:nvSpPr>
          <p:cNvPr id="14" name="Shape 12"/>
          <p:cNvSpPr/>
          <p:nvPr/>
        </p:nvSpPr>
        <p:spPr>
          <a:xfrm>
            <a:off x="6217920" y="1965960"/>
            <a:ext cx="502920" cy="502920"/>
          </a:xfrm>
          <a:prstGeom prst="ellipse">
            <a:avLst/>
          </a:prstGeom>
          <a:solidFill>
            <a:srgbClr val="1E2761"/>
          </a:solidFill>
          <a:ln/>
        </p:spPr>
        <p:txBody>
          <a:bodyPr/>
          <a:lstStyle/>
          <a:p>
            <a:endParaRPr lang="es-CO"/>
          </a:p>
        </p:txBody>
      </p:sp>
      <p:sp>
        <p:nvSpPr>
          <p:cNvPr id="15" name="Text 13"/>
          <p:cNvSpPr/>
          <p:nvPr/>
        </p:nvSpPr>
        <p:spPr>
          <a:xfrm>
            <a:off x="621792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621792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EDA univariado, bivariado y multivariado</a:t>
            </a:r>
            <a:endParaRPr lang="en-US" sz="1450" dirty="0"/>
          </a:p>
        </p:txBody>
      </p:sp>
      <p:sp>
        <p:nvSpPr>
          <p:cNvPr id="17" name="Text 15"/>
          <p:cNvSpPr/>
          <p:nvPr/>
        </p:nvSpPr>
        <p:spPr>
          <a:xfrm>
            <a:off x="621792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Distribuciones, relación con la mora, correlaciones</a:t>
            </a:r>
            <a:endParaRPr lang="en-US" sz="1150" dirty="0"/>
          </a:p>
        </p:txBody>
      </p:sp>
      <p:sp>
        <p:nvSpPr>
          <p:cNvPr id="18" name="Shape 16"/>
          <p:cNvSpPr/>
          <p:nvPr/>
        </p:nvSpPr>
        <p:spPr>
          <a:xfrm>
            <a:off x="8851392" y="2212848"/>
            <a:ext cx="173736" cy="0"/>
          </a:xfrm>
          <a:prstGeom prst="line">
            <a:avLst/>
          </a:prstGeom>
          <a:noFill/>
          <a:ln w="25400">
            <a:solidFill>
              <a:srgbClr val="CADCFC"/>
            </a:solidFill>
            <a:prstDash val="solid"/>
          </a:ln>
        </p:spPr>
        <p:txBody>
          <a:bodyPr/>
          <a:lstStyle/>
          <a:p>
            <a:endParaRPr lang="es-CO"/>
          </a:p>
        </p:txBody>
      </p:sp>
      <p:sp>
        <p:nvSpPr>
          <p:cNvPr id="19" name="Shape 17"/>
          <p:cNvSpPr/>
          <p:nvPr/>
        </p:nvSpPr>
        <p:spPr>
          <a:xfrm>
            <a:off x="9052560" y="1965960"/>
            <a:ext cx="502920" cy="502920"/>
          </a:xfrm>
          <a:prstGeom prst="ellipse">
            <a:avLst/>
          </a:prstGeom>
          <a:solidFill>
            <a:srgbClr val="1E2761"/>
          </a:solidFill>
          <a:ln/>
        </p:spPr>
        <p:txBody>
          <a:bodyPr/>
          <a:lstStyle/>
          <a:p>
            <a:endParaRPr lang="es-CO"/>
          </a:p>
        </p:txBody>
      </p:sp>
      <p:sp>
        <p:nvSpPr>
          <p:cNvPr id="20" name="Text 18"/>
          <p:cNvSpPr/>
          <p:nvPr/>
        </p:nvSpPr>
        <p:spPr>
          <a:xfrm>
            <a:off x="905256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905256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Ideación de atributos derivados</a:t>
            </a:r>
            <a:endParaRPr lang="en-US" sz="1450" dirty="0"/>
          </a:p>
        </p:txBody>
      </p:sp>
      <p:sp>
        <p:nvSpPr>
          <p:cNvPr id="22" name="Text 20"/>
          <p:cNvSpPr/>
          <p:nvPr/>
        </p:nvSpPr>
        <p:spPr>
          <a:xfrm>
            <a:off x="905256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Combinaciones de variables con más señal que las originales</a:t>
            </a:r>
            <a:endParaRPr lang="en-US" sz="1150" dirty="0"/>
          </a:p>
        </p:txBody>
      </p:sp>
      <p:sp>
        <p:nvSpPr>
          <p:cNvPr id="23" name="Text 21"/>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4" name="Text 22"/>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CALIDAD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err="1">
                <a:solidFill>
                  <a:srgbClr val="1E2761"/>
                </a:solidFill>
                <a:latin typeface="Cambria" pitchFamily="34" charset="0"/>
                <a:ea typeface="Cambria" pitchFamily="34" charset="-122"/>
                <a:cs typeface="Cambria" pitchFamily="34" charset="-120"/>
              </a:rPr>
              <a:t>Información</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encontrada</a:t>
            </a:r>
            <a:r>
              <a:rPr lang="en-US" sz="3000" b="1" dirty="0">
                <a:solidFill>
                  <a:srgbClr val="1E2761"/>
                </a:solidFill>
                <a:latin typeface="Cambria" pitchFamily="34" charset="0"/>
                <a:ea typeface="Cambria" pitchFamily="34" charset="-122"/>
                <a:cs typeface="Cambria" pitchFamily="34" charset="-120"/>
              </a:rPr>
              <a:t> antes de analizar</a:t>
            </a:r>
            <a:endParaRPr lang="en-US" sz="3000" dirty="0"/>
          </a:p>
        </p:txBody>
      </p:sp>
      <p:sp>
        <p:nvSpPr>
          <p:cNvPr id="4" name="Shape 2"/>
          <p:cNvSpPr/>
          <p:nvPr/>
        </p:nvSpPr>
        <p:spPr>
          <a:xfrm>
            <a:off x="548640" y="1874520"/>
            <a:ext cx="5349240" cy="1737360"/>
          </a:xfrm>
          <a:prstGeom prst="roundRect">
            <a:avLst>
              <a:gd name="adj" fmla="val 4211"/>
            </a:avLst>
          </a:prstGeom>
          <a:solidFill>
            <a:srgbClr val="F4F7FC"/>
          </a:solidFill>
          <a:ln/>
        </p:spPr>
        <p:txBody>
          <a:bodyPr/>
          <a:lstStyle/>
          <a:p>
            <a:endParaRPr lang="es-CO"/>
          </a:p>
        </p:txBody>
      </p:sp>
      <p:sp>
        <p:nvSpPr>
          <p:cNvPr id="5" name="Shape 3"/>
          <p:cNvSpPr/>
          <p:nvPr/>
        </p:nvSpPr>
        <p:spPr>
          <a:xfrm>
            <a:off x="822960" y="2148840"/>
            <a:ext cx="146304" cy="146304"/>
          </a:xfrm>
          <a:prstGeom prst="ellipse">
            <a:avLst/>
          </a:prstGeom>
          <a:solidFill>
            <a:srgbClr val="B33A3A"/>
          </a:solidFill>
          <a:ln/>
        </p:spPr>
        <p:txBody>
          <a:bodyPr/>
          <a:lstStyle/>
          <a:p>
            <a:endParaRPr lang="es-CO"/>
          </a:p>
        </p:txBody>
      </p:sp>
      <p:sp>
        <p:nvSpPr>
          <p:cNvPr id="6" name="Text 4"/>
          <p:cNvSpPr/>
          <p:nvPr/>
        </p:nvSpPr>
        <p:spPr>
          <a:xfrm>
            <a:off x="109728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puntaje</a:t>
            </a:r>
            <a:endParaRPr lang="en-US" sz="1500" dirty="0"/>
          </a:p>
        </p:txBody>
      </p:sp>
      <p:sp>
        <p:nvSpPr>
          <p:cNvPr id="7" name="Text 5"/>
          <p:cNvSpPr/>
          <p:nvPr/>
        </p:nvSpPr>
        <p:spPr>
          <a:xfrm>
            <a:off x="82296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87.4% de los registros comparten el mismo valor — se eliminó por no aportar información</a:t>
            </a:r>
            <a:endParaRPr lang="en-US" sz="1200" dirty="0"/>
          </a:p>
        </p:txBody>
      </p:sp>
      <p:sp>
        <p:nvSpPr>
          <p:cNvPr id="8" name="Shape 6"/>
          <p:cNvSpPr/>
          <p:nvPr/>
        </p:nvSpPr>
        <p:spPr>
          <a:xfrm>
            <a:off x="6172200" y="1874520"/>
            <a:ext cx="5349240" cy="1737360"/>
          </a:xfrm>
          <a:prstGeom prst="roundRect">
            <a:avLst>
              <a:gd name="adj" fmla="val 4211"/>
            </a:avLst>
          </a:prstGeom>
          <a:solidFill>
            <a:srgbClr val="F4F7FC"/>
          </a:solidFill>
          <a:ln/>
        </p:spPr>
        <p:txBody>
          <a:bodyPr/>
          <a:lstStyle/>
          <a:p>
            <a:endParaRPr lang="es-CO"/>
          </a:p>
        </p:txBody>
      </p:sp>
      <p:sp>
        <p:nvSpPr>
          <p:cNvPr id="9" name="Shape 7"/>
          <p:cNvSpPr/>
          <p:nvPr/>
        </p:nvSpPr>
        <p:spPr>
          <a:xfrm>
            <a:off x="6446520" y="2148840"/>
            <a:ext cx="146304" cy="146304"/>
          </a:xfrm>
          <a:prstGeom prst="ellipse">
            <a:avLst/>
          </a:prstGeom>
          <a:solidFill>
            <a:srgbClr val="B33A3A"/>
          </a:solidFill>
          <a:ln/>
        </p:spPr>
        <p:txBody>
          <a:bodyPr/>
          <a:lstStyle/>
          <a:p>
            <a:endParaRPr lang="es-CO"/>
          </a:p>
        </p:txBody>
      </p:sp>
      <p:sp>
        <p:nvSpPr>
          <p:cNvPr id="10" name="Text 8"/>
          <p:cNvSpPr/>
          <p:nvPr/>
        </p:nvSpPr>
        <p:spPr>
          <a:xfrm>
            <a:off x="672084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edad_cliente</a:t>
            </a:r>
            <a:endParaRPr lang="en-US" sz="1500" dirty="0"/>
          </a:p>
        </p:txBody>
      </p:sp>
      <p:sp>
        <p:nvSpPr>
          <p:cNvPr id="11" name="Text 9"/>
          <p:cNvSpPr/>
          <p:nvPr/>
        </p:nvSpPr>
        <p:spPr>
          <a:xfrm>
            <a:off x="644652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150 registros con 121–123 años (salto claro en la distribución) — corregidos</a:t>
            </a:r>
            <a:endParaRPr lang="en-US" sz="1200" dirty="0"/>
          </a:p>
        </p:txBody>
      </p:sp>
      <p:sp>
        <p:nvSpPr>
          <p:cNvPr id="12" name="Shape 10"/>
          <p:cNvSpPr/>
          <p:nvPr/>
        </p:nvSpPr>
        <p:spPr>
          <a:xfrm>
            <a:off x="548640" y="3840480"/>
            <a:ext cx="5349240" cy="1737360"/>
          </a:xfrm>
          <a:prstGeom prst="roundRect">
            <a:avLst>
              <a:gd name="adj" fmla="val 4211"/>
            </a:avLst>
          </a:prstGeom>
          <a:solidFill>
            <a:srgbClr val="F4F7FC"/>
          </a:solidFill>
          <a:ln/>
        </p:spPr>
        <p:txBody>
          <a:bodyPr/>
          <a:lstStyle/>
          <a:p>
            <a:endParaRPr lang="es-CO"/>
          </a:p>
        </p:txBody>
      </p:sp>
      <p:sp>
        <p:nvSpPr>
          <p:cNvPr id="13" name="Shape 11"/>
          <p:cNvSpPr/>
          <p:nvPr/>
        </p:nvSpPr>
        <p:spPr>
          <a:xfrm>
            <a:off x="822960" y="4114800"/>
            <a:ext cx="146304" cy="146304"/>
          </a:xfrm>
          <a:prstGeom prst="ellipse">
            <a:avLst/>
          </a:prstGeom>
          <a:solidFill>
            <a:srgbClr val="B33A3A"/>
          </a:solidFill>
          <a:ln/>
        </p:spPr>
        <p:txBody>
          <a:bodyPr/>
          <a:lstStyle/>
          <a:p>
            <a:endParaRPr lang="es-CO"/>
          </a:p>
        </p:txBody>
      </p:sp>
      <p:sp>
        <p:nvSpPr>
          <p:cNvPr id="14" name="Text 12"/>
          <p:cNvSpPr/>
          <p:nvPr/>
        </p:nvSpPr>
        <p:spPr>
          <a:xfrm>
            <a:off x="109728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salario_cliente</a:t>
            </a:r>
            <a:endParaRPr lang="en-US" sz="1500" dirty="0"/>
          </a:p>
        </p:txBody>
      </p:sp>
      <p:sp>
        <p:nvSpPr>
          <p:cNvPr id="15" name="Text 13"/>
          <p:cNvSpPr/>
          <p:nvPr/>
        </p:nvSpPr>
        <p:spPr>
          <a:xfrm>
            <a:off x="82296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250 valores extremos (hasta $22.000 millones) — corregidos con método estadístico robusto</a:t>
            </a:r>
            <a:endParaRPr lang="en-US" sz="1200" dirty="0"/>
          </a:p>
        </p:txBody>
      </p:sp>
      <p:sp>
        <p:nvSpPr>
          <p:cNvPr id="16" name="Shape 14"/>
          <p:cNvSpPr/>
          <p:nvPr/>
        </p:nvSpPr>
        <p:spPr>
          <a:xfrm>
            <a:off x="6172200" y="3840480"/>
            <a:ext cx="5349240" cy="1737360"/>
          </a:xfrm>
          <a:prstGeom prst="roundRect">
            <a:avLst>
              <a:gd name="adj" fmla="val 4211"/>
            </a:avLst>
          </a:prstGeom>
          <a:solidFill>
            <a:srgbClr val="F4F7FC"/>
          </a:solidFill>
          <a:ln/>
        </p:spPr>
        <p:txBody>
          <a:bodyPr/>
          <a:lstStyle/>
          <a:p>
            <a:endParaRPr lang="es-CO"/>
          </a:p>
        </p:txBody>
      </p:sp>
      <p:sp>
        <p:nvSpPr>
          <p:cNvPr id="17" name="Shape 15"/>
          <p:cNvSpPr/>
          <p:nvPr/>
        </p:nvSpPr>
        <p:spPr>
          <a:xfrm>
            <a:off x="6446520" y="4114800"/>
            <a:ext cx="146304" cy="146304"/>
          </a:xfrm>
          <a:prstGeom prst="ellipse">
            <a:avLst/>
          </a:prstGeom>
          <a:solidFill>
            <a:srgbClr val="B33A3A"/>
          </a:solidFill>
          <a:ln/>
        </p:spPr>
        <p:txBody>
          <a:bodyPr/>
          <a:lstStyle/>
          <a:p>
            <a:endParaRPr lang="es-CO"/>
          </a:p>
        </p:txBody>
      </p:sp>
      <p:sp>
        <p:nvSpPr>
          <p:cNvPr id="18" name="Text 16"/>
          <p:cNvSpPr/>
          <p:nvPr/>
        </p:nvSpPr>
        <p:spPr>
          <a:xfrm>
            <a:off x="672084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tendencia_ingresos</a:t>
            </a:r>
            <a:endParaRPr lang="en-US" sz="1500" dirty="0"/>
          </a:p>
        </p:txBody>
      </p:sp>
      <p:sp>
        <p:nvSpPr>
          <p:cNvPr id="19" name="Text 17"/>
          <p:cNvSpPr/>
          <p:nvPr/>
        </p:nvSpPr>
        <p:spPr>
          <a:xfrm>
            <a:off x="644652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58 registros con números en vez de categoría — reconstruidos por lógica de negocio</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VARIABLE OBJETIVO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Un </a:t>
            </a:r>
            <a:r>
              <a:rPr lang="en-US" sz="3000" b="1" dirty="0" err="1">
                <a:solidFill>
                  <a:srgbClr val="1E2761"/>
                </a:solidFill>
                <a:latin typeface="Cambria" pitchFamily="34" charset="0"/>
                <a:ea typeface="Cambria" pitchFamily="34" charset="-122"/>
                <a:cs typeface="Cambria" pitchFamily="34" charset="-120"/>
              </a:rPr>
              <a:t>desbalance</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importante</a:t>
            </a:r>
            <a:r>
              <a:rPr lang="en-US" sz="3000" b="1" dirty="0">
                <a:solidFill>
                  <a:srgbClr val="1E2761"/>
                </a:solidFill>
                <a:latin typeface="Cambria" pitchFamily="34" charset="0"/>
                <a:ea typeface="Cambria" pitchFamily="34" charset="-122"/>
                <a:cs typeface="Cambria" pitchFamily="34" charset="-120"/>
              </a:rPr>
              <a:t> a </a:t>
            </a:r>
            <a:r>
              <a:rPr lang="en-US" sz="3000" b="1" dirty="0" err="1">
                <a:solidFill>
                  <a:srgbClr val="1E2761"/>
                </a:solidFill>
                <a:latin typeface="Cambria" pitchFamily="34" charset="0"/>
                <a:ea typeface="Cambria" pitchFamily="34" charset="-122"/>
                <a:cs typeface="Cambria" pitchFamily="34" charset="-120"/>
              </a:rPr>
              <a:t>tener</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en</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cuenta</a:t>
            </a:r>
            <a:endParaRPr lang="en-US" sz="3000" dirty="0"/>
          </a:p>
        </p:txBody>
      </p:sp>
      <p:graphicFrame>
        <p:nvGraphicFramePr>
          <p:cNvPr id="4" name="Chart 0"/>
          <p:cNvGraphicFramePr/>
          <p:nvPr/>
        </p:nvGraphicFramePr>
        <p:xfrm>
          <a:off x="548640" y="1874520"/>
          <a:ext cx="4937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035040" y="2057400"/>
            <a:ext cx="5577840" cy="914400"/>
          </a:xfrm>
          <a:prstGeom prst="rect">
            <a:avLst/>
          </a:prstGeom>
          <a:noFill/>
          <a:ln/>
        </p:spPr>
        <p:txBody>
          <a:bodyPr wrap="square" lIns="0" tIns="0" rIns="0" bIns="0" rtlCol="0" anchor="ctr"/>
          <a:lstStyle/>
          <a:p>
            <a:pPr marL="0" indent="0">
              <a:buNone/>
            </a:pPr>
            <a:r>
              <a:rPr lang="en-US" sz="4800" b="1" dirty="0">
                <a:solidFill>
                  <a:srgbClr val="B33A3A"/>
                </a:solidFill>
                <a:latin typeface="Cambria" pitchFamily="34" charset="0"/>
                <a:ea typeface="Cambria" pitchFamily="34" charset="-122"/>
                <a:cs typeface="Cambria" pitchFamily="34" charset="-120"/>
              </a:rPr>
              <a:t>20 a 1</a:t>
            </a:r>
            <a:endParaRPr lang="en-US" sz="4800" dirty="0"/>
          </a:p>
        </p:txBody>
      </p:sp>
      <p:sp>
        <p:nvSpPr>
          <p:cNvPr id="6" name="Text 3"/>
          <p:cNvSpPr/>
          <p:nvPr/>
        </p:nvSpPr>
        <p:spPr>
          <a:xfrm>
            <a:off x="6035040" y="2880360"/>
            <a:ext cx="5577840" cy="36576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ratio de desbalance entre clases</a:t>
            </a:r>
            <a:endParaRPr lang="en-US" sz="1300" dirty="0"/>
          </a:p>
        </p:txBody>
      </p:sp>
      <p:sp>
        <p:nvSpPr>
          <p:cNvPr id="7" name="Text 4"/>
          <p:cNvSpPr/>
          <p:nvPr/>
        </p:nvSpPr>
        <p:spPr>
          <a:xfrm>
            <a:off x="6035040" y="3520440"/>
            <a:ext cx="5577840" cy="1188720"/>
          </a:xfrm>
          <a:prstGeom prst="rect">
            <a:avLst/>
          </a:prstGeom>
          <a:noFill/>
          <a:ln/>
        </p:spPr>
        <p:txBody>
          <a:bodyPr wrap="square" lIns="0" tIns="0" rIns="0" bIns="0" rtlCol="0" anchor="ctr"/>
          <a:lstStyle/>
          <a:p>
            <a:pPr marL="0" indent="0">
              <a:lnSpc>
                <a:spcPct val="125000"/>
              </a:lnSpc>
              <a:buNone/>
            </a:pPr>
            <a:r>
              <a:rPr lang="en-US" sz="1400" dirty="0">
                <a:solidFill>
                  <a:srgbClr val="5A5F73"/>
                </a:solidFill>
                <a:latin typeface="Calibri" pitchFamily="34" charset="0"/>
                <a:ea typeface="Calibri" pitchFamily="34" charset="-122"/>
                <a:cs typeface="Calibri" pitchFamily="34" charset="-120"/>
              </a:rPr>
              <a:t>Solo el 4.75% de los créditos cae en mora (511 de 10,763). Un modelo que prediga siempre “paga a tiempo” acertaría el 95.25% de las veces sin aprender nada útil.</a:t>
            </a:r>
            <a:endParaRPr lang="en-US" sz="1400" dirty="0"/>
          </a:p>
        </p:txBody>
      </p:sp>
      <p:sp>
        <p:nvSpPr>
          <p:cNvPr id="8" name="Shape 5"/>
          <p:cNvSpPr/>
          <p:nvPr/>
        </p:nvSpPr>
        <p:spPr>
          <a:xfrm>
            <a:off x="6035040" y="4846320"/>
            <a:ext cx="5577840" cy="1051560"/>
          </a:xfrm>
          <a:prstGeom prst="roundRect">
            <a:avLst>
              <a:gd name="adj" fmla="val 6957"/>
            </a:avLst>
          </a:prstGeom>
          <a:solidFill>
            <a:srgbClr val="F4F7FC"/>
          </a:solidFill>
          <a:ln/>
        </p:spPr>
        <p:txBody>
          <a:bodyPr/>
          <a:lstStyle/>
          <a:p>
            <a:endParaRPr lang="es-CO"/>
          </a:p>
        </p:txBody>
      </p:sp>
      <p:sp>
        <p:nvSpPr>
          <p:cNvPr id="9" name="Text 6"/>
          <p:cNvSpPr/>
          <p:nvPr/>
        </p:nvSpPr>
        <p:spPr>
          <a:xfrm>
            <a:off x="6263640" y="4937760"/>
            <a:ext cx="5120640" cy="868680"/>
          </a:xfrm>
          <a:prstGeom prst="rect">
            <a:avLst/>
          </a:prstGeom>
          <a:noFill/>
          <a:ln/>
        </p:spPr>
        <p:txBody>
          <a:bodyPr wrap="square" lIns="0" tIns="0" rIns="0" bIns="0" rtlCol="0" anchor="ctr"/>
          <a:lstStyle/>
          <a:p>
            <a:pPr marL="0" indent="0">
              <a:lnSpc>
                <a:spcPct val="120000"/>
              </a:lnSpc>
              <a:buNone/>
            </a:pPr>
            <a:r>
              <a:rPr lang="en-US" sz="1250" b="1" dirty="0">
                <a:solidFill>
                  <a:srgbClr val="1E2761"/>
                </a:solidFill>
                <a:latin typeface="Calibri" pitchFamily="34" charset="0"/>
                <a:ea typeface="Calibri" pitchFamily="34" charset="-122"/>
                <a:cs typeface="Calibri" pitchFamily="34" charset="-120"/>
              </a:rPr>
              <a:t>Implicación: </a:t>
            </a:r>
            <a:r>
              <a:rPr lang="en-US" sz="1250" dirty="0">
                <a:solidFill>
                  <a:srgbClr val="5A5F73"/>
                </a:solidFill>
                <a:latin typeface="Calibri" pitchFamily="34" charset="0"/>
                <a:ea typeface="Calibri" pitchFamily="34" charset="-122"/>
                <a:cs typeface="Calibri" pitchFamily="34" charset="-120"/>
              </a:rPr>
              <a:t>la exactitud (accuracy) no sirve como métrica. Se debe evaluar con recall, F1 y AUC-PR sobre la clase minoritaria.</a:t>
            </a:r>
            <a:endParaRPr lang="en-US" sz="1250" dirty="0"/>
          </a:p>
        </p:txBody>
      </p:sp>
      <p:sp>
        <p:nvSpPr>
          <p:cNvPr id="10" name="Text 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1" name="Text 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1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La mora previa es la señal más potente</a:t>
            </a:r>
            <a:endParaRPr lang="en-US" sz="3000" dirty="0"/>
          </a:p>
        </p:txBody>
      </p:sp>
      <p:graphicFrame>
        <p:nvGraphicFramePr>
          <p:cNvPr id="4" name="Chart 0"/>
          <p:cNvGraphicFramePr/>
          <p:nvPr/>
        </p:nvGraphicFramePr>
        <p:xfrm>
          <a:off x="548640" y="1920240"/>
          <a:ext cx="57607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858000" y="1965960"/>
            <a:ext cx="4754880" cy="1005840"/>
          </a:xfrm>
          <a:prstGeom prst="rect">
            <a:avLst/>
          </a:prstGeom>
          <a:noFill/>
          <a:ln/>
        </p:spPr>
        <p:txBody>
          <a:bodyPr wrap="square" lIns="0" tIns="0" rIns="0" bIns="0" rtlCol="0" anchor="ctr"/>
          <a:lstStyle/>
          <a:p>
            <a:pPr marL="0" indent="0">
              <a:buNone/>
            </a:pPr>
            <a:r>
              <a:rPr lang="en-US" sz="5400" b="1" dirty="0">
                <a:solidFill>
                  <a:srgbClr val="B33A3A"/>
                </a:solidFill>
                <a:latin typeface="Cambria" pitchFamily="34" charset="0"/>
                <a:ea typeface="Cambria" pitchFamily="34" charset="-122"/>
                <a:cs typeface="Cambria" pitchFamily="34" charset="-120"/>
              </a:rPr>
              <a:t>8x</a:t>
            </a:r>
            <a:endParaRPr lang="en-US" sz="5400" dirty="0"/>
          </a:p>
        </p:txBody>
      </p:sp>
      <p:sp>
        <p:nvSpPr>
          <p:cNvPr id="6" name="Text 3"/>
          <p:cNvSpPr/>
          <p:nvPr/>
        </p:nvSpPr>
        <p:spPr>
          <a:xfrm>
            <a:off x="6858000" y="2880360"/>
            <a:ext cx="4754880" cy="822960"/>
          </a:xfrm>
          <a:prstGeom prst="rect">
            <a:avLst/>
          </a:prstGeom>
          <a:noFill/>
          <a:ln/>
        </p:spPr>
        <p:txBody>
          <a:bodyPr wrap="square" lIns="0" tIns="0" rIns="0" bIns="0" rtlCol="0" anchor="ctr"/>
          <a:lstStyle/>
          <a:p>
            <a:pPr marL="0" indent="0">
              <a:lnSpc>
                <a:spcPct val="120000"/>
              </a:lnSpc>
              <a:buNone/>
            </a:pPr>
            <a:r>
              <a:rPr lang="en-US" sz="1500" dirty="0">
                <a:solidFill>
                  <a:srgbClr val="5A5F73"/>
                </a:solidFill>
                <a:latin typeface="Calibri" pitchFamily="34" charset="0"/>
                <a:ea typeface="Calibri" pitchFamily="34" charset="-122"/>
                <a:cs typeface="Calibri" pitchFamily="34" charset="-120"/>
              </a:rPr>
              <a:t>más riesgo de mora si el cliente ya tiene saldo en mora registrado</a:t>
            </a:r>
            <a:endParaRPr lang="en-US" sz="1500" dirty="0"/>
          </a:p>
        </p:txBody>
      </p:sp>
      <p:sp>
        <p:nvSpPr>
          <p:cNvPr id="7" name="Shape 4"/>
          <p:cNvSpPr/>
          <p:nvPr/>
        </p:nvSpPr>
        <p:spPr>
          <a:xfrm>
            <a:off x="6858000" y="3886200"/>
            <a:ext cx="47548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7086600" y="4023360"/>
            <a:ext cx="4297680" cy="1463040"/>
          </a:xfrm>
          <a:prstGeom prst="rect">
            <a:avLst/>
          </a:prstGeom>
          <a:noFill/>
          <a:ln/>
        </p:spPr>
        <p:txBody>
          <a:bodyPr wrap="square" lIns="0" tIns="0" rIns="0" bIns="0" rtlCol="0" anchor="t"/>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Correlación más alta de todo el análisis </a:t>
            </a:r>
            <a:r>
              <a:rPr lang="en-US" sz="1200" dirty="0">
                <a:solidFill>
                  <a:srgbClr val="5A5F73"/>
                </a:solidFill>
                <a:latin typeface="Calibri" pitchFamily="34" charset="0"/>
                <a:ea typeface="Calibri" pitchFamily="34" charset="-122"/>
                <a:cs typeface="Calibri" pitchFamily="34" charset="-120"/>
              </a:rPr>
              <a:t>(r = 0.107), por encima de cualquier variable original del dataset.
</a:t>
            </a:r>
            <a:endParaRPr lang="en-US" sz="1200" dirty="0"/>
          </a:p>
          <a:p>
            <a:pPr marL="0" indent="0">
              <a:lnSpc>
                <a:spcPct val="120000"/>
              </a:lnSpc>
              <a:buNone/>
            </a:pPr>
            <a:r>
              <a:rPr lang="en-US" sz="1200" b="1" dirty="0">
                <a:solidFill>
                  <a:srgbClr val="B33A3A"/>
                </a:solidFill>
                <a:latin typeface="Calibri" pitchFamily="34" charset="0"/>
                <a:ea typeface="Calibri" pitchFamily="34" charset="-122"/>
                <a:cs typeface="Calibri" pitchFamily="34" charset="-120"/>
              </a:rPr>
              <a:t>Con cautela: </a:t>
            </a:r>
            <a:r>
              <a:rPr lang="en-US" sz="1200" dirty="0">
                <a:solidFill>
                  <a:srgbClr val="5A5F73"/>
                </a:solidFill>
                <a:latin typeface="Calibri" pitchFamily="34" charset="0"/>
                <a:ea typeface="Calibri" pitchFamily="34" charset="-122"/>
                <a:cs typeface="Calibri" pitchFamily="34" charset="-120"/>
              </a:rPr>
              <a:t>solo 55 registros — no es una conclusión definitiva, pero sí una alerta temprana de alto valor.</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2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tipo de crédito 6 concentra el riesgo</a:t>
            </a:r>
            <a:endParaRPr lang="en-US" sz="3000" dirty="0"/>
          </a:p>
        </p:txBody>
      </p:sp>
      <p:graphicFrame>
        <p:nvGraphicFramePr>
          <p:cNvPr id="4" name="Chart 0"/>
          <p:cNvGraphicFramePr/>
          <p:nvPr/>
        </p:nvGraphicFramePr>
        <p:xfrm>
          <a:off x="548640" y="1965960"/>
          <a:ext cx="74066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229600" y="2148840"/>
            <a:ext cx="3383280" cy="777240"/>
          </a:xfrm>
          <a:prstGeom prst="rect">
            <a:avLst/>
          </a:prstGeom>
          <a:noFill/>
          <a:ln/>
        </p:spPr>
        <p:txBody>
          <a:bodyPr wrap="square" lIns="0" tIns="0" rIns="0" bIns="0" rtlCol="0" anchor="ctr"/>
          <a:lstStyle/>
          <a:p>
            <a:pPr marL="0" indent="0">
              <a:buNone/>
            </a:pPr>
            <a:r>
              <a:rPr lang="en-US" sz="3600" b="1" dirty="0">
                <a:solidFill>
                  <a:srgbClr val="B33A3A"/>
                </a:solidFill>
                <a:latin typeface="Cambria" pitchFamily="34" charset="0"/>
                <a:ea typeface="Cambria" pitchFamily="34" charset="-122"/>
                <a:cs typeface="Cambria" pitchFamily="34" charset="-120"/>
              </a:rPr>
              <a:t>42.9%</a:t>
            </a:r>
            <a:endParaRPr lang="en-US" sz="3600" dirty="0"/>
          </a:p>
        </p:txBody>
      </p:sp>
      <p:sp>
        <p:nvSpPr>
          <p:cNvPr id="6" name="Text 3"/>
          <p:cNvSpPr/>
          <p:nvPr/>
        </p:nvSpPr>
        <p:spPr>
          <a:xfrm>
            <a:off x="8229600" y="2926080"/>
            <a:ext cx="3383280" cy="1005840"/>
          </a:xfrm>
          <a:prstGeom prst="rect">
            <a:avLst/>
          </a:prstGeom>
          <a:noFill/>
          <a:ln/>
        </p:spPr>
        <p:txBody>
          <a:bodyPr wrap="square" lIns="0" tIns="0" rIns="0" bIns="0" rtlCol="0" anchor="ctr"/>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6, casi 9 veces el promedio general (4.75%)</a:t>
            </a:r>
            <a:endParaRPr lang="en-US" sz="1300" dirty="0"/>
          </a:p>
        </p:txBody>
      </p:sp>
      <p:sp>
        <p:nvSpPr>
          <p:cNvPr id="7" name="Shape 4"/>
          <p:cNvSpPr/>
          <p:nvPr/>
        </p:nvSpPr>
        <p:spPr>
          <a:xfrm>
            <a:off x="8229600" y="4160520"/>
            <a:ext cx="33832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8458200" y="4297680"/>
            <a:ext cx="2926080" cy="1463040"/>
          </a:xfrm>
          <a:prstGeom prst="rect">
            <a:avLst/>
          </a:prstGeom>
          <a:noFill/>
          <a:ln/>
        </p:spPr>
        <p:txBody>
          <a:bodyPr wrap="square" lIns="0" tIns="0" rIns="0" bIns="0" rtlCol="0" anchor="t"/>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Muestra pequeña (21 registros): señal de alerta a priorizar, no una conclusión estadística definitiva. Amerita investigación con el área de producto.</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3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Depurar los datos fortaleció la señal</a:t>
            </a:r>
            <a:endParaRPr lang="en-US" sz="3000" dirty="0"/>
          </a:p>
        </p:txBody>
      </p:sp>
      <p:graphicFrame>
        <p:nvGraphicFramePr>
          <p:cNvPr id="4" name="Chart 0"/>
          <p:cNvGraphicFramePr/>
          <p:nvPr/>
        </p:nvGraphicFramePr>
        <p:xfrm>
          <a:off x="548640" y="1874520"/>
          <a:ext cx="77724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503920" y="2194560"/>
            <a:ext cx="3108960" cy="731520"/>
          </a:xfrm>
          <a:prstGeom prst="rect">
            <a:avLst/>
          </a:prstGeom>
          <a:noFill/>
          <a:ln/>
        </p:spPr>
        <p:txBody>
          <a:bodyPr wrap="square" lIns="0" tIns="0" rIns="0" bIns="0" rtlCol="0" anchor="ctr"/>
          <a:lstStyle/>
          <a:p>
            <a:pPr marL="0" indent="0">
              <a:buNone/>
            </a:pPr>
            <a:r>
              <a:rPr lang="en-US" sz="3600" b="1" dirty="0">
                <a:solidFill>
                  <a:srgbClr val="B33A3A"/>
                </a:solidFill>
                <a:latin typeface="Cambria" pitchFamily="34" charset="0"/>
                <a:ea typeface="Cambria" pitchFamily="34" charset="-122"/>
                <a:cs typeface="Cambria" pitchFamily="34" charset="-120"/>
              </a:rPr>
              <a:t>+78%</a:t>
            </a:r>
            <a:endParaRPr lang="en-US" sz="3600" dirty="0"/>
          </a:p>
        </p:txBody>
      </p:sp>
      <p:sp>
        <p:nvSpPr>
          <p:cNvPr id="6" name="Text 3"/>
          <p:cNvSpPr/>
          <p:nvPr/>
        </p:nvSpPr>
        <p:spPr>
          <a:xfrm>
            <a:off x="8503920" y="2971800"/>
            <a:ext cx="3108960" cy="1005840"/>
          </a:xfrm>
          <a:prstGeom prst="rect">
            <a:avLst/>
          </a:prstGeom>
          <a:noFill/>
          <a:ln/>
        </p:spPr>
        <p:txBody>
          <a:bodyPr wrap="square" lIns="0" tIns="0" rIns="0" bIns="0" rtlCol="0" anchor="ctr"/>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mejoró el poder predictivo del score al depurar los 153 valores inválidos (de 0.068 a 0.121)</a:t>
            </a:r>
            <a:endParaRPr lang="en-US" sz="1300" dirty="0"/>
          </a:p>
        </p:txBody>
      </p:sp>
      <p:sp>
        <p:nvSpPr>
          <p:cNvPr id="7" name="Text 4"/>
          <p:cNvSpPr/>
          <p:nvPr/>
        </p:nvSpPr>
        <p:spPr>
          <a:xfrm>
            <a:off x="8503920" y="4114800"/>
            <a:ext cx="3108960" cy="1554480"/>
          </a:xfrm>
          <a:prstGeom prst="rect">
            <a:avLst/>
          </a:prstGeom>
          <a:noFill/>
          <a:ln/>
        </p:spPr>
        <p:txBody>
          <a:bodyPr wrap="square" lIns="0" tIns="0" rIns="0" bIns="0" rtlCol="0" anchor="ctr"/>
          <a:lstStyle/>
          <a:p>
            <a:pPr marL="0" indent="0">
              <a:lnSpc>
                <a:spcPct val="125000"/>
              </a:lnSpc>
              <a:buNone/>
            </a:pPr>
            <a:r>
              <a:rPr lang="en-US" sz="1250" dirty="0">
                <a:solidFill>
                  <a:srgbClr val="5A5F73"/>
                </a:solidFill>
                <a:latin typeface="Calibri" pitchFamily="34" charset="0"/>
                <a:ea typeface="Calibri" pitchFamily="34" charset="-122"/>
                <a:cs typeface="Calibri" pitchFamily="34" charset="-120"/>
              </a:rPr>
              <a:t>La señal está en la combinación de variables, no en reglas simples de una sola columna. Justifica el uso de modelos multivariados.</a:t>
            </a:r>
            <a:endParaRPr lang="en-US" sz="1250" dirty="0"/>
          </a:p>
        </p:txBody>
      </p:sp>
      <p:sp>
        <p:nvSpPr>
          <p:cNvPr id="8" name="Text 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9" name="Text 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4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Atributos derivados: propuestas de alto valor</a:t>
            </a:r>
            <a:endParaRPr lang="en-US" sz="3000" dirty="0"/>
          </a:p>
        </p:txBody>
      </p:sp>
      <p:sp>
        <p:nvSpPr>
          <p:cNvPr id="4" name="Text 2"/>
          <p:cNvSpPr/>
          <p:nvPr/>
        </p:nvSpPr>
        <p:spPr>
          <a:xfrm>
            <a:off x="548640" y="1920240"/>
            <a:ext cx="292608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Variable</a:t>
            </a:r>
            <a:endParaRPr lang="en-US" sz="1100" dirty="0"/>
          </a:p>
        </p:txBody>
      </p:sp>
      <p:sp>
        <p:nvSpPr>
          <p:cNvPr id="5" name="Text 3"/>
          <p:cNvSpPr/>
          <p:nvPr/>
        </p:nvSpPr>
        <p:spPr>
          <a:xfrm>
            <a:off x="3474720" y="1920240"/>
            <a:ext cx="16459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Origen</a:t>
            </a:r>
            <a:endParaRPr lang="en-US" sz="1100" dirty="0"/>
          </a:p>
        </p:txBody>
      </p:sp>
      <p:sp>
        <p:nvSpPr>
          <p:cNvPr id="6" name="Text 4"/>
          <p:cNvSpPr/>
          <p:nvPr/>
        </p:nvSpPr>
        <p:spPr>
          <a:xfrm>
            <a:off x="5120640" y="1920240"/>
            <a:ext cx="21031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Correlación</a:t>
            </a:r>
            <a:endParaRPr lang="en-US" sz="1100" dirty="0"/>
          </a:p>
        </p:txBody>
      </p:sp>
      <p:sp>
        <p:nvSpPr>
          <p:cNvPr id="7" name="Shape 5"/>
          <p:cNvSpPr/>
          <p:nvPr/>
        </p:nvSpPr>
        <p:spPr>
          <a:xfrm>
            <a:off x="548640" y="2331720"/>
            <a:ext cx="6675120" cy="731520"/>
          </a:xfrm>
          <a:prstGeom prst="roundRect">
            <a:avLst>
              <a:gd name="adj" fmla="val 7500"/>
            </a:avLst>
          </a:prstGeom>
          <a:solidFill>
            <a:srgbClr val="FBEAEA"/>
          </a:solidFill>
          <a:ln/>
        </p:spPr>
        <p:txBody>
          <a:bodyPr/>
          <a:lstStyle/>
          <a:p>
            <a:endParaRPr lang="es-CO"/>
          </a:p>
        </p:txBody>
      </p:sp>
      <p:sp>
        <p:nvSpPr>
          <p:cNvPr id="8" name="Text 6"/>
          <p:cNvSpPr/>
          <p:nvPr/>
        </p:nvSpPr>
        <p:spPr>
          <a:xfrm>
            <a:off x="777240" y="233172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tiene_mora_previa</a:t>
            </a:r>
            <a:endParaRPr lang="en-US" sz="1400" dirty="0"/>
          </a:p>
        </p:txBody>
      </p:sp>
      <p:sp>
        <p:nvSpPr>
          <p:cNvPr id="9" name="Text 7"/>
          <p:cNvSpPr/>
          <p:nvPr/>
        </p:nvSpPr>
        <p:spPr>
          <a:xfrm>
            <a:off x="3474720" y="233172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0" name="Text 8"/>
          <p:cNvSpPr/>
          <p:nvPr/>
        </p:nvSpPr>
        <p:spPr>
          <a:xfrm>
            <a:off x="5120640" y="233172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0.107</a:t>
            </a:r>
            <a:endParaRPr lang="en-US" sz="1500" dirty="0"/>
          </a:p>
        </p:txBody>
      </p:sp>
      <p:sp>
        <p:nvSpPr>
          <p:cNvPr id="11" name="Shape 9"/>
          <p:cNvSpPr/>
          <p:nvPr/>
        </p:nvSpPr>
        <p:spPr>
          <a:xfrm>
            <a:off x="548640" y="3200400"/>
            <a:ext cx="6675120" cy="731520"/>
          </a:xfrm>
          <a:prstGeom prst="roundRect">
            <a:avLst>
              <a:gd name="adj" fmla="val 7500"/>
            </a:avLst>
          </a:prstGeom>
          <a:solidFill>
            <a:srgbClr val="FBEAEA"/>
          </a:solidFill>
          <a:ln/>
        </p:spPr>
        <p:txBody>
          <a:bodyPr/>
          <a:lstStyle/>
          <a:p>
            <a:endParaRPr lang="es-CO"/>
          </a:p>
        </p:txBody>
      </p:sp>
      <p:sp>
        <p:nvSpPr>
          <p:cNvPr id="12" name="Text 10"/>
          <p:cNvSpPr/>
          <p:nvPr/>
        </p:nvSpPr>
        <p:spPr>
          <a:xfrm>
            <a:off x="777240" y="320040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consultas_por_credito</a:t>
            </a:r>
            <a:endParaRPr lang="en-US" sz="1400" dirty="0"/>
          </a:p>
        </p:txBody>
      </p:sp>
      <p:sp>
        <p:nvSpPr>
          <p:cNvPr id="13" name="Text 11"/>
          <p:cNvSpPr/>
          <p:nvPr/>
        </p:nvSpPr>
        <p:spPr>
          <a:xfrm>
            <a:off x="3474720" y="320040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4" name="Text 12"/>
          <p:cNvSpPr/>
          <p:nvPr/>
        </p:nvSpPr>
        <p:spPr>
          <a:xfrm>
            <a:off x="5120640" y="320040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0.077</a:t>
            </a:r>
            <a:endParaRPr lang="en-US" sz="1500" dirty="0"/>
          </a:p>
        </p:txBody>
      </p:sp>
      <p:sp>
        <p:nvSpPr>
          <p:cNvPr id="15" name="Shape 13"/>
          <p:cNvSpPr/>
          <p:nvPr/>
        </p:nvSpPr>
        <p:spPr>
          <a:xfrm>
            <a:off x="548640" y="4069080"/>
            <a:ext cx="6675120" cy="731520"/>
          </a:xfrm>
          <a:prstGeom prst="roundRect">
            <a:avLst>
              <a:gd name="adj" fmla="val 7500"/>
            </a:avLst>
          </a:prstGeom>
          <a:solidFill>
            <a:srgbClr val="F4F7FC"/>
          </a:solidFill>
          <a:ln/>
        </p:spPr>
        <p:txBody>
          <a:bodyPr/>
          <a:lstStyle/>
          <a:p>
            <a:endParaRPr lang="es-CO"/>
          </a:p>
        </p:txBody>
      </p:sp>
      <p:sp>
        <p:nvSpPr>
          <p:cNvPr id="16" name="Text 14"/>
          <p:cNvSpPr/>
          <p:nvPr/>
        </p:nvSpPr>
        <p:spPr>
          <a:xfrm>
            <a:off x="777240" y="406908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huella_consulta</a:t>
            </a:r>
            <a:endParaRPr lang="en-US" sz="1400" dirty="0"/>
          </a:p>
        </p:txBody>
      </p:sp>
      <p:sp>
        <p:nvSpPr>
          <p:cNvPr id="17" name="Text 15"/>
          <p:cNvSpPr/>
          <p:nvPr/>
        </p:nvSpPr>
        <p:spPr>
          <a:xfrm>
            <a:off x="3474720" y="406908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18" name="Text 16"/>
          <p:cNvSpPr/>
          <p:nvPr/>
        </p:nvSpPr>
        <p:spPr>
          <a:xfrm>
            <a:off x="5120640" y="406908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0.074</a:t>
            </a:r>
            <a:endParaRPr lang="en-US" sz="1500" dirty="0"/>
          </a:p>
        </p:txBody>
      </p:sp>
      <p:sp>
        <p:nvSpPr>
          <p:cNvPr id="19" name="Shape 17"/>
          <p:cNvSpPr/>
          <p:nvPr/>
        </p:nvSpPr>
        <p:spPr>
          <a:xfrm>
            <a:off x="548640" y="4937760"/>
            <a:ext cx="6675120" cy="731520"/>
          </a:xfrm>
          <a:prstGeom prst="roundRect">
            <a:avLst>
              <a:gd name="adj" fmla="val 7500"/>
            </a:avLst>
          </a:prstGeom>
          <a:solidFill>
            <a:srgbClr val="F4F7FC"/>
          </a:solidFill>
          <a:ln/>
        </p:spPr>
        <p:txBody>
          <a:bodyPr/>
          <a:lstStyle/>
          <a:p>
            <a:endParaRPr lang="es-CO"/>
          </a:p>
        </p:txBody>
      </p:sp>
      <p:sp>
        <p:nvSpPr>
          <p:cNvPr id="20" name="Text 18"/>
          <p:cNvSpPr/>
          <p:nvPr/>
        </p:nvSpPr>
        <p:spPr>
          <a:xfrm>
            <a:off x="777240" y="493776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saldo_mora</a:t>
            </a:r>
            <a:endParaRPr lang="en-US" sz="1400" dirty="0"/>
          </a:p>
        </p:txBody>
      </p:sp>
      <p:sp>
        <p:nvSpPr>
          <p:cNvPr id="21" name="Text 19"/>
          <p:cNvSpPr/>
          <p:nvPr/>
        </p:nvSpPr>
        <p:spPr>
          <a:xfrm>
            <a:off x="3474720" y="493776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22" name="Text 20"/>
          <p:cNvSpPr/>
          <p:nvPr/>
        </p:nvSpPr>
        <p:spPr>
          <a:xfrm>
            <a:off x="5120640" y="493776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0.073</a:t>
            </a:r>
            <a:endParaRPr lang="en-US" sz="1500" dirty="0"/>
          </a:p>
        </p:txBody>
      </p:sp>
      <p:sp>
        <p:nvSpPr>
          <p:cNvPr id="23" name="Shape 21"/>
          <p:cNvSpPr/>
          <p:nvPr/>
        </p:nvSpPr>
        <p:spPr>
          <a:xfrm>
            <a:off x="7589520" y="1965960"/>
            <a:ext cx="4023360" cy="4160520"/>
          </a:xfrm>
          <a:prstGeom prst="roundRect">
            <a:avLst>
              <a:gd name="adj" fmla="val 1818"/>
            </a:avLst>
          </a:prstGeom>
          <a:solidFill>
            <a:srgbClr val="1E2761"/>
          </a:solidFill>
          <a:ln/>
        </p:spPr>
        <p:txBody>
          <a:bodyPr/>
          <a:lstStyle/>
          <a:p>
            <a:endParaRPr lang="es-CO"/>
          </a:p>
        </p:txBody>
      </p:sp>
      <p:sp>
        <p:nvSpPr>
          <p:cNvPr id="24" name="Text 22"/>
          <p:cNvSpPr/>
          <p:nvPr/>
        </p:nvSpPr>
        <p:spPr>
          <a:xfrm>
            <a:off x="7863840" y="2240280"/>
            <a:ext cx="3474720" cy="548640"/>
          </a:xfrm>
          <a:prstGeom prst="rect">
            <a:avLst/>
          </a:prstGeom>
          <a:noFill/>
          <a:ln/>
        </p:spPr>
        <p:txBody>
          <a:bodyPr wrap="square" lIns="0" tIns="0" rIns="0" bIns="0" rtlCol="0" anchor="ctr"/>
          <a:lstStyle/>
          <a:p>
            <a:pPr marL="0" indent="0">
              <a:buNone/>
            </a:pPr>
            <a:r>
              <a:rPr lang="en-US" sz="2300" b="1" dirty="0">
                <a:solidFill>
                  <a:srgbClr val="FFFFFF"/>
                </a:solidFill>
                <a:latin typeface="Cambria" pitchFamily="34" charset="0"/>
                <a:ea typeface="Cambria" pitchFamily="34" charset="-122"/>
                <a:cs typeface="Cambria" pitchFamily="34" charset="-120"/>
              </a:rPr>
              <a:t>Propuestas</a:t>
            </a:r>
            <a:endParaRPr lang="en-US" sz="2300" dirty="0"/>
          </a:p>
        </p:txBody>
      </p:sp>
      <p:sp>
        <p:nvSpPr>
          <p:cNvPr id="25" name="Text 23"/>
          <p:cNvSpPr/>
          <p:nvPr/>
        </p:nvSpPr>
        <p:spPr>
          <a:xfrm>
            <a:off x="7863840" y="2834640"/>
            <a:ext cx="3474720" cy="1143000"/>
          </a:xfrm>
          <a:prstGeom prst="rect">
            <a:avLst/>
          </a:prstGeom>
          <a:noFill/>
          <a:ln/>
        </p:spPr>
        <p:txBody>
          <a:bodyPr wrap="square" lIns="0" tIns="0" rIns="0" bIns="0" rtlCol="0" anchor="ctr"/>
          <a:lstStyle/>
          <a:p>
            <a:pPr marL="0" indent="0">
              <a:lnSpc>
                <a:spcPct val="120000"/>
              </a:lnSpc>
              <a:buNone/>
            </a:pPr>
            <a:r>
              <a:rPr lang="en-US" sz="1200" dirty="0">
                <a:solidFill>
                  <a:srgbClr val="CADCFC"/>
                </a:solidFill>
                <a:latin typeface="Calibri" pitchFamily="34" charset="0"/>
                <a:ea typeface="Calibri" pitchFamily="34" charset="-122"/>
                <a:cs typeface="Calibri" pitchFamily="34" charset="-120"/>
              </a:rPr>
              <a:t>Identificadas y evaluadas durante el EDA. Se implementarán en la Fase 2; ninguna se incorporó al dataset limpio.</a:t>
            </a:r>
            <a:endParaRPr lang="en-US" sz="1200" dirty="0"/>
          </a:p>
        </p:txBody>
      </p:sp>
      <p:sp>
        <p:nvSpPr>
          <p:cNvPr id="26" name="Text 24"/>
          <p:cNvSpPr/>
          <p:nvPr/>
        </p:nvSpPr>
        <p:spPr>
          <a:xfrm>
            <a:off x="7863840" y="4069080"/>
            <a:ext cx="3474720" cy="1874520"/>
          </a:xfrm>
          <a:prstGeom prst="rect">
            <a:avLst/>
          </a:prstGeom>
          <a:noFill/>
          <a:ln/>
        </p:spPr>
        <p:txBody>
          <a:bodyPr wrap="square" lIns="0" tIns="0" rIns="0" bIns="0" rtlCol="0" anchor="ctr"/>
          <a:lstStyle/>
          <a:p>
            <a:pPr marL="0" indent="0">
              <a:lnSpc>
                <a:spcPct val="125000"/>
              </a:lnSpc>
              <a:buNone/>
            </a:pPr>
            <a:r>
              <a:rPr lang="en-US" sz="1200" dirty="0">
                <a:solidFill>
                  <a:srgbClr val="CADCFC"/>
                </a:solidFill>
                <a:latin typeface="Calibri" pitchFamily="34" charset="0"/>
                <a:ea typeface="Calibri" pitchFamily="34" charset="-122"/>
                <a:cs typeface="Calibri" pitchFamily="34" charset="-120"/>
              </a:rPr>
              <a:t>Los ratios clásicos de capacidad de pago (cuota/ingreso, deuda/ingreso) resultaron casi nulos: un indicador estándar del sector no siempre funciona sin validarse empíricamente.</a:t>
            </a:r>
            <a:endParaRPr lang="en-US" sz="1200" dirty="0"/>
          </a:p>
        </p:txBody>
      </p:sp>
      <p:sp>
        <p:nvSpPr>
          <p:cNvPr id="27" name="Text 2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8" name="Text 2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ANÁLISIS MULTIVARIADO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Relaciones entre variables</a:t>
            </a:r>
            <a:endParaRPr lang="en-US" sz="3000" dirty="0"/>
          </a:p>
        </p:txBody>
      </p:sp>
      <p:sp>
        <p:nvSpPr>
          <p:cNvPr id="4" name="Shape 2"/>
          <p:cNvSpPr/>
          <p:nvPr/>
        </p:nvSpPr>
        <p:spPr>
          <a:xfrm>
            <a:off x="548640" y="1965960"/>
            <a:ext cx="2670048" cy="1920240"/>
          </a:xfrm>
          <a:prstGeom prst="roundRect">
            <a:avLst>
              <a:gd name="adj" fmla="val 3810"/>
            </a:avLst>
          </a:prstGeom>
          <a:solidFill>
            <a:srgbClr val="1E2761"/>
          </a:solidFill>
          <a:ln/>
        </p:spPr>
        <p:txBody>
          <a:bodyPr/>
          <a:lstStyle/>
          <a:p>
            <a:endParaRPr lang="es-CO"/>
          </a:p>
        </p:txBody>
      </p:sp>
      <p:sp>
        <p:nvSpPr>
          <p:cNvPr id="5" name="Text 3"/>
          <p:cNvSpPr/>
          <p:nvPr/>
        </p:nvSpPr>
        <p:spPr>
          <a:xfrm>
            <a:off x="804672" y="2221992"/>
            <a:ext cx="2157984" cy="685800"/>
          </a:xfrm>
          <a:prstGeom prst="rect">
            <a:avLst/>
          </a:prstGeom>
          <a:noFill/>
          <a:ln/>
        </p:spPr>
        <p:txBody>
          <a:bodyPr wrap="square" lIns="0" tIns="0" rIns="0" bIns="0" rtlCol="0" anchor="t"/>
          <a:lstStyle/>
          <a:p>
            <a:pPr marL="0" indent="0">
              <a:buNone/>
            </a:pPr>
            <a:r>
              <a:rPr lang="en-US" sz="1400" b="1" dirty="0">
                <a:solidFill>
                  <a:srgbClr val="FFFFFF"/>
                </a:solidFill>
                <a:latin typeface="Calibri" pitchFamily="34" charset="0"/>
                <a:ea typeface="Calibri" pitchFamily="34" charset="-122"/>
                <a:cs typeface="Calibri" pitchFamily="34" charset="-120"/>
              </a:rPr>
              <a:t>Matriz de correlación</a:t>
            </a:r>
            <a:endParaRPr lang="en-US" sz="1400" dirty="0"/>
          </a:p>
        </p:txBody>
      </p:sp>
      <p:sp>
        <p:nvSpPr>
          <p:cNvPr id="6" name="Text 4"/>
          <p:cNvSpPr/>
          <p:nvPr/>
        </p:nvSpPr>
        <p:spPr>
          <a:xfrm>
            <a:off x="804672"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Sobre variables cuantitativas.</a:t>
            </a:r>
            <a:endParaRPr lang="en-US" sz="1100" dirty="0"/>
          </a:p>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Detecta multicolinealidad:</a:t>
            </a:r>
            <a:endParaRPr lang="en-US" sz="1100" dirty="0"/>
          </a:p>
          <a:p>
            <a:pPr marL="0" indent="0">
              <a:lnSpc>
                <a:spcPct val="120000"/>
              </a:lnSpc>
              <a:buNone/>
            </a:pPr>
            <a:r>
              <a:rPr lang="en-US" sz="1100" dirty="0">
                <a:solidFill>
                  <a:srgbClr val="CADCFC"/>
                </a:solidFill>
                <a:latin typeface="Calibri" pitchFamily="34" charset="0"/>
                <a:ea typeface="Calibri" pitchFamily="34" charset="-122"/>
                <a:cs typeface="Calibri" pitchFamily="34" charset="-120"/>
              </a:rPr>
              <a:t>capital vs cuota (r = 0.764)</a:t>
            </a:r>
            <a:endParaRPr lang="en-US" sz="1100" dirty="0"/>
          </a:p>
        </p:txBody>
      </p:sp>
      <p:sp>
        <p:nvSpPr>
          <p:cNvPr id="7" name="Shape 5"/>
          <p:cNvSpPr/>
          <p:nvPr/>
        </p:nvSpPr>
        <p:spPr>
          <a:xfrm>
            <a:off x="3438144" y="1965960"/>
            <a:ext cx="2670048" cy="1920240"/>
          </a:xfrm>
          <a:prstGeom prst="roundRect">
            <a:avLst>
              <a:gd name="adj" fmla="val 3810"/>
            </a:avLst>
          </a:prstGeom>
          <a:solidFill>
            <a:srgbClr val="F4F7FC"/>
          </a:solidFill>
          <a:ln/>
        </p:spPr>
        <p:txBody>
          <a:bodyPr/>
          <a:lstStyle/>
          <a:p>
            <a:endParaRPr lang="es-CO"/>
          </a:p>
        </p:txBody>
      </p:sp>
      <p:sp>
        <p:nvSpPr>
          <p:cNvPr id="8" name="Text 6"/>
          <p:cNvSpPr/>
          <p:nvPr/>
        </p:nvSpPr>
        <p:spPr>
          <a:xfrm>
            <a:off x="3694176"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Pairplot con hue</a:t>
            </a:r>
            <a:endParaRPr lang="en-US" sz="1400" dirty="0"/>
          </a:p>
        </p:txBody>
      </p:sp>
      <p:sp>
        <p:nvSpPr>
          <p:cNvPr id="9" name="Text 7"/>
          <p:cNvSpPr/>
          <p:nvPr/>
        </p:nvSpPr>
        <p:spPr>
          <a:xfrm>
            <a:off x="3694176"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Muestra de 1.500 registros</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coloreada por resultado de pago</a:t>
            </a:r>
            <a:endParaRPr lang="en-US" sz="1100" dirty="0"/>
          </a:p>
        </p:txBody>
      </p:sp>
      <p:sp>
        <p:nvSpPr>
          <p:cNvPr id="10" name="Shape 8"/>
          <p:cNvSpPr/>
          <p:nvPr/>
        </p:nvSpPr>
        <p:spPr>
          <a:xfrm>
            <a:off x="6327648" y="1965960"/>
            <a:ext cx="2670048" cy="1920240"/>
          </a:xfrm>
          <a:prstGeom prst="roundRect">
            <a:avLst>
              <a:gd name="adj" fmla="val 3810"/>
            </a:avLst>
          </a:prstGeom>
          <a:solidFill>
            <a:srgbClr val="F4F7FC"/>
          </a:solidFill>
          <a:ln/>
        </p:spPr>
        <p:txBody>
          <a:bodyPr/>
          <a:lstStyle/>
          <a:p>
            <a:endParaRPr lang="es-CO"/>
          </a:p>
        </p:txBody>
      </p:sp>
      <p:sp>
        <p:nvSpPr>
          <p:cNvPr id="11" name="Text 9"/>
          <p:cNvSpPr/>
          <p:nvPr/>
        </p:nvSpPr>
        <p:spPr>
          <a:xfrm>
            <a:off x="6583680"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Dispersión entre numéricas</a:t>
            </a:r>
            <a:endParaRPr lang="en-US" sz="1400" dirty="0"/>
          </a:p>
        </p:txBody>
      </p:sp>
      <p:sp>
        <p:nvSpPr>
          <p:cNvPr id="12" name="Text 10"/>
          <p:cNvSpPr/>
          <p:nvPr/>
        </p:nvSpPr>
        <p:spPr>
          <a:xfrm>
            <a:off x="6583680"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Cuatro pares clave,</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diferenciando mora y al día</a:t>
            </a:r>
            <a:endParaRPr lang="en-US" sz="1100" dirty="0"/>
          </a:p>
        </p:txBody>
      </p:sp>
      <p:sp>
        <p:nvSpPr>
          <p:cNvPr id="13" name="Shape 11"/>
          <p:cNvSpPr/>
          <p:nvPr/>
        </p:nvSpPr>
        <p:spPr>
          <a:xfrm>
            <a:off x="9217152" y="1965960"/>
            <a:ext cx="2670048" cy="1920240"/>
          </a:xfrm>
          <a:prstGeom prst="roundRect">
            <a:avLst>
              <a:gd name="adj" fmla="val 3810"/>
            </a:avLst>
          </a:prstGeom>
          <a:solidFill>
            <a:srgbClr val="F4F7FC"/>
          </a:solidFill>
          <a:ln/>
        </p:spPr>
        <p:txBody>
          <a:bodyPr/>
          <a:lstStyle/>
          <a:p>
            <a:endParaRPr lang="es-CO"/>
          </a:p>
        </p:txBody>
      </p:sp>
      <p:sp>
        <p:nvSpPr>
          <p:cNvPr id="14" name="Text 12"/>
          <p:cNvSpPr/>
          <p:nvPr/>
        </p:nvSpPr>
        <p:spPr>
          <a:xfrm>
            <a:off x="9473184" y="2221992"/>
            <a:ext cx="2157984" cy="685800"/>
          </a:xfrm>
          <a:prstGeom prst="rect">
            <a:avLst/>
          </a:prstGeom>
          <a:noFill/>
          <a:ln/>
        </p:spPr>
        <p:txBody>
          <a:bodyPr wrap="square" lIns="0" tIns="0" rIns="0" bIns="0" rtlCol="0" anchor="t"/>
          <a:lstStyle/>
          <a:p>
            <a:pPr marL="0" indent="0">
              <a:buNone/>
            </a:pPr>
            <a:r>
              <a:rPr lang="en-US" sz="1400" b="1" dirty="0">
                <a:solidFill>
                  <a:srgbClr val="1E2761"/>
                </a:solidFill>
                <a:latin typeface="Calibri" pitchFamily="34" charset="0"/>
                <a:ea typeface="Calibri" pitchFamily="34" charset="-122"/>
                <a:cs typeface="Calibri" pitchFamily="34" charset="-120"/>
              </a:rPr>
              <a:t>Tablas de contingencia</a:t>
            </a:r>
            <a:endParaRPr lang="en-US" sz="1400" dirty="0"/>
          </a:p>
        </p:txBody>
      </p:sp>
      <p:sp>
        <p:nvSpPr>
          <p:cNvPr id="15" name="Text 13"/>
          <p:cNvSpPr/>
          <p:nvPr/>
        </p:nvSpPr>
        <p:spPr>
          <a:xfrm>
            <a:off x="9473184" y="2880360"/>
            <a:ext cx="2157984" cy="914400"/>
          </a:xfrm>
          <a:prstGeom prst="rect">
            <a:avLst/>
          </a:prstGeom>
          <a:noFill/>
          <a:ln/>
        </p:spPr>
        <p:txBody>
          <a:bodyPr wrap="square" lIns="0" tIns="0" rIns="0" bIns="0" rtlCol="0" anchor="t"/>
          <a:lstStyle/>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Cruces entre variables</a:t>
            </a:r>
            <a:endParaRPr lang="en-US" sz="1100" dirty="0"/>
          </a:p>
          <a:p>
            <a:pPr marL="0" indent="0">
              <a:lnSpc>
                <a:spcPct val="120000"/>
              </a:lnSpc>
              <a:buNone/>
            </a:pPr>
            <a:r>
              <a:rPr lang="en-US" sz="1100" dirty="0">
                <a:solidFill>
                  <a:srgbClr val="5A5F73"/>
                </a:solidFill>
                <a:latin typeface="Calibri" pitchFamily="34" charset="0"/>
                <a:ea typeface="Calibri" pitchFamily="34" charset="-122"/>
                <a:cs typeface="Calibri" pitchFamily="34" charset="-120"/>
              </a:rPr>
              <a:t>categóricas y el objetivo</a:t>
            </a:r>
            <a:endParaRPr lang="en-US" sz="1100" dirty="0"/>
          </a:p>
        </p:txBody>
      </p:sp>
      <p:sp>
        <p:nvSpPr>
          <p:cNvPr id="16" name="Shape 14"/>
          <p:cNvSpPr/>
          <p:nvPr/>
        </p:nvSpPr>
        <p:spPr>
          <a:xfrm>
            <a:off x="548640" y="4206240"/>
            <a:ext cx="11064240" cy="1600200"/>
          </a:xfrm>
          <a:prstGeom prst="roundRect">
            <a:avLst>
              <a:gd name="adj" fmla="val 4571"/>
            </a:avLst>
          </a:prstGeom>
          <a:solidFill>
            <a:srgbClr val="FBEAEA"/>
          </a:solidFill>
          <a:ln/>
        </p:spPr>
        <p:txBody>
          <a:bodyPr/>
          <a:lstStyle/>
          <a:p>
            <a:endParaRPr lang="es-CO"/>
          </a:p>
        </p:txBody>
      </p:sp>
      <p:sp>
        <p:nvSpPr>
          <p:cNvPr id="17" name="Text 15"/>
          <p:cNvSpPr/>
          <p:nvPr/>
        </p:nvSpPr>
        <p:spPr>
          <a:xfrm>
            <a:off x="822960" y="4389120"/>
            <a:ext cx="10515600" cy="1280160"/>
          </a:xfrm>
          <a:prstGeom prst="rect">
            <a:avLst/>
          </a:prstGeom>
          <a:noFill/>
          <a:ln/>
        </p:spPr>
        <p:txBody>
          <a:bodyPr wrap="square" lIns="0" tIns="0" rIns="0" bIns="0" rtlCol="0" anchor="t"/>
          <a:lstStyle/>
          <a:p>
            <a:pPr marL="0" indent="0">
              <a:lnSpc>
                <a:spcPct val="125000"/>
              </a:lnSpc>
              <a:buNone/>
            </a:pPr>
            <a:r>
              <a:rPr lang="en-US" sz="1400" b="1" dirty="0">
                <a:solidFill>
                  <a:srgbClr val="1E2761"/>
                </a:solidFill>
                <a:latin typeface="Calibri" pitchFamily="34" charset="0"/>
                <a:ea typeface="Calibri" pitchFamily="34" charset="-122"/>
                <a:cs typeface="Calibri" pitchFamily="34" charset="-120"/>
              </a:rPr>
              <a:t>Conclusión del multivariado:
</a:t>
            </a:r>
            <a:endParaRPr lang="en-US" sz="1400" dirty="0"/>
          </a:p>
          <a:p>
            <a:pPr marL="0" indent="0">
              <a:lnSpc>
                <a:spcPct val="125000"/>
              </a:lnSpc>
              <a:buNone/>
            </a:pPr>
            <a:r>
              <a:rPr lang="en-US" sz="1250" dirty="0">
                <a:solidFill>
                  <a:srgbClr val="5A5F73"/>
                </a:solidFill>
                <a:latin typeface="Calibri" pitchFamily="34" charset="0"/>
                <a:ea typeface="Calibri" pitchFamily="34" charset="-122"/>
                <a:cs typeface="Calibri" pitchFamily="34" charset="-120"/>
              </a:rPr>
              <a:t>ninguna combinación de dos variables separa a los clientes en mora. Las nubes de puntos se superponen ampliamente en todos los gráficos. Esto confirma que el riesgo depende de múltiples factores simultáneos y justifica un modelo multivariado en la siguiente fase.</a:t>
            </a:r>
            <a:endParaRPr lang="en-US" sz="1400" dirty="0"/>
          </a:p>
        </p:txBody>
      </p:sp>
      <p:sp>
        <p:nvSpPr>
          <p:cNvPr id="18" name="Text 1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9" name="Text 1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HALLAZGOS ADICIONALES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Otras señales relevantes</a:t>
            </a:r>
            <a:endParaRPr lang="en-US" sz="3000" dirty="0"/>
          </a:p>
        </p:txBody>
      </p:sp>
      <p:graphicFrame>
        <p:nvGraphicFramePr>
          <p:cNvPr id="4" name="Chart 0"/>
          <p:cNvGraphicFramePr/>
          <p:nvPr/>
        </p:nvGraphicFramePr>
        <p:xfrm>
          <a:off x="548640" y="1920240"/>
          <a:ext cx="53949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309360" y="1920240"/>
            <a:ext cx="5303520" cy="1920240"/>
          </a:xfrm>
          <a:prstGeom prst="roundRect">
            <a:avLst>
              <a:gd name="adj" fmla="val 3810"/>
            </a:avLst>
          </a:prstGeom>
          <a:solidFill>
            <a:srgbClr val="F4F7FC"/>
          </a:solidFill>
          <a:ln/>
        </p:spPr>
        <p:txBody>
          <a:bodyPr/>
          <a:lstStyle/>
          <a:p>
            <a:endParaRPr lang="es-CO"/>
          </a:p>
        </p:txBody>
      </p:sp>
      <p:sp>
        <p:nvSpPr>
          <p:cNvPr id="6" name="Text 3"/>
          <p:cNvSpPr/>
          <p:nvPr/>
        </p:nvSpPr>
        <p:spPr>
          <a:xfrm>
            <a:off x="6537960" y="2103120"/>
            <a:ext cx="4846320" cy="160020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Independientes vs. empleados
</a:t>
            </a:r>
            <a:endParaRPr lang="en-US" sz="1500" dirty="0"/>
          </a:p>
          <a:p>
            <a:pPr marL="0" indent="0">
              <a:lnSpc>
                <a:spcPct val="120000"/>
              </a:lnSpc>
              <a:buNone/>
            </a:pPr>
            <a:r>
              <a:rPr lang="en-US" sz="1250" dirty="0">
                <a:solidFill>
                  <a:srgbClr val="5A5F73"/>
                </a:solidFill>
              </a:rPr>
              <a:t>Mayor tasa de mora (5.51% vs 4.29%), coherente con la mayor variabilidad de ingresos de ese segmento.</a:t>
            </a:r>
            <a:endParaRPr lang="en-US" sz="1500" dirty="0"/>
          </a:p>
        </p:txBody>
      </p:sp>
      <p:sp>
        <p:nvSpPr>
          <p:cNvPr id="7" name="Shape 4"/>
          <p:cNvSpPr/>
          <p:nvPr/>
        </p:nvSpPr>
        <p:spPr>
          <a:xfrm>
            <a:off x="6309360" y="4069080"/>
            <a:ext cx="5303520" cy="2011680"/>
          </a:xfrm>
          <a:prstGeom prst="roundRect">
            <a:avLst>
              <a:gd name="adj" fmla="val 3636"/>
            </a:avLst>
          </a:prstGeom>
          <a:solidFill>
            <a:srgbClr val="F4F7FC"/>
          </a:solidFill>
          <a:ln/>
        </p:spPr>
        <p:txBody>
          <a:bodyPr/>
          <a:lstStyle/>
          <a:p>
            <a:endParaRPr lang="es-CO"/>
          </a:p>
        </p:txBody>
      </p:sp>
      <p:sp>
        <p:nvSpPr>
          <p:cNvPr id="8" name="Text 5"/>
          <p:cNvSpPr/>
          <p:nvPr/>
        </p:nvSpPr>
        <p:spPr>
          <a:xfrm>
            <a:off x="6537960" y="4251960"/>
            <a:ext cx="4846320" cy="169164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puntaje_datacredito es bimodal
</a:t>
            </a:r>
            <a:endParaRPr lang="en-US" sz="1500" dirty="0"/>
          </a:p>
          <a:p>
            <a:pPr marL="0" indent="0">
              <a:lnSpc>
                <a:spcPct val="120000"/>
              </a:lnSpc>
              <a:buNone/>
            </a:pPr>
            <a:r>
              <a:rPr lang="en-US" sz="1250" dirty="0">
                <a:solidFill>
                  <a:srgbClr val="5A5F73"/>
                </a:solidFill>
              </a:rPr>
              <a:t>Un grupo pequeño con score cercano a 0 y el resto concentrado entre 700–999: posiblemente dos poblaciones distintas (con y sin historial suficiente en la central de riesgo).</a:t>
            </a:r>
            <a:endParaRPr lang="en-US" sz="15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TRANSPARENCIA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Riesgos y limitaciones del análisis</a:t>
            </a:r>
            <a:endParaRPr lang="en-US" sz="3000" dirty="0"/>
          </a:p>
        </p:txBody>
      </p:sp>
      <p:sp>
        <p:nvSpPr>
          <p:cNvPr id="4" name="Shape 2"/>
          <p:cNvSpPr/>
          <p:nvPr/>
        </p:nvSpPr>
        <p:spPr>
          <a:xfrm>
            <a:off x="548640" y="1874520"/>
            <a:ext cx="11064240" cy="1005840"/>
          </a:xfrm>
          <a:prstGeom prst="roundRect">
            <a:avLst>
              <a:gd name="adj" fmla="val 5455"/>
            </a:avLst>
          </a:prstGeom>
          <a:solidFill>
            <a:srgbClr val="F4F7FC"/>
          </a:solidFill>
          <a:ln/>
        </p:spPr>
        <p:txBody>
          <a:bodyPr/>
          <a:lstStyle/>
          <a:p>
            <a:endParaRPr lang="es-CO"/>
          </a:p>
        </p:txBody>
      </p:sp>
      <p:sp>
        <p:nvSpPr>
          <p:cNvPr id="5" name="Shape 3"/>
          <p:cNvSpPr/>
          <p:nvPr/>
        </p:nvSpPr>
        <p:spPr>
          <a:xfrm>
            <a:off x="822960" y="2304288"/>
            <a:ext cx="146304" cy="146304"/>
          </a:xfrm>
          <a:prstGeom prst="ellipse">
            <a:avLst/>
          </a:prstGeom>
          <a:solidFill>
            <a:srgbClr val="B33A3A"/>
          </a:solidFill>
          <a:ln/>
        </p:spPr>
        <p:txBody>
          <a:bodyPr/>
          <a:lstStyle/>
          <a:p>
            <a:endParaRPr lang="es-CO"/>
          </a:p>
        </p:txBody>
      </p:sp>
      <p:sp>
        <p:nvSpPr>
          <p:cNvPr id="6" name="Text 4"/>
          <p:cNvSpPr/>
          <p:nvPr/>
        </p:nvSpPr>
        <p:spPr>
          <a:xfrm>
            <a:off x="1143000" y="1874520"/>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Posible fuga de información</a:t>
            </a:r>
            <a:endParaRPr lang="en-US" sz="1350" dirty="0"/>
          </a:p>
        </p:txBody>
      </p:sp>
      <p:sp>
        <p:nvSpPr>
          <p:cNvPr id="7" name="Text 5"/>
          <p:cNvSpPr/>
          <p:nvPr/>
        </p:nvSpPr>
        <p:spPr>
          <a:xfrm>
            <a:off x="4572000" y="1874520"/>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Las variables de saldo en mora podrían registrarse después del desembolso — deben validarse con el negocio antes de modelar.</a:t>
            </a:r>
            <a:endParaRPr lang="en-US" sz="1200" dirty="0"/>
          </a:p>
        </p:txBody>
      </p:sp>
      <p:sp>
        <p:nvSpPr>
          <p:cNvPr id="8" name="Shape 6"/>
          <p:cNvSpPr/>
          <p:nvPr/>
        </p:nvSpPr>
        <p:spPr>
          <a:xfrm>
            <a:off x="548640" y="2990088"/>
            <a:ext cx="11064240" cy="1005840"/>
          </a:xfrm>
          <a:prstGeom prst="roundRect">
            <a:avLst>
              <a:gd name="adj" fmla="val 5455"/>
            </a:avLst>
          </a:prstGeom>
          <a:solidFill>
            <a:srgbClr val="F4F7FC"/>
          </a:solidFill>
          <a:ln/>
        </p:spPr>
        <p:txBody>
          <a:bodyPr/>
          <a:lstStyle/>
          <a:p>
            <a:endParaRPr lang="es-CO"/>
          </a:p>
        </p:txBody>
      </p:sp>
      <p:sp>
        <p:nvSpPr>
          <p:cNvPr id="9" name="Shape 7"/>
          <p:cNvSpPr/>
          <p:nvPr/>
        </p:nvSpPr>
        <p:spPr>
          <a:xfrm>
            <a:off x="822960" y="3419856"/>
            <a:ext cx="146304" cy="146304"/>
          </a:xfrm>
          <a:prstGeom prst="ellipse">
            <a:avLst/>
          </a:prstGeom>
          <a:solidFill>
            <a:srgbClr val="B33A3A"/>
          </a:solidFill>
          <a:ln/>
        </p:spPr>
        <p:txBody>
          <a:bodyPr/>
          <a:lstStyle/>
          <a:p>
            <a:endParaRPr lang="es-CO"/>
          </a:p>
        </p:txBody>
      </p:sp>
      <p:sp>
        <p:nvSpPr>
          <p:cNvPr id="10" name="Text 8"/>
          <p:cNvSpPr/>
          <p:nvPr/>
        </p:nvSpPr>
        <p:spPr>
          <a:xfrm>
            <a:off x="1143000" y="2990088"/>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Muestras pequeñas en hallazgos clave</a:t>
            </a:r>
            <a:endParaRPr lang="en-US" sz="1350" dirty="0"/>
          </a:p>
        </p:txBody>
      </p:sp>
      <p:sp>
        <p:nvSpPr>
          <p:cNvPr id="11" name="Text 9"/>
          <p:cNvSpPr/>
          <p:nvPr/>
        </p:nvSpPr>
        <p:spPr>
          <a:xfrm>
            <a:off x="4572000" y="2990088"/>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El tipo de crédito 6 (21) y la mora previa (55) tienen bases reducidas; sus tasas son indicativas, no concluyentes.</a:t>
            </a:r>
            <a:endParaRPr lang="en-US" sz="1200" dirty="0"/>
          </a:p>
        </p:txBody>
      </p:sp>
      <p:sp>
        <p:nvSpPr>
          <p:cNvPr id="12" name="Shape 10"/>
          <p:cNvSpPr/>
          <p:nvPr/>
        </p:nvSpPr>
        <p:spPr>
          <a:xfrm>
            <a:off x="548640" y="4105656"/>
            <a:ext cx="11064240" cy="1005840"/>
          </a:xfrm>
          <a:prstGeom prst="roundRect">
            <a:avLst>
              <a:gd name="adj" fmla="val 5455"/>
            </a:avLst>
          </a:prstGeom>
          <a:solidFill>
            <a:srgbClr val="F4F7FC"/>
          </a:solidFill>
          <a:ln/>
        </p:spPr>
        <p:txBody>
          <a:bodyPr/>
          <a:lstStyle/>
          <a:p>
            <a:endParaRPr lang="es-CO"/>
          </a:p>
        </p:txBody>
      </p:sp>
      <p:sp>
        <p:nvSpPr>
          <p:cNvPr id="13" name="Shape 11"/>
          <p:cNvSpPr/>
          <p:nvPr/>
        </p:nvSpPr>
        <p:spPr>
          <a:xfrm>
            <a:off x="822960" y="4535424"/>
            <a:ext cx="146304" cy="146304"/>
          </a:xfrm>
          <a:prstGeom prst="ellipse">
            <a:avLst/>
          </a:prstGeom>
          <a:solidFill>
            <a:srgbClr val="B33A3A"/>
          </a:solidFill>
          <a:ln/>
        </p:spPr>
        <p:txBody>
          <a:bodyPr/>
          <a:lstStyle/>
          <a:p>
            <a:endParaRPr lang="es-CO"/>
          </a:p>
        </p:txBody>
      </p:sp>
      <p:sp>
        <p:nvSpPr>
          <p:cNvPr id="14" name="Text 12"/>
          <p:cNvSpPr/>
          <p:nvPr/>
        </p:nvSpPr>
        <p:spPr>
          <a:xfrm>
            <a:off x="1143000" y="4105656"/>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27% de nulos sin causa estructural</a:t>
            </a:r>
            <a:endParaRPr lang="en-US" sz="1350" dirty="0"/>
          </a:p>
        </p:txBody>
      </p:sp>
      <p:sp>
        <p:nvSpPr>
          <p:cNvPr id="15" name="Text 13"/>
          <p:cNvSpPr/>
          <p:nvPr/>
        </p:nvSpPr>
        <p:spPr>
          <a:xfrm>
            <a:off x="4572000" y="4105656"/>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En promedio_ingresos_datacredito, sin patrón identificado que justifique imputar con confianza.</a:t>
            </a:r>
            <a:endParaRPr lang="en-US" sz="1200" dirty="0"/>
          </a:p>
        </p:txBody>
      </p:sp>
      <p:sp>
        <p:nvSpPr>
          <p:cNvPr id="16" name="Shape 14"/>
          <p:cNvSpPr/>
          <p:nvPr/>
        </p:nvSpPr>
        <p:spPr>
          <a:xfrm>
            <a:off x="548640" y="5221224"/>
            <a:ext cx="11064240" cy="1005840"/>
          </a:xfrm>
          <a:prstGeom prst="roundRect">
            <a:avLst>
              <a:gd name="adj" fmla="val 5455"/>
            </a:avLst>
          </a:prstGeom>
          <a:solidFill>
            <a:srgbClr val="F4F7FC"/>
          </a:solidFill>
          <a:ln/>
        </p:spPr>
        <p:txBody>
          <a:bodyPr/>
          <a:lstStyle/>
          <a:p>
            <a:endParaRPr lang="es-CO"/>
          </a:p>
        </p:txBody>
      </p:sp>
      <p:sp>
        <p:nvSpPr>
          <p:cNvPr id="17" name="Shape 15"/>
          <p:cNvSpPr/>
          <p:nvPr/>
        </p:nvSpPr>
        <p:spPr>
          <a:xfrm>
            <a:off x="822960" y="5650992"/>
            <a:ext cx="146304" cy="146304"/>
          </a:xfrm>
          <a:prstGeom prst="ellipse">
            <a:avLst/>
          </a:prstGeom>
          <a:solidFill>
            <a:srgbClr val="B33A3A"/>
          </a:solidFill>
          <a:ln/>
        </p:spPr>
        <p:txBody>
          <a:bodyPr/>
          <a:lstStyle/>
          <a:p>
            <a:endParaRPr lang="es-CO"/>
          </a:p>
        </p:txBody>
      </p:sp>
      <p:sp>
        <p:nvSpPr>
          <p:cNvPr id="18" name="Text 16"/>
          <p:cNvSpPr/>
          <p:nvPr/>
        </p:nvSpPr>
        <p:spPr>
          <a:xfrm>
            <a:off x="1143000" y="5221224"/>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Ausencia de diccionario de datos</a:t>
            </a:r>
            <a:endParaRPr lang="en-US" sz="1350" dirty="0"/>
          </a:p>
        </p:txBody>
      </p:sp>
      <p:sp>
        <p:nvSpPr>
          <p:cNvPr id="19" name="Text 17"/>
          <p:cNvSpPr/>
          <p:nvPr/>
        </p:nvSpPr>
        <p:spPr>
          <a:xfrm>
            <a:off x="4572000" y="5221224"/>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 interpretación de varias variables, en especial tipo_credito, se basa en inferencia propia.</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PARA EL NEGOCIO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Recomendaciones accionables</a:t>
            </a:r>
            <a:endParaRPr lang="en-US" sz="3000" dirty="0"/>
          </a:p>
        </p:txBody>
      </p:sp>
      <p:sp>
        <p:nvSpPr>
          <p:cNvPr id="4" name="Shape 2"/>
          <p:cNvSpPr/>
          <p:nvPr/>
        </p:nvSpPr>
        <p:spPr>
          <a:xfrm>
            <a:off x="548640" y="1965960"/>
            <a:ext cx="3566160" cy="4023360"/>
          </a:xfrm>
          <a:prstGeom prst="roundRect">
            <a:avLst>
              <a:gd name="adj" fmla="val 2564"/>
            </a:avLst>
          </a:prstGeom>
          <a:solidFill>
            <a:srgbClr val="1E2761"/>
          </a:solidFill>
          <a:ln/>
        </p:spPr>
        <p:txBody>
          <a:bodyPr/>
          <a:lstStyle/>
          <a:p>
            <a:endParaRPr lang="es-CO"/>
          </a:p>
        </p:txBody>
      </p:sp>
      <p:sp>
        <p:nvSpPr>
          <p:cNvPr id="5" name="Shape 3"/>
          <p:cNvSpPr/>
          <p:nvPr/>
        </p:nvSpPr>
        <p:spPr>
          <a:xfrm>
            <a:off x="868680" y="2286000"/>
            <a:ext cx="548640" cy="548640"/>
          </a:xfrm>
          <a:prstGeom prst="ellipse">
            <a:avLst/>
          </a:prstGeom>
          <a:solidFill>
            <a:srgbClr val="1E2761"/>
          </a:solidFill>
          <a:ln/>
        </p:spPr>
        <p:txBody>
          <a:bodyPr/>
          <a:lstStyle/>
          <a:p>
            <a:endParaRPr lang="es-CO"/>
          </a:p>
        </p:txBody>
      </p:sp>
      <p:sp>
        <p:nvSpPr>
          <p:cNvPr id="6" name="Text 4"/>
          <p:cNvSpPr/>
          <p:nvPr/>
        </p:nvSpPr>
        <p:spPr>
          <a:xfrm>
            <a:off x="86868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868680" y="3063240"/>
            <a:ext cx="2926080" cy="6400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Alerta temprana</a:t>
            </a:r>
            <a:endParaRPr lang="en-US" sz="1800" dirty="0"/>
          </a:p>
        </p:txBody>
      </p:sp>
      <p:sp>
        <p:nvSpPr>
          <p:cNvPr id="8" name="Text 6"/>
          <p:cNvSpPr/>
          <p:nvPr/>
        </p:nvSpPr>
        <p:spPr>
          <a:xfrm>
            <a:off x="86868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CADCFC"/>
                </a:solidFill>
                <a:latin typeface="Calibri" pitchFamily="34" charset="0"/>
                <a:ea typeface="Calibri" pitchFamily="34" charset="-122"/>
                <a:cs typeface="Calibri" pitchFamily="34" charset="-120"/>
              </a:rPr>
              <a:t>Incorporar mora previa y el tipo de crédito 6 como criterios de alerta en la originación.</a:t>
            </a:r>
            <a:endParaRPr lang="en-US" sz="1300" dirty="0"/>
          </a:p>
        </p:txBody>
      </p:sp>
      <p:sp>
        <p:nvSpPr>
          <p:cNvPr id="9" name="Shape 7"/>
          <p:cNvSpPr/>
          <p:nvPr/>
        </p:nvSpPr>
        <p:spPr>
          <a:xfrm>
            <a:off x="4343400" y="1965960"/>
            <a:ext cx="3566160" cy="4023360"/>
          </a:xfrm>
          <a:prstGeom prst="roundRect">
            <a:avLst>
              <a:gd name="adj" fmla="val 2564"/>
            </a:avLst>
          </a:prstGeom>
          <a:solidFill>
            <a:srgbClr val="F4F7FC"/>
          </a:solidFill>
          <a:ln/>
        </p:spPr>
        <p:txBody>
          <a:bodyPr/>
          <a:lstStyle/>
          <a:p>
            <a:endParaRPr lang="es-CO"/>
          </a:p>
        </p:txBody>
      </p:sp>
      <p:sp>
        <p:nvSpPr>
          <p:cNvPr id="14" name="Shape 12"/>
          <p:cNvSpPr/>
          <p:nvPr/>
        </p:nvSpPr>
        <p:spPr>
          <a:xfrm>
            <a:off x="8138160" y="1965960"/>
            <a:ext cx="3566160" cy="4023360"/>
          </a:xfrm>
          <a:prstGeom prst="roundRect">
            <a:avLst>
              <a:gd name="adj" fmla="val 2564"/>
            </a:avLst>
          </a:prstGeom>
          <a:solidFill>
            <a:srgbClr val="F4F7FC"/>
          </a:solidFill>
          <a:ln/>
        </p:spPr>
        <p:txBody>
          <a:bodyPr/>
          <a:lstStyle/>
          <a:p>
            <a:endParaRPr lang="es-CO"/>
          </a:p>
        </p:txBody>
      </p:sp>
      <p:sp>
        <p:nvSpPr>
          <p:cNvPr id="15" name="Shape 13"/>
          <p:cNvSpPr/>
          <p:nvPr/>
        </p:nvSpPr>
        <p:spPr>
          <a:xfrm>
            <a:off x="8458200" y="2286000"/>
            <a:ext cx="548640" cy="548640"/>
          </a:xfrm>
          <a:prstGeom prst="ellipse">
            <a:avLst/>
          </a:prstGeom>
          <a:solidFill>
            <a:srgbClr val="1E2761"/>
          </a:solidFill>
          <a:ln/>
        </p:spPr>
        <p:txBody>
          <a:bodyPr/>
          <a:lstStyle/>
          <a:p>
            <a:endParaRPr lang="es-CO" dirty="0"/>
          </a:p>
        </p:txBody>
      </p:sp>
      <p:sp>
        <p:nvSpPr>
          <p:cNvPr id="16" name="Text 14"/>
          <p:cNvSpPr/>
          <p:nvPr/>
        </p:nvSpPr>
        <p:spPr>
          <a:xfrm>
            <a:off x="845820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Text 15"/>
          <p:cNvSpPr/>
          <p:nvPr/>
        </p:nvSpPr>
        <p:spPr>
          <a:xfrm>
            <a:off x="845820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Investigación dirigida</a:t>
            </a:r>
            <a:endParaRPr lang="en-US" sz="1800" dirty="0"/>
          </a:p>
        </p:txBody>
      </p:sp>
      <p:sp>
        <p:nvSpPr>
          <p:cNvPr id="18" name="Text 16"/>
          <p:cNvSpPr/>
          <p:nvPr/>
        </p:nvSpPr>
        <p:spPr>
          <a:xfrm>
            <a:off x="845820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Trabajar con el área de producto para entender qué representa el tipo de crédito 6.</a:t>
            </a:r>
            <a:endParaRPr lang="en-US" sz="1300" dirty="0"/>
          </a:p>
        </p:txBody>
      </p:sp>
      <p:sp>
        <p:nvSpPr>
          <p:cNvPr id="19" name="Text 1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0" name="Text 1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PROYECTO TRANSVERSAL</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Un pipeline a </a:t>
            </a:r>
            <a:r>
              <a:rPr lang="en-US" sz="3000" b="1" dirty="0" err="1">
                <a:solidFill>
                  <a:srgbClr val="1E2761"/>
                </a:solidFill>
                <a:latin typeface="Cambria" pitchFamily="34" charset="0"/>
                <a:ea typeface="Cambria" pitchFamily="34" charset="-122"/>
                <a:cs typeface="Cambria" pitchFamily="34" charset="-120"/>
              </a:rPr>
              <a:t>desarrollar</a:t>
            </a:r>
            <a:r>
              <a:rPr lang="en-US" sz="3000" b="1" dirty="0">
                <a:solidFill>
                  <a:srgbClr val="1E2761"/>
                </a:solidFill>
                <a:latin typeface="Cambria" pitchFamily="34" charset="0"/>
                <a:ea typeface="Cambria" pitchFamily="34" charset="-122"/>
                <a:cs typeface="Cambria" pitchFamily="34" charset="-120"/>
              </a:rPr>
              <a:t> </a:t>
            </a:r>
            <a:r>
              <a:rPr lang="en-US" sz="3000" b="1" dirty="0" err="1">
                <a:solidFill>
                  <a:srgbClr val="1E2761"/>
                </a:solidFill>
                <a:latin typeface="Cambria" pitchFamily="34" charset="0"/>
                <a:ea typeface="Cambria" pitchFamily="34" charset="-122"/>
                <a:cs typeface="Cambria" pitchFamily="34" charset="-120"/>
              </a:rPr>
              <a:t>durante</a:t>
            </a:r>
            <a:r>
              <a:rPr lang="en-US" sz="3000" b="1" dirty="0">
                <a:solidFill>
                  <a:srgbClr val="1E2761"/>
                </a:solidFill>
                <a:latin typeface="Cambria" pitchFamily="34" charset="0"/>
                <a:ea typeface="Cambria" pitchFamily="34" charset="-122"/>
                <a:cs typeface="Cambria" pitchFamily="34" charset="-120"/>
              </a:rPr>
              <a:t> el </a:t>
            </a:r>
            <a:r>
              <a:rPr lang="en-US" sz="3000" b="1" dirty="0" err="1">
                <a:solidFill>
                  <a:srgbClr val="1E2761"/>
                </a:solidFill>
                <a:latin typeface="Cambria" pitchFamily="34" charset="0"/>
                <a:ea typeface="Cambria" pitchFamily="34" charset="-122"/>
                <a:cs typeface="Cambria" pitchFamily="34" charset="-120"/>
              </a:rPr>
              <a:t>semestre</a:t>
            </a:r>
            <a:endParaRPr lang="en-US" sz="3000" dirty="0"/>
          </a:p>
        </p:txBody>
      </p:sp>
      <p:sp>
        <p:nvSpPr>
          <p:cNvPr id="4" name="Shape 2"/>
          <p:cNvSpPr/>
          <p:nvPr/>
        </p:nvSpPr>
        <p:spPr>
          <a:xfrm>
            <a:off x="548640" y="1920240"/>
            <a:ext cx="502920" cy="502920"/>
          </a:xfrm>
          <a:prstGeom prst="ellipse">
            <a:avLst/>
          </a:prstGeom>
          <a:solidFill>
            <a:srgbClr val="B33A3A"/>
          </a:solidFill>
          <a:ln/>
        </p:spPr>
        <p:txBody>
          <a:bodyPr/>
          <a:lstStyle/>
          <a:p>
            <a:endParaRPr lang="es-CO"/>
          </a:p>
        </p:txBody>
      </p:sp>
      <p:sp>
        <p:nvSpPr>
          <p:cNvPr id="5" name="Text 3"/>
          <p:cNvSpPr/>
          <p:nvPr/>
        </p:nvSpPr>
        <p:spPr>
          <a:xfrm>
            <a:off x="548640"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548640" y="2578608"/>
            <a:ext cx="2084832" cy="640080"/>
          </a:xfrm>
          <a:prstGeom prst="rect">
            <a:avLst/>
          </a:prstGeom>
          <a:noFill/>
          <a:ln/>
        </p:spPr>
        <p:txBody>
          <a:bodyPr wrap="square" lIns="0" tIns="0" rIns="0" bIns="0" rtlCol="0" anchor="t"/>
          <a:lstStyle/>
          <a:p>
            <a:pPr marL="0" indent="0">
              <a:buNone/>
            </a:pPr>
            <a:r>
              <a:rPr lang="en-US" sz="1300" b="1" dirty="0">
                <a:solidFill>
                  <a:srgbClr val="B33A3A"/>
                </a:solidFill>
                <a:latin typeface="Calibri" pitchFamily="34" charset="0"/>
                <a:ea typeface="Calibri" pitchFamily="34" charset="-122"/>
                <a:cs typeface="Calibri" pitchFamily="34" charset="-120"/>
              </a:rPr>
              <a:t>EDA + Limpieza</a:t>
            </a:r>
            <a:endParaRPr lang="en-US" sz="1300" dirty="0"/>
          </a:p>
        </p:txBody>
      </p:sp>
      <p:sp>
        <p:nvSpPr>
          <p:cNvPr id="7" name="Text 5"/>
          <p:cNvSpPr/>
          <p:nvPr/>
        </p:nvSpPr>
        <p:spPr>
          <a:xfrm>
            <a:off x="548640"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Comprensión, calidad de datos e insights</a:t>
            </a:r>
            <a:endParaRPr lang="en-US" sz="1000" dirty="0"/>
          </a:p>
        </p:txBody>
      </p:sp>
      <p:sp>
        <p:nvSpPr>
          <p:cNvPr id="8" name="Text 6"/>
          <p:cNvSpPr/>
          <p:nvPr/>
        </p:nvSpPr>
        <p:spPr>
          <a:xfrm>
            <a:off x="548640"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transformacion_eda.ipynb</a:t>
            </a:r>
            <a:endParaRPr lang="en-US" sz="900" dirty="0"/>
          </a:p>
        </p:txBody>
      </p:sp>
      <p:sp>
        <p:nvSpPr>
          <p:cNvPr id="9" name="Shape 7"/>
          <p:cNvSpPr/>
          <p:nvPr/>
        </p:nvSpPr>
        <p:spPr>
          <a:xfrm>
            <a:off x="2651760" y="2167128"/>
            <a:ext cx="128016" cy="0"/>
          </a:xfrm>
          <a:prstGeom prst="line">
            <a:avLst/>
          </a:prstGeom>
          <a:noFill/>
          <a:ln w="25400">
            <a:solidFill>
              <a:srgbClr val="CADCFC"/>
            </a:solidFill>
            <a:prstDash val="solid"/>
          </a:ln>
        </p:spPr>
        <p:txBody>
          <a:bodyPr/>
          <a:lstStyle/>
          <a:p>
            <a:endParaRPr lang="es-CO"/>
          </a:p>
        </p:txBody>
      </p:sp>
      <p:sp>
        <p:nvSpPr>
          <p:cNvPr id="10" name="Shape 8"/>
          <p:cNvSpPr/>
          <p:nvPr/>
        </p:nvSpPr>
        <p:spPr>
          <a:xfrm>
            <a:off x="2798064" y="1920240"/>
            <a:ext cx="502920" cy="502920"/>
          </a:xfrm>
          <a:prstGeom prst="ellipse">
            <a:avLst/>
          </a:prstGeom>
          <a:solidFill>
            <a:srgbClr val="1E2761"/>
          </a:solidFill>
          <a:ln/>
        </p:spPr>
        <p:txBody>
          <a:bodyPr/>
          <a:lstStyle/>
          <a:p>
            <a:endParaRPr lang="es-CO"/>
          </a:p>
        </p:txBody>
      </p:sp>
      <p:sp>
        <p:nvSpPr>
          <p:cNvPr id="11" name="Text 9"/>
          <p:cNvSpPr/>
          <p:nvPr/>
        </p:nvSpPr>
        <p:spPr>
          <a:xfrm>
            <a:off x="2798064"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2798064"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Feature Engineering</a:t>
            </a:r>
            <a:endParaRPr lang="en-US" sz="1300" dirty="0"/>
          </a:p>
        </p:txBody>
      </p:sp>
      <p:sp>
        <p:nvSpPr>
          <p:cNvPr id="13" name="Text 11"/>
          <p:cNvSpPr/>
          <p:nvPr/>
        </p:nvSpPr>
        <p:spPr>
          <a:xfrm>
            <a:off x="2798064"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Formalizar tiene_mora_previa y consultas_por_credito</a:t>
            </a:r>
            <a:endParaRPr lang="en-US" sz="1000" dirty="0"/>
          </a:p>
        </p:txBody>
      </p:sp>
      <p:sp>
        <p:nvSpPr>
          <p:cNvPr id="14" name="Text 12"/>
          <p:cNvSpPr/>
          <p:nvPr/>
        </p:nvSpPr>
        <p:spPr>
          <a:xfrm>
            <a:off x="2798064"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ft_engineering.py</a:t>
            </a:r>
            <a:endParaRPr lang="en-US" sz="900" dirty="0"/>
          </a:p>
        </p:txBody>
      </p:sp>
      <p:sp>
        <p:nvSpPr>
          <p:cNvPr id="15" name="Shape 13"/>
          <p:cNvSpPr/>
          <p:nvPr/>
        </p:nvSpPr>
        <p:spPr>
          <a:xfrm>
            <a:off x="4901184" y="2167128"/>
            <a:ext cx="128016" cy="0"/>
          </a:xfrm>
          <a:prstGeom prst="line">
            <a:avLst/>
          </a:prstGeom>
          <a:noFill/>
          <a:ln w="25400">
            <a:solidFill>
              <a:srgbClr val="CADCFC"/>
            </a:solidFill>
            <a:prstDash val="solid"/>
          </a:ln>
        </p:spPr>
        <p:txBody>
          <a:bodyPr/>
          <a:lstStyle/>
          <a:p>
            <a:endParaRPr lang="es-CO"/>
          </a:p>
        </p:txBody>
      </p:sp>
      <p:sp>
        <p:nvSpPr>
          <p:cNvPr id="16" name="Shape 14"/>
          <p:cNvSpPr/>
          <p:nvPr/>
        </p:nvSpPr>
        <p:spPr>
          <a:xfrm>
            <a:off x="5047488" y="1920240"/>
            <a:ext cx="502920" cy="502920"/>
          </a:xfrm>
          <a:prstGeom prst="ellipse">
            <a:avLst/>
          </a:prstGeom>
          <a:solidFill>
            <a:srgbClr val="1E2761"/>
          </a:solidFill>
          <a:ln/>
        </p:spPr>
        <p:txBody>
          <a:bodyPr/>
          <a:lstStyle/>
          <a:p>
            <a:endParaRPr lang="es-CO"/>
          </a:p>
        </p:txBody>
      </p:sp>
      <p:sp>
        <p:nvSpPr>
          <p:cNvPr id="17" name="Text 15"/>
          <p:cNvSpPr/>
          <p:nvPr/>
        </p:nvSpPr>
        <p:spPr>
          <a:xfrm>
            <a:off x="5047488"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6"/>
          <p:cNvSpPr/>
          <p:nvPr/>
        </p:nvSpPr>
        <p:spPr>
          <a:xfrm>
            <a:off x="5047488"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Modelado predictivo</a:t>
            </a:r>
            <a:endParaRPr lang="en-US" sz="1300" dirty="0"/>
          </a:p>
        </p:txBody>
      </p:sp>
      <p:sp>
        <p:nvSpPr>
          <p:cNvPr id="19" name="Text 17"/>
          <p:cNvSpPr/>
          <p:nvPr/>
        </p:nvSpPr>
        <p:spPr>
          <a:xfrm>
            <a:off x="5047488"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Manejo del desbalance (20:1), métricas recall/F1/AUC-PR</a:t>
            </a:r>
            <a:endParaRPr lang="en-US" sz="1000" dirty="0"/>
          </a:p>
        </p:txBody>
      </p:sp>
      <p:sp>
        <p:nvSpPr>
          <p:cNvPr id="20" name="Text 18"/>
          <p:cNvSpPr/>
          <p:nvPr/>
        </p:nvSpPr>
        <p:spPr>
          <a:xfrm>
            <a:off x="5047488"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model_training_evaluation.py</a:t>
            </a:r>
            <a:endParaRPr lang="en-US" sz="900" dirty="0"/>
          </a:p>
        </p:txBody>
      </p:sp>
      <p:sp>
        <p:nvSpPr>
          <p:cNvPr id="21" name="Shape 19"/>
          <p:cNvSpPr/>
          <p:nvPr/>
        </p:nvSpPr>
        <p:spPr>
          <a:xfrm>
            <a:off x="7150608" y="2167128"/>
            <a:ext cx="128016" cy="0"/>
          </a:xfrm>
          <a:prstGeom prst="line">
            <a:avLst/>
          </a:prstGeom>
          <a:noFill/>
          <a:ln w="25400">
            <a:solidFill>
              <a:srgbClr val="CADCFC"/>
            </a:solidFill>
            <a:prstDash val="solid"/>
          </a:ln>
        </p:spPr>
        <p:txBody>
          <a:bodyPr/>
          <a:lstStyle/>
          <a:p>
            <a:endParaRPr lang="es-CO"/>
          </a:p>
        </p:txBody>
      </p:sp>
      <p:sp>
        <p:nvSpPr>
          <p:cNvPr id="22" name="Shape 20"/>
          <p:cNvSpPr/>
          <p:nvPr/>
        </p:nvSpPr>
        <p:spPr>
          <a:xfrm>
            <a:off x="7296912" y="1920240"/>
            <a:ext cx="502920" cy="502920"/>
          </a:xfrm>
          <a:prstGeom prst="ellipse">
            <a:avLst/>
          </a:prstGeom>
          <a:solidFill>
            <a:srgbClr val="1E2761"/>
          </a:solidFill>
          <a:ln/>
        </p:spPr>
        <p:txBody>
          <a:bodyPr/>
          <a:lstStyle/>
          <a:p>
            <a:endParaRPr lang="es-CO"/>
          </a:p>
        </p:txBody>
      </p:sp>
      <p:sp>
        <p:nvSpPr>
          <p:cNvPr id="23" name="Text 21"/>
          <p:cNvSpPr/>
          <p:nvPr/>
        </p:nvSpPr>
        <p:spPr>
          <a:xfrm>
            <a:off x="7296912"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7296912"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Despliegue</a:t>
            </a:r>
            <a:endParaRPr lang="en-US" sz="1300" dirty="0"/>
          </a:p>
        </p:txBody>
      </p:sp>
      <p:sp>
        <p:nvSpPr>
          <p:cNvPr id="25" name="Text 23"/>
          <p:cNvSpPr/>
          <p:nvPr/>
        </p:nvSpPr>
        <p:spPr>
          <a:xfrm>
            <a:off x="7296912"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Poner el modelo en producción</a:t>
            </a:r>
            <a:endParaRPr lang="en-US" sz="1000" dirty="0"/>
          </a:p>
        </p:txBody>
      </p:sp>
      <p:sp>
        <p:nvSpPr>
          <p:cNvPr id="26" name="Text 24"/>
          <p:cNvSpPr/>
          <p:nvPr/>
        </p:nvSpPr>
        <p:spPr>
          <a:xfrm>
            <a:off x="7296912"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model_deploy.py</a:t>
            </a:r>
            <a:endParaRPr lang="en-US" sz="900" dirty="0"/>
          </a:p>
        </p:txBody>
      </p:sp>
      <p:sp>
        <p:nvSpPr>
          <p:cNvPr id="27" name="Shape 25"/>
          <p:cNvSpPr/>
          <p:nvPr/>
        </p:nvSpPr>
        <p:spPr>
          <a:xfrm>
            <a:off x="9400032" y="2167128"/>
            <a:ext cx="128016" cy="0"/>
          </a:xfrm>
          <a:prstGeom prst="line">
            <a:avLst/>
          </a:prstGeom>
          <a:noFill/>
          <a:ln w="25400">
            <a:solidFill>
              <a:srgbClr val="CADCFC"/>
            </a:solidFill>
            <a:prstDash val="solid"/>
          </a:ln>
        </p:spPr>
        <p:txBody>
          <a:bodyPr/>
          <a:lstStyle/>
          <a:p>
            <a:endParaRPr lang="es-CO"/>
          </a:p>
        </p:txBody>
      </p:sp>
      <p:sp>
        <p:nvSpPr>
          <p:cNvPr id="28" name="Shape 26"/>
          <p:cNvSpPr/>
          <p:nvPr/>
        </p:nvSpPr>
        <p:spPr>
          <a:xfrm>
            <a:off x="9546336" y="1920240"/>
            <a:ext cx="502920" cy="502920"/>
          </a:xfrm>
          <a:prstGeom prst="ellipse">
            <a:avLst/>
          </a:prstGeom>
          <a:solidFill>
            <a:srgbClr val="1E2761"/>
          </a:solidFill>
          <a:ln/>
        </p:spPr>
        <p:txBody>
          <a:bodyPr/>
          <a:lstStyle/>
          <a:p>
            <a:endParaRPr lang="es-CO"/>
          </a:p>
        </p:txBody>
      </p:sp>
      <p:sp>
        <p:nvSpPr>
          <p:cNvPr id="29" name="Text 27"/>
          <p:cNvSpPr/>
          <p:nvPr/>
        </p:nvSpPr>
        <p:spPr>
          <a:xfrm>
            <a:off x="9546336"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8"/>
          <p:cNvSpPr/>
          <p:nvPr/>
        </p:nvSpPr>
        <p:spPr>
          <a:xfrm>
            <a:off x="9546336"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Monitoreo</a:t>
            </a:r>
            <a:endParaRPr lang="en-US" sz="1300" dirty="0"/>
          </a:p>
        </p:txBody>
      </p:sp>
      <p:sp>
        <p:nvSpPr>
          <p:cNvPr id="31" name="Text 29"/>
          <p:cNvSpPr/>
          <p:nvPr/>
        </p:nvSpPr>
        <p:spPr>
          <a:xfrm>
            <a:off x="9546336"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Vigilar el desempeño del modelo en el tiempo</a:t>
            </a:r>
            <a:endParaRPr lang="en-US" sz="1000" dirty="0"/>
          </a:p>
        </p:txBody>
      </p:sp>
      <p:sp>
        <p:nvSpPr>
          <p:cNvPr id="32" name="Text 30"/>
          <p:cNvSpPr/>
          <p:nvPr/>
        </p:nvSpPr>
        <p:spPr>
          <a:xfrm>
            <a:off x="9546336"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model_monitoring.py</a:t>
            </a:r>
            <a:endParaRPr lang="en-US" sz="900" dirty="0"/>
          </a:p>
        </p:txBody>
      </p:sp>
      <p:sp>
        <p:nvSpPr>
          <p:cNvPr id="34" name="Text 3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35" name="Text 3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2468880"/>
            <a:ext cx="10515600" cy="118872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Gracias</a:t>
            </a:r>
            <a:endParaRPr lang="en-US" sz="4800" dirty="0"/>
          </a:p>
        </p:txBody>
      </p:sp>
      <p:sp>
        <p:nvSpPr>
          <p:cNvPr id="3" name="Text 1"/>
          <p:cNvSpPr/>
          <p:nvPr/>
        </p:nvSpPr>
        <p:spPr>
          <a:xfrm>
            <a:off x="822960" y="3429000"/>
            <a:ext cx="10515600" cy="548640"/>
          </a:xfrm>
          <a:prstGeom prst="rect">
            <a:avLst/>
          </a:prstGeom>
          <a:noFill/>
          <a:ln/>
        </p:spPr>
        <p:txBody>
          <a:bodyPr wrap="square" lIns="0" tIns="0" rIns="0" bIns="0"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Preguntas y discusión</a:t>
            </a:r>
            <a:endParaRPr lang="en-US" sz="1800" dirty="0"/>
          </a:p>
        </p:txBody>
      </p:sp>
      <p:sp>
        <p:nvSpPr>
          <p:cNvPr id="4" name="Shape 2"/>
          <p:cNvSpPr/>
          <p:nvPr/>
        </p:nvSpPr>
        <p:spPr>
          <a:xfrm>
            <a:off x="822960" y="4114800"/>
            <a:ext cx="2011680" cy="0"/>
          </a:xfrm>
          <a:prstGeom prst="line">
            <a:avLst/>
          </a:prstGeom>
          <a:noFill/>
          <a:ln w="38100">
            <a:solidFill>
              <a:srgbClr val="B33A3A"/>
            </a:solidFill>
            <a:prstDash val="solid"/>
          </a:ln>
        </p:spPr>
        <p:txBody>
          <a:bodyPr/>
          <a:lstStyle/>
          <a:p>
            <a:endParaRPr lang="es-CO"/>
          </a:p>
        </p:txBody>
      </p:sp>
      <p:sp>
        <p:nvSpPr>
          <p:cNvPr id="5" name="Text 3"/>
          <p:cNvSpPr/>
          <p:nvPr/>
        </p:nvSpPr>
        <p:spPr>
          <a:xfrm>
            <a:off x="822960" y="598932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Repositorio: github.com/papiarcacamilo/MLOPS_CURSE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2091</Words>
  <Application>Microsoft Office PowerPoint</Application>
  <PresentationFormat>Panorámica</PresentationFormat>
  <Paragraphs>265</Paragraphs>
  <Slides>18</Slides>
  <Notes>18</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18</vt:i4>
      </vt:variant>
    </vt:vector>
  </HeadingPairs>
  <TitlesOfParts>
    <vt:vector size="23" baseType="lpstr">
      <vt:lpstr>Arial</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Camilo Andres Armenta Pedrozo</cp:lastModifiedBy>
  <cp:revision>2</cp:revision>
  <dcterms:created xsi:type="dcterms:W3CDTF">2026-08-20T03:26:22Z</dcterms:created>
  <dcterms:modified xsi:type="dcterms:W3CDTF">2026-08-20T03:35:34Z</dcterms:modified>
</cp:coreProperties>
</file>