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1E2761"/>
                </a:solidFill>
                <a:latin typeface="Calibri"/>
              </a:defRPr>
            </a:pPr>
            <a:r>
              <a:rPr lang="es-CO" sz="1400" b="0" i="0" u="none" strike="noStrike">
                <a:solidFill>
                  <a:srgbClr val="1E2761"/>
                </a:solidFill>
                <a:latin typeface="Calibri"/>
              </a:rPr>
              <a:t>Distribución de Pago_atiempo (%)</a:t>
            </a:r>
          </a:p>
        </c:rich>
      </c:tx>
      <c:overlay val="0"/>
    </c:title>
    <c:autoTitleDeleted val="0"/>
    <c:plotArea>
      <c:layout/>
      <c:pieChart>
        <c:varyColors val="1"/>
        <c:ser>
          <c:idx val="0"/>
          <c:order val="0"/>
          <c:tx>
            <c:strRef>
              <c:f>Sheet1!$B$1</c:f>
              <c:strCache>
                <c:ptCount val="1"/>
                <c:pt idx="0">
                  <c:v>Pago_atiempo</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extLst>
              <c:ext xmlns:c16="http://schemas.microsoft.com/office/drawing/2014/chart" uri="{C3380CC4-5D6E-409C-BE32-E72D297353CC}">
                <c16:uniqueId val="{00000001-BF24-45DB-A242-0F3E10557264}"/>
              </c:ext>
            </c:extLst>
          </c:dPt>
          <c:dPt>
            <c:idx val="1"/>
            <c:bubble3D val="0"/>
            <c:spPr>
              <a:solidFill>
                <a:srgbClr val="B33A3A"/>
              </a:solidFill>
              <a:effectLst/>
            </c:spPr>
            <c:extLst>
              <c:ext xmlns:c16="http://schemas.microsoft.com/office/drawing/2014/chart" uri="{C3380CC4-5D6E-409C-BE32-E72D297353CC}">
                <c16:uniqueId val="{00000003-BF24-45DB-A242-0F3E10557264}"/>
              </c:ext>
            </c:extLst>
          </c:dPt>
          <c:dLbls>
            <c:dLbl>
              <c:idx val="0"/>
              <c:numFmt formatCode="0.0&quot;%&quot;" sourceLinked="0"/>
              <c:spPr/>
              <c:txPr>
                <a:bodyPr/>
                <a:lstStyle/>
                <a:p>
                  <a:pPr>
                    <a:defRPr sz="1200" b="0" i="0" u="none" strike="noStrike">
                      <a:solidFill>
                        <a:srgbClr val="FFFFFF"/>
                      </a:solidFill>
                      <a:latin typeface="Calibri"/>
                    </a:defRPr>
                  </a:pPr>
                  <a:endParaRPr lang="es-CO"/>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F24-45DB-A242-0F3E10557264}"/>
                </c:ext>
              </c:extLst>
            </c:dLbl>
            <c:dLbl>
              <c:idx val="1"/>
              <c:numFmt formatCode="0.0&quot;%&quot;" sourceLinked="0"/>
              <c:spPr/>
              <c:txPr>
                <a:bodyPr/>
                <a:lstStyle/>
                <a:p>
                  <a:pPr>
                    <a:defRPr sz="1200" b="0" i="0" u="none" strike="noStrike">
                      <a:solidFill>
                        <a:srgbClr val="FFFFFF"/>
                      </a:solidFill>
                      <a:latin typeface="Calibri"/>
                    </a:defRPr>
                  </a:pPr>
                  <a:endParaRPr lang="es-CO"/>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F24-45DB-A242-0F3E10557264}"/>
                </c:ext>
              </c:extLst>
            </c:dLbl>
            <c:numFmt formatCode="0.0&quot;%&quot;" sourceLinked="0"/>
            <c:spPr>
              <a:noFill/>
              <a:ln>
                <a:noFill/>
              </a:ln>
              <a:effectLst/>
            </c:spPr>
            <c:txPr>
              <a:bodyPr/>
              <a:lstStyle/>
              <a:p>
                <a:pPr>
                  <a:defRPr sz="1800" b="0" i="0" u="none" strike="noStrike">
                    <a:solidFill>
                      <a:srgbClr val="000000"/>
                    </a:solidFill>
                    <a:latin typeface="Arial"/>
                  </a:defRPr>
                </a:pPr>
                <a:endParaRPr lang="es-CO"/>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Al día</c:v>
                </c:pt>
                <c:pt idx="1">
                  <c:v>En mora</c:v>
                </c:pt>
              </c:strCache>
            </c:strRef>
          </c:cat>
          <c:val>
            <c:numRef>
              <c:f>Sheet1!$B$2:$B$3</c:f>
              <c:numCache>
                <c:formatCode>General</c:formatCode>
                <c:ptCount val="2"/>
                <c:pt idx="0">
                  <c:v>95.25</c:v>
                </c:pt>
                <c:pt idx="1">
                  <c:v>4.75</c:v>
                </c:pt>
              </c:numCache>
            </c:numRef>
          </c:val>
          <c:extLst>
            <c:ext xmlns:c16="http://schemas.microsoft.com/office/drawing/2014/chart" uri="{C3380CC4-5D6E-409C-BE32-E72D297353CC}">
              <c16:uniqueId val="{00000004-BF24-45DB-A242-0F3E10557264}"/>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1E2761"/>
                </a:solidFill>
                <a:latin typeface="Calibri"/>
              </a:defRPr>
            </a:pPr>
            <a:r>
              <a:rPr lang="es-MX" sz="1200" b="0" i="0" u="none" strike="noStrike">
                <a:solidFill>
                  <a:srgbClr val="1E2761"/>
                </a:solidFill>
                <a:latin typeface="Calibri"/>
              </a:rPr>
              <a:t>% de clientes que cayó en mora DENTRO de cada grupo</a:t>
            </a:r>
          </a:p>
        </c:rich>
      </c:tx>
      <c:overlay val="0"/>
    </c:title>
    <c:autoTitleDeleted val="0"/>
    <c:plotArea>
      <c:layout/>
      <c:barChart>
        <c:barDir val="col"/>
        <c:grouping val="clustered"/>
        <c:varyColors val="0"/>
        <c:ser>
          <c:idx val="0"/>
          <c:order val="0"/>
          <c:tx>
            <c:strRef>
              <c:f>Sheet1!$B$1</c:f>
              <c:strCache>
                <c:ptCount val="1"/>
                <c:pt idx="0">
                  <c:v>Tasa de mora (%)</c:v>
                </c:pt>
              </c:strCache>
            </c:strRef>
          </c:tx>
          <c:spPr>
            <a:solidFill>
              <a:srgbClr val="1E2761"/>
            </a:solidFill>
            <a:effectLst/>
          </c:spPr>
          <c:invertIfNegative val="0"/>
          <c:dPt>
            <c:idx val="0"/>
            <c:invertIfNegative val="0"/>
            <c:bubble3D val="0"/>
            <c:extLst>
              <c:ext xmlns:c16="http://schemas.microsoft.com/office/drawing/2014/chart" uri="{C3380CC4-5D6E-409C-BE32-E72D297353CC}">
                <c16:uniqueId val="{00000001-9273-42B4-92BC-FA7F31770028}"/>
              </c:ext>
            </c:extLst>
          </c:dPt>
          <c:dPt>
            <c:idx val="1"/>
            <c:invertIfNegative val="0"/>
            <c:bubble3D val="0"/>
            <c:spPr>
              <a:solidFill>
                <a:srgbClr val="B33A3A"/>
              </a:solidFill>
              <a:effectLst/>
            </c:spPr>
            <c:extLst>
              <c:ext xmlns:c16="http://schemas.microsoft.com/office/drawing/2014/chart" uri="{C3380CC4-5D6E-409C-BE32-E72D297353CC}">
                <c16:uniqueId val="{00000003-9273-42B4-92BC-FA7F31770028}"/>
              </c:ext>
            </c:extLst>
          </c:dPt>
          <c:dLbls>
            <c:numFmt formatCode="0.0&quot;%&quot;" sourceLinked="0"/>
            <c:spPr>
              <a:noFill/>
              <a:ln>
                <a:noFill/>
              </a:ln>
              <a:effectLst/>
            </c:spPr>
            <c:txPr>
              <a:bodyPr/>
              <a:lstStyle/>
              <a:p>
                <a:pPr>
                  <a:defRPr sz="1400" b="0" i="0" u="none" strike="noStrike">
                    <a:solidFill>
                      <a:srgbClr val="1E2761"/>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Sin mora previa
(10.708 clientes)</c:v>
                </c:pt>
                <c:pt idx="1">
                  <c:v>Con mora previa
(55 clientes)</c:v>
                </c:pt>
              </c:strCache>
            </c:strRef>
          </c:cat>
          <c:val>
            <c:numRef>
              <c:f>Sheet1!$B$2:$B$3</c:f>
              <c:numCache>
                <c:formatCode>General</c:formatCode>
                <c:ptCount val="2"/>
                <c:pt idx="0">
                  <c:v>4.59</c:v>
                </c:pt>
                <c:pt idx="1">
                  <c:v>36.36</c:v>
                </c:pt>
              </c:numCache>
            </c:numRef>
          </c:val>
          <c:extLst>
            <c:ext xmlns:c16="http://schemas.microsoft.com/office/drawing/2014/chart" uri="{C3380CC4-5D6E-409C-BE32-E72D297353CC}">
              <c16:uniqueId val="{00000004-9273-42B4-92BC-FA7F3177002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5F73"/>
                </a:solidFill>
                <a:latin typeface="Calibri"/>
              </a:defRPr>
            </a:pPr>
            <a:endParaRPr lang="en-US"/>
          </a:p>
        </c:txPr>
        <c:crossAx val="2094734552"/>
        <c:crosses val="autoZero"/>
        <c:auto val="1"/>
        <c:lblAlgn val="ctr"/>
        <c:lblOffset val="100"/>
        <c:noMultiLvlLbl val="1"/>
      </c:catAx>
      <c:valAx>
        <c:axId val="2094734552"/>
        <c:scaling>
          <c:orientation val="minMax"/>
          <c:max val="42"/>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1E2761"/>
                </a:solidFill>
                <a:latin typeface="Calibri"/>
              </a:defRPr>
            </a:pPr>
            <a:r>
              <a:rPr lang="es-MX" sz="1400" b="0" i="0" u="none" strike="noStrike">
                <a:solidFill>
                  <a:srgbClr val="1E2761"/>
                </a:solidFill>
                <a:latin typeface="Calibri"/>
              </a:rPr>
              <a:t>% de créditos que cayó en mora DENTRO de cada tipo (n = tamaño del grupo)</a:t>
            </a:r>
          </a:p>
        </c:rich>
      </c:tx>
      <c:overlay val="0"/>
    </c:title>
    <c:autoTitleDeleted val="0"/>
    <c:plotArea>
      <c:layout/>
      <c:barChart>
        <c:barDir val="col"/>
        <c:grouping val="clustered"/>
        <c:varyColors val="0"/>
        <c:ser>
          <c:idx val="0"/>
          <c:order val="0"/>
          <c:tx>
            <c:strRef>
              <c:f>Sheet1!$B$1</c:f>
              <c:strCache>
                <c:ptCount val="1"/>
                <c:pt idx="0">
                  <c:v>Tasa de mora (%)</c:v>
                </c:pt>
              </c:strCache>
            </c:strRef>
          </c:tx>
          <c:spPr>
            <a:solidFill>
              <a:srgbClr val="B33A3A"/>
            </a:solidFill>
            <a:effectLst/>
          </c:spPr>
          <c:invertIfNegative val="0"/>
          <c:dPt>
            <c:idx val="0"/>
            <c:invertIfNegative val="0"/>
            <c:bubble3D val="0"/>
            <c:extLst>
              <c:ext xmlns:c16="http://schemas.microsoft.com/office/drawing/2014/chart" uri="{C3380CC4-5D6E-409C-BE32-E72D297353CC}">
                <c16:uniqueId val="{00000001-7572-4146-91DC-6BBD757EA26B}"/>
              </c:ext>
            </c:extLst>
          </c:dPt>
          <c:dPt>
            <c:idx val="1"/>
            <c:invertIfNegative val="0"/>
            <c:bubble3D val="0"/>
            <c:spPr>
              <a:solidFill>
                <a:srgbClr val="1E2761"/>
              </a:solidFill>
              <a:effectLst/>
            </c:spPr>
            <c:extLst>
              <c:ext xmlns:c16="http://schemas.microsoft.com/office/drawing/2014/chart" uri="{C3380CC4-5D6E-409C-BE32-E72D297353CC}">
                <c16:uniqueId val="{00000003-7572-4146-91DC-6BBD757EA26B}"/>
              </c:ext>
            </c:extLst>
          </c:dPt>
          <c:dPt>
            <c:idx val="2"/>
            <c:invertIfNegative val="0"/>
            <c:bubble3D val="0"/>
            <c:spPr>
              <a:solidFill>
                <a:srgbClr val="1E2761"/>
              </a:solidFill>
              <a:effectLst/>
            </c:spPr>
            <c:extLst>
              <c:ext xmlns:c16="http://schemas.microsoft.com/office/drawing/2014/chart" uri="{C3380CC4-5D6E-409C-BE32-E72D297353CC}">
                <c16:uniqueId val="{00000005-7572-4146-91DC-6BBD757EA26B}"/>
              </c:ext>
            </c:extLst>
          </c:dPt>
          <c:dPt>
            <c:idx val="3"/>
            <c:invertIfNegative val="0"/>
            <c:bubble3D val="0"/>
            <c:spPr>
              <a:solidFill>
                <a:srgbClr val="1E2761"/>
              </a:solidFill>
              <a:effectLst/>
            </c:spPr>
            <c:extLst>
              <c:ext xmlns:c16="http://schemas.microsoft.com/office/drawing/2014/chart" uri="{C3380CC4-5D6E-409C-BE32-E72D297353CC}">
                <c16:uniqueId val="{00000007-7572-4146-91DC-6BBD757EA26B}"/>
              </c:ext>
            </c:extLst>
          </c:dPt>
          <c:dLbls>
            <c:numFmt formatCode="0.0&quot;%&quot;" sourceLinked="0"/>
            <c:spPr>
              <a:noFill/>
              <a:ln>
                <a:noFill/>
              </a:ln>
              <a:effectLst/>
            </c:spPr>
            <c:txPr>
              <a:bodyPr/>
              <a:lstStyle/>
              <a:p>
                <a:pPr>
                  <a:defRPr sz="1200" b="0" i="0" u="none" strike="noStrike">
                    <a:solidFill>
                      <a:srgbClr val="1E2761"/>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Tipo 6
(n=21)</c:v>
                </c:pt>
                <c:pt idx="1">
                  <c:v>Tipo 9
(n=2,876)</c:v>
                </c:pt>
                <c:pt idx="2">
                  <c:v>Tipo 4
(n=7,747)</c:v>
                </c:pt>
                <c:pt idx="3">
                  <c:v>Tipo 10
(n=116)</c:v>
                </c:pt>
              </c:strCache>
            </c:strRef>
          </c:cat>
          <c:val>
            <c:numRef>
              <c:f>Sheet1!$B$2:$B$5</c:f>
              <c:numCache>
                <c:formatCode>General</c:formatCode>
                <c:ptCount val="4"/>
                <c:pt idx="0">
                  <c:v>42.86</c:v>
                </c:pt>
                <c:pt idx="1">
                  <c:v>4.7300000000000004</c:v>
                </c:pt>
                <c:pt idx="2">
                  <c:v>4.6900000000000004</c:v>
                </c:pt>
                <c:pt idx="3">
                  <c:v>2.59</c:v>
                </c:pt>
              </c:numCache>
            </c:numRef>
          </c:val>
          <c:extLst>
            <c:ext xmlns:c16="http://schemas.microsoft.com/office/drawing/2014/chart" uri="{C3380CC4-5D6E-409C-BE32-E72D297353CC}">
              <c16:uniqueId val="{00000008-7572-4146-91DC-6BBD757EA26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A5F73"/>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100" b="0" i="0" u="none" strike="noStrike">
                <a:solidFill>
                  <a:srgbClr val="5A5F73"/>
                </a:solidFill>
                <a:latin typeface="Calibri"/>
              </a:defRPr>
            </a:pPr>
            <a:r>
              <a:rPr lang="es-MX" sz="1100" b="0" i="0" u="none" strike="noStrike">
                <a:solidFill>
                  <a:srgbClr val="5A5F73"/>
                </a:solidFill>
                <a:latin typeface="Calibri"/>
              </a:rPr>
              <a:t>Correlación absoluta con Pago_atiempo   (0 = sin relación lineal  ·  1 = relación perfecta)</a:t>
            </a:r>
          </a:p>
        </c:rich>
      </c:tx>
      <c:overlay val="0"/>
    </c:title>
    <c:autoTitleDeleted val="0"/>
    <c:plotArea>
      <c:layout/>
      <c:barChart>
        <c:barDir val="bar"/>
        <c:grouping val="clustered"/>
        <c:varyColors val="0"/>
        <c:ser>
          <c:idx val="0"/>
          <c:order val="0"/>
          <c:tx>
            <c:strRef>
              <c:f>Sheet1!$B$1</c:f>
              <c:strCache>
                <c:ptCount val="1"/>
                <c:pt idx="0">
                  <c:v>Correlación absoluta con Pago_atiempo</c:v>
                </c:pt>
              </c:strCache>
            </c:strRef>
          </c:tx>
          <c:spPr>
            <a:solidFill>
              <a:srgbClr val="B33A3A"/>
            </a:solidFill>
            <a:effectLst/>
          </c:spPr>
          <c:invertIfNegative val="0"/>
          <c:dPt>
            <c:idx val="0"/>
            <c:invertIfNegative val="0"/>
            <c:bubble3D val="0"/>
            <c:extLst>
              <c:ext xmlns:c16="http://schemas.microsoft.com/office/drawing/2014/chart" uri="{C3380CC4-5D6E-409C-BE32-E72D297353CC}">
                <c16:uniqueId val="{00000001-D9A0-425F-AA78-529B4F13E171}"/>
              </c:ext>
            </c:extLst>
          </c:dPt>
          <c:dPt>
            <c:idx val="1"/>
            <c:invertIfNegative val="0"/>
            <c:bubble3D val="0"/>
            <c:extLst>
              <c:ext xmlns:c16="http://schemas.microsoft.com/office/drawing/2014/chart" uri="{C3380CC4-5D6E-409C-BE32-E72D297353CC}">
                <c16:uniqueId val="{00000003-D9A0-425F-AA78-529B4F13E171}"/>
              </c:ext>
            </c:extLst>
          </c:dPt>
          <c:dPt>
            <c:idx val="2"/>
            <c:invertIfNegative val="0"/>
            <c:bubble3D val="0"/>
            <c:extLst>
              <c:ext xmlns:c16="http://schemas.microsoft.com/office/drawing/2014/chart" uri="{C3380CC4-5D6E-409C-BE32-E72D297353CC}">
                <c16:uniqueId val="{00000005-D9A0-425F-AA78-529B4F13E171}"/>
              </c:ext>
            </c:extLst>
          </c:dPt>
          <c:dPt>
            <c:idx val="3"/>
            <c:invertIfNegative val="0"/>
            <c:bubble3D val="0"/>
            <c:spPr>
              <a:solidFill>
                <a:srgbClr val="1E2761"/>
              </a:solidFill>
              <a:effectLst/>
            </c:spPr>
            <c:extLst>
              <c:ext xmlns:c16="http://schemas.microsoft.com/office/drawing/2014/chart" uri="{C3380CC4-5D6E-409C-BE32-E72D297353CC}">
                <c16:uniqueId val="{00000007-D9A0-425F-AA78-529B4F13E171}"/>
              </c:ext>
            </c:extLst>
          </c:dPt>
          <c:dPt>
            <c:idx val="4"/>
            <c:invertIfNegative val="0"/>
            <c:bubble3D val="0"/>
            <c:spPr>
              <a:solidFill>
                <a:srgbClr val="1E2761"/>
              </a:solidFill>
              <a:effectLst/>
            </c:spPr>
            <c:extLst>
              <c:ext xmlns:c16="http://schemas.microsoft.com/office/drawing/2014/chart" uri="{C3380CC4-5D6E-409C-BE32-E72D297353CC}">
                <c16:uniqueId val="{00000009-D9A0-425F-AA78-529B4F13E171}"/>
              </c:ext>
            </c:extLst>
          </c:dPt>
          <c:dPt>
            <c:idx val="5"/>
            <c:invertIfNegative val="0"/>
            <c:bubble3D val="0"/>
            <c:spPr>
              <a:solidFill>
                <a:srgbClr val="1E2761"/>
              </a:solidFill>
              <a:effectLst/>
            </c:spPr>
            <c:extLst>
              <c:ext xmlns:c16="http://schemas.microsoft.com/office/drawing/2014/chart" uri="{C3380CC4-5D6E-409C-BE32-E72D297353CC}">
                <c16:uniqueId val="{0000000B-D9A0-425F-AA78-529B4F13E171}"/>
              </c:ext>
            </c:extLst>
          </c:dPt>
          <c:dPt>
            <c:idx val="6"/>
            <c:invertIfNegative val="0"/>
            <c:bubble3D val="0"/>
            <c:spPr>
              <a:solidFill>
                <a:srgbClr val="1E2761"/>
              </a:solidFill>
              <a:effectLst/>
            </c:spPr>
            <c:extLst>
              <c:ext xmlns:c16="http://schemas.microsoft.com/office/drawing/2014/chart" uri="{C3380CC4-5D6E-409C-BE32-E72D297353CC}">
                <c16:uniqueId val="{0000000D-D9A0-425F-AA78-529B4F13E171}"/>
              </c:ext>
            </c:extLst>
          </c:dPt>
          <c:dPt>
            <c:idx val="7"/>
            <c:invertIfNegative val="0"/>
            <c:bubble3D val="0"/>
            <c:spPr>
              <a:solidFill>
                <a:srgbClr val="1E2761"/>
              </a:solidFill>
              <a:effectLst/>
            </c:spPr>
            <c:extLst>
              <c:ext xmlns:c16="http://schemas.microsoft.com/office/drawing/2014/chart" uri="{C3380CC4-5D6E-409C-BE32-E72D297353CC}">
                <c16:uniqueId val="{0000000F-D9A0-425F-AA78-529B4F13E171}"/>
              </c:ext>
            </c:extLst>
          </c:dPt>
          <c:dLbls>
            <c:numFmt formatCode="0.000" sourceLinked="0"/>
            <c:spPr>
              <a:noFill/>
              <a:ln>
                <a:noFill/>
              </a:ln>
              <a:effectLst/>
            </c:spPr>
            <c:txPr>
              <a:bodyPr/>
              <a:lstStyle/>
              <a:p>
                <a:pPr>
                  <a:defRPr sz="1050" b="0" i="0" u="none" strike="noStrike">
                    <a:solidFill>
                      <a:srgbClr val="1E2761"/>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puntaje_datacredito (depurado)</c:v>
                </c:pt>
                <c:pt idx="1">
                  <c:v>tiene_mora_previa</c:v>
                </c:pt>
                <c:pt idx="2">
                  <c:v>consultas_por_credito</c:v>
                </c:pt>
                <c:pt idx="3">
                  <c:v>huella_consulta</c:v>
                </c:pt>
                <c:pt idx="4">
                  <c:v>saldo_mora</c:v>
                </c:pt>
                <c:pt idx="5">
                  <c:v>plazo_meses</c:v>
                </c:pt>
                <c:pt idx="6">
                  <c:v>edad_cliente</c:v>
                </c:pt>
                <c:pt idx="7">
                  <c:v>capital_prestado</c:v>
                </c:pt>
              </c:strCache>
            </c:strRef>
          </c:cat>
          <c:val>
            <c:numRef>
              <c:f>Sheet1!$B$2:$B$9</c:f>
              <c:numCache>
                <c:formatCode>General</c:formatCode>
                <c:ptCount val="8"/>
                <c:pt idx="0">
                  <c:v>0.121</c:v>
                </c:pt>
                <c:pt idx="1">
                  <c:v>0.107</c:v>
                </c:pt>
                <c:pt idx="2">
                  <c:v>7.6999999999999999E-2</c:v>
                </c:pt>
                <c:pt idx="3">
                  <c:v>7.3999999999999996E-2</c:v>
                </c:pt>
                <c:pt idx="4">
                  <c:v>7.2999999999999995E-2</c:v>
                </c:pt>
                <c:pt idx="5">
                  <c:v>6.3E-2</c:v>
                </c:pt>
                <c:pt idx="6">
                  <c:v>5.1999999999999998E-2</c:v>
                </c:pt>
                <c:pt idx="7">
                  <c:v>4.1000000000000002E-2</c:v>
                </c:pt>
              </c:numCache>
            </c:numRef>
          </c:val>
          <c:extLst>
            <c:ext xmlns:c16="http://schemas.microsoft.com/office/drawing/2014/chart" uri="{C3380CC4-5D6E-409C-BE32-E72D297353CC}">
              <c16:uniqueId val="{00000010-D9A0-425F-AA78-529B4F13E17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A5F73"/>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1E2761"/>
                </a:solidFill>
                <a:latin typeface="Calibri"/>
              </a:defRPr>
            </a:pPr>
            <a:r>
              <a:rPr lang="es-CO" sz="1300" b="0" i="0" u="none" strike="noStrike">
                <a:solidFill>
                  <a:srgbClr val="1E2761"/>
                </a:solidFill>
                <a:latin typeface="Calibri"/>
              </a:rPr>
              <a:t>Tasa de mora por tipo laboral (%)</a:t>
            </a:r>
          </a:p>
        </c:rich>
      </c:tx>
      <c:overlay val="0"/>
    </c:title>
    <c:autoTitleDeleted val="0"/>
    <c:plotArea>
      <c:layout/>
      <c:barChart>
        <c:barDir val="col"/>
        <c:grouping val="clustered"/>
        <c:varyColors val="0"/>
        <c:ser>
          <c:idx val="0"/>
          <c:order val="0"/>
          <c:tx>
            <c:strRef>
              <c:f>Sheet1!$B$1</c:f>
              <c:strCache>
                <c:ptCount val="1"/>
                <c:pt idx="0">
                  <c:v>Tasa de mora (%)</c:v>
                </c:pt>
              </c:strCache>
            </c:strRef>
          </c:tx>
          <c:spPr>
            <a:solidFill>
              <a:srgbClr val="1E2761"/>
            </a:solidFill>
            <a:effectLst/>
          </c:spPr>
          <c:invertIfNegative val="0"/>
          <c:dPt>
            <c:idx val="0"/>
            <c:invertIfNegative val="0"/>
            <c:bubble3D val="0"/>
            <c:extLst>
              <c:ext xmlns:c16="http://schemas.microsoft.com/office/drawing/2014/chart" uri="{C3380CC4-5D6E-409C-BE32-E72D297353CC}">
                <c16:uniqueId val="{00000001-630E-44CD-9B26-7A455AB4F378}"/>
              </c:ext>
            </c:extLst>
          </c:dPt>
          <c:dPt>
            <c:idx val="1"/>
            <c:invertIfNegative val="0"/>
            <c:bubble3D val="0"/>
            <c:spPr>
              <a:solidFill>
                <a:srgbClr val="5C77B8"/>
              </a:solidFill>
              <a:effectLst/>
            </c:spPr>
            <c:extLst>
              <c:ext xmlns:c16="http://schemas.microsoft.com/office/drawing/2014/chart" uri="{C3380CC4-5D6E-409C-BE32-E72D297353CC}">
                <c16:uniqueId val="{00000003-630E-44CD-9B26-7A455AB4F378}"/>
              </c:ext>
            </c:extLst>
          </c:dPt>
          <c:dLbls>
            <c:numFmt formatCode="0.00&quot;%&quot;" sourceLinked="0"/>
            <c:spPr>
              <a:noFill/>
              <a:ln>
                <a:noFill/>
              </a:ln>
              <a:effectLst/>
            </c:spPr>
            <c:txPr>
              <a:bodyPr/>
              <a:lstStyle/>
              <a:p>
                <a:pPr>
                  <a:defRPr sz="1200" b="0" i="0" u="none" strike="noStrike">
                    <a:solidFill>
                      <a:srgbClr val="1E2761"/>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Empleado (n=6,754)</c:v>
                </c:pt>
                <c:pt idx="1">
                  <c:v>Independiente (n=4,009)</c:v>
                </c:pt>
              </c:strCache>
            </c:strRef>
          </c:cat>
          <c:val>
            <c:numRef>
              <c:f>Sheet1!$B$2:$B$3</c:f>
              <c:numCache>
                <c:formatCode>General</c:formatCode>
                <c:ptCount val="2"/>
                <c:pt idx="0">
                  <c:v>4.29</c:v>
                </c:pt>
                <c:pt idx="1">
                  <c:v>5.51</c:v>
                </c:pt>
              </c:numCache>
            </c:numRef>
          </c:val>
          <c:extLst>
            <c:ext xmlns:c16="http://schemas.microsoft.com/office/drawing/2014/chart" uri="{C3380CC4-5D6E-409C-BE32-E72D297353CC}">
              <c16:uniqueId val="{00000004-630E-44CD-9B26-7A455AB4F37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5F73"/>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8781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Contexto: soy candidato a Científico de Datos Junior, se me entregó una base de datos de créditos sin diccionario de datos, y el objetivo es presentar los insights más valiosos para el negocio en 15 minutos, dirigidos tanto a un perfil técnico como a un perfil de negocio.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resume todo el análisis en 30 segundos, para quien solo se lleve una idea de la reunión. El resto de la presentación desarrolla cada uno de estos puntos con evidencia.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ejercicio real de EDA: nos entregaron el DataFrame crudo, sin diccionario, así que la primera tarea fue investigar el negocio (central de riesgo Datacrédito) para entender cada variable con criterio propio.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diccionario no es documentación decorativa: definirlo formalmente permitió detectar tres errores metodológicos que estaban en el análisis y produjo dos hallazgos nuevos.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ficha concreta de las variables. Aquí se ve el rango válido del score (150-950), que es el que permitió detectar los 153 registros inválidos.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insights principales no cambiaron porque se calcularon con groupby, el método correcto. Lo que falló fueron los análisis numéricos automáticos y las reglas de validación.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Seguimos un flujo estándar de ciencia de datos: primero entender antes de limpiar, y limpiar antes de analizar en profundidad. Cada decisión de limpieza se investigó con evidencia antes de aplicarse.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estas correcciones, cualquier análisis posterior habría partido de datos falsos: edades de 122 años, salarios de miles de millones, y una variable de tendencia de ingresos parcialmente corrupta.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punto es crítico para el equipo técnico: cualquier modelo que se entrene después debe manejar este desbalance explícitamente, y cualquier métrica de éxito debe evitar la exactitud simple.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hallazgo con mayor valor accionable: un cliente que ya está en mora en otro producto tiene casi 8 veces más probabilidad de incumplir este crédito. Recomendación directa: usarlo como criterio de alerta temprana.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líder de negocio: vale la pena preguntar qué representa el tipo de crédito 6 y por qué concentra tanto riesgo, antes de invertir en un modelo — puede ser un problema de política de originación.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para el técnico: esto justifica no intentar reglas de negocio simplistas de una sola variable, y sí invertir en un modelo que capture interacciones entre variables.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 la inversión en feature engineering: construir variables con lógica de negocio (mora previa, intensidad de consultas) rindió más que los ratios financieros tradicionales, cuyo cálculo se vio afectado por los salarios imputados.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análisis multivariado usa las técnicas pedidas: matriz de correlación, pairplot con hue, dispersión entre numéricas y tablas cruzadas. No se aplicó reducción de dimensionalidad porque corresponde a la fase de Feature Engineering.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hallazgos secundarios pero útiles: la diferencia laboral es moderada, y la bimodalidad del score sugiere segmentar el análisis por historial crediticio en fases futuras.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importante ser transparente con estas limitaciones frente al líder técnico: ninguna es motivo para descartar los hallazgos, pero sí para validarlos antes de tomar decisiones de alto impacto.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la parte de insights con acciones concretas: no solo 'qué encontramos', sino 'qué hacer con esto'.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análisis es la base para las siguientes fases del proyecto: feature engineering formal, modelado predictivo, despliegue y monitoreo continuo.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invitando a preguntas, y menciono que todo el proceso (código, commits, decisiones documentadas) está disponible en el repositorio para su revisión.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1965960"/>
            <a:ext cx="10515600" cy="457200"/>
          </a:xfrm>
          <a:prstGeom prst="rect">
            <a:avLst/>
          </a:prstGeom>
          <a:noFill/>
          <a:ln/>
        </p:spPr>
        <p:txBody>
          <a:bodyPr wrap="square" lIns="0" tIns="0" rIns="0" bIns="0" rtlCol="0" anchor="ctr"/>
          <a:lstStyle/>
          <a:p>
            <a:pPr marL="0" indent="0">
              <a:buNone/>
            </a:pPr>
            <a:r>
              <a:rPr lang="en-US" sz="1500" b="1" kern="0" spc="300" dirty="0">
                <a:solidFill>
                  <a:srgbClr val="CADCFC"/>
                </a:solidFill>
                <a:latin typeface="Calibri" pitchFamily="34" charset="0"/>
                <a:ea typeface="Calibri" pitchFamily="34" charset="-122"/>
                <a:cs typeface="Calibri" pitchFamily="34" charset="-120"/>
              </a:rPr>
              <a:t>ANÁLISIS DE RIESGO CREDITICIO</a:t>
            </a:r>
            <a:endParaRPr lang="en-US" sz="1500" dirty="0"/>
          </a:p>
        </p:txBody>
      </p:sp>
      <p:sp>
        <p:nvSpPr>
          <p:cNvPr id="3" name="Text 1"/>
          <p:cNvSpPr/>
          <p:nvPr/>
        </p:nvSpPr>
        <p:spPr>
          <a:xfrm>
            <a:off x="822960" y="2423160"/>
            <a:ext cx="10515600" cy="11887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Hallazgos clave del análisis exploratorio de datos</a:t>
            </a:r>
            <a:endParaRPr lang="en-US" sz="4200" dirty="0"/>
          </a:p>
        </p:txBody>
      </p:sp>
      <p:sp>
        <p:nvSpPr>
          <p:cNvPr id="4" name="Text 2"/>
          <p:cNvSpPr/>
          <p:nvPr/>
        </p:nvSpPr>
        <p:spPr>
          <a:xfrm>
            <a:off x="822960" y="3520440"/>
            <a:ext cx="10515600" cy="457200"/>
          </a:xfrm>
          <a:prstGeom prst="rect">
            <a:avLst/>
          </a:prstGeom>
          <a:noFill/>
          <a:ln/>
        </p:spPr>
        <p:txBody>
          <a:bodyPr wrap="square" lIns="0" tIns="0" rIns="0" bIns="0"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Entregable 2 · Ciencia de Datos en Producción</a:t>
            </a:r>
            <a:endParaRPr lang="en-US" sz="1600" dirty="0"/>
          </a:p>
        </p:txBody>
      </p:sp>
      <p:sp>
        <p:nvSpPr>
          <p:cNvPr id="5" name="Shape 3"/>
          <p:cNvSpPr/>
          <p:nvPr/>
        </p:nvSpPr>
        <p:spPr>
          <a:xfrm>
            <a:off x="822960" y="4160520"/>
            <a:ext cx="2011680" cy="0"/>
          </a:xfrm>
          <a:prstGeom prst="line">
            <a:avLst/>
          </a:prstGeom>
          <a:noFill/>
          <a:ln w="38100">
            <a:solidFill>
              <a:srgbClr val="B33A3A"/>
            </a:solidFill>
            <a:prstDash val="solid"/>
          </a:ln>
        </p:spPr>
        <p:txBody>
          <a:bodyPr/>
          <a:lstStyle/>
          <a:p>
            <a:endParaRPr lang="es-CO"/>
          </a:p>
        </p:txBody>
      </p:sp>
      <p:sp>
        <p:nvSpPr>
          <p:cNvPr id="6" name="Text 4"/>
          <p:cNvSpPr/>
          <p:nvPr/>
        </p:nvSpPr>
        <p:spPr>
          <a:xfrm>
            <a:off x="822960" y="5989320"/>
            <a:ext cx="822960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CAMILO ANDRES ARMENTA PEDROZO  ·  Ciencia de Datos en Producción</a:t>
            </a:r>
            <a:endParaRPr lang="en-US" sz="1200" dirty="0"/>
          </a:p>
        </p:txBody>
      </p:sp>
      <p:sp>
        <p:nvSpPr>
          <p:cNvPr id="7" name="Text 5"/>
          <p:cNvSpPr/>
          <p:nvPr/>
        </p:nvSpPr>
        <p:spPr>
          <a:xfrm>
            <a:off x="10058400" y="5943600"/>
            <a:ext cx="1463040" cy="457200"/>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15 min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EN UNA VISTA</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Resumen general</a:t>
            </a:r>
            <a:endParaRPr lang="en-US" sz="3000" dirty="0"/>
          </a:p>
        </p:txBody>
      </p:sp>
      <p:sp>
        <p:nvSpPr>
          <p:cNvPr id="4" name="Shape 2"/>
          <p:cNvSpPr/>
          <p:nvPr/>
        </p:nvSpPr>
        <p:spPr>
          <a:xfrm>
            <a:off x="548640" y="1965960"/>
            <a:ext cx="3520440" cy="2377440"/>
          </a:xfrm>
          <a:prstGeom prst="roundRect">
            <a:avLst>
              <a:gd name="adj" fmla="val 3846"/>
            </a:avLst>
          </a:prstGeom>
          <a:solidFill>
            <a:srgbClr val="1E2761"/>
          </a:solidFill>
          <a:ln/>
          <a:effectLst>
            <a:outerShdw blurRad="76200" dist="25400" dir="5400000" algn="bl" rotWithShape="0">
              <a:srgbClr val="000000">
                <a:alpha val="10000"/>
              </a:srgbClr>
            </a:outerShdw>
          </a:effectLst>
        </p:spPr>
        <p:txBody>
          <a:bodyPr/>
          <a:lstStyle/>
          <a:p>
            <a:endParaRPr lang="es-CO"/>
          </a:p>
        </p:txBody>
      </p:sp>
      <p:sp>
        <p:nvSpPr>
          <p:cNvPr id="5" name="Text 3"/>
          <p:cNvSpPr/>
          <p:nvPr/>
        </p:nvSpPr>
        <p:spPr>
          <a:xfrm>
            <a:off x="822960" y="2286000"/>
            <a:ext cx="29718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3,2x</a:t>
            </a:r>
            <a:endParaRPr lang="en-US" sz="4000" dirty="0"/>
          </a:p>
        </p:txBody>
      </p:sp>
      <p:sp>
        <p:nvSpPr>
          <p:cNvPr id="6" name="Text 4"/>
          <p:cNvSpPr/>
          <p:nvPr/>
        </p:nvSpPr>
        <p:spPr>
          <a:xfrm>
            <a:off x="822960" y="3200400"/>
            <a:ext cx="2971800" cy="1005840"/>
          </a:xfrm>
          <a:prstGeom prst="rect">
            <a:avLst/>
          </a:prstGeom>
          <a:noFill/>
          <a:ln/>
        </p:spPr>
        <p:txBody>
          <a:bodyPr wrap="square" lIns="0" tIns="0" rIns="0" bIns="0" rtlCol="0" anchor="t"/>
          <a:lstStyle/>
          <a:p>
            <a:pPr marL="0" indent="0">
              <a:lnSpc>
                <a:spcPct val="120000"/>
              </a:lnSpc>
              <a:buNone/>
            </a:pPr>
            <a:r>
              <a:rPr lang="en-US" sz="1300" dirty="0">
                <a:solidFill>
                  <a:srgbClr val="CADCFC"/>
                </a:solidFill>
                <a:latin typeface="Calibri" pitchFamily="34" charset="0"/>
                <a:ea typeface="Calibri" pitchFamily="34" charset="-122"/>
                <a:cs typeface="Calibri" pitchFamily="34" charset="-120"/>
              </a:rPr>
              <a:t>más mora en créditos a 24–36 meses que a 6–12 meses (12,66% vs 3,91%)</a:t>
            </a:r>
            <a:endParaRPr lang="en-US" sz="1300" dirty="0"/>
          </a:p>
        </p:txBody>
      </p:sp>
      <p:sp>
        <p:nvSpPr>
          <p:cNvPr id="7" name="Shape 5"/>
          <p:cNvSpPr/>
          <p:nvPr/>
        </p:nvSpPr>
        <p:spPr>
          <a:xfrm>
            <a:off x="4343400" y="1965960"/>
            <a:ext cx="3520440" cy="2377440"/>
          </a:xfrm>
          <a:prstGeom prst="roundRect">
            <a:avLst>
              <a:gd name="adj" fmla="val 3846"/>
            </a:avLst>
          </a:prstGeom>
          <a:solidFill>
            <a:srgbClr val="F4F7FC"/>
          </a:solidFill>
          <a:ln/>
          <a:effectLst>
            <a:outerShdw blurRad="76200" dist="25400" dir="5400000" algn="bl" rotWithShape="0">
              <a:srgbClr val="000000">
                <a:alpha val="10000"/>
              </a:srgbClr>
            </a:outerShdw>
          </a:effectLst>
        </p:spPr>
        <p:txBody>
          <a:bodyPr/>
          <a:lstStyle/>
          <a:p>
            <a:endParaRPr lang="es-CO"/>
          </a:p>
        </p:txBody>
      </p:sp>
      <p:sp>
        <p:nvSpPr>
          <p:cNvPr id="8" name="Text 6"/>
          <p:cNvSpPr/>
          <p:nvPr/>
        </p:nvSpPr>
        <p:spPr>
          <a:xfrm>
            <a:off x="4617720" y="2286000"/>
            <a:ext cx="2971800" cy="822960"/>
          </a:xfrm>
          <a:prstGeom prst="rect">
            <a:avLst/>
          </a:prstGeom>
          <a:noFill/>
          <a:ln/>
        </p:spPr>
        <p:txBody>
          <a:bodyPr wrap="square" lIns="0" tIns="0" rIns="0" bIns="0" rtlCol="0" anchor="ctr"/>
          <a:lstStyle/>
          <a:p>
            <a:pPr marL="0" indent="0">
              <a:buNone/>
            </a:pPr>
            <a:r>
              <a:rPr lang="en-US" sz="4000" b="1" dirty="0">
                <a:solidFill>
                  <a:srgbClr val="B33A3A"/>
                </a:solidFill>
                <a:latin typeface="Cambria" pitchFamily="34" charset="0"/>
                <a:ea typeface="Cambria" pitchFamily="34" charset="-122"/>
                <a:cs typeface="Cambria" pitchFamily="34" charset="-120"/>
              </a:rPr>
              <a:t>42,9%</a:t>
            </a:r>
            <a:endParaRPr lang="en-US" sz="4000" dirty="0"/>
          </a:p>
        </p:txBody>
      </p:sp>
      <p:sp>
        <p:nvSpPr>
          <p:cNvPr id="9" name="Text 7"/>
          <p:cNvSpPr/>
          <p:nvPr/>
        </p:nvSpPr>
        <p:spPr>
          <a:xfrm>
            <a:off x="4617720" y="3200400"/>
            <a:ext cx="2971800" cy="1005840"/>
          </a:xfrm>
          <a:prstGeom prst="rect">
            <a:avLst/>
          </a:prstGeom>
          <a:noFill/>
          <a:ln/>
        </p:spPr>
        <p:txBody>
          <a:bodyPr wrap="square" lIns="0" tIns="0" rIns="0" bIns="0" rtlCol="0" anchor="t"/>
          <a:lstStyle/>
          <a:p>
            <a:pPr marL="0" indent="0">
              <a:lnSpc>
                <a:spcPct val="120000"/>
              </a:lnSpc>
              <a:buNone/>
            </a:pPr>
            <a:r>
              <a:rPr lang="en-US" sz="1300" dirty="0">
                <a:solidFill>
                  <a:srgbClr val="5A5F73"/>
                </a:solidFill>
                <a:latin typeface="Calibri" pitchFamily="34" charset="0"/>
                <a:ea typeface="Calibri" pitchFamily="34" charset="-122"/>
                <a:cs typeface="Calibri" pitchFamily="34" charset="-120"/>
              </a:rPr>
              <a:t>de los 21 créditos del tipo 6 cayó en mora (promedio general: 4,75%)</a:t>
            </a:r>
            <a:endParaRPr lang="en-US" sz="1300" dirty="0"/>
          </a:p>
        </p:txBody>
      </p:sp>
      <p:sp>
        <p:nvSpPr>
          <p:cNvPr id="10" name="Shape 8"/>
          <p:cNvSpPr/>
          <p:nvPr/>
        </p:nvSpPr>
        <p:spPr>
          <a:xfrm>
            <a:off x="8138160" y="1965960"/>
            <a:ext cx="3520440" cy="2377440"/>
          </a:xfrm>
          <a:prstGeom prst="roundRect">
            <a:avLst>
              <a:gd name="adj" fmla="val 3846"/>
            </a:avLst>
          </a:prstGeom>
          <a:solidFill>
            <a:srgbClr val="F4F7FC"/>
          </a:solidFill>
          <a:ln/>
          <a:effectLst>
            <a:outerShdw blurRad="76200" dist="25400" dir="5400000" algn="bl" rotWithShape="0">
              <a:srgbClr val="000000">
                <a:alpha val="10000"/>
              </a:srgbClr>
            </a:outerShdw>
          </a:effectLst>
        </p:spPr>
        <p:txBody>
          <a:bodyPr/>
          <a:lstStyle/>
          <a:p>
            <a:endParaRPr lang="es-CO"/>
          </a:p>
        </p:txBody>
      </p:sp>
      <p:sp>
        <p:nvSpPr>
          <p:cNvPr id="11" name="Text 9"/>
          <p:cNvSpPr/>
          <p:nvPr/>
        </p:nvSpPr>
        <p:spPr>
          <a:xfrm>
            <a:off x="8412480" y="2286000"/>
            <a:ext cx="2971800" cy="822960"/>
          </a:xfrm>
          <a:prstGeom prst="rect">
            <a:avLst/>
          </a:prstGeom>
          <a:noFill/>
          <a:ln/>
        </p:spPr>
        <p:txBody>
          <a:bodyPr wrap="square" lIns="0" tIns="0" rIns="0" bIns="0" rtlCol="0" anchor="ctr"/>
          <a:lstStyle/>
          <a:p>
            <a:pPr marL="0" indent="0">
              <a:buNone/>
            </a:pPr>
            <a:r>
              <a:rPr lang="en-US" sz="4000" b="1" dirty="0">
                <a:solidFill>
                  <a:srgbClr val="B33A3A"/>
                </a:solidFill>
                <a:latin typeface="Cambria" pitchFamily="34" charset="0"/>
                <a:ea typeface="Cambria" pitchFamily="34" charset="-122"/>
                <a:cs typeface="Cambria" pitchFamily="34" charset="-120"/>
              </a:rPr>
              <a:t>2.930</a:t>
            </a:r>
            <a:endParaRPr lang="en-US" sz="4000" dirty="0"/>
          </a:p>
        </p:txBody>
      </p:sp>
      <p:sp>
        <p:nvSpPr>
          <p:cNvPr id="12" name="Text 10"/>
          <p:cNvSpPr/>
          <p:nvPr/>
        </p:nvSpPr>
        <p:spPr>
          <a:xfrm>
            <a:off x="8412480" y="3200400"/>
            <a:ext cx="2971800" cy="1005840"/>
          </a:xfrm>
          <a:prstGeom prst="rect">
            <a:avLst/>
          </a:prstGeom>
          <a:noFill/>
          <a:ln/>
        </p:spPr>
        <p:txBody>
          <a:bodyPr wrap="square" lIns="0" tIns="0" rIns="0" bIns="0" rtlCol="0" anchor="t"/>
          <a:lstStyle/>
          <a:p>
            <a:pPr marL="0" indent="0">
              <a:lnSpc>
                <a:spcPct val="120000"/>
              </a:lnSpc>
              <a:buNone/>
            </a:pPr>
            <a:r>
              <a:rPr lang="en-US" sz="1300" dirty="0">
                <a:solidFill>
                  <a:srgbClr val="5A5F73"/>
                </a:solidFill>
                <a:latin typeface="Calibri" pitchFamily="34" charset="0"/>
                <a:ea typeface="Calibri" pitchFamily="34" charset="-122"/>
                <a:cs typeface="Calibri" pitchFamily="34" charset="-120"/>
              </a:rPr>
              <a:t>clientes sin reporte de ingresos en el buró: 5,73% de mora frente a 4,38%</a:t>
            </a:r>
            <a:endParaRPr lang="en-US" sz="1300" dirty="0"/>
          </a:p>
        </p:txBody>
      </p:sp>
      <p:sp>
        <p:nvSpPr>
          <p:cNvPr id="13" name="Shape 11"/>
          <p:cNvSpPr/>
          <p:nvPr/>
        </p:nvSpPr>
        <p:spPr>
          <a:xfrm>
            <a:off x="548640" y="4617720"/>
            <a:ext cx="11064240" cy="1051560"/>
          </a:xfrm>
          <a:prstGeom prst="roundRect">
            <a:avLst>
              <a:gd name="adj" fmla="val 6957"/>
            </a:avLst>
          </a:prstGeom>
          <a:solidFill>
            <a:srgbClr val="F4F7FC"/>
          </a:solidFill>
          <a:ln/>
        </p:spPr>
        <p:txBody>
          <a:bodyPr/>
          <a:lstStyle/>
          <a:p>
            <a:endParaRPr lang="es-CO"/>
          </a:p>
        </p:txBody>
      </p:sp>
      <p:sp>
        <p:nvSpPr>
          <p:cNvPr id="14" name="Text 12"/>
          <p:cNvSpPr/>
          <p:nvPr/>
        </p:nvSpPr>
        <p:spPr>
          <a:xfrm>
            <a:off x="777240" y="4754880"/>
            <a:ext cx="10607040" cy="822960"/>
          </a:xfrm>
          <a:prstGeom prst="rect">
            <a:avLst/>
          </a:prstGeom>
          <a:noFill/>
          <a:ln/>
        </p:spPr>
        <p:txBody>
          <a:bodyPr wrap="square" lIns="0" tIns="0" rIns="0" bIns="0" rtlCol="0" anchor="ctr"/>
          <a:lstStyle/>
          <a:p>
            <a:pPr marL="0" indent="0">
              <a:lnSpc>
                <a:spcPct val="120000"/>
              </a:lnSpc>
              <a:buNone/>
            </a:pPr>
            <a:r>
              <a:rPr lang="en-US" sz="1300" b="1" dirty="0">
                <a:solidFill>
                  <a:srgbClr val="1E2761"/>
                </a:solidFill>
                <a:latin typeface="Calibri" pitchFamily="34" charset="0"/>
                <a:ea typeface="Calibri" pitchFamily="34" charset="-122"/>
                <a:cs typeface="Calibri" pitchFamily="34" charset="-120"/>
              </a:rPr>
              <a:t>El mensaje central: </a:t>
            </a:r>
            <a:r>
              <a:rPr lang="en-US" sz="1300" dirty="0">
                <a:solidFill>
                  <a:srgbClr val="5A5F73"/>
                </a:solidFill>
                <a:latin typeface="Calibri" pitchFamily="34" charset="0"/>
                <a:ea typeface="Calibri" pitchFamily="34" charset="-122"/>
                <a:cs typeface="Calibri" pitchFamily="34" charset="-120"/>
              </a:rPr>
              <a:t>al depurar los 153 scores inválidos, la correlación de puntaje_datacredito con la mora pasó de 0,068 a 0,121 (+78%). Y por bandas de score la tasa de mora va de 64% a 2,9%: la correlación lineal subestima la señal.</a:t>
            </a:r>
            <a:endParaRPr lang="en-US" sz="1300" dirty="0"/>
          </a:p>
        </p:txBody>
      </p:sp>
      <p:sp>
        <p:nvSpPr>
          <p:cNvPr id="15" name="Text 13"/>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16" name="Text 14"/>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CONTEXTO</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El reto de negocio</a:t>
            </a:r>
            <a:endParaRPr lang="en-US" sz="3000" dirty="0"/>
          </a:p>
        </p:txBody>
      </p:sp>
      <p:sp>
        <p:nvSpPr>
          <p:cNvPr id="4" name="Text 2"/>
          <p:cNvSpPr/>
          <p:nvPr/>
        </p:nvSpPr>
        <p:spPr>
          <a:xfrm>
            <a:off x="548640" y="1783080"/>
            <a:ext cx="6400800" cy="1371600"/>
          </a:xfrm>
          <a:prstGeom prst="rect">
            <a:avLst/>
          </a:prstGeom>
          <a:noFill/>
          <a:ln/>
        </p:spPr>
        <p:txBody>
          <a:bodyPr wrap="square" lIns="0" tIns="0" rIns="0" bIns="0" rtlCol="0" anchor="t"/>
          <a:lstStyle/>
          <a:p>
            <a:pPr marL="0" indent="0">
              <a:lnSpc>
                <a:spcPct val="125000"/>
              </a:lnSpc>
              <a:buNone/>
            </a:pPr>
            <a:r>
              <a:rPr lang="en-US" sz="1550" dirty="0">
                <a:solidFill>
                  <a:srgbClr val="5A5F73"/>
                </a:solidFill>
                <a:latin typeface="Calibri" pitchFamily="34" charset="0"/>
                <a:ea typeface="Calibri" pitchFamily="34" charset="-122"/>
                <a:cs typeface="Calibri" pitchFamily="34" charset="-120"/>
              </a:rPr>
              <a:t>Una empresa financiera entrega una base de datos con información del crédito, del cliente y del comportamiento de pago (a tiempo o en mora). El objetivo: generar insights valiosos para la organización y comunicarlos de forma clara para la toma de decisiones.</a:t>
            </a:r>
            <a:endParaRPr lang="en-US" sz="1550" dirty="0"/>
          </a:p>
        </p:txBody>
      </p:sp>
      <p:sp>
        <p:nvSpPr>
          <p:cNvPr id="5" name="Shape 3"/>
          <p:cNvSpPr/>
          <p:nvPr/>
        </p:nvSpPr>
        <p:spPr>
          <a:xfrm>
            <a:off x="548640" y="3291840"/>
            <a:ext cx="6400800" cy="1097280"/>
          </a:xfrm>
          <a:prstGeom prst="roundRect">
            <a:avLst>
              <a:gd name="adj" fmla="val 6667"/>
            </a:avLst>
          </a:prstGeom>
          <a:solidFill>
            <a:srgbClr val="F4F7FC"/>
          </a:solidFill>
          <a:ln/>
        </p:spPr>
        <p:txBody>
          <a:bodyPr/>
          <a:lstStyle/>
          <a:p>
            <a:endParaRPr lang="es-CO"/>
          </a:p>
        </p:txBody>
      </p:sp>
      <p:sp>
        <p:nvSpPr>
          <p:cNvPr id="6" name="Text 4"/>
          <p:cNvSpPr/>
          <p:nvPr/>
        </p:nvSpPr>
        <p:spPr>
          <a:xfrm>
            <a:off x="777240" y="3429000"/>
            <a:ext cx="5943600" cy="8229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Periodo de los datos: </a:t>
            </a:r>
            <a:r>
              <a:rPr lang="en-US" sz="1400" dirty="0">
                <a:solidFill>
                  <a:srgbClr val="5A5F73"/>
                </a:solidFill>
                <a:latin typeface="Calibri" pitchFamily="34" charset="0"/>
                <a:ea typeface="Calibri" pitchFamily="34" charset="-122"/>
                <a:cs typeface="Calibri" pitchFamily="34" charset="-120"/>
              </a:rPr>
              <a:t>noviembre de 2024 a abril de 2026</a:t>
            </a:r>
            <a:endParaRPr lang="en-US" sz="1400" dirty="0"/>
          </a:p>
        </p:txBody>
      </p:sp>
      <p:sp>
        <p:nvSpPr>
          <p:cNvPr id="7" name="Shape 5"/>
          <p:cNvSpPr/>
          <p:nvPr/>
        </p:nvSpPr>
        <p:spPr>
          <a:xfrm>
            <a:off x="548640" y="4526280"/>
            <a:ext cx="6400800" cy="1188720"/>
          </a:xfrm>
          <a:prstGeom prst="roundRect">
            <a:avLst>
              <a:gd name="adj" fmla="val 6154"/>
            </a:avLst>
          </a:prstGeom>
          <a:solidFill>
            <a:srgbClr val="FBEAEA"/>
          </a:solidFill>
          <a:ln/>
        </p:spPr>
        <p:txBody>
          <a:bodyPr/>
          <a:lstStyle/>
          <a:p>
            <a:endParaRPr lang="es-CO"/>
          </a:p>
        </p:txBody>
      </p:sp>
      <p:sp>
        <p:nvSpPr>
          <p:cNvPr id="8" name="Text 6"/>
          <p:cNvSpPr/>
          <p:nvPr/>
        </p:nvSpPr>
        <p:spPr>
          <a:xfrm>
            <a:off x="777240" y="4663440"/>
            <a:ext cx="5943600" cy="914400"/>
          </a:xfrm>
          <a:prstGeom prst="rect">
            <a:avLst/>
          </a:prstGeom>
          <a:noFill/>
          <a:ln/>
        </p:spPr>
        <p:txBody>
          <a:bodyPr wrap="square" lIns="0" tIns="0" rIns="0" bIns="0" rtlCol="0" anchor="ctr"/>
          <a:lstStyle/>
          <a:p>
            <a:pPr marL="0" indent="0">
              <a:lnSpc>
                <a:spcPct val="120000"/>
              </a:lnSpc>
              <a:buNone/>
            </a:pPr>
            <a:r>
              <a:rPr lang="en-US" sz="1300" b="1" dirty="0">
                <a:solidFill>
                  <a:srgbClr val="B33A3A"/>
                </a:solidFill>
                <a:latin typeface="Calibri" pitchFamily="34" charset="0"/>
                <a:ea typeface="Calibri" pitchFamily="34" charset="-122"/>
                <a:cs typeface="Calibri" pitchFamily="34" charset="-120"/>
              </a:rPr>
              <a:t>Sin diccionario de datos. </a:t>
            </a:r>
            <a:r>
              <a:rPr lang="en-US" sz="1300" dirty="0">
                <a:solidFill>
                  <a:srgbClr val="5A5F73"/>
                </a:solidFill>
                <a:latin typeface="Calibri" pitchFamily="34" charset="0"/>
                <a:ea typeface="Calibri" pitchFamily="34" charset="-122"/>
                <a:cs typeface="Calibri" pitchFamily="34" charset="-120"/>
              </a:rPr>
              <a:t>La entidad no entregó documentación de las variables: su significado, tipo y rango válido se investigaron y construyeron durante este análisis.</a:t>
            </a:r>
            <a:endParaRPr lang="en-US" sz="1300" dirty="0"/>
          </a:p>
        </p:txBody>
      </p:sp>
      <p:sp>
        <p:nvSpPr>
          <p:cNvPr id="9" name="Shape 7"/>
          <p:cNvSpPr/>
          <p:nvPr/>
        </p:nvSpPr>
        <p:spPr>
          <a:xfrm>
            <a:off x="7406640" y="1783080"/>
            <a:ext cx="4206240" cy="1188720"/>
          </a:xfrm>
          <a:prstGeom prst="roundRect">
            <a:avLst>
              <a:gd name="adj" fmla="val 6154"/>
            </a:avLst>
          </a:prstGeom>
          <a:solidFill>
            <a:srgbClr val="F4F7FC"/>
          </a:solidFill>
          <a:ln/>
          <a:effectLst>
            <a:outerShdw blurRad="76200" dist="25400" dir="5400000" algn="bl" rotWithShape="0">
              <a:srgbClr val="000000">
                <a:alpha val="12000"/>
              </a:srgbClr>
            </a:outerShdw>
          </a:effectLst>
        </p:spPr>
        <p:txBody>
          <a:bodyPr/>
          <a:lstStyle/>
          <a:p>
            <a:endParaRPr lang="es-CO"/>
          </a:p>
        </p:txBody>
      </p:sp>
      <p:sp>
        <p:nvSpPr>
          <p:cNvPr id="10" name="Text 8"/>
          <p:cNvSpPr/>
          <p:nvPr/>
        </p:nvSpPr>
        <p:spPr>
          <a:xfrm>
            <a:off x="7635240" y="1892808"/>
            <a:ext cx="2011680" cy="96012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10.763</a:t>
            </a:r>
            <a:endParaRPr lang="en-US" sz="3400" dirty="0"/>
          </a:p>
        </p:txBody>
      </p:sp>
      <p:sp>
        <p:nvSpPr>
          <p:cNvPr id="11" name="Text 9"/>
          <p:cNvSpPr/>
          <p:nvPr/>
        </p:nvSpPr>
        <p:spPr>
          <a:xfrm>
            <a:off x="9464040" y="1783080"/>
            <a:ext cx="1965960" cy="1188720"/>
          </a:xfrm>
          <a:prstGeom prst="rect">
            <a:avLst/>
          </a:prstGeom>
          <a:noFill/>
          <a:ln/>
        </p:spPr>
        <p:txBody>
          <a:bodyPr wrap="square" lIns="0" tIns="0" rIns="0" bIns="0" rtlCol="0" anchor="ctr"/>
          <a:lstStyle/>
          <a:p>
            <a:pPr marL="0" indent="0">
              <a:buNone/>
            </a:pPr>
            <a:r>
              <a:rPr lang="en-US" sz="1200" dirty="0">
                <a:solidFill>
                  <a:srgbClr val="5A5F73"/>
                </a:solidFill>
                <a:latin typeface="Calibri" pitchFamily="34" charset="0"/>
                <a:ea typeface="Calibri" pitchFamily="34" charset="-122"/>
                <a:cs typeface="Calibri" pitchFamily="34" charset="-120"/>
              </a:rPr>
              <a:t>créditos analizados</a:t>
            </a:r>
            <a:endParaRPr lang="en-US" sz="1200" dirty="0"/>
          </a:p>
        </p:txBody>
      </p:sp>
      <p:sp>
        <p:nvSpPr>
          <p:cNvPr id="12" name="Shape 10"/>
          <p:cNvSpPr/>
          <p:nvPr/>
        </p:nvSpPr>
        <p:spPr>
          <a:xfrm>
            <a:off x="7406640" y="3200400"/>
            <a:ext cx="4206240" cy="1188720"/>
          </a:xfrm>
          <a:prstGeom prst="roundRect">
            <a:avLst>
              <a:gd name="adj" fmla="val 6154"/>
            </a:avLst>
          </a:prstGeom>
          <a:solidFill>
            <a:srgbClr val="F4F7FC"/>
          </a:solidFill>
          <a:ln/>
          <a:effectLst>
            <a:outerShdw blurRad="76200" dist="25400" dir="5400000" algn="bl" rotWithShape="0">
              <a:srgbClr val="000000">
                <a:alpha val="12000"/>
              </a:srgbClr>
            </a:outerShdw>
          </a:effectLst>
        </p:spPr>
        <p:txBody>
          <a:bodyPr/>
          <a:lstStyle/>
          <a:p>
            <a:endParaRPr lang="es-CO"/>
          </a:p>
        </p:txBody>
      </p:sp>
      <p:sp>
        <p:nvSpPr>
          <p:cNvPr id="13" name="Text 11"/>
          <p:cNvSpPr/>
          <p:nvPr/>
        </p:nvSpPr>
        <p:spPr>
          <a:xfrm>
            <a:off x="7635240" y="3310128"/>
            <a:ext cx="2011680" cy="96012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23</a:t>
            </a:r>
            <a:endParaRPr lang="en-US" sz="3400" dirty="0"/>
          </a:p>
        </p:txBody>
      </p:sp>
      <p:sp>
        <p:nvSpPr>
          <p:cNvPr id="14" name="Text 12"/>
          <p:cNvSpPr/>
          <p:nvPr/>
        </p:nvSpPr>
        <p:spPr>
          <a:xfrm>
            <a:off x="9464040" y="3200400"/>
            <a:ext cx="1965960" cy="1188720"/>
          </a:xfrm>
          <a:prstGeom prst="rect">
            <a:avLst/>
          </a:prstGeom>
          <a:noFill/>
          <a:ln/>
        </p:spPr>
        <p:txBody>
          <a:bodyPr wrap="square" lIns="0" tIns="0" rIns="0" bIns="0" rtlCol="0" anchor="ctr"/>
          <a:lstStyle/>
          <a:p>
            <a:pPr marL="0" indent="0">
              <a:buNone/>
            </a:pPr>
            <a:r>
              <a:rPr lang="en-US" sz="1200" dirty="0">
                <a:solidFill>
                  <a:srgbClr val="5A5F73"/>
                </a:solidFill>
                <a:latin typeface="Calibri" pitchFamily="34" charset="0"/>
                <a:ea typeface="Calibri" pitchFamily="34" charset="-122"/>
                <a:cs typeface="Calibri" pitchFamily="34" charset="-120"/>
              </a:rPr>
              <a:t>variables originales</a:t>
            </a:r>
            <a:endParaRPr lang="en-US" sz="1200" dirty="0"/>
          </a:p>
        </p:txBody>
      </p:sp>
      <p:sp>
        <p:nvSpPr>
          <p:cNvPr id="15" name="Shape 13"/>
          <p:cNvSpPr/>
          <p:nvPr/>
        </p:nvSpPr>
        <p:spPr>
          <a:xfrm>
            <a:off x="7406640" y="4617720"/>
            <a:ext cx="4206240" cy="1188720"/>
          </a:xfrm>
          <a:prstGeom prst="roundRect">
            <a:avLst>
              <a:gd name="adj" fmla="val 6154"/>
            </a:avLst>
          </a:prstGeom>
          <a:solidFill>
            <a:srgbClr val="F4F7FC"/>
          </a:solidFill>
          <a:ln/>
          <a:effectLst>
            <a:outerShdw blurRad="76200" dist="25400" dir="5400000" algn="bl" rotWithShape="0">
              <a:srgbClr val="000000">
                <a:alpha val="12000"/>
              </a:srgbClr>
            </a:outerShdw>
          </a:effectLst>
        </p:spPr>
        <p:txBody>
          <a:bodyPr/>
          <a:lstStyle/>
          <a:p>
            <a:endParaRPr lang="es-CO"/>
          </a:p>
        </p:txBody>
      </p:sp>
      <p:sp>
        <p:nvSpPr>
          <p:cNvPr id="16" name="Text 14"/>
          <p:cNvSpPr/>
          <p:nvPr/>
        </p:nvSpPr>
        <p:spPr>
          <a:xfrm>
            <a:off x="7635240" y="4727448"/>
            <a:ext cx="2011680" cy="96012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Pago_atiempo</a:t>
            </a:r>
            <a:endParaRPr lang="en-US" sz="1700" dirty="0"/>
          </a:p>
        </p:txBody>
      </p:sp>
      <p:sp>
        <p:nvSpPr>
          <p:cNvPr id="17" name="Text 15"/>
          <p:cNvSpPr/>
          <p:nvPr/>
        </p:nvSpPr>
        <p:spPr>
          <a:xfrm>
            <a:off x="9464040" y="4617720"/>
            <a:ext cx="1965960" cy="1188720"/>
          </a:xfrm>
          <a:prstGeom prst="rect">
            <a:avLst/>
          </a:prstGeom>
          <a:noFill/>
          <a:ln/>
        </p:spPr>
        <p:txBody>
          <a:bodyPr wrap="square" lIns="0" tIns="0" rIns="0" bIns="0" rtlCol="0" anchor="ctr"/>
          <a:lstStyle/>
          <a:p>
            <a:pPr marL="0" indent="0">
              <a:buNone/>
            </a:pPr>
            <a:r>
              <a:rPr lang="en-US" sz="1200" dirty="0">
                <a:solidFill>
                  <a:srgbClr val="5A5F73"/>
                </a:solidFill>
                <a:latin typeface="Calibri" pitchFamily="34" charset="0"/>
                <a:ea typeface="Calibri" pitchFamily="34" charset="-122"/>
                <a:cs typeface="Calibri" pitchFamily="34" charset="-120"/>
              </a:rPr>
              <a:t>variable objetivo (1 = al día, 0 = mora)</a:t>
            </a:r>
            <a:endParaRPr lang="en-US" sz="1200" dirty="0"/>
          </a:p>
        </p:txBody>
      </p:sp>
      <p:sp>
        <p:nvSpPr>
          <p:cNvPr id="18" name="Text 16"/>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19" name="Text 17"/>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INVESTIGACIÓN METODOLÓGICA · BANCA EN COLOMBIA</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El diccionario de datos</a:t>
            </a:r>
            <a:endParaRPr lang="en-US" sz="3000" dirty="0"/>
          </a:p>
        </p:txBody>
      </p:sp>
      <p:sp>
        <p:nvSpPr>
          <p:cNvPr id="4" name="Text 2"/>
          <p:cNvSpPr/>
          <p:nvPr/>
        </p:nvSpPr>
        <p:spPr>
          <a:xfrm>
            <a:off x="548640" y="1600200"/>
            <a:ext cx="11064240" cy="365760"/>
          </a:xfrm>
          <a:prstGeom prst="rect">
            <a:avLst/>
          </a:prstGeom>
          <a:noFill/>
          <a:ln/>
        </p:spPr>
        <p:txBody>
          <a:bodyPr wrap="square" lIns="0" tIns="0" rIns="0" bIns="0" rtlCol="0" anchor="ctr"/>
          <a:lstStyle/>
          <a:p>
            <a:pPr marL="0" indent="0">
              <a:buNone/>
            </a:pPr>
            <a:r>
              <a:rPr lang="en-US" sz="1400" i="1" dirty="0">
                <a:solidFill>
                  <a:srgbClr val="5A5F73"/>
                </a:solidFill>
                <a:latin typeface="Calibri" pitchFamily="34" charset="0"/>
                <a:ea typeface="Calibri" pitchFamily="34" charset="-122"/>
                <a:cs typeface="Calibri" pitchFamily="34" charset="-120"/>
              </a:rPr>
              <a:t>No se entregó diccionario. Construirlo reveló tres errores metodológicos reales.</a:t>
            </a:r>
            <a:endParaRPr lang="en-US" sz="1400" dirty="0"/>
          </a:p>
        </p:txBody>
      </p:sp>
      <p:sp>
        <p:nvSpPr>
          <p:cNvPr id="5" name="Shape 3"/>
          <p:cNvSpPr/>
          <p:nvPr/>
        </p:nvSpPr>
        <p:spPr>
          <a:xfrm>
            <a:off x="548640" y="2148840"/>
            <a:ext cx="2697480" cy="1828800"/>
          </a:xfrm>
          <a:prstGeom prst="roundRect">
            <a:avLst>
              <a:gd name="adj" fmla="val 4000"/>
            </a:avLst>
          </a:prstGeom>
          <a:solidFill>
            <a:srgbClr val="1E2761"/>
          </a:solidFill>
          <a:ln/>
        </p:spPr>
        <p:txBody>
          <a:bodyPr/>
          <a:lstStyle/>
          <a:p>
            <a:endParaRPr lang="es-CO"/>
          </a:p>
        </p:txBody>
      </p:sp>
      <p:sp>
        <p:nvSpPr>
          <p:cNvPr id="6" name="Text 4"/>
          <p:cNvSpPr/>
          <p:nvPr/>
        </p:nvSpPr>
        <p:spPr>
          <a:xfrm>
            <a:off x="777240" y="2286000"/>
            <a:ext cx="224028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7" name="Text 5"/>
          <p:cNvSpPr/>
          <p:nvPr/>
        </p:nvSpPr>
        <p:spPr>
          <a:xfrm>
            <a:off x="777240" y="2807208"/>
            <a:ext cx="2240280" cy="548640"/>
          </a:xfrm>
          <a:prstGeom prst="rect">
            <a:avLst/>
          </a:prstGeom>
          <a:noFill/>
          <a:ln/>
        </p:spPr>
        <p:txBody>
          <a:bodyPr wrap="square" lIns="0" tIns="0" rIns="0" bIns="0" rtlCol="0" anchor="t"/>
          <a:lstStyle/>
          <a:p>
            <a:pPr marL="0" indent="0">
              <a:buNone/>
            </a:pPr>
            <a:r>
              <a:rPr lang="en-US" sz="1250" b="1" dirty="0">
                <a:solidFill>
                  <a:srgbClr val="CADCFC"/>
                </a:solidFill>
                <a:latin typeface="Calibri" pitchFamily="34" charset="0"/>
                <a:ea typeface="Calibri" pitchFamily="34" charset="-122"/>
                <a:cs typeface="Calibri" pitchFamily="34" charset="-120"/>
              </a:rPr>
              <a:t>Cualitativas</a:t>
            </a:r>
            <a:endParaRPr lang="en-US" sz="1250" dirty="0"/>
          </a:p>
          <a:p>
            <a:pPr marL="0" indent="0">
              <a:buNone/>
            </a:pPr>
            <a:r>
              <a:rPr lang="en-US" sz="1250" b="1" dirty="0">
                <a:solidFill>
                  <a:srgbClr val="CADCFC"/>
                </a:solidFill>
                <a:latin typeface="Calibri" pitchFamily="34" charset="0"/>
                <a:ea typeface="Calibri" pitchFamily="34" charset="-122"/>
                <a:cs typeface="Calibri" pitchFamily="34" charset="-120"/>
              </a:rPr>
              <a:t>nominales</a:t>
            </a:r>
            <a:endParaRPr lang="en-US" sz="1250" dirty="0"/>
          </a:p>
        </p:txBody>
      </p:sp>
      <p:sp>
        <p:nvSpPr>
          <p:cNvPr id="8" name="Text 6"/>
          <p:cNvSpPr/>
          <p:nvPr/>
        </p:nvSpPr>
        <p:spPr>
          <a:xfrm>
            <a:off x="777240" y="3337560"/>
            <a:ext cx="2240280" cy="548640"/>
          </a:xfrm>
          <a:prstGeom prst="rect">
            <a:avLst/>
          </a:prstGeom>
          <a:noFill/>
          <a:ln/>
        </p:spPr>
        <p:txBody>
          <a:bodyPr wrap="square" lIns="0" tIns="0" rIns="0" bIns="0" rtlCol="0" anchor="t"/>
          <a:lstStyle/>
          <a:p>
            <a:pPr marL="0" indent="0">
              <a:buNone/>
            </a:pPr>
            <a:r>
              <a:rPr lang="en-US" sz="950" dirty="0">
                <a:solidFill>
                  <a:srgbClr val="CADCFC"/>
                </a:solidFill>
                <a:latin typeface="Calibri" pitchFamily="34" charset="0"/>
                <a:ea typeface="Calibri" pitchFamily="34" charset="-122"/>
                <a:cs typeface="Calibri" pitchFamily="34" charset="-120"/>
              </a:rPr>
              <a:t>tipo_credito, tipo_laboral,</a:t>
            </a:r>
            <a:endParaRPr lang="en-US" sz="950" dirty="0"/>
          </a:p>
          <a:p>
            <a:pPr marL="0" indent="0">
              <a:buNone/>
            </a:pPr>
            <a:r>
              <a:rPr lang="en-US" sz="950" dirty="0">
                <a:solidFill>
                  <a:srgbClr val="CADCFC"/>
                </a:solidFill>
                <a:latin typeface="Calibri" pitchFamily="34" charset="0"/>
                <a:ea typeface="Calibri" pitchFamily="34" charset="-122"/>
                <a:cs typeface="Calibri" pitchFamily="34" charset="-120"/>
              </a:rPr>
              <a:t>tendencia_ingresos, Pago_atiempo</a:t>
            </a:r>
            <a:endParaRPr lang="en-US" sz="950" dirty="0"/>
          </a:p>
        </p:txBody>
      </p:sp>
      <p:sp>
        <p:nvSpPr>
          <p:cNvPr id="9" name="Shape 7"/>
          <p:cNvSpPr/>
          <p:nvPr/>
        </p:nvSpPr>
        <p:spPr>
          <a:xfrm>
            <a:off x="3447288" y="2148840"/>
            <a:ext cx="2697480" cy="1828800"/>
          </a:xfrm>
          <a:prstGeom prst="roundRect">
            <a:avLst>
              <a:gd name="adj" fmla="val 4000"/>
            </a:avLst>
          </a:prstGeom>
          <a:solidFill>
            <a:srgbClr val="F4F7FC"/>
          </a:solidFill>
          <a:ln/>
        </p:spPr>
        <p:txBody>
          <a:bodyPr/>
          <a:lstStyle/>
          <a:p>
            <a:endParaRPr lang="es-CO"/>
          </a:p>
        </p:txBody>
      </p:sp>
      <p:sp>
        <p:nvSpPr>
          <p:cNvPr id="10" name="Text 8"/>
          <p:cNvSpPr/>
          <p:nvPr/>
        </p:nvSpPr>
        <p:spPr>
          <a:xfrm>
            <a:off x="3675888" y="2286000"/>
            <a:ext cx="2240280" cy="5486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9</a:t>
            </a:r>
            <a:endParaRPr lang="en-US" sz="3000" dirty="0"/>
          </a:p>
        </p:txBody>
      </p:sp>
      <p:sp>
        <p:nvSpPr>
          <p:cNvPr id="11" name="Text 9"/>
          <p:cNvSpPr/>
          <p:nvPr/>
        </p:nvSpPr>
        <p:spPr>
          <a:xfrm>
            <a:off x="3675888" y="2807208"/>
            <a:ext cx="2240280" cy="548640"/>
          </a:xfrm>
          <a:prstGeom prst="rect">
            <a:avLst/>
          </a:prstGeom>
          <a:noFill/>
          <a:ln/>
        </p:spPr>
        <p:txBody>
          <a:bodyPr wrap="square" lIns="0" tIns="0" rIns="0" bIns="0" rtlCol="0" anchor="t"/>
          <a:lstStyle/>
          <a:p>
            <a:pPr marL="0" indent="0">
              <a:buNone/>
            </a:pPr>
            <a:r>
              <a:rPr lang="en-US" sz="1250" b="1" dirty="0">
                <a:solidFill>
                  <a:srgbClr val="1E2761"/>
                </a:solidFill>
                <a:latin typeface="Calibri" pitchFamily="34" charset="0"/>
                <a:ea typeface="Calibri" pitchFamily="34" charset="-122"/>
                <a:cs typeface="Calibri" pitchFamily="34" charset="-120"/>
              </a:rPr>
              <a:t>Cuantitativas</a:t>
            </a:r>
            <a:endParaRPr lang="en-US" sz="1250" dirty="0"/>
          </a:p>
          <a:p>
            <a:pPr marL="0" indent="0">
              <a:buNone/>
            </a:pPr>
            <a:r>
              <a:rPr lang="en-US" sz="1250" b="1" dirty="0">
                <a:solidFill>
                  <a:srgbClr val="1E2761"/>
                </a:solidFill>
                <a:latin typeface="Calibri" pitchFamily="34" charset="0"/>
                <a:ea typeface="Calibri" pitchFamily="34" charset="-122"/>
                <a:cs typeface="Calibri" pitchFamily="34" charset="-120"/>
              </a:rPr>
              <a:t>continuas</a:t>
            </a:r>
            <a:endParaRPr lang="en-US" sz="1250" dirty="0"/>
          </a:p>
        </p:txBody>
      </p:sp>
      <p:sp>
        <p:nvSpPr>
          <p:cNvPr id="12" name="Text 10"/>
          <p:cNvSpPr/>
          <p:nvPr/>
        </p:nvSpPr>
        <p:spPr>
          <a:xfrm>
            <a:off x="3675888" y="3337560"/>
            <a:ext cx="2240280" cy="548640"/>
          </a:xfrm>
          <a:prstGeom prst="rect">
            <a:avLst/>
          </a:prstGeom>
          <a:noFill/>
          <a:ln/>
        </p:spPr>
        <p:txBody>
          <a:bodyPr wrap="square" lIns="0" tIns="0" rIns="0" bIns="0" rtlCol="0" anchor="t"/>
          <a:lstStyle/>
          <a:p>
            <a:pPr marL="0" indent="0">
              <a:buNone/>
            </a:pPr>
            <a:r>
              <a:rPr lang="en-US" sz="950" dirty="0">
                <a:solidFill>
                  <a:srgbClr val="5A5F73"/>
                </a:solidFill>
                <a:latin typeface="Calibri" pitchFamily="34" charset="0"/>
                <a:ea typeface="Calibri" pitchFamily="34" charset="-122"/>
                <a:cs typeface="Calibri" pitchFamily="34" charset="-120"/>
              </a:rPr>
              <a:t>capital, salario, cuota,</a:t>
            </a:r>
            <a:endParaRPr lang="en-US" sz="950" dirty="0"/>
          </a:p>
          <a:p>
            <a:pPr marL="0" indent="0">
              <a:buNone/>
            </a:pPr>
            <a:r>
              <a:rPr lang="en-US" sz="950" dirty="0">
                <a:solidFill>
                  <a:srgbClr val="5A5F73"/>
                </a:solidFill>
                <a:latin typeface="Calibri" pitchFamily="34" charset="0"/>
                <a:ea typeface="Calibri" pitchFamily="34" charset="-122"/>
                <a:cs typeface="Calibri" pitchFamily="34" charset="-120"/>
              </a:rPr>
              <a:t>saldos, ingresos buró</a:t>
            </a:r>
            <a:endParaRPr lang="en-US" sz="950" dirty="0"/>
          </a:p>
        </p:txBody>
      </p:sp>
      <p:sp>
        <p:nvSpPr>
          <p:cNvPr id="13" name="Shape 11"/>
          <p:cNvSpPr/>
          <p:nvPr/>
        </p:nvSpPr>
        <p:spPr>
          <a:xfrm>
            <a:off x="6345936" y="2148840"/>
            <a:ext cx="2697480" cy="1828800"/>
          </a:xfrm>
          <a:prstGeom prst="roundRect">
            <a:avLst>
              <a:gd name="adj" fmla="val 4000"/>
            </a:avLst>
          </a:prstGeom>
          <a:solidFill>
            <a:srgbClr val="F4F7FC"/>
          </a:solidFill>
          <a:ln/>
        </p:spPr>
        <p:txBody>
          <a:bodyPr/>
          <a:lstStyle/>
          <a:p>
            <a:endParaRPr lang="es-CO"/>
          </a:p>
        </p:txBody>
      </p:sp>
      <p:sp>
        <p:nvSpPr>
          <p:cNvPr id="14" name="Text 12"/>
          <p:cNvSpPr/>
          <p:nvPr/>
        </p:nvSpPr>
        <p:spPr>
          <a:xfrm>
            <a:off x="6574536" y="2286000"/>
            <a:ext cx="2240280" cy="5486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8</a:t>
            </a:r>
            <a:endParaRPr lang="en-US" sz="3000" dirty="0"/>
          </a:p>
        </p:txBody>
      </p:sp>
      <p:sp>
        <p:nvSpPr>
          <p:cNvPr id="15" name="Text 13"/>
          <p:cNvSpPr/>
          <p:nvPr/>
        </p:nvSpPr>
        <p:spPr>
          <a:xfrm>
            <a:off x="6574536" y="2807208"/>
            <a:ext cx="2240280" cy="548640"/>
          </a:xfrm>
          <a:prstGeom prst="rect">
            <a:avLst/>
          </a:prstGeom>
          <a:noFill/>
          <a:ln/>
        </p:spPr>
        <p:txBody>
          <a:bodyPr wrap="square" lIns="0" tIns="0" rIns="0" bIns="0" rtlCol="0" anchor="t"/>
          <a:lstStyle/>
          <a:p>
            <a:pPr marL="0" indent="0">
              <a:buNone/>
            </a:pPr>
            <a:r>
              <a:rPr lang="en-US" sz="1250" b="1" dirty="0">
                <a:solidFill>
                  <a:srgbClr val="1E2761"/>
                </a:solidFill>
                <a:latin typeface="Calibri" pitchFamily="34" charset="0"/>
                <a:ea typeface="Calibri" pitchFamily="34" charset="-122"/>
                <a:cs typeface="Calibri" pitchFamily="34" charset="-120"/>
              </a:rPr>
              <a:t>Cuantitativas</a:t>
            </a:r>
            <a:endParaRPr lang="en-US" sz="1250" dirty="0"/>
          </a:p>
          <a:p>
            <a:pPr marL="0" indent="0">
              <a:buNone/>
            </a:pPr>
            <a:r>
              <a:rPr lang="en-US" sz="1250" b="1" dirty="0">
                <a:solidFill>
                  <a:srgbClr val="1E2761"/>
                </a:solidFill>
                <a:latin typeface="Calibri" pitchFamily="34" charset="0"/>
                <a:ea typeface="Calibri" pitchFamily="34" charset="-122"/>
                <a:cs typeface="Calibri" pitchFamily="34" charset="-120"/>
              </a:rPr>
              <a:t>discretas</a:t>
            </a:r>
            <a:endParaRPr lang="en-US" sz="1250" dirty="0"/>
          </a:p>
        </p:txBody>
      </p:sp>
      <p:sp>
        <p:nvSpPr>
          <p:cNvPr id="16" name="Text 14"/>
          <p:cNvSpPr/>
          <p:nvPr/>
        </p:nvSpPr>
        <p:spPr>
          <a:xfrm>
            <a:off x="6574536" y="3337560"/>
            <a:ext cx="2240280" cy="548640"/>
          </a:xfrm>
          <a:prstGeom prst="rect">
            <a:avLst/>
          </a:prstGeom>
          <a:noFill/>
          <a:ln/>
        </p:spPr>
        <p:txBody>
          <a:bodyPr wrap="square" lIns="0" tIns="0" rIns="0" bIns="0" rtlCol="0" anchor="t"/>
          <a:lstStyle/>
          <a:p>
            <a:pPr marL="0" indent="0">
              <a:buNone/>
            </a:pPr>
            <a:r>
              <a:rPr lang="en-US" sz="950" dirty="0">
                <a:solidFill>
                  <a:srgbClr val="5A5F73"/>
                </a:solidFill>
                <a:latin typeface="Calibri" pitchFamily="34" charset="0"/>
                <a:ea typeface="Calibri" pitchFamily="34" charset="-122"/>
                <a:cs typeface="Calibri" pitchFamily="34" charset="-120"/>
              </a:rPr>
              <a:t>plazo, edad, score,</a:t>
            </a:r>
            <a:endParaRPr lang="en-US" sz="950" dirty="0"/>
          </a:p>
          <a:p>
            <a:pPr marL="0" indent="0">
              <a:buNone/>
            </a:pPr>
            <a:r>
              <a:rPr lang="en-US" sz="950" dirty="0">
                <a:solidFill>
                  <a:srgbClr val="5A5F73"/>
                </a:solidFill>
                <a:latin typeface="Calibri" pitchFamily="34" charset="0"/>
                <a:ea typeface="Calibri" pitchFamily="34" charset="-122"/>
                <a:cs typeface="Calibri" pitchFamily="34" charset="-120"/>
              </a:rPr>
              <a:t>conteos de créditos</a:t>
            </a:r>
            <a:endParaRPr lang="en-US" sz="950" dirty="0"/>
          </a:p>
        </p:txBody>
      </p:sp>
      <p:sp>
        <p:nvSpPr>
          <p:cNvPr id="17" name="Shape 15"/>
          <p:cNvSpPr/>
          <p:nvPr/>
        </p:nvSpPr>
        <p:spPr>
          <a:xfrm>
            <a:off x="9244584" y="2148840"/>
            <a:ext cx="2697480" cy="1828800"/>
          </a:xfrm>
          <a:prstGeom prst="roundRect">
            <a:avLst>
              <a:gd name="adj" fmla="val 4000"/>
            </a:avLst>
          </a:prstGeom>
          <a:solidFill>
            <a:srgbClr val="F4F7FC"/>
          </a:solidFill>
          <a:ln/>
        </p:spPr>
        <p:txBody>
          <a:bodyPr/>
          <a:lstStyle/>
          <a:p>
            <a:endParaRPr lang="es-CO"/>
          </a:p>
        </p:txBody>
      </p:sp>
      <p:sp>
        <p:nvSpPr>
          <p:cNvPr id="18" name="Text 16"/>
          <p:cNvSpPr/>
          <p:nvPr/>
        </p:nvSpPr>
        <p:spPr>
          <a:xfrm>
            <a:off x="9473184" y="2286000"/>
            <a:ext cx="2240280" cy="5486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1</a:t>
            </a:r>
            <a:endParaRPr lang="en-US" sz="3000" dirty="0"/>
          </a:p>
        </p:txBody>
      </p:sp>
      <p:sp>
        <p:nvSpPr>
          <p:cNvPr id="19" name="Text 17"/>
          <p:cNvSpPr/>
          <p:nvPr/>
        </p:nvSpPr>
        <p:spPr>
          <a:xfrm>
            <a:off x="9473184" y="2807208"/>
            <a:ext cx="2240280" cy="548640"/>
          </a:xfrm>
          <a:prstGeom prst="rect">
            <a:avLst/>
          </a:prstGeom>
          <a:noFill/>
          <a:ln/>
        </p:spPr>
        <p:txBody>
          <a:bodyPr wrap="square" lIns="0" tIns="0" rIns="0" bIns="0" rtlCol="0" anchor="t"/>
          <a:lstStyle/>
          <a:p>
            <a:pPr marL="0" indent="0">
              <a:buNone/>
            </a:pPr>
            <a:r>
              <a:rPr lang="en-US" sz="1250" b="1" dirty="0">
                <a:solidFill>
                  <a:srgbClr val="1E2761"/>
                </a:solidFill>
                <a:latin typeface="Calibri" pitchFamily="34" charset="0"/>
                <a:ea typeface="Calibri" pitchFamily="34" charset="-122"/>
                <a:cs typeface="Calibri" pitchFamily="34" charset="-120"/>
              </a:rPr>
              <a:t>Temporal</a:t>
            </a:r>
            <a:endParaRPr lang="en-US" sz="1250" dirty="0"/>
          </a:p>
        </p:txBody>
      </p:sp>
      <p:sp>
        <p:nvSpPr>
          <p:cNvPr id="20" name="Text 18"/>
          <p:cNvSpPr/>
          <p:nvPr/>
        </p:nvSpPr>
        <p:spPr>
          <a:xfrm>
            <a:off x="9473184" y="3337560"/>
            <a:ext cx="2240280" cy="548640"/>
          </a:xfrm>
          <a:prstGeom prst="rect">
            <a:avLst/>
          </a:prstGeom>
          <a:noFill/>
          <a:ln/>
        </p:spPr>
        <p:txBody>
          <a:bodyPr wrap="square" lIns="0" tIns="0" rIns="0" bIns="0" rtlCol="0" anchor="t"/>
          <a:lstStyle/>
          <a:p>
            <a:pPr marL="0" indent="0">
              <a:buNone/>
            </a:pPr>
            <a:r>
              <a:rPr lang="en-US" sz="950" dirty="0">
                <a:solidFill>
                  <a:srgbClr val="5A5F73"/>
                </a:solidFill>
                <a:latin typeface="Calibri" pitchFamily="34" charset="0"/>
                <a:ea typeface="Calibri" pitchFamily="34" charset="-122"/>
                <a:cs typeface="Calibri" pitchFamily="34" charset="-120"/>
              </a:rPr>
              <a:t>fecha_prestamo</a:t>
            </a:r>
            <a:endParaRPr lang="en-US" sz="950" dirty="0"/>
          </a:p>
        </p:txBody>
      </p:sp>
      <p:sp>
        <p:nvSpPr>
          <p:cNvPr id="21" name="Text 19"/>
          <p:cNvSpPr/>
          <p:nvPr/>
        </p:nvSpPr>
        <p:spPr>
          <a:xfrm>
            <a:off x="548640" y="4160520"/>
            <a:ext cx="11064240" cy="36576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Cada variable documentada con: tipo de dato · tipo estadístico · nivel de medición · unidad · rango válido · sensibilidad legal · rol</a:t>
            </a:r>
            <a:endParaRPr lang="en-US" sz="1150" dirty="0"/>
          </a:p>
        </p:txBody>
      </p:sp>
      <p:sp>
        <p:nvSpPr>
          <p:cNvPr id="22" name="Shape 20"/>
          <p:cNvSpPr/>
          <p:nvPr/>
        </p:nvSpPr>
        <p:spPr>
          <a:xfrm>
            <a:off x="548640" y="4663440"/>
            <a:ext cx="11064240" cy="1051560"/>
          </a:xfrm>
          <a:prstGeom prst="roundRect">
            <a:avLst>
              <a:gd name="adj" fmla="val 6957"/>
            </a:avLst>
          </a:prstGeom>
          <a:solidFill>
            <a:srgbClr val="FBEAEA"/>
          </a:solidFill>
          <a:ln/>
        </p:spPr>
        <p:txBody>
          <a:bodyPr/>
          <a:lstStyle/>
          <a:p>
            <a:endParaRPr lang="es-CO"/>
          </a:p>
        </p:txBody>
      </p:sp>
      <p:sp>
        <p:nvSpPr>
          <p:cNvPr id="23" name="Text 21"/>
          <p:cNvSpPr/>
          <p:nvPr/>
        </p:nvSpPr>
        <p:spPr>
          <a:xfrm>
            <a:off x="777240" y="4800600"/>
            <a:ext cx="10607040" cy="822960"/>
          </a:xfrm>
          <a:prstGeom prst="rect">
            <a:avLst/>
          </a:prstGeom>
          <a:noFill/>
          <a:ln/>
        </p:spPr>
        <p:txBody>
          <a:bodyPr wrap="square" lIns="0" tIns="0" rIns="0" bIns="0" rtlCol="0" anchor="ctr"/>
          <a:lstStyle/>
          <a:p>
            <a:pPr marL="0" indent="0">
              <a:lnSpc>
                <a:spcPct val="120000"/>
              </a:lnSpc>
              <a:buNone/>
            </a:pPr>
            <a:r>
              <a:rPr lang="en-US" sz="1200" b="1" dirty="0">
                <a:solidFill>
                  <a:srgbClr val="1E2761"/>
                </a:solidFill>
                <a:latin typeface="Calibri" pitchFamily="34" charset="0"/>
                <a:ea typeface="Calibri" pitchFamily="34" charset="-122"/>
                <a:cs typeface="Calibri" pitchFamily="34" charset="-120"/>
              </a:rPr>
              <a:t>Marco legal aplicado: </a:t>
            </a:r>
            <a:r>
              <a:rPr lang="en-US" sz="1200" dirty="0">
                <a:solidFill>
                  <a:srgbClr val="5A5F73"/>
                </a:solidFill>
                <a:latin typeface="Calibri" pitchFamily="34" charset="0"/>
                <a:ea typeface="Calibri" pitchFamily="34" charset="-122"/>
                <a:cs typeface="Calibri" pitchFamily="34" charset="-120"/>
              </a:rPr>
              <a:t>bajo Ley 1266 de 2008 todas las variables son </a:t>
            </a:r>
            <a:r>
              <a:rPr lang="en-US" sz="1200" b="1" dirty="0">
                <a:solidFill>
                  <a:srgbClr val="B33A3A"/>
                </a:solidFill>
                <a:latin typeface="Calibri" pitchFamily="34" charset="0"/>
                <a:ea typeface="Calibri" pitchFamily="34" charset="-122"/>
                <a:cs typeface="Calibri" pitchFamily="34" charset="-120"/>
              </a:rPr>
              <a:t>semiprivadas</a:t>
            </a:r>
            <a:r>
              <a:rPr lang="en-US" sz="1200" dirty="0">
                <a:solidFill>
                  <a:srgbClr val="5A5F73"/>
                </a:solidFill>
                <a:latin typeface="Calibri" pitchFamily="34" charset="0"/>
                <a:ea typeface="Calibri" pitchFamily="34" charset="-122"/>
                <a:cs typeface="Calibri" pitchFamily="34" charset="-120"/>
              </a:rPr>
              <a:t> (dato financiero y crediticio). Ninguna es </a:t>
            </a:r>
            <a:r>
              <a:rPr lang="en-US" sz="1200" b="1" dirty="0">
                <a:solidFill>
                  <a:srgbClr val="B33A3A"/>
                </a:solidFill>
                <a:latin typeface="Calibri" pitchFamily="34" charset="0"/>
                <a:ea typeface="Calibri" pitchFamily="34" charset="-122"/>
                <a:cs typeface="Calibri" pitchFamily="34" charset="-120"/>
              </a:rPr>
              <a:t>sensible</a:t>
            </a:r>
            <a:r>
              <a:rPr lang="en-US" sz="1200" dirty="0">
                <a:solidFill>
                  <a:srgbClr val="5A5F73"/>
                </a:solidFill>
                <a:latin typeface="Calibri" pitchFamily="34" charset="0"/>
                <a:ea typeface="Calibri" pitchFamily="34" charset="-122"/>
                <a:cs typeface="Calibri" pitchFamily="34" charset="-120"/>
              </a:rPr>
              <a:t> en el sentido de la Ley 1581 art. 5 (origen racial, salud, biometría).</a:t>
            </a:r>
            <a:endParaRPr lang="en-US" sz="1200" dirty="0"/>
          </a:p>
        </p:txBody>
      </p:sp>
      <p:sp>
        <p:nvSpPr>
          <p:cNvPr id="24" name="Text 22"/>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25" name="Text 23"/>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DICCIONARIO DE DATOS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Ficha de cada variable</a:t>
            </a:r>
            <a:endParaRPr lang="en-US" sz="3000" dirty="0"/>
          </a:p>
        </p:txBody>
      </p:sp>
      <p:sp>
        <p:nvSpPr>
          <p:cNvPr id="4" name="Text 2"/>
          <p:cNvSpPr/>
          <p:nvPr/>
        </p:nvSpPr>
        <p:spPr>
          <a:xfrm>
            <a:off x="548640" y="1572768"/>
            <a:ext cx="11064240" cy="320040"/>
          </a:xfrm>
          <a:prstGeom prst="rect">
            <a:avLst/>
          </a:prstGeom>
          <a:noFill/>
          <a:ln/>
        </p:spPr>
        <p:txBody>
          <a:bodyPr wrap="square" lIns="0" tIns="0" rIns="0" bIns="0" rtlCol="0" anchor="ctr"/>
          <a:lstStyle/>
          <a:p>
            <a:pPr marL="0" indent="0">
              <a:buNone/>
            </a:pPr>
            <a:r>
              <a:rPr lang="en-US" sz="1150" i="1" dirty="0">
                <a:solidFill>
                  <a:srgbClr val="5A5F73"/>
                </a:solidFill>
                <a:latin typeface="Calibri" pitchFamily="34" charset="0"/>
                <a:ea typeface="Calibri" pitchFamily="34" charset="-122"/>
                <a:cs typeface="Calibri" pitchFamily="34" charset="-120"/>
              </a:rPr>
              <a:t>Extracto de 6 de las 22 variables. El diccionario completo está en el notebook (constante DICCIONARIO_DATOS) y en el README.</a:t>
            </a:r>
            <a:endParaRPr lang="en-US" sz="1150" dirty="0"/>
          </a:p>
        </p:txBody>
      </p:sp>
      <p:sp>
        <p:nvSpPr>
          <p:cNvPr id="5" name="Text 3"/>
          <p:cNvSpPr/>
          <p:nvPr/>
        </p:nvSpPr>
        <p:spPr>
          <a:xfrm>
            <a:off x="548640" y="2011680"/>
            <a:ext cx="2331720" cy="365760"/>
          </a:xfrm>
          <a:prstGeom prst="rect">
            <a:avLst/>
          </a:prstGeom>
          <a:noFill/>
          <a:ln/>
        </p:spPr>
        <p:txBody>
          <a:bodyPr wrap="square" lIns="0" tIns="0" rIns="0" bIns="0" rtlCol="0" anchor="ctr"/>
          <a:lstStyle/>
          <a:p>
            <a:pPr marL="0" indent="0">
              <a:buNone/>
            </a:pPr>
            <a:r>
              <a:rPr lang="en-US" sz="1050" b="1" dirty="0">
                <a:solidFill>
                  <a:srgbClr val="5A5F73"/>
                </a:solidFill>
                <a:latin typeface="Calibri" pitchFamily="34" charset="0"/>
                <a:ea typeface="Calibri" pitchFamily="34" charset="-122"/>
                <a:cs typeface="Calibri" pitchFamily="34" charset="-120"/>
              </a:rPr>
              <a:t>Variable</a:t>
            </a:r>
            <a:endParaRPr lang="en-US" sz="1050" dirty="0"/>
          </a:p>
        </p:txBody>
      </p:sp>
      <p:sp>
        <p:nvSpPr>
          <p:cNvPr id="6" name="Text 4"/>
          <p:cNvSpPr/>
          <p:nvPr/>
        </p:nvSpPr>
        <p:spPr>
          <a:xfrm>
            <a:off x="2880360" y="2011680"/>
            <a:ext cx="1170432" cy="365760"/>
          </a:xfrm>
          <a:prstGeom prst="rect">
            <a:avLst/>
          </a:prstGeom>
          <a:noFill/>
          <a:ln/>
        </p:spPr>
        <p:txBody>
          <a:bodyPr wrap="square" lIns="0" tIns="0" rIns="0" bIns="0" rtlCol="0" anchor="ctr"/>
          <a:lstStyle/>
          <a:p>
            <a:pPr marL="0" indent="0">
              <a:buNone/>
            </a:pPr>
            <a:r>
              <a:rPr lang="en-US" sz="1050" b="1" dirty="0">
                <a:solidFill>
                  <a:srgbClr val="5A5F73"/>
                </a:solidFill>
                <a:latin typeface="Calibri" pitchFamily="34" charset="0"/>
                <a:ea typeface="Calibri" pitchFamily="34" charset="-122"/>
                <a:cs typeface="Calibri" pitchFamily="34" charset="-120"/>
              </a:rPr>
              <a:t>Tipo dato</a:t>
            </a:r>
            <a:endParaRPr lang="en-US" sz="1050" dirty="0"/>
          </a:p>
        </p:txBody>
      </p:sp>
      <p:sp>
        <p:nvSpPr>
          <p:cNvPr id="7" name="Text 5"/>
          <p:cNvSpPr/>
          <p:nvPr/>
        </p:nvSpPr>
        <p:spPr>
          <a:xfrm>
            <a:off x="4050792" y="2011680"/>
            <a:ext cx="1572768" cy="365760"/>
          </a:xfrm>
          <a:prstGeom prst="rect">
            <a:avLst/>
          </a:prstGeom>
          <a:noFill/>
          <a:ln/>
        </p:spPr>
        <p:txBody>
          <a:bodyPr wrap="square" lIns="0" tIns="0" rIns="0" bIns="0" rtlCol="0" anchor="ctr"/>
          <a:lstStyle/>
          <a:p>
            <a:pPr marL="0" indent="0">
              <a:buNone/>
            </a:pPr>
            <a:r>
              <a:rPr lang="en-US" sz="1050" b="1" dirty="0">
                <a:solidFill>
                  <a:srgbClr val="5A5F73"/>
                </a:solidFill>
                <a:latin typeface="Calibri" pitchFamily="34" charset="0"/>
                <a:ea typeface="Calibri" pitchFamily="34" charset="-122"/>
                <a:cs typeface="Calibri" pitchFamily="34" charset="-120"/>
              </a:rPr>
              <a:t>Tipo variable</a:t>
            </a:r>
            <a:endParaRPr lang="en-US" sz="1050" dirty="0"/>
          </a:p>
        </p:txBody>
      </p:sp>
      <p:sp>
        <p:nvSpPr>
          <p:cNvPr id="8" name="Text 6"/>
          <p:cNvSpPr/>
          <p:nvPr/>
        </p:nvSpPr>
        <p:spPr>
          <a:xfrm>
            <a:off x="5623560" y="2011680"/>
            <a:ext cx="1298448" cy="365760"/>
          </a:xfrm>
          <a:prstGeom prst="rect">
            <a:avLst/>
          </a:prstGeom>
          <a:noFill/>
          <a:ln/>
        </p:spPr>
        <p:txBody>
          <a:bodyPr wrap="square" lIns="0" tIns="0" rIns="0" bIns="0" rtlCol="0" anchor="ctr"/>
          <a:lstStyle/>
          <a:p>
            <a:pPr marL="0" indent="0">
              <a:buNone/>
            </a:pPr>
            <a:r>
              <a:rPr lang="en-US" sz="1050" b="1" dirty="0">
                <a:solidFill>
                  <a:srgbClr val="5A5F73"/>
                </a:solidFill>
                <a:latin typeface="Calibri" pitchFamily="34" charset="0"/>
                <a:ea typeface="Calibri" pitchFamily="34" charset="-122"/>
                <a:cs typeface="Calibri" pitchFamily="34" charset="-120"/>
              </a:rPr>
              <a:t>Nivel medición</a:t>
            </a:r>
            <a:endParaRPr lang="en-US" sz="1050" dirty="0"/>
          </a:p>
        </p:txBody>
      </p:sp>
      <p:sp>
        <p:nvSpPr>
          <p:cNvPr id="9" name="Text 7"/>
          <p:cNvSpPr/>
          <p:nvPr/>
        </p:nvSpPr>
        <p:spPr>
          <a:xfrm>
            <a:off x="6922008" y="2011680"/>
            <a:ext cx="1051560" cy="365760"/>
          </a:xfrm>
          <a:prstGeom prst="rect">
            <a:avLst/>
          </a:prstGeom>
          <a:noFill/>
          <a:ln/>
        </p:spPr>
        <p:txBody>
          <a:bodyPr wrap="square" lIns="0" tIns="0" rIns="0" bIns="0" rtlCol="0" anchor="ctr"/>
          <a:lstStyle/>
          <a:p>
            <a:pPr marL="0" indent="0">
              <a:buNone/>
            </a:pPr>
            <a:r>
              <a:rPr lang="en-US" sz="1050" b="1" dirty="0">
                <a:solidFill>
                  <a:srgbClr val="5A5F73"/>
                </a:solidFill>
                <a:latin typeface="Calibri" pitchFamily="34" charset="0"/>
                <a:ea typeface="Calibri" pitchFamily="34" charset="-122"/>
                <a:cs typeface="Calibri" pitchFamily="34" charset="-120"/>
              </a:rPr>
              <a:t>Unidad</a:t>
            </a:r>
            <a:endParaRPr lang="en-US" sz="1050" dirty="0"/>
          </a:p>
        </p:txBody>
      </p:sp>
      <p:sp>
        <p:nvSpPr>
          <p:cNvPr id="10" name="Text 8"/>
          <p:cNvSpPr/>
          <p:nvPr/>
        </p:nvSpPr>
        <p:spPr>
          <a:xfrm>
            <a:off x="7973568" y="2011680"/>
            <a:ext cx="2148840" cy="365760"/>
          </a:xfrm>
          <a:prstGeom prst="rect">
            <a:avLst/>
          </a:prstGeom>
          <a:noFill/>
          <a:ln/>
        </p:spPr>
        <p:txBody>
          <a:bodyPr wrap="square" lIns="0" tIns="0" rIns="0" bIns="0" rtlCol="0" anchor="ctr"/>
          <a:lstStyle/>
          <a:p>
            <a:pPr marL="0" indent="0">
              <a:buNone/>
            </a:pPr>
            <a:r>
              <a:rPr lang="en-US" sz="1050" b="1" dirty="0">
                <a:solidFill>
                  <a:srgbClr val="5A5F73"/>
                </a:solidFill>
                <a:latin typeface="Calibri" pitchFamily="34" charset="0"/>
                <a:ea typeface="Calibri" pitchFamily="34" charset="-122"/>
                <a:cs typeface="Calibri" pitchFamily="34" charset="-120"/>
              </a:rPr>
              <a:t>Rango válido</a:t>
            </a:r>
            <a:endParaRPr lang="en-US" sz="1050" dirty="0"/>
          </a:p>
        </p:txBody>
      </p:sp>
      <p:sp>
        <p:nvSpPr>
          <p:cNvPr id="11" name="Text 9"/>
          <p:cNvSpPr/>
          <p:nvPr/>
        </p:nvSpPr>
        <p:spPr>
          <a:xfrm>
            <a:off x="10122408" y="2011680"/>
            <a:ext cx="1490472" cy="365760"/>
          </a:xfrm>
          <a:prstGeom prst="rect">
            <a:avLst/>
          </a:prstGeom>
          <a:noFill/>
          <a:ln/>
        </p:spPr>
        <p:txBody>
          <a:bodyPr wrap="square" lIns="0" tIns="0" rIns="0" bIns="0" rtlCol="0" anchor="ctr"/>
          <a:lstStyle/>
          <a:p>
            <a:pPr marL="0" indent="0">
              <a:buNone/>
            </a:pPr>
            <a:r>
              <a:rPr lang="en-US" sz="1050" b="1" dirty="0">
                <a:solidFill>
                  <a:srgbClr val="5A5F73"/>
                </a:solidFill>
                <a:latin typeface="Calibri" pitchFamily="34" charset="0"/>
                <a:ea typeface="Calibri" pitchFamily="34" charset="-122"/>
                <a:cs typeface="Calibri" pitchFamily="34" charset="-120"/>
              </a:rPr>
              <a:t>Rol</a:t>
            </a:r>
            <a:endParaRPr lang="en-US" sz="1050" dirty="0"/>
          </a:p>
        </p:txBody>
      </p:sp>
      <p:sp>
        <p:nvSpPr>
          <p:cNvPr id="12" name="Shape 10"/>
          <p:cNvSpPr/>
          <p:nvPr/>
        </p:nvSpPr>
        <p:spPr>
          <a:xfrm>
            <a:off x="457200" y="2423160"/>
            <a:ext cx="11155680" cy="493776"/>
          </a:xfrm>
          <a:prstGeom prst="roundRect">
            <a:avLst>
              <a:gd name="adj" fmla="val 9259"/>
            </a:avLst>
          </a:prstGeom>
          <a:solidFill>
            <a:srgbClr val="F4F7FC"/>
          </a:solidFill>
          <a:ln/>
        </p:spPr>
        <p:txBody>
          <a:bodyPr/>
          <a:lstStyle/>
          <a:p>
            <a:endParaRPr lang="es-CO"/>
          </a:p>
        </p:txBody>
      </p:sp>
      <p:sp>
        <p:nvSpPr>
          <p:cNvPr id="13" name="Text 11"/>
          <p:cNvSpPr/>
          <p:nvPr/>
        </p:nvSpPr>
        <p:spPr>
          <a:xfrm>
            <a:off x="548640" y="2423160"/>
            <a:ext cx="2331720" cy="493776"/>
          </a:xfrm>
          <a:prstGeom prst="rect">
            <a:avLst/>
          </a:prstGeom>
          <a:noFill/>
          <a:ln/>
        </p:spPr>
        <p:txBody>
          <a:bodyPr wrap="square" lIns="0" tIns="0" rIns="0" bIns="0"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tipo_credito</a:t>
            </a:r>
            <a:endParaRPr lang="en-US" sz="1000" dirty="0"/>
          </a:p>
        </p:txBody>
      </p:sp>
      <p:sp>
        <p:nvSpPr>
          <p:cNvPr id="14" name="Text 12"/>
          <p:cNvSpPr/>
          <p:nvPr/>
        </p:nvSpPr>
        <p:spPr>
          <a:xfrm>
            <a:off x="2880360" y="2423160"/>
            <a:ext cx="1170432"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int64</a:t>
            </a:r>
            <a:endParaRPr lang="en-US" sz="1000" dirty="0"/>
          </a:p>
        </p:txBody>
      </p:sp>
      <p:sp>
        <p:nvSpPr>
          <p:cNvPr id="15" name="Text 13"/>
          <p:cNvSpPr/>
          <p:nvPr/>
        </p:nvSpPr>
        <p:spPr>
          <a:xfrm>
            <a:off x="4050792" y="2423160"/>
            <a:ext cx="1572768"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Cualitativa</a:t>
            </a:r>
            <a:endParaRPr lang="en-US" sz="1000" dirty="0"/>
          </a:p>
        </p:txBody>
      </p:sp>
      <p:sp>
        <p:nvSpPr>
          <p:cNvPr id="16" name="Text 14"/>
          <p:cNvSpPr/>
          <p:nvPr/>
        </p:nvSpPr>
        <p:spPr>
          <a:xfrm>
            <a:off x="5623560" y="2423160"/>
            <a:ext cx="1298448"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Nominal</a:t>
            </a:r>
            <a:endParaRPr lang="en-US" sz="1000" dirty="0"/>
          </a:p>
        </p:txBody>
      </p:sp>
      <p:sp>
        <p:nvSpPr>
          <p:cNvPr id="17" name="Text 15"/>
          <p:cNvSpPr/>
          <p:nvPr/>
        </p:nvSpPr>
        <p:spPr>
          <a:xfrm>
            <a:off x="6922008" y="2423160"/>
            <a:ext cx="1051560"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a:t>
            </a:r>
            <a:endParaRPr lang="en-US" sz="1000" dirty="0"/>
          </a:p>
        </p:txBody>
      </p:sp>
      <p:sp>
        <p:nvSpPr>
          <p:cNvPr id="18" name="Text 16"/>
          <p:cNvSpPr/>
          <p:nvPr/>
        </p:nvSpPr>
        <p:spPr>
          <a:xfrm>
            <a:off x="7973568" y="2423160"/>
            <a:ext cx="2148840"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4, 6, 7, 9, 10, 68</a:t>
            </a:r>
            <a:endParaRPr lang="en-US" sz="1000" dirty="0"/>
          </a:p>
        </p:txBody>
      </p:sp>
      <p:sp>
        <p:nvSpPr>
          <p:cNvPr id="19" name="Text 17"/>
          <p:cNvSpPr/>
          <p:nvPr/>
        </p:nvSpPr>
        <p:spPr>
          <a:xfrm>
            <a:off x="10122408" y="2423160"/>
            <a:ext cx="1490472"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Predictor</a:t>
            </a:r>
            <a:endParaRPr lang="en-US" sz="1000" dirty="0"/>
          </a:p>
        </p:txBody>
      </p:sp>
      <p:sp>
        <p:nvSpPr>
          <p:cNvPr id="20" name="Shape 18"/>
          <p:cNvSpPr/>
          <p:nvPr/>
        </p:nvSpPr>
        <p:spPr>
          <a:xfrm>
            <a:off x="457200" y="2990088"/>
            <a:ext cx="11155680" cy="493776"/>
          </a:xfrm>
          <a:prstGeom prst="roundRect">
            <a:avLst>
              <a:gd name="adj" fmla="val 9259"/>
            </a:avLst>
          </a:prstGeom>
          <a:solidFill>
            <a:srgbClr val="FFFFFF"/>
          </a:solidFill>
          <a:ln/>
        </p:spPr>
        <p:txBody>
          <a:bodyPr/>
          <a:lstStyle/>
          <a:p>
            <a:endParaRPr lang="es-CO"/>
          </a:p>
        </p:txBody>
      </p:sp>
      <p:sp>
        <p:nvSpPr>
          <p:cNvPr id="21" name="Text 19"/>
          <p:cNvSpPr/>
          <p:nvPr/>
        </p:nvSpPr>
        <p:spPr>
          <a:xfrm>
            <a:off x="548640" y="2990088"/>
            <a:ext cx="2331720" cy="493776"/>
          </a:xfrm>
          <a:prstGeom prst="rect">
            <a:avLst/>
          </a:prstGeom>
          <a:noFill/>
          <a:ln/>
        </p:spPr>
        <p:txBody>
          <a:bodyPr wrap="square" lIns="0" tIns="0" rIns="0" bIns="0"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edad_cliente</a:t>
            </a:r>
            <a:endParaRPr lang="en-US" sz="1000" dirty="0"/>
          </a:p>
        </p:txBody>
      </p:sp>
      <p:sp>
        <p:nvSpPr>
          <p:cNvPr id="22" name="Text 20"/>
          <p:cNvSpPr/>
          <p:nvPr/>
        </p:nvSpPr>
        <p:spPr>
          <a:xfrm>
            <a:off x="2880360" y="2990088"/>
            <a:ext cx="1170432"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int64</a:t>
            </a:r>
            <a:endParaRPr lang="en-US" sz="1000" dirty="0"/>
          </a:p>
        </p:txBody>
      </p:sp>
      <p:sp>
        <p:nvSpPr>
          <p:cNvPr id="23" name="Text 21"/>
          <p:cNvSpPr/>
          <p:nvPr/>
        </p:nvSpPr>
        <p:spPr>
          <a:xfrm>
            <a:off x="4050792" y="2990088"/>
            <a:ext cx="1572768"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Cuantitativa</a:t>
            </a:r>
            <a:endParaRPr lang="en-US" sz="1000" dirty="0"/>
          </a:p>
        </p:txBody>
      </p:sp>
      <p:sp>
        <p:nvSpPr>
          <p:cNvPr id="24" name="Text 22"/>
          <p:cNvSpPr/>
          <p:nvPr/>
        </p:nvSpPr>
        <p:spPr>
          <a:xfrm>
            <a:off x="5623560" y="2990088"/>
            <a:ext cx="1298448"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Razón</a:t>
            </a:r>
            <a:endParaRPr lang="en-US" sz="1000" dirty="0"/>
          </a:p>
        </p:txBody>
      </p:sp>
      <p:sp>
        <p:nvSpPr>
          <p:cNvPr id="25" name="Text 23"/>
          <p:cNvSpPr/>
          <p:nvPr/>
        </p:nvSpPr>
        <p:spPr>
          <a:xfrm>
            <a:off x="6922008" y="2990088"/>
            <a:ext cx="1051560"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años</a:t>
            </a:r>
            <a:endParaRPr lang="en-US" sz="1000" dirty="0"/>
          </a:p>
        </p:txBody>
      </p:sp>
      <p:sp>
        <p:nvSpPr>
          <p:cNvPr id="26" name="Text 24"/>
          <p:cNvSpPr/>
          <p:nvPr/>
        </p:nvSpPr>
        <p:spPr>
          <a:xfrm>
            <a:off x="7973568" y="2990088"/>
            <a:ext cx="2148840"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18 – 90</a:t>
            </a:r>
            <a:endParaRPr lang="en-US" sz="1000" dirty="0"/>
          </a:p>
        </p:txBody>
      </p:sp>
      <p:sp>
        <p:nvSpPr>
          <p:cNvPr id="27" name="Text 25"/>
          <p:cNvSpPr/>
          <p:nvPr/>
        </p:nvSpPr>
        <p:spPr>
          <a:xfrm>
            <a:off x="10122408" y="2990088"/>
            <a:ext cx="1490472"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Predictor</a:t>
            </a:r>
            <a:endParaRPr lang="en-US" sz="1000" dirty="0"/>
          </a:p>
        </p:txBody>
      </p:sp>
      <p:sp>
        <p:nvSpPr>
          <p:cNvPr id="28" name="Shape 26"/>
          <p:cNvSpPr/>
          <p:nvPr/>
        </p:nvSpPr>
        <p:spPr>
          <a:xfrm>
            <a:off x="457200" y="3557016"/>
            <a:ext cx="11155680" cy="493776"/>
          </a:xfrm>
          <a:prstGeom prst="roundRect">
            <a:avLst>
              <a:gd name="adj" fmla="val 9259"/>
            </a:avLst>
          </a:prstGeom>
          <a:solidFill>
            <a:srgbClr val="F4F7FC"/>
          </a:solidFill>
          <a:ln/>
        </p:spPr>
        <p:txBody>
          <a:bodyPr/>
          <a:lstStyle/>
          <a:p>
            <a:endParaRPr lang="es-CO"/>
          </a:p>
        </p:txBody>
      </p:sp>
      <p:sp>
        <p:nvSpPr>
          <p:cNvPr id="29" name="Text 27"/>
          <p:cNvSpPr/>
          <p:nvPr/>
        </p:nvSpPr>
        <p:spPr>
          <a:xfrm>
            <a:off x="548640" y="3557016"/>
            <a:ext cx="2331720" cy="493776"/>
          </a:xfrm>
          <a:prstGeom prst="rect">
            <a:avLst/>
          </a:prstGeom>
          <a:noFill/>
          <a:ln/>
        </p:spPr>
        <p:txBody>
          <a:bodyPr wrap="square" lIns="0" tIns="0" rIns="0" bIns="0"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salario_cliente</a:t>
            </a:r>
            <a:endParaRPr lang="en-US" sz="1000" dirty="0"/>
          </a:p>
        </p:txBody>
      </p:sp>
      <p:sp>
        <p:nvSpPr>
          <p:cNvPr id="30" name="Text 28"/>
          <p:cNvSpPr/>
          <p:nvPr/>
        </p:nvSpPr>
        <p:spPr>
          <a:xfrm>
            <a:off x="2880360" y="3557016"/>
            <a:ext cx="1170432"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int64</a:t>
            </a:r>
            <a:endParaRPr lang="en-US" sz="1000" dirty="0"/>
          </a:p>
        </p:txBody>
      </p:sp>
      <p:sp>
        <p:nvSpPr>
          <p:cNvPr id="31" name="Text 29"/>
          <p:cNvSpPr/>
          <p:nvPr/>
        </p:nvSpPr>
        <p:spPr>
          <a:xfrm>
            <a:off x="4050792" y="3557016"/>
            <a:ext cx="1572768"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Cuantitativa</a:t>
            </a:r>
            <a:endParaRPr lang="en-US" sz="1000" dirty="0"/>
          </a:p>
        </p:txBody>
      </p:sp>
      <p:sp>
        <p:nvSpPr>
          <p:cNvPr id="32" name="Text 30"/>
          <p:cNvSpPr/>
          <p:nvPr/>
        </p:nvSpPr>
        <p:spPr>
          <a:xfrm>
            <a:off x="5623560" y="3557016"/>
            <a:ext cx="1298448"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Razón</a:t>
            </a:r>
            <a:endParaRPr lang="en-US" sz="1000" dirty="0"/>
          </a:p>
        </p:txBody>
      </p:sp>
      <p:sp>
        <p:nvSpPr>
          <p:cNvPr id="33" name="Text 31"/>
          <p:cNvSpPr/>
          <p:nvPr/>
        </p:nvSpPr>
        <p:spPr>
          <a:xfrm>
            <a:off x="6922008" y="3557016"/>
            <a:ext cx="1051560"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COP/mes</a:t>
            </a:r>
            <a:endParaRPr lang="en-US" sz="1000" dirty="0"/>
          </a:p>
        </p:txBody>
      </p:sp>
      <p:sp>
        <p:nvSpPr>
          <p:cNvPr id="34" name="Text 32"/>
          <p:cNvSpPr/>
          <p:nvPr/>
        </p:nvSpPr>
        <p:spPr>
          <a:xfrm>
            <a:off x="7973568" y="3557016"/>
            <a:ext cx="2148840"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1 – 20.000.000</a:t>
            </a:r>
            <a:endParaRPr lang="en-US" sz="1000" dirty="0"/>
          </a:p>
        </p:txBody>
      </p:sp>
      <p:sp>
        <p:nvSpPr>
          <p:cNvPr id="35" name="Text 33"/>
          <p:cNvSpPr/>
          <p:nvPr/>
        </p:nvSpPr>
        <p:spPr>
          <a:xfrm>
            <a:off x="10122408" y="3557016"/>
            <a:ext cx="1490472"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Predictor</a:t>
            </a:r>
            <a:endParaRPr lang="en-US" sz="1000" dirty="0"/>
          </a:p>
        </p:txBody>
      </p:sp>
      <p:sp>
        <p:nvSpPr>
          <p:cNvPr id="36" name="Shape 34"/>
          <p:cNvSpPr/>
          <p:nvPr/>
        </p:nvSpPr>
        <p:spPr>
          <a:xfrm>
            <a:off x="457200" y="4123944"/>
            <a:ext cx="11155680" cy="493776"/>
          </a:xfrm>
          <a:prstGeom prst="roundRect">
            <a:avLst>
              <a:gd name="adj" fmla="val 9259"/>
            </a:avLst>
          </a:prstGeom>
          <a:solidFill>
            <a:srgbClr val="FFFFFF"/>
          </a:solidFill>
          <a:ln/>
        </p:spPr>
        <p:txBody>
          <a:bodyPr/>
          <a:lstStyle/>
          <a:p>
            <a:endParaRPr lang="es-CO"/>
          </a:p>
        </p:txBody>
      </p:sp>
      <p:sp>
        <p:nvSpPr>
          <p:cNvPr id="37" name="Text 35"/>
          <p:cNvSpPr/>
          <p:nvPr/>
        </p:nvSpPr>
        <p:spPr>
          <a:xfrm>
            <a:off x="548640" y="4123944"/>
            <a:ext cx="2331720" cy="493776"/>
          </a:xfrm>
          <a:prstGeom prst="rect">
            <a:avLst/>
          </a:prstGeom>
          <a:noFill/>
          <a:ln/>
        </p:spPr>
        <p:txBody>
          <a:bodyPr wrap="square" lIns="0" tIns="0" rIns="0" bIns="0"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puntaje_datacredito</a:t>
            </a:r>
            <a:endParaRPr lang="en-US" sz="1000" dirty="0"/>
          </a:p>
        </p:txBody>
      </p:sp>
      <p:sp>
        <p:nvSpPr>
          <p:cNvPr id="38" name="Text 36"/>
          <p:cNvSpPr/>
          <p:nvPr/>
        </p:nvSpPr>
        <p:spPr>
          <a:xfrm>
            <a:off x="2880360" y="4123944"/>
            <a:ext cx="1170432"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float64</a:t>
            </a:r>
            <a:endParaRPr lang="en-US" sz="1000" dirty="0"/>
          </a:p>
        </p:txBody>
      </p:sp>
      <p:sp>
        <p:nvSpPr>
          <p:cNvPr id="39" name="Text 37"/>
          <p:cNvSpPr/>
          <p:nvPr/>
        </p:nvSpPr>
        <p:spPr>
          <a:xfrm>
            <a:off x="4050792" y="4123944"/>
            <a:ext cx="1572768"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Cuantitativa</a:t>
            </a:r>
            <a:endParaRPr lang="en-US" sz="1000" dirty="0"/>
          </a:p>
        </p:txBody>
      </p:sp>
      <p:sp>
        <p:nvSpPr>
          <p:cNvPr id="40" name="Text 38"/>
          <p:cNvSpPr/>
          <p:nvPr/>
        </p:nvSpPr>
        <p:spPr>
          <a:xfrm>
            <a:off x="5623560" y="4123944"/>
            <a:ext cx="1298448"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Intervalo</a:t>
            </a:r>
            <a:endParaRPr lang="en-US" sz="1000" dirty="0"/>
          </a:p>
        </p:txBody>
      </p:sp>
      <p:sp>
        <p:nvSpPr>
          <p:cNvPr id="41" name="Text 39"/>
          <p:cNvSpPr/>
          <p:nvPr/>
        </p:nvSpPr>
        <p:spPr>
          <a:xfrm>
            <a:off x="6922008" y="4123944"/>
            <a:ext cx="1051560"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puntos</a:t>
            </a:r>
            <a:endParaRPr lang="en-US" sz="1000" dirty="0"/>
          </a:p>
        </p:txBody>
      </p:sp>
      <p:sp>
        <p:nvSpPr>
          <p:cNvPr id="42" name="Text 40"/>
          <p:cNvSpPr/>
          <p:nvPr/>
        </p:nvSpPr>
        <p:spPr>
          <a:xfrm>
            <a:off x="7973568" y="4123944"/>
            <a:ext cx="2148840"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150 – 950</a:t>
            </a:r>
            <a:endParaRPr lang="en-US" sz="1000" dirty="0"/>
          </a:p>
        </p:txBody>
      </p:sp>
      <p:sp>
        <p:nvSpPr>
          <p:cNvPr id="43" name="Text 41"/>
          <p:cNvSpPr/>
          <p:nvPr/>
        </p:nvSpPr>
        <p:spPr>
          <a:xfrm>
            <a:off x="10122408" y="4123944"/>
            <a:ext cx="1490472"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Predictor</a:t>
            </a:r>
            <a:endParaRPr lang="en-US" sz="1000" dirty="0"/>
          </a:p>
        </p:txBody>
      </p:sp>
      <p:sp>
        <p:nvSpPr>
          <p:cNvPr id="44" name="Shape 42"/>
          <p:cNvSpPr/>
          <p:nvPr/>
        </p:nvSpPr>
        <p:spPr>
          <a:xfrm>
            <a:off x="457200" y="4690872"/>
            <a:ext cx="11155680" cy="493776"/>
          </a:xfrm>
          <a:prstGeom prst="roundRect">
            <a:avLst>
              <a:gd name="adj" fmla="val 9259"/>
            </a:avLst>
          </a:prstGeom>
          <a:solidFill>
            <a:srgbClr val="F4F7FC"/>
          </a:solidFill>
          <a:ln/>
        </p:spPr>
        <p:txBody>
          <a:bodyPr/>
          <a:lstStyle/>
          <a:p>
            <a:endParaRPr lang="es-CO"/>
          </a:p>
        </p:txBody>
      </p:sp>
      <p:sp>
        <p:nvSpPr>
          <p:cNvPr id="45" name="Text 43"/>
          <p:cNvSpPr/>
          <p:nvPr/>
        </p:nvSpPr>
        <p:spPr>
          <a:xfrm>
            <a:off x="548640" y="4690872"/>
            <a:ext cx="2331720" cy="493776"/>
          </a:xfrm>
          <a:prstGeom prst="rect">
            <a:avLst/>
          </a:prstGeom>
          <a:noFill/>
          <a:ln/>
        </p:spPr>
        <p:txBody>
          <a:bodyPr wrap="square" lIns="0" tIns="0" rIns="0" bIns="0"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tendencia_ingresos</a:t>
            </a:r>
            <a:endParaRPr lang="en-US" sz="1000" dirty="0"/>
          </a:p>
        </p:txBody>
      </p:sp>
      <p:sp>
        <p:nvSpPr>
          <p:cNvPr id="46" name="Text 44"/>
          <p:cNvSpPr/>
          <p:nvPr/>
        </p:nvSpPr>
        <p:spPr>
          <a:xfrm>
            <a:off x="2880360" y="4690872"/>
            <a:ext cx="1170432"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object</a:t>
            </a:r>
            <a:endParaRPr lang="en-US" sz="1000" dirty="0"/>
          </a:p>
        </p:txBody>
      </p:sp>
      <p:sp>
        <p:nvSpPr>
          <p:cNvPr id="47" name="Text 45"/>
          <p:cNvSpPr/>
          <p:nvPr/>
        </p:nvSpPr>
        <p:spPr>
          <a:xfrm>
            <a:off x="4050792" y="4690872"/>
            <a:ext cx="1572768"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Cualitativa</a:t>
            </a:r>
            <a:endParaRPr lang="en-US" sz="1000" dirty="0"/>
          </a:p>
        </p:txBody>
      </p:sp>
      <p:sp>
        <p:nvSpPr>
          <p:cNvPr id="48" name="Text 46"/>
          <p:cNvSpPr/>
          <p:nvPr/>
        </p:nvSpPr>
        <p:spPr>
          <a:xfrm>
            <a:off x="5623560" y="4690872"/>
            <a:ext cx="1298448"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Nominal</a:t>
            </a:r>
            <a:endParaRPr lang="en-US" sz="1000" dirty="0"/>
          </a:p>
        </p:txBody>
      </p:sp>
      <p:sp>
        <p:nvSpPr>
          <p:cNvPr id="49" name="Text 47"/>
          <p:cNvSpPr/>
          <p:nvPr/>
        </p:nvSpPr>
        <p:spPr>
          <a:xfrm>
            <a:off x="6922008" y="4690872"/>
            <a:ext cx="1051560"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a:t>
            </a:r>
            <a:endParaRPr lang="en-US" sz="1000" dirty="0"/>
          </a:p>
        </p:txBody>
      </p:sp>
      <p:sp>
        <p:nvSpPr>
          <p:cNvPr id="50" name="Text 48"/>
          <p:cNvSpPr/>
          <p:nvPr/>
        </p:nvSpPr>
        <p:spPr>
          <a:xfrm>
            <a:off x="7973568" y="4690872"/>
            <a:ext cx="2148840" cy="493776"/>
          </a:xfrm>
          <a:prstGeom prst="rect">
            <a:avLst/>
          </a:prstGeom>
          <a:noFill/>
          <a:ln/>
        </p:spPr>
        <p:txBody>
          <a:bodyPr wrap="square" lIns="0" tIns="0" rIns="0" bIns="0" rtlCol="0" anchor="ctr"/>
          <a:lstStyle/>
          <a:p>
            <a:pPr marL="0" indent="0">
              <a:buNone/>
            </a:pPr>
            <a:r>
              <a:rPr lang="en-US" sz="850" dirty="0">
                <a:solidFill>
                  <a:srgbClr val="5A5F73"/>
                </a:solidFill>
                <a:latin typeface="Calibri" pitchFamily="34" charset="0"/>
                <a:ea typeface="Calibri" pitchFamily="34" charset="-122"/>
                <a:cs typeface="Calibri" pitchFamily="34" charset="-120"/>
              </a:rPr>
              <a:t>Creciente / Decreciente / Estable / Sin_dato</a:t>
            </a:r>
            <a:endParaRPr lang="en-US" sz="850" dirty="0"/>
          </a:p>
        </p:txBody>
      </p:sp>
      <p:sp>
        <p:nvSpPr>
          <p:cNvPr id="51" name="Text 49"/>
          <p:cNvSpPr/>
          <p:nvPr/>
        </p:nvSpPr>
        <p:spPr>
          <a:xfrm>
            <a:off x="10122408" y="4690872"/>
            <a:ext cx="1490472"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Predictor</a:t>
            </a:r>
            <a:endParaRPr lang="en-US" sz="1000" dirty="0"/>
          </a:p>
        </p:txBody>
      </p:sp>
      <p:sp>
        <p:nvSpPr>
          <p:cNvPr id="52" name="Shape 50"/>
          <p:cNvSpPr/>
          <p:nvPr/>
        </p:nvSpPr>
        <p:spPr>
          <a:xfrm>
            <a:off x="457200" y="5257800"/>
            <a:ext cx="11155680" cy="493776"/>
          </a:xfrm>
          <a:prstGeom prst="roundRect">
            <a:avLst>
              <a:gd name="adj" fmla="val 9259"/>
            </a:avLst>
          </a:prstGeom>
          <a:solidFill>
            <a:srgbClr val="FBEAEA"/>
          </a:solidFill>
          <a:ln/>
        </p:spPr>
        <p:txBody>
          <a:bodyPr/>
          <a:lstStyle/>
          <a:p>
            <a:endParaRPr lang="es-CO"/>
          </a:p>
        </p:txBody>
      </p:sp>
      <p:sp>
        <p:nvSpPr>
          <p:cNvPr id="53" name="Text 51"/>
          <p:cNvSpPr/>
          <p:nvPr/>
        </p:nvSpPr>
        <p:spPr>
          <a:xfrm>
            <a:off x="548640" y="5257800"/>
            <a:ext cx="2331720" cy="493776"/>
          </a:xfrm>
          <a:prstGeom prst="rect">
            <a:avLst/>
          </a:prstGeom>
          <a:noFill/>
          <a:ln/>
        </p:spPr>
        <p:txBody>
          <a:bodyPr wrap="square" lIns="0" tIns="0" rIns="0" bIns="0"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Pago_atiempo</a:t>
            </a:r>
            <a:endParaRPr lang="en-US" sz="1000" dirty="0"/>
          </a:p>
        </p:txBody>
      </p:sp>
      <p:sp>
        <p:nvSpPr>
          <p:cNvPr id="54" name="Text 52"/>
          <p:cNvSpPr/>
          <p:nvPr/>
        </p:nvSpPr>
        <p:spPr>
          <a:xfrm>
            <a:off x="2880360" y="5257800"/>
            <a:ext cx="1170432"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int64</a:t>
            </a:r>
            <a:endParaRPr lang="en-US" sz="1000" dirty="0"/>
          </a:p>
        </p:txBody>
      </p:sp>
      <p:sp>
        <p:nvSpPr>
          <p:cNvPr id="55" name="Text 53"/>
          <p:cNvSpPr/>
          <p:nvPr/>
        </p:nvSpPr>
        <p:spPr>
          <a:xfrm>
            <a:off x="4050792" y="5257800"/>
            <a:ext cx="1572768"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Cualitativa</a:t>
            </a:r>
            <a:endParaRPr lang="en-US" sz="1000" dirty="0"/>
          </a:p>
        </p:txBody>
      </p:sp>
      <p:sp>
        <p:nvSpPr>
          <p:cNvPr id="56" name="Text 54"/>
          <p:cNvSpPr/>
          <p:nvPr/>
        </p:nvSpPr>
        <p:spPr>
          <a:xfrm>
            <a:off x="5623560" y="5257800"/>
            <a:ext cx="1298448"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Nominal</a:t>
            </a:r>
            <a:endParaRPr lang="en-US" sz="1000" dirty="0"/>
          </a:p>
        </p:txBody>
      </p:sp>
      <p:sp>
        <p:nvSpPr>
          <p:cNvPr id="57" name="Text 55"/>
          <p:cNvSpPr/>
          <p:nvPr/>
        </p:nvSpPr>
        <p:spPr>
          <a:xfrm>
            <a:off x="6922008" y="5257800"/>
            <a:ext cx="1051560"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a:t>
            </a:r>
            <a:endParaRPr lang="en-US" sz="1000" dirty="0"/>
          </a:p>
        </p:txBody>
      </p:sp>
      <p:sp>
        <p:nvSpPr>
          <p:cNvPr id="58" name="Text 56"/>
          <p:cNvSpPr/>
          <p:nvPr/>
        </p:nvSpPr>
        <p:spPr>
          <a:xfrm>
            <a:off x="7973568" y="5257800"/>
            <a:ext cx="2148840" cy="493776"/>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0, 1</a:t>
            </a:r>
            <a:endParaRPr lang="en-US" sz="1000" dirty="0"/>
          </a:p>
        </p:txBody>
      </p:sp>
      <p:sp>
        <p:nvSpPr>
          <p:cNvPr id="59" name="Text 57"/>
          <p:cNvSpPr/>
          <p:nvPr/>
        </p:nvSpPr>
        <p:spPr>
          <a:xfrm>
            <a:off x="10122408" y="5257800"/>
            <a:ext cx="1490472" cy="493776"/>
          </a:xfrm>
          <a:prstGeom prst="rect">
            <a:avLst/>
          </a:prstGeom>
          <a:noFill/>
          <a:ln/>
        </p:spPr>
        <p:txBody>
          <a:bodyPr wrap="square" lIns="0" tIns="0" rIns="0" bIns="0" rtlCol="0" anchor="ctr"/>
          <a:lstStyle/>
          <a:p>
            <a:pPr marL="0" indent="0">
              <a:buNone/>
            </a:pPr>
            <a:r>
              <a:rPr lang="en-US" sz="1000" b="1" dirty="0">
                <a:solidFill>
                  <a:srgbClr val="B33A3A"/>
                </a:solidFill>
                <a:latin typeface="Calibri" pitchFamily="34" charset="0"/>
                <a:ea typeface="Calibri" pitchFamily="34" charset="-122"/>
                <a:cs typeface="Calibri" pitchFamily="34" charset="-120"/>
              </a:rPr>
              <a:t>OBJETIVO</a:t>
            </a:r>
            <a:endParaRPr lang="en-US" sz="1000" dirty="0"/>
          </a:p>
        </p:txBody>
      </p:sp>
      <p:sp>
        <p:nvSpPr>
          <p:cNvPr id="60" name="Text 58"/>
          <p:cNvSpPr/>
          <p:nvPr/>
        </p:nvSpPr>
        <p:spPr>
          <a:xfrm>
            <a:off x="548640" y="5806440"/>
            <a:ext cx="11064240" cy="365760"/>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Cada variable incluye además su categoría funcional, tratamiento aplicado y clasificación de sensibilidad según Ley 1266 de 2008.</a:t>
            </a:r>
            <a:endParaRPr lang="en-US" sz="1100" dirty="0"/>
          </a:p>
        </p:txBody>
      </p:sp>
      <p:sp>
        <p:nvSpPr>
          <p:cNvPr id="61" name="Text 59"/>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62" name="Text 60"/>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IMPACTO</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Tres errores que el diccionario permitió revelar</a:t>
            </a:r>
            <a:endParaRPr lang="en-US" sz="3000" dirty="0"/>
          </a:p>
        </p:txBody>
      </p:sp>
      <p:sp>
        <p:nvSpPr>
          <p:cNvPr id="4" name="Shape 2"/>
          <p:cNvSpPr/>
          <p:nvPr/>
        </p:nvSpPr>
        <p:spPr>
          <a:xfrm>
            <a:off x="548640" y="1874520"/>
            <a:ext cx="11064240" cy="1325880"/>
          </a:xfrm>
          <a:prstGeom prst="roundRect">
            <a:avLst>
              <a:gd name="adj" fmla="val 4828"/>
            </a:avLst>
          </a:prstGeom>
          <a:solidFill>
            <a:srgbClr val="F4F7FC"/>
          </a:solidFill>
          <a:ln/>
        </p:spPr>
        <p:txBody>
          <a:bodyPr/>
          <a:lstStyle/>
          <a:p>
            <a:endParaRPr lang="es-CO"/>
          </a:p>
        </p:txBody>
      </p:sp>
      <p:sp>
        <p:nvSpPr>
          <p:cNvPr id="5" name="Shape 3"/>
          <p:cNvSpPr/>
          <p:nvPr/>
        </p:nvSpPr>
        <p:spPr>
          <a:xfrm>
            <a:off x="822960" y="2455164"/>
            <a:ext cx="164592" cy="164592"/>
          </a:xfrm>
          <a:prstGeom prst="ellipse">
            <a:avLst/>
          </a:prstGeom>
          <a:solidFill>
            <a:srgbClr val="B33A3A"/>
          </a:solidFill>
          <a:ln/>
        </p:spPr>
        <p:txBody>
          <a:bodyPr/>
          <a:lstStyle/>
          <a:p>
            <a:endParaRPr lang="es-CO"/>
          </a:p>
        </p:txBody>
      </p:sp>
      <p:sp>
        <p:nvSpPr>
          <p:cNvPr id="6" name="Text 4"/>
          <p:cNvSpPr/>
          <p:nvPr/>
        </p:nvSpPr>
        <p:spPr>
          <a:xfrm>
            <a:off x="1143000" y="1874520"/>
            <a:ext cx="2651760" cy="132588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Código tratado como número</a:t>
            </a:r>
            <a:endParaRPr lang="en-US" sz="1300" dirty="0"/>
          </a:p>
        </p:txBody>
      </p:sp>
      <p:sp>
        <p:nvSpPr>
          <p:cNvPr id="7" name="Text 5"/>
          <p:cNvSpPr/>
          <p:nvPr/>
        </p:nvSpPr>
        <p:spPr>
          <a:xfrm>
            <a:off x="3886200" y="1874520"/>
            <a:ext cx="3657600" cy="1325880"/>
          </a:xfrm>
          <a:prstGeom prst="rect">
            <a:avLst/>
          </a:prstGeom>
          <a:noFill/>
          <a:ln/>
        </p:spPr>
        <p:txBody>
          <a:bodyPr wrap="square" lIns="0" tIns="0" rIns="0" bIns="0" rtlCol="0" anchor="ctr"/>
          <a:lstStyle/>
          <a:p>
            <a:pPr marL="0" indent="0">
              <a:lnSpc>
                <a:spcPct val="115000"/>
              </a:lnSpc>
              <a:buNone/>
            </a:pPr>
            <a:r>
              <a:rPr lang="en-US" sz="1050" dirty="0">
                <a:solidFill>
                  <a:srgbClr val="5A5F73"/>
                </a:solidFill>
                <a:latin typeface="Calibri" pitchFamily="34" charset="0"/>
                <a:ea typeface="Calibri" pitchFamily="34" charset="-122"/>
                <a:cs typeface="Calibri" pitchFamily="34" charset="-120"/>
              </a:rPr>
              <a:t>tipo_credito entraba en la matriz de correlación como si fuera una cantidad: r = 0.001 sugería “sin relación”</a:t>
            </a:r>
            <a:endParaRPr lang="en-US" sz="1050" dirty="0"/>
          </a:p>
        </p:txBody>
      </p:sp>
      <p:sp>
        <p:nvSpPr>
          <p:cNvPr id="8" name="Shape 6"/>
          <p:cNvSpPr/>
          <p:nvPr/>
        </p:nvSpPr>
        <p:spPr>
          <a:xfrm>
            <a:off x="7680960" y="2103120"/>
            <a:ext cx="0" cy="868680"/>
          </a:xfrm>
          <a:prstGeom prst="line">
            <a:avLst/>
          </a:prstGeom>
          <a:noFill/>
          <a:ln w="19050">
            <a:solidFill>
              <a:srgbClr val="CADCFC"/>
            </a:solidFill>
            <a:prstDash val="solid"/>
          </a:ln>
        </p:spPr>
        <p:txBody>
          <a:bodyPr/>
          <a:lstStyle/>
          <a:p>
            <a:endParaRPr lang="es-CO"/>
          </a:p>
        </p:txBody>
      </p:sp>
      <p:sp>
        <p:nvSpPr>
          <p:cNvPr id="9" name="Text 7"/>
          <p:cNvSpPr/>
          <p:nvPr/>
        </p:nvSpPr>
        <p:spPr>
          <a:xfrm>
            <a:off x="7863840" y="1874520"/>
            <a:ext cx="3566160" cy="1325880"/>
          </a:xfrm>
          <a:prstGeom prst="rect">
            <a:avLst/>
          </a:prstGeom>
          <a:noFill/>
          <a:ln/>
        </p:spPr>
        <p:txBody>
          <a:bodyPr wrap="square" lIns="0" tIns="0" rIns="0" bIns="0" rtlCol="0" anchor="ctr"/>
          <a:lstStyle/>
          <a:p>
            <a:pPr marL="0" indent="0">
              <a:lnSpc>
                <a:spcPct val="115000"/>
              </a:lnSpc>
              <a:buNone/>
            </a:pPr>
            <a:r>
              <a:rPr lang="en-US" sz="1050" b="1" dirty="0">
                <a:solidFill>
                  <a:srgbClr val="1E2761"/>
                </a:solidFill>
                <a:latin typeface="Calibri" pitchFamily="34" charset="0"/>
                <a:ea typeface="Calibri" pitchFamily="34" charset="-122"/>
                <a:cs typeface="Calibri" pitchFamily="34" charset="-120"/>
              </a:rPr>
              <a:t>Chi-cuadrado: p = 1.8e-13. Tasa de mora de 2.6% a 42.9% según el tipo</a:t>
            </a:r>
            <a:endParaRPr lang="en-US" sz="1050" dirty="0"/>
          </a:p>
        </p:txBody>
      </p:sp>
      <p:sp>
        <p:nvSpPr>
          <p:cNvPr id="10" name="Shape 8"/>
          <p:cNvSpPr/>
          <p:nvPr/>
        </p:nvSpPr>
        <p:spPr>
          <a:xfrm>
            <a:off x="548640" y="3364992"/>
            <a:ext cx="11064240" cy="1325880"/>
          </a:xfrm>
          <a:prstGeom prst="roundRect">
            <a:avLst>
              <a:gd name="adj" fmla="val 4828"/>
            </a:avLst>
          </a:prstGeom>
          <a:solidFill>
            <a:srgbClr val="F4F7FC"/>
          </a:solidFill>
          <a:ln/>
        </p:spPr>
        <p:txBody>
          <a:bodyPr/>
          <a:lstStyle/>
          <a:p>
            <a:endParaRPr lang="es-CO"/>
          </a:p>
        </p:txBody>
      </p:sp>
      <p:sp>
        <p:nvSpPr>
          <p:cNvPr id="11" name="Shape 9"/>
          <p:cNvSpPr/>
          <p:nvPr/>
        </p:nvSpPr>
        <p:spPr>
          <a:xfrm>
            <a:off x="822960" y="3945636"/>
            <a:ext cx="164592" cy="164592"/>
          </a:xfrm>
          <a:prstGeom prst="ellipse">
            <a:avLst/>
          </a:prstGeom>
          <a:solidFill>
            <a:srgbClr val="B33A3A"/>
          </a:solidFill>
          <a:ln/>
        </p:spPr>
        <p:txBody>
          <a:bodyPr/>
          <a:lstStyle/>
          <a:p>
            <a:endParaRPr lang="es-CO"/>
          </a:p>
        </p:txBody>
      </p:sp>
      <p:sp>
        <p:nvSpPr>
          <p:cNvPr id="12" name="Text 10"/>
          <p:cNvSpPr/>
          <p:nvPr/>
        </p:nvSpPr>
        <p:spPr>
          <a:xfrm>
            <a:off x="1143000" y="3364992"/>
            <a:ext cx="2651760" cy="132588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Rango de validación sin fuente</a:t>
            </a:r>
            <a:endParaRPr lang="en-US" sz="1300" dirty="0"/>
          </a:p>
        </p:txBody>
      </p:sp>
      <p:sp>
        <p:nvSpPr>
          <p:cNvPr id="13" name="Text 11"/>
          <p:cNvSpPr/>
          <p:nvPr/>
        </p:nvSpPr>
        <p:spPr>
          <a:xfrm>
            <a:off x="3886200" y="3364992"/>
            <a:ext cx="3657600" cy="1325880"/>
          </a:xfrm>
          <a:prstGeom prst="rect">
            <a:avLst/>
          </a:prstGeom>
          <a:noFill/>
          <a:ln/>
        </p:spPr>
        <p:txBody>
          <a:bodyPr wrap="square" lIns="0" tIns="0" rIns="0" bIns="0" rtlCol="0" anchor="ctr"/>
          <a:lstStyle/>
          <a:p>
            <a:pPr marL="0" indent="0">
              <a:lnSpc>
                <a:spcPct val="115000"/>
              </a:lnSpc>
              <a:buNone/>
            </a:pPr>
            <a:r>
              <a:rPr lang="en-US" sz="1050" dirty="0">
                <a:solidFill>
                  <a:srgbClr val="5A5F73"/>
                </a:solidFill>
                <a:latin typeface="Calibri" pitchFamily="34" charset="0"/>
                <a:ea typeface="Calibri" pitchFamily="34" charset="-122"/>
                <a:cs typeface="Calibri" pitchFamily="34" charset="-120"/>
              </a:rPr>
              <a:t>La regla [0, 1000] del score era inventada; detectaba 1 registro inválido</a:t>
            </a:r>
            <a:endParaRPr lang="en-US" sz="1050" dirty="0"/>
          </a:p>
        </p:txBody>
      </p:sp>
      <p:sp>
        <p:nvSpPr>
          <p:cNvPr id="14" name="Shape 12"/>
          <p:cNvSpPr/>
          <p:nvPr/>
        </p:nvSpPr>
        <p:spPr>
          <a:xfrm>
            <a:off x="7680960" y="3593592"/>
            <a:ext cx="0" cy="868680"/>
          </a:xfrm>
          <a:prstGeom prst="line">
            <a:avLst/>
          </a:prstGeom>
          <a:noFill/>
          <a:ln w="19050">
            <a:solidFill>
              <a:srgbClr val="CADCFC"/>
            </a:solidFill>
            <a:prstDash val="solid"/>
          </a:ln>
        </p:spPr>
        <p:txBody>
          <a:bodyPr/>
          <a:lstStyle/>
          <a:p>
            <a:endParaRPr lang="es-CO"/>
          </a:p>
        </p:txBody>
      </p:sp>
      <p:sp>
        <p:nvSpPr>
          <p:cNvPr id="15" name="Text 13"/>
          <p:cNvSpPr/>
          <p:nvPr/>
        </p:nvSpPr>
        <p:spPr>
          <a:xfrm>
            <a:off x="7863840" y="3364992"/>
            <a:ext cx="3566160" cy="1325880"/>
          </a:xfrm>
          <a:prstGeom prst="rect">
            <a:avLst/>
          </a:prstGeom>
          <a:noFill/>
          <a:ln/>
        </p:spPr>
        <p:txBody>
          <a:bodyPr wrap="square" lIns="0" tIns="0" rIns="0" bIns="0" rtlCol="0" anchor="ctr"/>
          <a:lstStyle/>
          <a:p>
            <a:pPr marL="0" indent="0">
              <a:lnSpc>
                <a:spcPct val="115000"/>
              </a:lnSpc>
              <a:buNone/>
            </a:pPr>
            <a:r>
              <a:rPr lang="en-US" sz="1050" b="1" dirty="0">
                <a:solidFill>
                  <a:srgbClr val="1E2761"/>
                </a:solidFill>
                <a:latin typeface="Calibri" pitchFamily="34" charset="0"/>
                <a:ea typeface="Calibri" pitchFamily="34" charset="-122"/>
                <a:cs typeface="Calibri" pitchFamily="34" charset="-120"/>
              </a:rPr>
              <a:t>Rango oficial [150, 950]: detecta 153 registros inválidos. Los otros 152 no eran detectados por la regla anterior</a:t>
            </a:r>
            <a:endParaRPr lang="en-US" sz="1050" dirty="0"/>
          </a:p>
        </p:txBody>
      </p:sp>
      <p:sp>
        <p:nvSpPr>
          <p:cNvPr id="16" name="Shape 14"/>
          <p:cNvSpPr/>
          <p:nvPr/>
        </p:nvSpPr>
        <p:spPr>
          <a:xfrm>
            <a:off x="548640" y="4855464"/>
            <a:ext cx="11064240" cy="1325880"/>
          </a:xfrm>
          <a:prstGeom prst="roundRect">
            <a:avLst>
              <a:gd name="adj" fmla="val 4828"/>
            </a:avLst>
          </a:prstGeom>
          <a:solidFill>
            <a:srgbClr val="F4F7FC"/>
          </a:solidFill>
          <a:ln/>
        </p:spPr>
        <p:txBody>
          <a:bodyPr/>
          <a:lstStyle/>
          <a:p>
            <a:endParaRPr lang="es-CO"/>
          </a:p>
        </p:txBody>
      </p:sp>
      <p:sp>
        <p:nvSpPr>
          <p:cNvPr id="17" name="Shape 15"/>
          <p:cNvSpPr/>
          <p:nvPr/>
        </p:nvSpPr>
        <p:spPr>
          <a:xfrm>
            <a:off x="822960" y="5436108"/>
            <a:ext cx="164592" cy="164592"/>
          </a:xfrm>
          <a:prstGeom prst="ellipse">
            <a:avLst/>
          </a:prstGeom>
          <a:solidFill>
            <a:srgbClr val="B33A3A"/>
          </a:solidFill>
          <a:ln/>
        </p:spPr>
        <p:txBody>
          <a:bodyPr/>
          <a:lstStyle/>
          <a:p>
            <a:endParaRPr lang="es-CO"/>
          </a:p>
        </p:txBody>
      </p:sp>
      <p:sp>
        <p:nvSpPr>
          <p:cNvPr id="18" name="Text 16"/>
          <p:cNvSpPr/>
          <p:nvPr/>
        </p:nvSpPr>
        <p:spPr>
          <a:xfrm>
            <a:off x="1143000" y="4855464"/>
            <a:ext cx="2651760" cy="132588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Ceros falsos como score</a:t>
            </a:r>
            <a:endParaRPr lang="en-US" sz="1300" dirty="0"/>
          </a:p>
        </p:txBody>
      </p:sp>
      <p:sp>
        <p:nvSpPr>
          <p:cNvPr id="19" name="Text 17"/>
          <p:cNvSpPr/>
          <p:nvPr/>
        </p:nvSpPr>
        <p:spPr>
          <a:xfrm>
            <a:off x="3886200" y="4855464"/>
            <a:ext cx="3657600" cy="1325880"/>
          </a:xfrm>
          <a:prstGeom prst="rect">
            <a:avLst/>
          </a:prstGeom>
          <a:noFill/>
          <a:ln/>
        </p:spPr>
        <p:txBody>
          <a:bodyPr wrap="square" lIns="0" tIns="0" rIns="0" bIns="0" rtlCol="0" anchor="ctr"/>
          <a:lstStyle/>
          <a:p>
            <a:pPr marL="0" indent="0">
              <a:lnSpc>
                <a:spcPct val="115000"/>
              </a:lnSpc>
              <a:buNone/>
            </a:pPr>
            <a:r>
              <a:rPr lang="en-US" sz="1050" dirty="0">
                <a:solidFill>
                  <a:srgbClr val="5A5F73"/>
                </a:solidFill>
                <a:latin typeface="Calibri" pitchFamily="34" charset="0"/>
                <a:ea typeface="Calibri" pitchFamily="34" charset="-122"/>
                <a:cs typeface="Calibri" pitchFamily="34" charset="-120"/>
              </a:rPr>
              <a:t>145 registros con score = 0 se analizaban como scores reales muy bajos</a:t>
            </a:r>
            <a:endParaRPr lang="en-US" sz="1050" dirty="0"/>
          </a:p>
        </p:txBody>
      </p:sp>
      <p:sp>
        <p:nvSpPr>
          <p:cNvPr id="20" name="Shape 18"/>
          <p:cNvSpPr/>
          <p:nvPr/>
        </p:nvSpPr>
        <p:spPr>
          <a:xfrm>
            <a:off x="7680960" y="5084064"/>
            <a:ext cx="0" cy="868680"/>
          </a:xfrm>
          <a:prstGeom prst="line">
            <a:avLst/>
          </a:prstGeom>
          <a:noFill/>
          <a:ln w="19050">
            <a:solidFill>
              <a:srgbClr val="CADCFC"/>
            </a:solidFill>
            <a:prstDash val="solid"/>
          </a:ln>
        </p:spPr>
        <p:txBody>
          <a:bodyPr/>
          <a:lstStyle/>
          <a:p>
            <a:endParaRPr lang="es-CO"/>
          </a:p>
        </p:txBody>
      </p:sp>
      <p:sp>
        <p:nvSpPr>
          <p:cNvPr id="21" name="Text 19"/>
          <p:cNvSpPr/>
          <p:nvPr/>
        </p:nvSpPr>
        <p:spPr>
          <a:xfrm>
            <a:off x="7863840" y="4855464"/>
            <a:ext cx="3566160" cy="1325880"/>
          </a:xfrm>
          <a:prstGeom prst="rect">
            <a:avLst/>
          </a:prstGeom>
          <a:noFill/>
          <a:ln/>
        </p:spPr>
        <p:txBody>
          <a:bodyPr wrap="square" lIns="0" tIns="0" rIns="0" bIns="0" rtlCol="0" anchor="ctr"/>
          <a:lstStyle/>
          <a:p>
            <a:pPr marL="0" indent="0">
              <a:lnSpc>
                <a:spcPct val="115000"/>
              </a:lnSpc>
              <a:buNone/>
            </a:pPr>
            <a:r>
              <a:rPr lang="en-US" sz="1050" b="1" dirty="0">
                <a:solidFill>
                  <a:srgbClr val="1E2761"/>
                </a:solidFill>
                <a:latin typeface="Calibri" pitchFamily="34" charset="0"/>
                <a:ea typeface="Calibri" pitchFamily="34" charset="-122"/>
                <a:cs typeface="Calibri" pitchFamily="34" charset="-120"/>
              </a:rPr>
              <a:t>No son scores: son ausencia de historial. 6.54% de mora vs 4.72%</a:t>
            </a:r>
            <a:endParaRPr lang="en-US" sz="1050" dirty="0"/>
          </a:p>
        </p:txBody>
      </p:sp>
      <p:sp>
        <p:nvSpPr>
          <p:cNvPr id="22" name="Text 20"/>
          <p:cNvSpPr/>
          <p:nvPr/>
        </p:nvSpPr>
        <p:spPr>
          <a:xfrm>
            <a:off x="3886200" y="1572768"/>
            <a:ext cx="1828800" cy="274320"/>
          </a:xfrm>
          <a:prstGeom prst="rect">
            <a:avLst/>
          </a:prstGeom>
          <a:noFill/>
          <a:ln/>
        </p:spPr>
        <p:txBody>
          <a:bodyPr wrap="square" lIns="0" tIns="0" rIns="0" bIns="0" rtlCol="0" anchor="ctr"/>
          <a:lstStyle/>
          <a:p>
            <a:pPr marL="0" indent="0">
              <a:buNone/>
            </a:pPr>
            <a:r>
              <a:rPr lang="en-US" sz="1000" b="1" kern="0" spc="100" dirty="0">
                <a:solidFill>
                  <a:srgbClr val="5A5F73"/>
                </a:solidFill>
                <a:latin typeface="Calibri" pitchFamily="34" charset="0"/>
                <a:ea typeface="Calibri" pitchFamily="34" charset="-122"/>
                <a:cs typeface="Calibri" pitchFamily="34" charset="-120"/>
              </a:rPr>
              <a:t>ANTES</a:t>
            </a:r>
            <a:endParaRPr lang="en-US" sz="1000" dirty="0"/>
          </a:p>
        </p:txBody>
      </p:sp>
      <p:sp>
        <p:nvSpPr>
          <p:cNvPr id="23" name="Text 21"/>
          <p:cNvSpPr/>
          <p:nvPr/>
        </p:nvSpPr>
        <p:spPr>
          <a:xfrm>
            <a:off x="7863840" y="1572768"/>
            <a:ext cx="1828800" cy="274320"/>
          </a:xfrm>
          <a:prstGeom prst="rect">
            <a:avLst/>
          </a:prstGeom>
          <a:noFill/>
          <a:ln/>
        </p:spPr>
        <p:txBody>
          <a:bodyPr wrap="square" lIns="0" tIns="0" rIns="0" bIns="0" rtlCol="0" anchor="ctr"/>
          <a:lstStyle/>
          <a:p>
            <a:pPr marL="0" indent="0">
              <a:buNone/>
            </a:pPr>
            <a:r>
              <a:rPr lang="en-US" sz="1000" b="1" kern="0" spc="100" dirty="0">
                <a:solidFill>
                  <a:srgbClr val="B33A3A"/>
                </a:solidFill>
                <a:latin typeface="Calibri" pitchFamily="34" charset="0"/>
                <a:ea typeface="Calibri" pitchFamily="34" charset="-122"/>
                <a:cs typeface="Calibri" pitchFamily="34" charset="-120"/>
              </a:rPr>
              <a:t>DESPUÉS</a:t>
            </a:r>
            <a:endParaRPr lang="en-US" sz="1000" dirty="0"/>
          </a:p>
        </p:txBody>
      </p:sp>
      <p:sp>
        <p:nvSpPr>
          <p:cNvPr id="24" name="Text 22"/>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25" name="Text 23"/>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METODOLOGÍA</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Etapas del análisis</a:t>
            </a:r>
            <a:endParaRPr lang="en-US" sz="3000" dirty="0"/>
          </a:p>
        </p:txBody>
      </p:sp>
      <p:sp>
        <p:nvSpPr>
          <p:cNvPr id="4" name="Shape 2"/>
          <p:cNvSpPr/>
          <p:nvPr/>
        </p:nvSpPr>
        <p:spPr>
          <a:xfrm>
            <a:off x="548640" y="1965960"/>
            <a:ext cx="502920" cy="502920"/>
          </a:xfrm>
          <a:prstGeom prst="ellipse">
            <a:avLst/>
          </a:prstGeom>
          <a:solidFill>
            <a:srgbClr val="1E2761"/>
          </a:solidFill>
          <a:ln/>
        </p:spPr>
        <p:txBody>
          <a:bodyPr/>
          <a:lstStyle/>
          <a:p>
            <a:endParaRPr lang="es-CO"/>
          </a:p>
        </p:txBody>
      </p:sp>
      <p:sp>
        <p:nvSpPr>
          <p:cNvPr id="5" name="Text 3"/>
          <p:cNvSpPr/>
          <p:nvPr/>
        </p:nvSpPr>
        <p:spPr>
          <a:xfrm>
            <a:off x="548640" y="19659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548640" y="2651760"/>
            <a:ext cx="2606040" cy="777240"/>
          </a:xfrm>
          <a:prstGeom prst="rect">
            <a:avLst/>
          </a:prstGeom>
          <a:noFill/>
          <a:ln/>
        </p:spPr>
        <p:txBody>
          <a:bodyPr wrap="square" lIns="0" tIns="0" rIns="0" bIns="0"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Carga y comprensión</a:t>
            </a:r>
            <a:endParaRPr lang="en-US" sz="1450" dirty="0"/>
          </a:p>
        </p:txBody>
      </p:sp>
      <p:sp>
        <p:nvSpPr>
          <p:cNvPr id="7" name="Text 5"/>
          <p:cNvSpPr/>
          <p:nvPr/>
        </p:nvSpPr>
        <p:spPr>
          <a:xfrm>
            <a:off x="548640" y="3429000"/>
            <a:ext cx="2606040" cy="1554480"/>
          </a:xfrm>
          <a:prstGeom prst="rect">
            <a:avLst/>
          </a:prstGeom>
          <a:noFill/>
          <a:ln/>
        </p:spPr>
        <p:txBody>
          <a:bodyPr wrap="square" lIns="0" tIns="0" rIns="0" bIns="0" rtlCol="0" anchor="t"/>
          <a:lstStyle/>
          <a:p>
            <a:pPr marL="0" indent="0">
              <a:lnSpc>
                <a:spcPct val="120000"/>
              </a:lnSpc>
              <a:buNone/>
            </a:pPr>
            <a:r>
              <a:rPr lang="en-US" sz="1150" dirty="0">
                <a:solidFill>
                  <a:srgbClr val="5A5F73"/>
                </a:solidFill>
                <a:latin typeface="Calibri" pitchFamily="34" charset="0"/>
                <a:ea typeface="Calibri" pitchFamily="34" charset="-122"/>
                <a:cs typeface="Calibri" pitchFamily="34" charset="-120"/>
              </a:rPr>
              <a:t>Exploración inicial: tipos, nulos, caracterización de cada variable</a:t>
            </a:r>
            <a:endParaRPr lang="en-US" sz="1150" dirty="0"/>
          </a:p>
        </p:txBody>
      </p:sp>
      <p:sp>
        <p:nvSpPr>
          <p:cNvPr id="8" name="Shape 6"/>
          <p:cNvSpPr/>
          <p:nvPr/>
        </p:nvSpPr>
        <p:spPr>
          <a:xfrm>
            <a:off x="3182112" y="2212848"/>
            <a:ext cx="173736" cy="0"/>
          </a:xfrm>
          <a:prstGeom prst="line">
            <a:avLst/>
          </a:prstGeom>
          <a:noFill/>
          <a:ln w="25400">
            <a:solidFill>
              <a:srgbClr val="CADCFC"/>
            </a:solidFill>
            <a:prstDash val="solid"/>
          </a:ln>
        </p:spPr>
        <p:txBody>
          <a:bodyPr/>
          <a:lstStyle/>
          <a:p>
            <a:endParaRPr lang="es-CO"/>
          </a:p>
        </p:txBody>
      </p:sp>
      <p:sp>
        <p:nvSpPr>
          <p:cNvPr id="9" name="Shape 7"/>
          <p:cNvSpPr/>
          <p:nvPr/>
        </p:nvSpPr>
        <p:spPr>
          <a:xfrm>
            <a:off x="3383280" y="1965960"/>
            <a:ext cx="502920" cy="502920"/>
          </a:xfrm>
          <a:prstGeom prst="ellipse">
            <a:avLst/>
          </a:prstGeom>
          <a:solidFill>
            <a:srgbClr val="1E2761"/>
          </a:solidFill>
          <a:ln/>
        </p:spPr>
        <p:txBody>
          <a:bodyPr/>
          <a:lstStyle/>
          <a:p>
            <a:endParaRPr lang="es-CO"/>
          </a:p>
        </p:txBody>
      </p:sp>
      <p:sp>
        <p:nvSpPr>
          <p:cNvPr id="10" name="Text 8"/>
          <p:cNvSpPr/>
          <p:nvPr/>
        </p:nvSpPr>
        <p:spPr>
          <a:xfrm>
            <a:off x="3383280" y="19659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3383280" y="2651760"/>
            <a:ext cx="2606040" cy="777240"/>
          </a:xfrm>
          <a:prstGeom prst="rect">
            <a:avLst/>
          </a:prstGeom>
          <a:noFill/>
          <a:ln/>
        </p:spPr>
        <p:txBody>
          <a:bodyPr wrap="square" lIns="0" tIns="0" rIns="0" bIns="0"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Limpieza y corrección</a:t>
            </a:r>
            <a:endParaRPr lang="en-US" sz="1450" dirty="0"/>
          </a:p>
        </p:txBody>
      </p:sp>
      <p:sp>
        <p:nvSpPr>
          <p:cNvPr id="12" name="Text 10"/>
          <p:cNvSpPr/>
          <p:nvPr/>
        </p:nvSpPr>
        <p:spPr>
          <a:xfrm>
            <a:off x="3383280" y="3429000"/>
            <a:ext cx="2606040" cy="1554480"/>
          </a:xfrm>
          <a:prstGeom prst="rect">
            <a:avLst/>
          </a:prstGeom>
          <a:noFill/>
          <a:ln/>
        </p:spPr>
        <p:txBody>
          <a:bodyPr wrap="square" lIns="0" tIns="0" rIns="0" bIns="0" rtlCol="0" anchor="t"/>
          <a:lstStyle/>
          <a:p>
            <a:pPr marL="0" indent="0">
              <a:lnSpc>
                <a:spcPct val="120000"/>
              </a:lnSpc>
              <a:buNone/>
            </a:pPr>
            <a:r>
              <a:rPr lang="en-US" sz="1150" dirty="0">
                <a:solidFill>
                  <a:srgbClr val="5A5F73"/>
                </a:solidFill>
                <a:latin typeface="Calibri" pitchFamily="34" charset="0"/>
                <a:ea typeface="Calibri" pitchFamily="34" charset="-122"/>
                <a:cs typeface="Calibri" pitchFamily="34" charset="-120"/>
              </a:rPr>
              <a:t>Tratamiento de atípicos y nulos con evidencia, no con supuestos</a:t>
            </a:r>
            <a:endParaRPr lang="en-US" sz="1150" dirty="0"/>
          </a:p>
        </p:txBody>
      </p:sp>
      <p:sp>
        <p:nvSpPr>
          <p:cNvPr id="13" name="Shape 11"/>
          <p:cNvSpPr/>
          <p:nvPr/>
        </p:nvSpPr>
        <p:spPr>
          <a:xfrm>
            <a:off x="6016752" y="2212848"/>
            <a:ext cx="173736" cy="0"/>
          </a:xfrm>
          <a:prstGeom prst="line">
            <a:avLst/>
          </a:prstGeom>
          <a:noFill/>
          <a:ln w="25400">
            <a:solidFill>
              <a:srgbClr val="CADCFC"/>
            </a:solidFill>
            <a:prstDash val="solid"/>
          </a:ln>
        </p:spPr>
        <p:txBody>
          <a:bodyPr/>
          <a:lstStyle/>
          <a:p>
            <a:endParaRPr lang="es-CO"/>
          </a:p>
        </p:txBody>
      </p:sp>
      <p:sp>
        <p:nvSpPr>
          <p:cNvPr id="14" name="Shape 12"/>
          <p:cNvSpPr/>
          <p:nvPr/>
        </p:nvSpPr>
        <p:spPr>
          <a:xfrm>
            <a:off x="6217920" y="1965960"/>
            <a:ext cx="502920" cy="502920"/>
          </a:xfrm>
          <a:prstGeom prst="ellipse">
            <a:avLst/>
          </a:prstGeom>
          <a:solidFill>
            <a:srgbClr val="1E2761"/>
          </a:solidFill>
          <a:ln/>
        </p:spPr>
        <p:txBody>
          <a:bodyPr/>
          <a:lstStyle/>
          <a:p>
            <a:endParaRPr lang="es-CO"/>
          </a:p>
        </p:txBody>
      </p:sp>
      <p:sp>
        <p:nvSpPr>
          <p:cNvPr id="15" name="Text 13"/>
          <p:cNvSpPr/>
          <p:nvPr/>
        </p:nvSpPr>
        <p:spPr>
          <a:xfrm>
            <a:off x="6217920" y="19659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6217920" y="2651760"/>
            <a:ext cx="2606040" cy="777240"/>
          </a:xfrm>
          <a:prstGeom prst="rect">
            <a:avLst/>
          </a:prstGeom>
          <a:noFill/>
          <a:ln/>
        </p:spPr>
        <p:txBody>
          <a:bodyPr wrap="square" lIns="0" tIns="0" rIns="0" bIns="0"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EDA univariado, bivariado y multivariado</a:t>
            </a:r>
            <a:endParaRPr lang="en-US" sz="1450" dirty="0"/>
          </a:p>
        </p:txBody>
      </p:sp>
      <p:sp>
        <p:nvSpPr>
          <p:cNvPr id="17" name="Text 15"/>
          <p:cNvSpPr/>
          <p:nvPr/>
        </p:nvSpPr>
        <p:spPr>
          <a:xfrm>
            <a:off x="6217920" y="3429000"/>
            <a:ext cx="2606040" cy="1554480"/>
          </a:xfrm>
          <a:prstGeom prst="rect">
            <a:avLst/>
          </a:prstGeom>
          <a:noFill/>
          <a:ln/>
        </p:spPr>
        <p:txBody>
          <a:bodyPr wrap="square" lIns="0" tIns="0" rIns="0" bIns="0" rtlCol="0" anchor="t"/>
          <a:lstStyle/>
          <a:p>
            <a:pPr marL="0" indent="0">
              <a:lnSpc>
                <a:spcPct val="120000"/>
              </a:lnSpc>
              <a:buNone/>
            </a:pPr>
            <a:r>
              <a:rPr lang="en-US" sz="1150" dirty="0">
                <a:solidFill>
                  <a:srgbClr val="5A5F73"/>
                </a:solidFill>
                <a:latin typeface="Calibri" pitchFamily="34" charset="0"/>
                <a:ea typeface="Calibri" pitchFamily="34" charset="-122"/>
                <a:cs typeface="Calibri" pitchFamily="34" charset="-120"/>
              </a:rPr>
              <a:t>Distribuciones, relación con la mora, correlaciones</a:t>
            </a:r>
            <a:endParaRPr lang="en-US" sz="1150" dirty="0"/>
          </a:p>
        </p:txBody>
      </p:sp>
      <p:sp>
        <p:nvSpPr>
          <p:cNvPr id="18" name="Shape 16"/>
          <p:cNvSpPr/>
          <p:nvPr/>
        </p:nvSpPr>
        <p:spPr>
          <a:xfrm>
            <a:off x="8851392" y="2212848"/>
            <a:ext cx="173736" cy="0"/>
          </a:xfrm>
          <a:prstGeom prst="line">
            <a:avLst/>
          </a:prstGeom>
          <a:noFill/>
          <a:ln w="25400">
            <a:solidFill>
              <a:srgbClr val="CADCFC"/>
            </a:solidFill>
            <a:prstDash val="solid"/>
          </a:ln>
        </p:spPr>
        <p:txBody>
          <a:bodyPr/>
          <a:lstStyle/>
          <a:p>
            <a:endParaRPr lang="es-CO"/>
          </a:p>
        </p:txBody>
      </p:sp>
      <p:sp>
        <p:nvSpPr>
          <p:cNvPr id="19" name="Shape 17"/>
          <p:cNvSpPr/>
          <p:nvPr/>
        </p:nvSpPr>
        <p:spPr>
          <a:xfrm>
            <a:off x="9052560" y="1965960"/>
            <a:ext cx="502920" cy="502920"/>
          </a:xfrm>
          <a:prstGeom prst="ellipse">
            <a:avLst/>
          </a:prstGeom>
          <a:solidFill>
            <a:srgbClr val="1E2761"/>
          </a:solidFill>
          <a:ln/>
        </p:spPr>
        <p:txBody>
          <a:bodyPr/>
          <a:lstStyle/>
          <a:p>
            <a:endParaRPr lang="es-CO"/>
          </a:p>
        </p:txBody>
      </p:sp>
      <p:sp>
        <p:nvSpPr>
          <p:cNvPr id="20" name="Text 18"/>
          <p:cNvSpPr/>
          <p:nvPr/>
        </p:nvSpPr>
        <p:spPr>
          <a:xfrm>
            <a:off x="9052560" y="19659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9"/>
          <p:cNvSpPr/>
          <p:nvPr/>
        </p:nvSpPr>
        <p:spPr>
          <a:xfrm>
            <a:off x="9052560" y="2651760"/>
            <a:ext cx="2606040" cy="777240"/>
          </a:xfrm>
          <a:prstGeom prst="rect">
            <a:avLst/>
          </a:prstGeom>
          <a:noFill/>
          <a:ln/>
        </p:spPr>
        <p:txBody>
          <a:bodyPr wrap="square" lIns="0" tIns="0" rIns="0" bIns="0"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Ideación de atributos derivados</a:t>
            </a:r>
            <a:endParaRPr lang="en-US" sz="1450" dirty="0"/>
          </a:p>
        </p:txBody>
      </p:sp>
      <p:sp>
        <p:nvSpPr>
          <p:cNvPr id="22" name="Text 20"/>
          <p:cNvSpPr/>
          <p:nvPr/>
        </p:nvSpPr>
        <p:spPr>
          <a:xfrm>
            <a:off x="9052560" y="3429000"/>
            <a:ext cx="2606040" cy="1554480"/>
          </a:xfrm>
          <a:prstGeom prst="rect">
            <a:avLst/>
          </a:prstGeom>
          <a:noFill/>
          <a:ln/>
        </p:spPr>
        <p:txBody>
          <a:bodyPr wrap="square" lIns="0" tIns="0" rIns="0" bIns="0" rtlCol="0" anchor="t"/>
          <a:lstStyle/>
          <a:p>
            <a:pPr marL="0" indent="0">
              <a:lnSpc>
                <a:spcPct val="120000"/>
              </a:lnSpc>
              <a:buNone/>
            </a:pPr>
            <a:r>
              <a:rPr lang="en-US" sz="1150" dirty="0">
                <a:solidFill>
                  <a:srgbClr val="5A5F73"/>
                </a:solidFill>
                <a:latin typeface="Calibri" pitchFamily="34" charset="0"/>
                <a:ea typeface="Calibri" pitchFamily="34" charset="-122"/>
                <a:cs typeface="Calibri" pitchFamily="34" charset="-120"/>
              </a:rPr>
              <a:t>Combinaciones de variables con más señal que las originales</a:t>
            </a:r>
            <a:endParaRPr lang="en-US" sz="1150" dirty="0"/>
          </a:p>
        </p:txBody>
      </p:sp>
      <p:sp>
        <p:nvSpPr>
          <p:cNvPr id="23" name="Text 21"/>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24" name="Text 22"/>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CALIDAD DE DATOS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Problemas de calidad detectados</a:t>
            </a:r>
            <a:endParaRPr lang="en-US" sz="3000" dirty="0"/>
          </a:p>
        </p:txBody>
      </p:sp>
      <p:sp>
        <p:nvSpPr>
          <p:cNvPr id="4" name="Shape 2"/>
          <p:cNvSpPr/>
          <p:nvPr/>
        </p:nvSpPr>
        <p:spPr>
          <a:xfrm>
            <a:off x="548640" y="1874520"/>
            <a:ext cx="5349240" cy="1737360"/>
          </a:xfrm>
          <a:prstGeom prst="roundRect">
            <a:avLst>
              <a:gd name="adj" fmla="val 4211"/>
            </a:avLst>
          </a:prstGeom>
          <a:solidFill>
            <a:srgbClr val="F4F7FC"/>
          </a:solidFill>
          <a:ln/>
        </p:spPr>
        <p:txBody>
          <a:bodyPr/>
          <a:lstStyle/>
          <a:p>
            <a:endParaRPr lang="es-CO"/>
          </a:p>
        </p:txBody>
      </p:sp>
      <p:sp>
        <p:nvSpPr>
          <p:cNvPr id="5" name="Shape 3"/>
          <p:cNvSpPr/>
          <p:nvPr/>
        </p:nvSpPr>
        <p:spPr>
          <a:xfrm>
            <a:off x="822960" y="2148840"/>
            <a:ext cx="146304" cy="146304"/>
          </a:xfrm>
          <a:prstGeom prst="ellipse">
            <a:avLst/>
          </a:prstGeom>
          <a:solidFill>
            <a:srgbClr val="B33A3A"/>
          </a:solidFill>
          <a:ln/>
        </p:spPr>
        <p:txBody>
          <a:bodyPr/>
          <a:lstStyle/>
          <a:p>
            <a:endParaRPr lang="es-CO"/>
          </a:p>
        </p:txBody>
      </p:sp>
      <p:sp>
        <p:nvSpPr>
          <p:cNvPr id="6" name="Text 4"/>
          <p:cNvSpPr/>
          <p:nvPr/>
        </p:nvSpPr>
        <p:spPr>
          <a:xfrm>
            <a:off x="1097280" y="2039112"/>
            <a:ext cx="4526280"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puntaje</a:t>
            </a:r>
            <a:endParaRPr lang="en-US" sz="1500" dirty="0"/>
          </a:p>
        </p:txBody>
      </p:sp>
      <p:sp>
        <p:nvSpPr>
          <p:cNvPr id="7" name="Text 5"/>
          <p:cNvSpPr/>
          <p:nvPr/>
        </p:nvSpPr>
        <p:spPr>
          <a:xfrm>
            <a:off x="822960" y="2532888"/>
            <a:ext cx="4800600" cy="960120"/>
          </a:xfrm>
          <a:prstGeom prst="rect">
            <a:avLst/>
          </a:prstGeom>
          <a:noFill/>
          <a:ln/>
        </p:spPr>
        <p:txBody>
          <a:bodyPr wrap="square" lIns="0" tIns="0" rIns="0" bIns="0" rtlCol="0" anchor="ctr"/>
          <a:lstStyle/>
          <a:p>
            <a:pPr marL="0" indent="0">
              <a:lnSpc>
                <a:spcPct val="120000"/>
              </a:lnSpc>
              <a:buNone/>
            </a:pPr>
            <a:r>
              <a:rPr lang="en-US" sz="1200" dirty="0">
                <a:solidFill>
                  <a:srgbClr val="5A5F73"/>
                </a:solidFill>
                <a:latin typeface="Calibri" pitchFamily="34" charset="0"/>
                <a:ea typeface="Calibri" pitchFamily="34" charset="-122"/>
                <a:cs typeface="Calibri" pitchFamily="34" charset="-120"/>
              </a:rPr>
              <a:t>87.4% de los registros comparten el mismo valor — se eliminó por no aportar información</a:t>
            </a:r>
            <a:endParaRPr lang="en-US" sz="1200" dirty="0"/>
          </a:p>
        </p:txBody>
      </p:sp>
      <p:sp>
        <p:nvSpPr>
          <p:cNvPr id="8" name="Shape 6"/>
          <p:cNvSpPr/>
          <p:nvPr/>
        </p:nvSpPr>
        <p:spPr>
          <a:xfrm>
            <a:off x="6172200" y="1874520"/>
            <a:ext cx="5349240" cy="1737360"/>
          </a:xfrm>
          <a:prstGeom prst="roundRect">
            <a:avLst>
              <a:gd name="adj" fmla="val 4211"/>
            </a:avLst>
          </a:prstGeom>
          <a:solidFill>
            <a:srgbClr val="F4F7FC"/>
          </a:solidFill>
          <a:ln/>
        </p:spPr>
        <p:txBody>
          <a:bodyPr/>
          <a:lstStyle/>
          <a:p>
            <a:endParaRPr lang="es-CO"/>
          </a:p>
        </p:txBody>
      </p:sp>
      <p:sp>
        <p:nvSpPr>
          <p:cNvPr id="9" name="Shape 7"/>
          <p:cNvSpPr/>
          <p:nvPr/>
        </p:nvSpPr>
        <p:spPr>
          <a:xfrm>
            <a:off x="6446520" y="2148840"/>
            <a:ext cx="146304" cy="146304"/>
          </a:xfrm>
          <a:prstGeom prst="ellipse">
            <a:avLst/>
          </a:prstGeom>
          <a:solidFill>
            <a:srgbClr val="B33A3A"/>
          </a:solidFill>
          <a:ln/>
        </p:spPr>
        <p:txBody>
          <a:bodyPr/>
          <a:lstStyle/>
          <a:p>
            <a:endParaRPr lang="es-CO"/>
          </a:p>
        </p:txBody>
      </p:sp>
      <p:sp>
        <p:nvSpPr>
          <p:cNvPr id="10" name="Text 8"/>
          <p:cNvSpPr/>
          <p:nvPr/>
        </p:nvSpPr>
        <p:spPr>
          <a:xfrm>
            <a:off x="6720840" y="2039112"/>
            <a:ext cx="4526280"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edad_cliente</a:t>
            </a:r>
            <a:endParaRPr lang="en-US" sz="1500" dirty="0"/>
          </a:p>
        </p:txBody>
      </p:sp>
      <p:sp>
        <p:nvSpPr>
          <p:cNvPr id="11" name="Text 9"/>
          <p:cNvSpPr/>
          <p:nvPr/>
        </p:nvSpPr>
        <p:spPr>
          <a:xfrm>
            <a:off x="6446520" y="2532888"/>
            <a:ext cx="4800600" cy="960120"/>
          </a:xfrm>
          <a:prstGeom prst="rect">
            <a:avLst/>
          </a:prstGeom>
          <a:noFill/>
          <a:ln/>
        </p:spPr>
        <p:txBody>
          <a:bodyPr wrap="square" lIns="0" tIns="0" rIns="0" bIns="0" rtlCol="0" anchor="ctr"/>
          <a:lstStyle/>
          <a:p>
            <a:pPr marL="0" indent="0">
              <a:lnSpc>
                <a:spcPct val="120000"/>
              </a:lnSpc>
              <a:buNone/>
            </a:pPr>
            <a:r>
              <a:rPr lang="en-US" sz="1200" dirty="0">
                <a:solidFill>
                  <a:srgbClr val="5A5F73"/>
                </a:solidFill>
                <a:latin typeface="Calibri" pitchFamily="34" charset="0"/>
                <a:ea typeface="Calibri" pitchFamily="34" charset="-122"/>
                <a:cs typeface="Calibri" pitchFamily="34" charset="-120"/>
              </a:rPr>
              <a:t>150 registros con 121–123 años (salto claro en la distribución) — corregidos</a:t>
            </a:r>
            <a:endParaRPr lang="en-US" sz="1200" dirty="0"/>
          </a:p>
        </p:txBody>
      </p:sp>
      <p:sp>
        <p:nvSpPr>
          <p:cNvPr id="12" name="Shape 10"/>
          <p:cNvSpPr/>
          <p:nvPr/>
        </p:nvSpPr>
        <p:spPr>
          <a:xfrm>
            <a:off x="548640" y="3840480"/>
            <a:ext cx="5349240" cy="1737360"/>
          </a:xfrm>
          <a:prstGeom prst="roundRect">
            <a:avLst>
              <a:gd name="adj" fmla="val 4211"/>
            </a:avLst>
          </a:prstGeom>
          <a:solidFill>
            <a:srgbClr val="F4F7FC"/>
          </a:solidFill>
          <a:ln/>
        </p:spPr>
        <p:txBody>
          <a:bodyPr/>
          <a:lstStyle/>
          <a:p>
            <a:endParaRPr lang="es-CO"/>
          </a:p>
        </p:txBody>
      </p:sp>
      <p:sp>
        <p:nvSpPr>
          <p:cNvPr id="13" name="Shape 11"/>
          <p:cNvSpPr/>
          <p:nvPr/>
        </p:nvSpPr>
        <p:spPr>
          <a:xfrm>
            <a:off x="822960" y="4114800"/>
            <a:ext cx="146304" cy="146304"/>
          </a:xfrm>
          <a:prstGeom prst="ellipse">
            <a:avLst/>
          </a:prstGeom>
          <a:solidFill>
            <a:srgbClr val="B33A3A"/>
          </a:solidFill>
          <a:ln/>
        </p:spPr>
        <p:txBody>
          <a:bodyPr/>
          <a:lstStyle/>
          <a:p>
            <a:endParaRPr lang="es-CO"/>
          </a:p>
        </p:txBody>
      </p:sp>
      <p:sp>
        <p:nvSpPr>
          <p:cNvPr id="14" name="Text 12"/>
          <p:cNvSpPr/>
          <p:nvPr/>
        </p:nvSpPr>
        <p:spPr>
          <a:xfrm>
            <a:off x="1097280" y="4005072"/>
            <a:ext cx="4526280"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salario_cliente</a:t>
            </a:r>
            <a:endParaRPr lang="en-US" sz="1500" dirty="0"/>
          </a:p>
        </p:txBody>
      </p:sp>
      <p:sp>
        <p:nvSpPr>
          <p:cNvPr id="15" name="Text 13"/>
          <p:cNvSpPr/>
          <p:nvPr/>
        </p:nvSpPr>
        <p:spPr>
          <a:xfrm>
            <a:off x="822960" y="4498848"/>
            <a:ext cx="4800600" cy="960120"/>
          </a:xfrm>
          <a:prstGeom prst="rect">
            <a:avLst/>
          </a:prstGeom>
          <a:noFill/>
          <a:ln/>
        </p:spPr>
        <p:txBody>
          <a:bodyPr wrap="square" lIns="0" tIns="0" rIns="0" bIns="0" rtlCol="0" anchor="ctr"/>
          <a:lstStyle/>
          <a:p>
            <a:pPr marL="0" indent="0">
              <a:lnSpc>
                <a:spcPct val="120000"/>
              </a:lnSpc>
              <a:buNone/>
            </a:pPr>
            <a:r>
              <a:rPr lang="en-US" sz="1200" dirty="0">
                <a:solidFill>
                  <a:srgbClr val="5A5F73"/>
                </a:solidFill>
                <a:latin typeface="Calibri" pitchFamily="34" charset="0"/>
                <a:ea typeface="Calibri" pitchFamily="34" charset="-122"/>
                <a:cs typeface="Calibri" pitchFamily="34" charset="-120"/>
              </a:rPr>
              <a:t>250 valores extremos (hasta $22.000 millones) — corregidos con método estadístico robusto</a:t>
            </a:r>
            <a:endParaRPr lang="en-US" sz="1200" dirty="0"/>
          </a:p>
        </p:txBody>
      </p:sp>
      <p:sp>
        <p:nvSpPr>
          <p:cNvPr id="16" name="Shape 14"/>
          <p:cNvSpPr/>
          <p:nvPr/>
        </p:nvSpPr>
        <p:spPr>
          <a:xfrm>
            <a:off x="6172200" y="3840480"/>
            <a:ext cx="5349240" cy="1737360"/>
          </a:xfrm>
          <a:prstGeom prst="roundRect">
            <a:avLst>
              <a:gd name="adj" fmla="val 4211"/>
            </a:avLst>
          </a:prstGeom>
          <a:solidFill>
            <a:srgbClr val="F4F7FC"/>
          </a:solidFill>
          <a:ln/>
        </p:spPr>
        <p:txBody>
          <a:bodyPr/>
          <a:lstStyle/>
          <a:p>
            <a:endParaRPr lang="es-CO"/>
          </a:p>
        </p:txBody>
      </p:sp>
      <p:sp>
        <p:nvSpPr>
          <p:cNvPr id="17" name="Shape 15"/>
          <p:cNvSpPr/>
          <p:nvPr/>
        </p:nvSpPr>
        <p:spPr>
          <a:xfrm>
            <a:off x="6446520" y="4114800"/>
            <a:ext cx="146304" cy="146304"/>
          </a:xfrm>
          <a:prstGeom prst="ellipse">
            <a:avLst/>
          </a:prstGeom>
          <a:solidFill>
            <a:srgbClr val="B33A3A"/>
          </a:solidFill>
          <a:ln/>
        </p:spPr>
        <p:txBody>
          <a:bodyPr/>
          <a:lstStyle/>
          <a:p>
            <a:endParaRPr lang="es-CO"/>
          </a:p>
        </p:txBody>
      </p:sp>
      <p:sp>
        <p:nvSpPr>
          <p:cNvPr id="18" name="Text 16"/>
          <p:cNvSpPr/>
          <p:nvPr/>
        </p:nvSpPr>
        <p:spPr>
          <a:xfrm>
            <a:off x="6720840" y="4005072"/>
            <a:ext cx="4526280"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tendencia_ingresos</a:t>
            </a:r>
            <a:endParaRPr lang="en-US" sz="1500" dirty="0"/>
          </a:p>
        </p:txBody>
      </p:sp>
      <p:sp>
        <p:nvSpPr>
          <p:cNvPr id="19" name="Text 17"/>
          <p:cNvSpPr/>
          <p:nvPr/>
        </p:nvSpPr>
        <p:spPr>
          <a:xfrm>
            <a:off x="6446520" y="4498848"/>
            <a:ext cx="4800600" cy="960120"/>
          </a:xfrm>
          <a:prstGeom prst="rect">
            <a:avLst/>
          </a:prstGeom>
          <a:noFill/>
          <a:ln/>
        </p:spPr>
        <p:txBody>
          <a:bodyPr wrap="square" lIns="0" tIns="0" rIns="0" bIns="0" rtlCol="0" anchor="ctr"/>
          <a:lstStyle/>
          <a:p>
            <a:pPr marL="0" indent="0">
              <a:lnSpc>
                <a:spcPct val="120000"/>
              </a:lnSpc>
              <a:buNone/>
            </a:pPr>
            <a:r>
              <a:rPr lang="en-US" sz="1200" dirty="0">
                <a:solidFill>
                  <a:srgbClr val="5A5F73"/>
                </a:solidFill>
                <a:latin typeface="Calibri" pitchFamily="34" charset="0"/>
                <a:ea typeface="Calibri" pitchFamily="34" charset="-122"/>
                <a:cs typeface="Calibri" pitchFamily="34" charset="-120"/>
              </a:rPr>
              <a:t>58 registros con números en vez de categoría — reconstruidos por lógica de negocio</a:t>
            </a:r>
            <a:endParaRPr lang="en-US" sz="1200" dirty="0"/>
          </a:p>
        </p:txBody>
      </p:sp>
      <p:sp>
        <p:nvSpPr>
          <p:cNvPr id="20" name="Text 18"/>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21" name="Text 19"/>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VARIABLE OBJETIVO</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Distribución de la variable objetivo</a:t>
            </a:r>
            <a:endParaRPr lang="en-US" sz="3000" dirty="0"/>
          </a:p>
        </p:txBody>
      </p:sp>
      <p:graphicFrame>
        <p:nvGraphicFramePr>
          <p:cNvPr id="4" name="Chart 0"/>
          <p:cNvGraphicFramePr/>
          <p:nvPr/>
        </p:nvGraphicFramePr>
        <p:xfrm>
          <a:off x="548640" y="1874520"/>
          <a:ext cx="49377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035040" y="2057400"/>
            <a:ext cx="5577840" cy="914400"/>
          </a:xfrm>
          <a:prstGeom prst="rect">
            <a:avLst/>
          </a:prstGeom>
          <a:noFill/>
          <a:ln/>
        </p:spPr>
        <p:txBody>
          <a:bodyPr wrap="square" lIns="0" tIns="0" rIns="0" bIns="0" rtlCol="0" anchor="ctr"/>
          <a:lstStyle/>
          <a:p>
            <a:pPr marL="0" indent="0">
              <a:buNone/>
            </a:pPr>
            <a:r>
              <a:rPr lang="en-US" sz="4800" b="1" dirty="0">
                <a:solidFill>
                  <a:srgbClr val="B33A3A"/>
                </a:solidFill>
                <a:latin typeface="Cambria" pitchFamily="34" charset="0"/>
                <a:ea typeface="Cambria" pitchFamily="34" charset="-122"/>
                <a:cs typeface="Cambria" pitchFamily="34" charset="-120"/>
              </a:rPr>
              <a:t>20 a 1</a:t>
            </a:r>
            <a:endParaRPr lang="en-US" sz="4800" dirty="0"/>
          </a:p>
        </p:txBody>
      </p:sp>
      <p:sp>
        <p:nvSpPr>
          <p:cNvPr id="6" name="Text 3"/>
          <p:cNvSpPr/>
          <p:nvPr/>
        </p:nvSpPr>
        <p:spPr>
          <a:xfrm>
            <a:off x="6035040" y="2880360"/>
            <a:ext cx="5577840" cy="365760"/>
          </a:xfrm>
          <a:prstGeom prst="rect">
            <a:avLst/>
          </a:prstGeom>
          <a:noFill/>
          <a:ln/>
        </p:spPr>
        <p:txBody>
          <a:bodyPr wrap="square" lIns="0" tIns="0" rIns="0" bIns="0" rtlCol="0" anchor="ctr"/>
          <a:lstStyle/>
          <a:p>
            <a:pPr marL="0" indent="0">
              <a:buNone/>
            </a:pPr>
            <a:r>
              <a:rPr lang="en-US" sz="1300" dirty="0">
                <a:solidFill>
                  <a:srgbClr val="5A5F73"/>
                </a:solidFill>
                <a:latin typeface="Calibri" pitchFamily="34" charset="0"/>
                <a:ea typeface="Calibri" pitchFamily="34" charset="-122"/>
                <a:cs typeface="Calibri" pitchFamily="34" charset="-120"/>
              </a:rPr>
              <a:t>ratio de desbalance entre clases</a:t>
            </a:r>
            <a:endParaRPr lang="en-US" sz="1300" dirty="0"/>
          </a:p>
        </p:txBody>
      </p:sp>
      <p:sp>
        <p:nvSpPr>
          <p:cNvPr id="7" name="Text 4"/>
          <p:cNvSpPr/>
          <p:nvPr/>
        </p:nvSpPr>
        <p:spPr>
          <a:xfrm>
            <a:off x="6035040" y="3520440"/>
            <a:ext cx="5577840" cy="1188720"/>
          </a:xfrm>
          <a:prstGeom prst="rect">
            <a:avLst/>
          </a:prstGeom>
          <a:noFill/>
          <a:ln/>
        </p:spPr>
        <p:txBody>
          <a:bodyPr wrap="square" lIns="0" tIns="0" rIns="0" bIns="0" rtlCol="0" anchor="ctr"/>
          <a:lstStyle/>
          <a:p>
            <a:pPr marL="0" indent="0">
              <a:lnSpc>
                <a:spcPct val="125000"/>
              </a:lnSpc>
              <a:buNone/>
            </a:pPr>
            <a:r>
              <a:rPr lang="en-US" sz="1400" dirty="0">
                <a:solidFill>
                  <a:srgbClr val="5A5F73"/>
                </a:solidFill>
                <a:latin typeface="Calibri" pitchFamily="34" charset="0"/>
                <a:ea typeface="Calibri" pitchFamily="34" charset="-122"/>
                <a:cs typeface="Calibri" pitchFamily="34" charset="-120"/>
              </a:rPr>
              <a:t>Solo el 4.75% de los créditos cae en mora (511 de 10,763). Un modelo que prediga siempre “paga a tiempo” acertaría el 95.25% de las veces sin aprender nada útil.</a:t>
            </a:r>
            <a:endParaRPr lang="en-US" sz="1400" dirty="0"/>
          </a:p>
        </p:txBody>
      </p:sp>
      <p:sp>
        <p:nvSpPr>
          <p:cNvPr id="8" name="Shape 5"/>
          <p:cNvSpPr/>
          <p:nvPr/>
        </p:nvSpPr>
        <p:spPr>
          <a:xfrm>
            <a:off x="6035040" y="4846320"/>
            <a:ext cx="5577840" cy="1051560"/>
          </a:xfrm>
          <a:prstGeom prst="roundRect">
            <a:avLst>
              <a:gd name="adj" fmla="val 6957"/>
            </a:avLst>
          </a:prstGeom>
          <a:solidFill>
            <a:srgbClr val="F4F7FC"/>
          </a:solidFill>
          <a:ln/>
        </p:spPr>
        <p:txBody>
          <a:bodyPr/>
          <a:lstStyle/>
          <a:p>
            <a:endParaRPr lang="es-CO"/>
          </a:p>
        </p:txBody>
      </p:sp>
      <p:sp>
        <p:nvSpPr>
          <p:cNvPr id="9" name="Text 6"/>
          <p:cNvSpPr/>
          <p:nvPr/>
        </p:nvSpPr>
        <p:spPr>
          <a:xfrm>
            <a:off x="6263640" y="4937760"/>
            <a:ext cx="5120640" cy="868680"/>
          </a:xfrm>
          <a:prstGeom prst="rect">
            <a:avLst/>
          </a:prstGeom>
          <a:noFill/>
          <a:ln/>
        </p:spPr>
        <p:txBody>
          <a:bodyPr wrap="square" lIns="0" tIns="0" rIns="0" bIns="0" rtlCol="0" anchor="ctr"/>
          <a:lstStyle/>
          <a:p>
            <a:pPr marL="0" indent="0">
              <a:lnSpc>
                <a:spcPct val="120000"/>
              </a:lnSpc>
              <a:buNone/>
            </a:pPr>
            <a:r>
              <a:rPr lang="en-US" sz="1250" b="1" dirty="0">
                <a:solidFill>
                  <a:srgbClr val="1E2761"/>
                </a:solidFill>
                <a:latin typeface="Calibri" pitchFamily="34" charset="0"/>
                <a:ea typeface="Calibri" pitchFamily="34" charset="-122"/>
                <a:cs typeface="Calibri" pitchFamily="34" charset="-120"/>
              </a:rPr>
              <a:t>Implicación: </a:t>
            </a:r>
            <a:r>
              <a:rPr lang="en-US" sz="1250" dirty="0">
                <a:solidFill>
                  <a:srgbClr val="5A5F73"/>
                </a:solidFill>
                <a:latin typeface="Calibri" pitchFamily="34" charset="0"/>
                <a:ea typeface="Calibri" pitchFamily="34" charset="-122"/>
                <a:cs typeface="Calibri" pitchFamily="34" charset="-120"/>
              </a:rPr>
              <a:t>la exactitud (accuracy) no sirve como métrica. Se debe evaluar con recall, F1 y AUC-PR sobre la clase minoritaria.</a:t>
            </a:r>
            <a:endParaRPr lang="en-US" sz="1250" dirty="0"/>
          </a:p>
        </p:txBody>
      </p:sp>
      <p:sp>
        <p:nvSpPr>
          <p:cNvPr id="10" name="Text 7"/>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11" name="Text 8"/>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INSIGHT 1 DE 5</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Tasa de mora según si el cliente ya tenía mora</a:t>
            </a:r>
            <a:endParaRPr lang="en-US" sz="3000" dirty="0"/>
          </a:p>
        </p:txBody>
      </p:sp>
      <p:graphicFrame>
        <p:nvGraphicFramePr>
          <p:cNvPr id="4" name="Chart 0"/>
          <p:cNvGraphicFramePr/>
          <p:nvPr/>
        </p:nvGraphicFramePr>
        <p:xfrm>
          <a:off x="548640" y="1920240"/>
          <a:ext cx="57607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858000" y="1965960"/>
            <a:ext cx="4754880" cy="1005840"/>
          </a:xfrm>
          <a:prstGeom prst="rect">
            <a:avLst/>
          </a:prstGeom>
          <a:noFill/>
          <a:ln/>
        </p:spPr>
        <p:txBody>
          <a:bodyPr wrap="square" lIns="0" tIns="0" rIns="0" bIns="0" rtlCol="0" anchor="ctr"/>
          <a:lstStyle/>
          <a:p>
            <a:pPr marL="0" indent="0">
              <a:buNone/>
            </a:pPr>
            <a:r>
              <a:rPr lang="en-US" sz="5400" b="1" dirty="0">
                <a:solidFill>
                  <a:srgbClr val="B33A3A"/>
                </a:solidFill>
                <a:latin typeface="Cambria" pitchFamily="34" charset="0"/>
                <a:ea typeface="Cambria" pitchFamily="34" charset="-122"/>
                <a:cs typeface="Cambria" pitchFamily="34" charset="-120"/>
              </a:rPr>
              <a:t>8x</a:t>
            </a:r>
            <a:endParaRPr lang="en-US" sz="5400" dirty="0"/>
          </a:p>
        </p:txBody>
      </p:sp>
      <p:sp>
        <p:nvSpPr>
          <p:cNvPr id="6" name="Text 3"/>
          <p:cNvSpPr/>
          <p:nvPr/>
        </p:nvSpPr>
        <p:spPr>
          <a:xfrm>
            <a:off x="6858000" y="2834640"/>
            <a:ext cx="4754880" cy="868680"/>
          </a:xfrm>
          <a:prstGeom prst="rect">
            <a:avLst/>
          </a:prstGeom>
          <a:noFill/>
          <a:ln/>
        </p:spPr>
        <p:txBody>
          <a:bodyPr wrap="square" lIns="0" tIns="0" rIns="0" bIns="0" rtlCol="0" anchor="ctr"/>
          <a:lstStyle/>
          <a:p>
            <a:pPr marL="0" indent="0">
              <a:lnSpc>
                <a:spcPct val="120000"/>
              </a:lnSpc>
              <a:buNone/>
            </a:pPr>
            <a:r>
              <a:rPr lang="en-US" sz="1350" dirty="0">
                <a:solidFill>
                  <a:srgbClr val="5A5F73"/>
                </a:solidFill>
                <a:latin typeface="Calibri" pitchFamily="34" charset="0"/>
                <a:ea typeface="Calibri" pitchFamily="34" charset="-122"/>
                <a:cs typeface="Calibri" pitchFamily="34" charset="-120"/>
              </a:rPr>
              <a:t>36,4% ÷ 4,6% ≈ 8 veces más riesgo de mora si el cliente ya registraba saldo en mora</a:t>
            </a:r>
            <a:endParaRPr lang="en-US" sz="1350" dirty="0"/>
          </a:p>
        </p:txBody>
      </p:sp>
      <p:sp>
        <p:nvSpPr>
          <p:cNvPr id="7" name="Shape 4"/>
          <p:cNvSpPr/>
          <p:nvPr/>
        </p:nvSpPr>
        <p:spPr>
          <a:xfrm>
            <a:off x="6858000" y="3749040"/>
            <a:ext cx="4754880" cy="1051560"/>
          </a:xfrm>
          <a:prstGeom prst="roundRect">
            <a:avLst>
              <a:gd name="adj" fmla="val 6957"/>
            </a:avLst>
          </a:prstGeom>
          <a:solidFill>
            <a:srgbClr val="FBEAEA"/>
          </a:solidFill>
          <a:ln/>
        </p:spPr>
        <p:txBody>
          <a:bodyPr/>
          <a:lstStyle/>
          <a:p>
            <a:endParaRPr lang="es-CO"/>
          </a:p>
        </p:txBody>
      </p:sp>
      <p:sp>
        <p:nvSpPr>
          <p:cNvPr id="8" name="Text 5"/>
          <p:cNvSpPr/>
          <p:nvPr/>
        </p:nvSpPr>
        <p:spPr>
          <a:xfrm>
            <a:off x="7086600" y="3858768"/>
            <a:ext cx="4297680" cy="868680"/>
          </a:xfrm>
          <a:prstGeom prst="rect">
            <a:avLst/>
          </a:prstGeom>
          <a:noFill/>
          <a:ln/>
        </p:spPr>
        <p:txBody>
          <a:bodyPr wrap="square" lIns="0" tIns="0" rIns="0" bIns="0" rtlCol="0" anchor="ctr"/>
          <a:lstStyle/>
          <a:p>
            <a:pPr marL="0" indent="0">
              <a:lnSpc>
                <a:spcPct val="120000"/>
              </a:lnSpc>
              <a:buNone/>
            </a:pPr>
            <a:r>
              <a:rPr lang="en-US" sz="1150" b="1" dirty="0">
                <a:solidFill>
                  <a:srgbClr val="B33A3A"/>
                </a:solidFill>
                <a:latin typeface="Calibri" pitchFamily="34" charset="0"/>
                <a:ea typeface="Calibri" pitchFamily="34" charset="-122"/>
                <a:cs typeface="Calibri" pitchFamily="34" charset="-120"/>
              </a:rPr>
              <a:t>Cómo leer el gráfico: </a:t>
            </a:r>
            <a:r>
              <a:rPr lang="en-US" sz="1150" dirty="0">
                <a:solidFill>
                  <a:srgbClr val="5A5F73"/>
                </a:solidFill>
                <a:latin typeface="Calibri" pitchFamily="34" charset="0"/>
                <a:ea typeface="Calibri" pitchFamily="34" charset="-122"/>
                <a:cs typeface="Calibri" pitchFamily="34" charset="-120"/>
              </a:rPr>
              <a:t>cada barra es una tasa calculada dentro de su propio grupo, no una porción de un total. Por eso no suman 100%.</a:t>
            </a:r>
            <a:endParaRPr lang="en-US" sz="1150" dirty="0"/>
          </a:p>
        </p:txBody>
      </p:sp>
      <p:sp>
        <p:nvSpPr>
          <p:cNvPr id="9" name="Shape 6"/>
          <p:cNvSpPr/>
          <p:nvPr/>
        </p:nvSpPr>
        <p:spPr>
          <a:xfrm>
            <a:off x="6858000" y="4892040"/>
            <a:ext cx="4754880" cy="914400"/>
          </a:xfrm>
          <a:prstGeom prst="roundRect">
            <a:avLst>
              <a:gd name="adj" fmla="val 8000"/>
            </a:avLst>
          </a:prstGeom>
          <a:solidFill>
            <a:srgbClr val="F4F7FC"/>
          </a:solidFill>
          <a:ln/>
        </p:spPr>
        <p:txBody>
          <a:bodyPr/>
          <a:lstStyle/>
          <a:p>
            <a:endParaRPr lang="es-CO"/>
          </a:p>
        </p:txBody>
      </p:sp>
      <p:sp>
        <p:nvSpPr>
          <p:cNvPr id="10" name="Text 7"/>
          <p:cNvSpPr/>
          <p:nvPr/>
        </p:nvSpPr>
        <p:spPr>
          <a:xfrm>
            <a:off x="7086600" y="4983480"/>
            <a:ext cx="4297680" cy="777240"/>
          </a:xfrm>
          <a:prstGeom prst="rect">
            <a:avLst/>
          </a:prstGeom>
          <a:noFill/>
          <a:ln/>
        </p:spPr>
        <p:txBody>
          <a:bodyPr wrap="square" lIns="0" tIns="0" rIns="0" bIns="0" rtlCol="0" anchor="ctr"/>
          <a:lstStyle/>
          <a:p>
            <a:pPr marL="0" indent="0">
              <a:lnSpc>
                <a:spcPct val="120000"/>
              </a:lnSpc>
              <a:buNone/>
            </a:pPr>
            <a:r>
              <a:rPr lang="en-US" sz="1150" b="1" dirty="0">
                <a:solidFill>
                  <a:srgbClr val="1E2761"/>
                </a:solidFill>
                <a:latin typeface="Calibri" pitchFamily="34" charset="0"/>
                <a:ea typeface="Calibri" pitchFamily="34" charset="-122"/>
                <a:cs typeface="Calibri" pitchFamily="34" charset="-120"/>
              </a:rPr>
              <a:t>Base: </a:t>
            </a:r>
            <a:r>
              <a:rPr lang="en-US" sz="1150" dirty="0">
                <a:solidFill>
                  <a:srgbClr val="5A5F73"/>
                </a:solidFill>
                <a:latin typeface="Calibri" pitchFamily="34" charset="0"/>
                <a:ea typeface="Calibri" pitchFamily="34" charset="-122"/>
                <a:cs typeface="Calibri" pitchFamily="34" charset="-120"/>
              </a:rPr>
              <a:t>55 registros con mora previa. Es una alerta temprana de alto valor, no una conclusión estadística definitiva.</a:t>
            </a:r>
            <a:endParaRPr lang="en-US" sz="1150" dirty="0"/>
          </a:p>
        </p:txBody>
      </p:sp>
      <p:sp>
        <p:nvSpPr>
          <p:cNvPr id="11" name="Text 8"/>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12" name="Text 9"/>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INSIGHT 2 DE 5</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Tasa de mora según el tipo de crédito</a:t>
            </a:r>
            <a:endParaRPr lang="en-US" sz="3000" dirty="0"/>
          </a:p>
        </p:txBody>
      </p:sp>
      <p:graphicFrame>
        <p:nvGraphicFramePr>
          <p:cNvPr id="4" name="Chart 0"/>
          <p:cNvGraphicFramePr/>
          <p:nvPr/>
        </p:nvGraphicFramePr>
        <p:xfrm>
          <a:off x="548640" y="1965960"/>
          <a:ext cx="74066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8229600" y="2148840"/>
            <a:ext cx="3383280" cy="777240"/>
          </a:xfrm>
          <a:prstGeom prst="rect">
            <a:avLst/>
          </a:prstGeom>
          <a:noFill/>
          <a:ln/>
        </p:spPr>
        <p:txBody>
          <a:bodyPr wrap="square" lIns="0" tIns="0" rIns="0" bIns="0" rtlCol="0" anchor="ctr"/>
          <a:lstStyle/>
          <a:p>
            <a:pPr marL="0" indent="0">
              <a:buNone/>
            </a:pPr>
            <a:r>
              <a:rPr lang="en-US" sz="3600" b="1" dirty="0">
                <a:solidFill>
                  <a:srgbClr val="B33A3A"/>
                </a:solidFill>
                <a:latin typeface="Cambria" pitchFamily="34" charset="0"/>
                <a:ea typeface="Cambria" pitchFamily="34" charset="-122"/>
                <a:cs typeface="Cambria" pitchFamily="34" charset="-120"/>
              </a:rPr>
              <a:t>42.9%</a:t>
            </a:r>
            <a:endParaRPr lang="en-US" sz="3600" dirty="0"/>
          </a:p>
        </p:txBody>
      </p:sp>
      <p:sp>
        <p:nvSpPr>
          <p:cNvPr id="6" name="Text 3"/>
          <p:cNvSpPr/>
          <p:nvPr/>
        </p:nvSpPr>
        <p:spPr>
          <a:xfrm>
            <a:off x="8229600" y="2926080"/>
            <a:ext cx="3383280" cy="1097280"/>
          </a:xfrm>
          <a:prstGeom prst="rect">
            <a:avLst/>
          </a:prstGeom>
          <a:noFill/>
          <a:ln/>
        </p:spPr>
        <p:txBody>
          <a:bodyPr wrap="square" lIns="0" tIns="0" rIns="0" bIns="0" rtlCol="0" anchor="ctr"/>
          <a:lstStyle/>
          <a:p>
            <a:pPr marL="0" indent="0">
              <a:lnSpc>
                <a:spcPct val="120000"/>
              </a:lnSpc>
              <a:buNone/>
            </a:pPr>
            <a:r>
              <a:rPr lang="en-US" sz="1250" dirty="0">
                <a:solidFill>
                  <a:srgbClr val="5A5F73"/>
                </a:solidFill>
                <a:latin typeface="Calibri" pitchFamily="34" charset="0"/>
                <a:ea typeface="Calibri" pitchFamily="34" charset="-122"/>
                <a:cs typeface="Calibri" pitchFamily="34" charset="-120"/>
              </a:rPr>
              <a:t>De los 21 créditos del tipo 6, nueve cayeron en mora. El promedio de toda la cartera es 4,75%.</a:t>
            </a:r>
            <a:endParaRPr lang="en-US" sz="1250" dirty="0"/>
          </a:p>
        </p:txBody>
      </p:sp>
      <p:sp>
        <p:nvSpPr>
          <p:cNvPr id="7" name="Shape 4"/>
          <p:cNvSpPr/>
          <p:nvPr/>
        </p:nvSpPr>
        <p:spPr>
          <a:xfrm>
            <a:off x="8229600" y="4160520"/>
            <a:ext cx="3383280" cy="1737360"/>
          </a:xfrm>
          <a:prstGeom prst="roundRect">
            <a:avLst>
              <a:gd name="adj" fmla="val 4211"/>
            </a:avLst>
          </a:prstGeom>
          <a:solidFill>
            <a:srgbClr val="F4F7FC"/>
          </a:solidFill>
          <a:ln/>
        </p:spPr>
        <p:txBody>
          <a:bodyPr/>
          <a:lstStyle/>
          <a:p>
            <a:endParaRPr lang="es-CO"/>
          </a:p>
        </p:txBody>
      </p:sp>
      <p:sp>
        <p:nvSpPr>
          <p:cNvPr id="8" name="Text 5"/>
          <p:cNvSpPr/>
          <p:nvPr/>
        </p:nvSpPr>
        <p:spPr>
          <a:xfrm>
            <a:off x="8458200" y="4297680"/>
            <a:ext cx="2926080" cy="1463040"/>
          </a:xfrm>
          <a:prstGeom prst="rect">
            <a:avLst/>
          </a:prstGeom>
          <a:noFill/>
          <a:ln/>
        </p:spPr>
        <p:txBody>
          <a:bodyPr wrap="square" lIns="0" tIns="0" rIns="0" bIns="0" rtlCol="0" anchor="t"/>
          <a:lstStyle/>
          <a:p>
            <a:pPr marL="0" indent="0">
              <a:lnSpc>
                <a:spcPct val="120000"/>
              </a:lnSpc>
              <a:buNone/>
            </a:pPr>
            <a:r>
              <a:rPr lang="en-US" sz="1200" dirty="0">
                <a:solidFill>
                  <a:srgbClr val="5A5F73"/>
                </a:solidFill>
                <a:latin typeface="Calibri" pitchFamily="34" charset="0"/>
                <a:ea typeface="Calibri" pitchFamily="34" charset="-122"/>
                <a:cs typeface="Calibri" pitchFamily="34" charset="-120"/>
              </a:rPr>
              <a:t>Cada barra es una tasa dentro de su propio grupo, no una porción del total; por eso no suman 100%. Con 21 registros, el tipo 6 es una alerta a priorizar, no una conclusión definitiva.</a:t>
            </a:r>
            <a:endParaRPr lang="en-US" sz="1200" dirty="0"/>
          </a:p>
        </p:txBody>
      </p:sp>
      <p:sp>
        <p:nvSpPr>
          <p:cNvPr id="9" name="Text 6"/>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10" name="Text 7"/>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INSIGHT 3 DE 5</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Correlación de cada variable con la mora</a:t>
            </a:r>
            <a:endParaRPr lang="en-US" sz="3000" dirty="0"/>
          </a:p>
        </p:txBody>
      </p:sp>
      <p:graphicFrame>
        <p:nvGraphicFramePr>
          <p:cNvPr id="4" name="Chart 0"/>
          <p:cNvGraphicFramePr/>
          <p:nvPr/>
        </p:nvGraphicFramePr>
        <p:xfrm>
          <a:off x="548640" y="1874520"/>
          <a:ext cx="777240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503920" y="1938528"/>
            <a:ext cx="201168" cy="201168"/>
          </a:xfrm>
          <a:prstGeom prst="rect">
            <a:avLst/>
          </a:prstGeom>
          <a:solidFill>
            <a:srgbClr val="B33A3A"/>
          </a:solidFill>
          <a:ln/>
        </p:spPr>
        <p:txBody>
          <a:bodyPr/>
          <a:lstStyle/>
          <a:p>
            <a:endParaRPr lang="es-CO"/>
          </a:p>
        </p:txBody>
      </p:sp>
      <p:sp>
        <p:nvSpPr>
          <p:cNvPr id="6" name="Text 3"/>
          <p:cNvSpPr/>
          <p:nvPr/>
        </p:nvSpPr>
        <p:spPr>
          <a:xfrm>
            <a:off x="8796528" y="1874520"/>
            <a:ext cx="2834640" cy="320040"/>
          </a:xfrm>
          <a:prstGeom prst="rect">
            <a:avLst/>
          </a:prstGeom>
          <a:noFill/>
          <a:ln/>
        </p:spPr>
        <p:txBody>
          <a:bodyPr wrap="square" lIns="0" tIns="0" rIns="0" bIns="0" rtlCol="0" anchor="ctr"/>
          <a:lstStyle/>
          <a:p>
            <a:pPr marL="0" indent="0">
              <a:buNone/>
            </a:pPr>
            <a:r>
              <a:rPr lang="en-US" sz="1050" dirty="0">
                <a:solidFill>
                  <a:srgbClr val="5A5F73"/>
                </a:solidFill>
                <a:latin typeface="Calibri" pitchFamily="34" charset="0"/>
                <a:ea typeface="Calibri" pitchFamily="34" charset="-122"/>
                <a:cs typeface="Calibri" pitchFamily="34" charset="-120"/>
              </a:rPr>
              <a:t>Variable depurada o derivada</a:t>
            </a:r>
            <a:endParaRPr lang="en-US" sz="1050" dirty="0"/>
          </a:p>
        </p:txBody>
      </p:sp>
      <p:sp>
        <p:nvSpPr>
          <p:cNvPr id="7" name="Shape 4"/>
          <p:cNvSpPr/>
          <p:nvPr/>
        </p:nvSpPr>
        <p:spPr>
          <a:xfrm>
            <a:off x="8503920" y="2286000"/>
            <a:ext cx="201168" cy="201168"/>
          </a:xfrm>
          <a:prstGeom prst="rect">
            <a:avLst/>
          </a:prstGeom>
          <a:solidFill>
            <a:srgbClr val="1E2761"/>
          </a:solidFill>
          <a:ln/>
        </p:spPr>
        <p:txBody>
          <a:bodyPr/>
          <a:lstStyle/>
          <a:p>
            <a:endParaRPr lang="es-CO"/>
          </a:p>
        </p:txBody>
      </p:sp>
      <p:sp>
        <p:nvSpPr>
          <p:cNvPr id="8" name="Text 5"/>
          <p:cNvSpPr/>
          <p:nvPr/>
        </p:nvSpPr>
        <p:spPr>
          <a:xfrm>
            <a:off x="8796528" y="2221992"/>
            <a:ext cx="2834640" cy="320040"/>
          </a:xfrm>
          <a:prstGeom prst="rect">
            <a:avLst/>
          </a:prstGeom>
          <a:noFill/>
          <a:ln/>
        </p:spPr>
        <p:txBody>
          <a:bodyPr wrap="square" lIns="0" tIns="0" rIns="0" bIns="0" rtlCol="0" anchor="ctr"/>
          <a:lstStyle/>
          <a:p>
            <a:pPr marL="0" indent="0">
              <a:buNone/>
            </a:pPr>
            <a:r>
              <a:rPr lang="en-US" sz="1050" dirty="0">
                <a:solidFill>
                  <a:srgbClr val="5A5F73"/>
                </a:solidFill>
                <a:latin typeface="Calibri" pitchFamily="34" charset="0"/>
                <a:ea typeface="Calibri" pitchFamily="34" charset="-122"/>
                <a:cs typeface="Calibri" pitchFamily="34" charset="-120"/>
              </a:rPr>
              <a:t>Variable original del dataset</a:t>
            </a:r>
            <a:endParaRPr lang="en-US" sz="1050" dirty="0"/>
          </a:p>
        </p:txBody>
      </p:sp>
      <p:sp>
        <p:nvSpPr>
          <p:cNvPr id="9" name="Shape 6"/>
          <p:cNvSpPr/>
          <p:nvPr/>
        </p:nvSpPr>
        <p:spPr>
          <a:xfrm>
            <a:off x="8503920" y="2788920"/>
            <a:ext cx="3108960" cy="1508760"/>
          </a:xfrm>
          <a:prstGeom prst="roundRect">
            <a:avLst>
              <a:gd name="adj" fmla="val 4242"/>
            </a:avLst>
          </a:prstGeom>
          <a:solidFill>
            <a:srgbClr val="F4F7FC"/>
          </a:solidFill>
          <a:ln/>
        </p:spPr>
        <p:txBody>
          <a:bodyPr/>
          <a:lstStyle/>
          <a:p>
            <a:endParaRPr lang="es-CO"/>
          </a:p>
        </p:txBody>
      </p:sp>
      <p:sp>
        <p:nvSpPr>
          <p:cNvPr id="10" name="Text 7"/>
          <p:cNvSpPr/>
          <p:nvPr/>
        </p:nvSpPr>
        <p:spPr>
          <a:xfrm>
            <a:off x="8732520" y="2926080"/>
            <a:ext cx="2697480" cy="1234440"/>
          </a:xfrm>
          <a:prstGeom prst="rect">
            <a:avLst/>
          </a:prstGeom>
          <a:noFill/>
          <a:ln/>
        </p:spPr>
        <p:txBody>
          <a:bodyPr wrap="square" lIns="0" tIns="0" rIns="0" bIns="0" rtlCol="0" anchor="t"/>
          <a:lstStyle/>
          <a:p>
            <a:pPr marL="0" indent="0">
              <a:lnSpc>
                <a:spcPct val="125000"/>
              </a:lnSpc>
              <a:buNone/>
            </a:pPr>
            <a:r>
              <a:rPr lang="en-US" sz="1200" b="1" dirty="0">
                <a:solidFill>
                  <a:srgbClr val="1E2761"/>
                </a:solidFill>
                <a:latin typeface="Calibri" pitchFamily="34" charset="0"/>
                <a:ea typeface="Calibri" pitchFamily="34" charset="-122"/>
                <a:cs typeface="Calibri" pitchFamily="34" charset="-120"/>
              </a:rPr>
              <a:t>Efecto de depurar el score
</a:t>
            </a:r>
            <a:endParaRPr lang="en-US" sz="1200" dirty="0"/>
          </a:p>
          <a:p>
            <a:pPr marL="0" indent="0">
              <a:lnSpc>
                <a:spcPct val="125000"/>
              </a:lnSpc>
              <a:buNone/>
            </a:pPr>
            <a:r>
              <a:rPr lang="en-US" sz="1150" dirty="0">
                <a:solidFill>
                  <a:srgbClr val="5A5F73"/>
                </a:solidFill>
                <a:latin typeface="Calibri" pitchFamily="34" charset="0"/>
                <a:ea typeface="Calibri" pitchFamily="34" charset="-122"/>
                <a:cs typeface="Calibri" pitchFamily="34" charset="-120"/>
              </a:rPr>
              <a:t>Antes: 0,068
Después: 0,121
</a:t>
            </a:r>
            <a:endParaRPr lang="en-US" sz="1200" dirty="0"/>
          </a:p>
          <a:p>
            <a:pPr marL="0" indent="0">
              <a:lnSpc>
                <a:spcPct val="125000"/>
              </a:lnSpc>
              <a:buNone/>
            </a:pPr>
            <a:r>
              <a:rPr lang="en-US" sz="1050" b="1" dirty="0">
                <a:solidFill>
                  <a:srgbClr val="B33A3A"/>
                </a:solidFill>
                <a:latin typeface="Calibri" pitchFamily="34" charset="0"/>
                <a:ea typeface="Calibri" pitchFamily="34" charset="-122"/>
                <a:cs typeface="Calibri" pitchFamily="34" charset="-120"/>
              </a:rPr>
              <a:t>(0,121 − 0,068) ÷ 0,068 = +78%</a:t>
            </a:r>
            <a:endParaRPr lang="en-US" sz="1200" dirty="0"/>
          </a:p>
        </p:txBody>
      </p:sp>
      <p:sp>
        <p:nvSpPr>
          <p:cNvPr id="11" name="Text 8"/>
          <p:cNvSpPr/>
          <p:nvPr/>
        </p:nvSpPr>
        <p:spPr>
          <a:xfrm>
            <a:off x="8503920" y="4480560"/>
            <a:ext cx="3108960" cy="1280160"/>
          </a:xfrm>
          <a:prstGeom prst="rect">
            <a:avLst/>
          </a:prstGeom>
          <a:noFill/>
          <a:ln/>
        </p:spPr>
        <p:txBody>
          <a:bodyPr wrap="square" lIns="0" tIns="0" rIns="0" bIns="0" rtlCol="0" anchor="ctr"/>
          <a:lstStyle/>
          <a:p>
            <a:pPr marL="0" indent="0">
              <a:lnSpc>
                <a:spcPct val="125000"/>
              </a:lnSpc>
              <a:buNone/>
            </a:pPr>
            <a:r>
              <a:rPr lang="en-US" sz="1150" dirty="0">
                <a:solidFill>
                  <a:srgbClr val="5A5F73"/>
                </a:solidFill>
                <a:latin typeface="Calibri" pitchFamily="34" charset="0"/>
                <a:ea typeface="Calibri" pitchFamily="34" charset="-122"/>
                <a:cs typeface="Calibri" pitchFamily="34" charset="-120"/>
              </a:rPr>
              <a:t>Ninguna variable supera 0,13: no hay relación lineal fuerte. Pero la correlación subestima el poder predictivo con un target al 4,75%. Por tramos, el score va de 64% a 2,9% de mora.</a:t>
            </a:r>
            <a:endParaRPr lang="en-US" sz="1150" dirty="0"/>
          </a:p>
        </p:txBody>
      </p:sp>
      <p:sp>
        <p:nvSpPr>
          <p:cNvPr id="12" name="Text 9"/>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13" name="Text 10"/>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INSIGHT 4 DE 5</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Atributos derivados: propuestas de alto valor</a:t>
            </a:r>
            <a:endParaRPr lang="en-US" sz="3000" dirty="0"/>
          </a:p>
        </p:txBody>
      </p:sp>
      <p:sp>
        <p:nvSpPr>
          <p:cNvPr id="4" name="Text 2"/>
          <p:cNvSpPr/>
          <p:nvPr/>
        </p:nvSpPr>
        <p:spPr>
          <a:xfrm>
            <a:off x="548640" y="1920240"/>
            <a:ext cx="2926080" cy="320040"/>
          </a:xfrm>
          <a:prstGeom prst="rect">
            <a:avLst/>
          </a:prstGeom>
          <a:noFill/>
          <a:ln/>
        </p:spPr>
        <p:txBody>
          <a:bodyPr wrap="square" lIns="0" tIns="0" rIns="0" bIns="0" rtlCol="0" anchor="ctr"/>
          <a:lstStyle/>
          <a:p>
            <a:pPr marL="0" indent="0">
              <a:buNone/>
            </a:pPr>
            <a:r>
              <a:rPr lang="en-US" sz="1100" b="1" dirty="0">
                <a:solidFill>
                  <a:srgbClr val="5A5F73"/>
                </a:solidFill>
                <a:latin typeface="Calibri" pitchFamily="34" charset="0"/>
                <a:ea typeface="Calibri" pitchFamily="34" charset="-122"/>
                <a:cs typeface="Calibri" pitchFamily="34" charset="-120"/>
              </a:rPr>
              <a:t>Variable</a:t>
            </a:r>
            <a:endParaRPr lang="en-US" sz="1100" dirty="0"/>
          </a:p>
        </p:txBody>
      </p:sp>
      <p:sp>
        <p:nvSpPr>
          <p:cNvPr id="5" name="Text 3"/>
          <p:cNvSpPr/>
          <p:nvPr/>
        </p:nvSpPr>
        <p:spPr>
          <a:xfrm>
            <a:off x="3474720" y="1920240"/>
            <a:ext cx="1645920" cy="320040"/>
          </a:xfrm>
          <a:prstGeom prst="rect">
            <a:avLst/>
          </a:prstGeom>
          <a:noFill/>
          <a:ln/>
        </p:spPr>
        <p:txBody>
          <a:bodyPr wrap="square" lIns="0" tIns="0" rIns="0" bIns="0" rtlCol="0" anchor="ctr"/>
          <a:lstStyle/>
          <a:p>
            <a:pPr marL="0" indent="0">
              <a:buNone/>
            </a:pPr>
            <a:r>
              <a:rPr lang="en-US" sz="1100" b="1" dirty="0">
                <a:solidFill>
                  <a:srgbClr val="5A5F73"/>
                </a:solidFill>
                <a:latin typeface="Calibri" pitchFamily="34" charset="0"/>
                <a:ea typeface="Calibri" pitchFamily="34" charset="-122"/>
                <a:cs typeface="Calibri" pitchFamily="34" charset="-120"/>
              </a:rPr>
              <a:t>Origen</a:t>
            </a:r>
            <a:endParaRPr lang="en-US" sz="1100" dirty="0"/>
          </a:p>
        </p:txBody>
      </p:sp>
      <p:sp>
        <p:nvSpPr>
          <p:cNvPr id="6" name="Text 4"/>
          <p:cNvSpPr/>
          <p:nvPr/>
        </p:nvSpPr>
        <p:spPr>
          <a:xfrm>
            <a:off x="5120640" y="1920240"/>
            <a:ext cx="2103120" cy="320040"/>
          </a:xfrm>
          <a:prstGeom prst="rect">
            <a:avLst/>
          </a:prstGeom>
          <a:noFill/>
          <a:ln/>
        </p:spPr>
        <p:txBody>
          <a:bodyPr wrap="square" lIns="0" tIns="0" rIns="0" bIns="0" rtlCol="0" anchor="ctr"/>
          <a:lstStyle/>
          <a:p>
            <a:pPr marL="0" indent="0">
              <a:buNone/>
            </a:pPr>
            <a:r>
              <a:rPr lang="en-US" sz="1100" b="1" dirty="0">
                <a:solidFill>
                  <a:srgbClr val="5A5F73"/>
                </a:solidFill>
                <a:latin typeface="Calibri" pitchFamily="34" charset="0"/>
                <a:ea typeface="Calibri" pitchFamily="34" charset="-122"/>
                <a:cs typeface="Calibri" pitchFamily="34" charset="-120"/>
              </a:rPr>
              <a:t>Correlación</a:t>
            </a:r>
            <a:endParaRPr lang="en-US" sz="1100" dirty="0"/>
          </a:p>
        </p:txBody>
      </p:sp>
      <p:sp>
        <p:nvSpPr>
          <p:cNvPr id="7" name="Shape 5"/>
          <p:cNvSpPr/>
          <p:nvPr/>
        </p:nvSpPr>
        <p:spPr>
          <a:xfrm>
            <a:off x="548640" y="2331720"/>
            <a:ext cx="6675120" cy="731520"/>
          </a:xfrm>
          <a:prstGeom prst="roundRect">
            <a:avLst>
              <a:gd name="adj" fmla="val 7500"/>
            </a:avLst>
          </a:prstGeom>
          <a:solidFill>
            <a:srgbClr val="FBEAEA"/>
          </a:solidFill>
          <a:ln/>
        </p:spPr>
        <p:txBody>
          <a:bodyPr/>
          <a:lstStyle/>
          <a:p>
            <a:endParaRPr lang="es-CO"/>
          </a:p>
        </p:txBody>
      </p:sp>
      <p:sp>
        <p:nvSpPr>
          <p:cNvPr id="8" name="Text 6"/>
          <p:cNvSpPr/>
          <p:nvPr/>
        </p:nvSpPr>
        <p:spPr>
          <a:xfrm>
            <a:off x="777240" y="2331720"/>
            <a:ext cx="2651760" cy="7315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tiene_mora_previa</a:t>
            </a:r>
            <a:endParaRPr lang="en-US" sz="1400" dirty="0"/>
          </a:p>
        </p:txBody>
      </p:sp>
      <p:sp>
        <p:nvSpPr>
          <p:cNvPr id="9" name="Text 7"/>
          <p:cNvSpPr/>
          <p:nvPr/>
        </p:nvSpPr>
        <p:spPr>
          <a:xfrm>
            <a:off x="3474720" y="2331720"/>
            <a:ext cx="1645920" cy="731520"/>
          </a:xfrm>
          <a:prstGeom prst="rect">
            <a:avLst/>
          </a:prstGeom>
          <a:noFill/>
          <a:ln/>
        </p:spPr>
        <p:txBody>
          <a:bodyPr wrap="square" lIns="0" tIns="0" rIns="0" bIns="0" rtlCol="0" anchor="ctr"/>
          <a:lstStyle/>
          <a:p>
            <a:pPr marL="0" indent="0">
              <a:buNone/>
            </a:pPr>
            <a:r>
              <a:rPr lang="en-US" sz="1300" b="1" dirty="0">
                <a:solidFill>
                  <a:srgbClr val="B33A3A"/>
                </a:solidFill>
                <a:latin typeface="Calibri" pitchFamily="34" charset="0"/>
                <a:ea typeface="Calibri" pitchFamily="34" charset="-122"/>
                <a:cs typeface="Calibri" pitchFamily="34" charset="-120"/>
              </a:rPr>
              <a:t>Derivada</a:t>
            </a:r>
            <a:endParaRPr lang="en-US" sz="1300" dirty="0"/>
          </a:p>
        </p:txBody>
      </p:sp>
      <p:sp>
        <p:nvSpPr>
          <p:cNvPr id="10" name="Text 8"/>
          <p:cNvSpPr/>
          <p:nvPr/>
        </p:nvSpPr>
        <p:spPr>
          <a:xfrm>
            <a:off x="5120640" y="2331720"/>
            <a:ext cx="1920240" cy="73152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0.107</a:t>
            </a:r>
            <a:endParaRPr lang="en-US" sz="1500" dirty="0"/>
          </a:p>
        </p:txBody>
      </p:sp>
      <p:sp>
        <p:nvSpPr>
          <p:cNvPr id="11" name="Shape 9"/>
          <p:cNvSpPr/>
          <p:nvPr/>
        </p:nvSpPr>
        <p:spPr>
          <a:xfrm>
            <a:off x="548640" y="3200400"/>
            <a:ext cx="6675120" cy="731520"/>
          </a:xfrm>
          <a:prstGeom prst="roundRect">
            <a:avLst>
              <a:gd name="adj" fmla="val 7500"/>
            </a:avLst>
          </a:prstGeom>
          <a:solidFill>
            <a:srgbClr val="FBEAEA"/>
          </a:solidFill>
          <a:ln/>
        </p:spPr>
        <p:txBody>
          <a:bodyPr/>
          <a:lstStyle/>
          <a:p>
            <a:endParaRPr lang="es-CO"/>
          </a:p>
        </p:txBody>
      </p:sp>
      <p:sp>
        <p:nvSpPr>
          <p:cNvPr id="12" name="Text 10"/>
          <p:cNvSpPr/>
          <p:nvPr/>
        </p:nvSpPr>
        <p:spPr>
          <a:xfrm>
            <a:off x="777240" y="3200400"/>
            <a:ext cx="2651760" cy="7315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consultas_por_credito</a:t>
            </a:r>
            <a:endParaRPr lang="en-US" sz="1400" dirty="0"/>
          </a:p>
        </p:txBody>
      </p:sp>
      <p:sp>
        <p:nvSpPr>
          <p:cNvPr id="13" name="Text 11"/>
          <p:cNvSpPr/>
          <p:nvPr/>
        </p:nvSpPr>
        <p:spPr>
          <a:xfrm>
            <a:off x="3474720" y="3200400"/>
            <a:ext cx="1645920" cy="731520"/>
          </a:xfrm>
          <a:prstGeom prst="rect">
            <a:avLst/>
          </a:prstGeom>
          <a:noFill/>
          <a:ln/>
        </p:spPr>
        <p:txBody>
          <a:bodyPr wrap="square" lIns="0" tIns="0" rIns="0" bIns="0" rtlCol="0" anchor="ctr"/>
          <a:lstStyle/>
          <a:p>
            <a:pPr marL="0" indent="0">
              <a:buNone/>
            </a:pPr>
            <a:r>
              <a:rPr lang="en-US" sz="1300" b="1" dirty="0">
                <a:solidFill>
                  <a:srgbClr val="B33A3A"/>
                </a:solidFill>
                <a:latin typeface="Calibri" pitchFamily="34" charset="0"/>
                <a:ea typeface="Calibri" pitchFamily="34" charset="-122"/>
                <a:cs typeface="Calibri" pitchFamily="34" charset="-120"/>
              </a:rPr>
              <a:t>Derivada</a:t>
            </a:r>
            <a:endParaRPr lang="en-US" sz="1300" dirty="0"/>
          </a:p>
        </p:txBody>
      </p:sp>
      <p:sp>
        <p:nvSpPr>
          <p:cNvPr id="14" name="Text 12"/>
          <p:cNvSpPr/>
          <p:nvPr/>
        </p:nvSpPr>
        <p:spPr>
          <a:xfrm>
            <a:off x="5120640" y="3200400"/>
            <a:ext cx="1920240" cy="73152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0.077</a:t>
            </a:r>
            <a:endParaRPr lang="en-US" sz="1500" dirty="0"/>
          </a:p>
        </p:txBody>
      </p:sp>
      <p:sp>
        <p:nvSpPr>
          <p:cNvPr id="15" name="Shape 13"/>
          <p:cNvSpPr/>
          <p:nvPr/>
        </p:nvSpPr>
        <p:spPr>
          <a:xfrm>
            <a:off x="548640" y="4069080"/>
            <a:ext cx="6675120" cy="731520"/>
          </a:xfrm>
          <a:prstGeom prst="roundRect">
            <a:avLst>
              <a:gd name="adj" fmla="val 7500"/>
            </a:avLst>
          </a:prstGeom>
          <a:solidFill>
            <a:srgbClr val="F4F7FC"/>
          </a:solidFill>
          <a:ln/>
        </p:spPr>
        <p:txBody>
          <a:bodyPr/>
          <a:lstStyle/>
          <a:p>
            <a:endParaRPr lang="es-CO"/>
          </a:p>
        </p:txBody>
      </p:sp>
      <p:sp>
        <p:nvSpPr>
          <p:cNvPr id="16" name="Text 14"/>
          <p:cNvSpPr/>
          <p:nvPr/>
        </p:nvSpPr>
        <p:spPr>
          <a:xfrm>
            <a:off x="777240" y="4069080"/>
            <a:ext cx="2651760" cy="7315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huella_consulta</a:t>
            </a:r>
            <a:endParaRPr lang="en-US" sz="1400" dirty="0"/>
          </a:p>
        </p:txBody>
      </p:sp>
      <p:sp>
        <p:nvSpPr>
          <p:cNvPr id="17" name="Text 15"/>
          <p:cNvSpPr/>
          <p:nvPr/>
        </p:nvSpPr>
        <p:spPr>
          <a:xfrm>
            <a:off x="3474720" y="4069080"/>
            <a:ext cx="1645920" cy="731520"/>
          </a:xfrm>
          <a:prstGeom prst="rect">
            <a:avLst/>
          </a:prstGeom>
          <a:noFill/>
          <a:ln/>
        </p:spPr>
        <p:txBody>
          <a:bodyPr wrap="square" lIns="0" tIns="0" rIns="0" bIns="0" rtlCol="0" anchor="ctr"/>
          <a:lstStyle/>
          <a:p>
            <a:pPr marL="0" indent="0">
              <a:buNone/>
            </a:pPr>
            <a:r>
              <a:rPr lang="en-US" sz="1300" dirty="0">
                <a:solidFill>
                  <a:srgbClr val="5A5F73"/>
                </a:solidFill>
                <a:latin typeface="Calibri" pitchFamily="34" charset="0"/>
                <a:ea typeface="Calibri" pitchFamily="34" charset="-122"/>
                <a:cs typeface="Calibri" pitchFamily="34" charset="-120"/>
              </a:rPr>
              <a:t>Original</a:t>
            </a:r>
            <a:endParaRPr lang="en-US" sz="1300" dirty="0"/>
          </a:p>
        </p:txBody>
      </p:sp>
      <p:sp>
        <p:nvSpPr>
          <p:cNvPr id="18" name="Text 16"/>
          <p:cNvSpPr/>
          <p:nvPr/>
        </p:nvSpPr>
        <p:spPr>
          <a:xfrm>
            <a:off x="5120640" y="4069080"/>
            <a:ext cx="1920240" cy="73152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0.074</a:t>
            </a:r>
            <a:endParaRPr lang="en-US" sz="1500" dirty="0"/>
          </a:p>
        </p:txBody>
      </p:sp>
      <p:sp>
        <p:nvSpPr>
          <p:cNvPr id="19" name="Shape 17"/>
          <p:cNvSpPr/>
          <p:nvPr/>
        </p:nvSpPr>
        <p:spPr>
          <a:xfrm>
            <a:off x="548640" y="4937760"/>
            <a:ext cx="6675120" cy="731520"/>
          </a:xfrm>
          <a:prstGeom prst="roundRect">
            <a:avLst>
              <a:gd name="adj" fmla="val 7500"/>
            </a:avLst>
          </a:prstGeom>
          <a:solidFill>
            <a:srgbClr val="F4F7FC"/>
          </a:solidFill>
          <a:ln/>
        </p:spPr>
        <p:txBody>
          <a:bodyPr/>
          <a:lstStyle/>
          <a:p>
            <a:endParaRPr lang="es-CO"/>
          </a:p>
        </p:txBody>
      </p:sp>
      <p:sp>
        <p:nvSpPr>
          <p:cNvPr id="20" name="Text 18"/>
          <p:cNvSpPr/>
          <p:nvPr/>
        </p:nvSpPr>
        <p:spPr>
          <a:xfrm>
            <a:off x="777240" y="4937760"/>
            <a:ext cx="2651760" cy="7315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saldo_mora</a:t>
            </a:r>
            <a:endParaRPr lang="en-US" sz="1400" dirty="0"/>
          </a:p>
        </p:txBody>
      </p:sp>
      <p:sp>
        <p:nvSpPr>
          <p:cNvPr id="21" name="Text 19"/>
          <p:cNvSpPr/>
          <p:nvPr/>
        </p:nvSpPr>
        <p:spPr>
          <a:xfrm>
            <a:off x="3474720" y="4937760"/>
            <a:ext cx="1645920" cy="731520"/>
          </a:xfrm>
          <a:prstGeom prst="rect">
            <a:avLst/>
          </a:prstGeom>
          <a:noFill/>
          <a:ln/>
        </p:spPr>
        <p:txBody>
          <a:bodyPr wrap="square" lIns="0" tIns="0" rIns="0" bIns="0" rtlCol="0" anchor="ctr"/>
          <a:lstStyle/>
          <a:p>
            <a:pPr marL="0" indent="0">
              <a:buNone/>
            </a:pPr>
            <a:r>
              <a:rPr lang="en-US" sz="1300" dirty="0">
                <a:solidFill>
                  <a:srgbClr val="5A5F73"/>
                </a:solidFill>
                <a:latin typeface="Calibri" pitchFamily="34" charset="0"/>
                <a:ea typeface="Calibri" pitchFamily="34" charset="-122"/>
                <a:cs typeface="Calibri" pitchFamily="34" charset="-120"/>
              </a:rPr>
              <a:t>Original</a:t>
            </a:r>
            <a:endParaRPr lang="en-US" sz="1300" dirty="0"/>
          </a:p>
        </p:txBody>
      </p:sp>
      <p:sp>
        <p:nvSpPr>
          <p:cNvPr id="22" name="Text 20"/>
          <p:cNvSpPr/>
          <p:nvPr/>
        </p:nvSpPr>
        <p:spPr>
          <a:xfrm>
            <a:off x="5120640" y="4937760"/>
            <a:ext cx="1920240" cy="73152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0.073</a:t>
            </a:r>
            <a:endParaRPr lang="en-US" sz="1500" dirty="0"/>
          </a:p>
        </p:txBody>
      </p:sp>
      <p:sp>
        <p:nvSpPr>
          <p:cNvPr id="23" name="Shape 21"/>
          <p:cNvSpPr/>
          <p:nvPr/>
        </p:nvSpPr>
        <p:spPr>
          <a:xfrm>
            <a:off x="7589520" y="1965960"/>
            <a:ext cx="4023360" cy="4160520"/>
          </a:xfrm>
          <a:prstGeom prst="roundRect">
            <a:avLst>
              <a:gd name="adj" fmla="val 1818"/>
            </a:avLst>
          </a:prstGeom>
          <a:solidFill>
            <a:srgbClr val="1E2761"/>
          </a:solidFill>
          <a:ln/>
        </p:spPr>
        <p:txBody>
          <a:bodyPr/>
          <a:lstStyle/>
          <a:p>
            <a:endParaRPr lang="es-CO"/>
          </a:p>
        </p:txBody>
      </p:sp>
      <p:sp>
        <p:nvSpPr>
          <p:cNvPr id="24" name="Text 22"/>
          <p:cNvSpPr/>
          <p:nvPr/>
        </p:nvSpPr>
        <p:spPr>
          <a:xfrm>
            <a:off x="7863840" y="2240280"/>
            <a:ext cx="3474720" cy="548640"/>
          </a:xfrm>
          <a:prstGeom prst="rect">
            <a:avLst/>
          </a:prstGeom>
          <a:noFill/>
          <a:ln/>
        </p:spPr>
        <p:txBody>
          <a:bodyPr wrap="square" lIns="0" tIns="0" rIns="0" bIns="0"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Propuestas</a:t>
            </a:r>
            <a:endParaRPr lang="en-US" sz="2300" dirty="0"/>
          </a:p>
        </p:txBody>
      </p:sp>
      <p:sp>
        <p:nvSpPr>
          <p:cNvPr id="25" name="Text 23"/>
          <p:cNvSpPr/>
          <p:nvPr/>
        </p:nvSpPr>
        <p:spPr>
          <a:xfrm>
            <a:off x="7863840" y="2834640"/>
            <a:ext cx="3474720" cy="114300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Identificadas y evaluadas durante el EDA. Se implementarán en la Fase 2; ninguna se incorporó al dataset limpio.</a:t>
            </a:r>
            <a:endParaRPr lang="en-US" sz="1200" dirty="0"/>
          </a:p>
        </p:txBody>
      </p:sp>
      <p:sp>
        <p:nvSpPr>
          <p:cNvPr id="26" name="Text 24"/>
          <p:cNvSpPr/>
          <p:nvPr/>
        </p:nvSpPr>
        <p:spPr>
          <a:xfrm>
            <a:off x="7863840" y="4069080"/>
            <a:ext cx="3474720" cy="1874520"/>
          </a:xfrm>
          <a:prstGeom prst="rect">
            <a:avLst/>
          </a:prstGeom>
          <a:noFill/>
          <a:ln/>
        </p:spPr>
        <p:txBody>
          <a:bodyPr wrap="square" lIns="0" tIns="0" rIns="0" bIns="0" rtlCol="0" anchor="ctr"/>
          <a:lstStyle/>
          <a:p>
            <a:pPr marL="0" indent="0">
              <a:lnSpc>
                <a:spcPct val="125000"/>
              </a:lnSpc>
              <a:buNone/>
            </a:pPr>
            <a:r>
              <a:rPr lang="en-US" sz="1200" dirty="0">
                <a:solidFill>
                  <a:srgbClr val="CADCFC"/>
                </a:solidFill>
                <a:latin typeface="Calibri" pitchFamily="34" charset="0"/>
                <a:ea typeface="Calibri" pitchFamily="34" charset="-122"/>
                <a:cs typeface="Calibri" pitchFamily="34" charset="-120"/>
              </a:rPr>
              <a:t>Los ratios cuota/ingreso y deuda/ingreso dieron correlación cercana a 0. Se comprobó que NO se debe a los salarios imputados: excluirlos no cambia el resultado. La causa es la métrica — por tramos sí muestran señal débil.</a:t>
            </a:r>
            <a:endParaRPr lang="en-US" sz="1200" dirty="0"/>
          </a:p>
        </p:txBody>
      </p:sp>
      <p:sp>
        <p:nvSpPr>
          <p:cNvPr id="27" name="Text 25"/>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28" name="Text 26"/>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ANÁLISIS MULTIVARIADO</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Relaciones entre variables</a:t>
            </a:r>
            <a:endParaRPr lang="en-US" sz="3000" dirty="0"/>
          </a:p>
        </p:txBody>
      </p:sp>
      <p:sp>
        <p:nvSpPr>
          <p:cNvPr id="4" name="Shape 2"/>
          <p:cNvSpPr/>
          <p:nvPr/>
        </p:nvSpPr>
        <p:spPr>
          <a:xfrm>
            <a:off x="548640" y="1965960"/>
            <a:ext cx="2670048" cy="1920240"/>
          </a:xfrm>
          <a:prstGeom prst="roundRect">
            <a:avLst>
              <a:gd name="adj" fmla="val 3810"/>
            </a:avLst>
          </a:prstGeom>
          <a:solidFill>
            <a:srgbClr val="1E2761"/>
          </a:solidFill>
          <a:ln/>
        </p:spPr>
        <p:txBody>
          <a:bodyPr/>
          <a:lstStyle/>
          <a:p>
            <a:endParaRPr lang="es-CO"/>
          </a:p>
        </p:txBody>
      </p:sp>
      <p:sp>
        <p:nvSpPr>
          <p:cNvPr id="5" name="Text 3"/>
          <p:cNvSpPr/>
          <p:nvPr/>
        </p:nvSpPr>
        <p:spPr>
          <a:xfrm>
            <a:off x="804672" y="2221992"/>
            <a:ext cx="2157984" cy="68580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Matriz de correlación</a:t>
            </a:r>
            <a:endParaRPr lang="en-US" sz="1400" dirty="0"/>
          </a:p>
        </p:txBody>
      </p:sp>
      <p:sp>
        <p:nvSpPr>
          <p:cNvPr id="6" name="Text 4"/>
          <p:cNvSpPr/>
          <p:nvPr/>
        </p:nvSpPr>
        <p:spPr>
          <a:xfrm>
            <a:off x="804672" y="2880360"/>
            <a:ext cx="2157984" cy="914400"/>
          </a:xfrm>
          <a:prstGeom prst="rect">
            <a:avLst/>
          </a:prstGeom>
          <a:noFill/>
          <a:ln/>
        </p:spPr>
        <p:txBody>
          <a:bodyPr wrap="square" lIns="0" tIns="0" rIns="0" bIns="0" rtlCol="0" anchor="t"/>
          <a:lstStyle/>
          <a:p>
            <a:pPr marL="0" indent="0">
              <a:lnSpc>
                <a:spcPct val="120000"/>
              </a:lnSpc>
              <a:buNone/>
            </a:pPr>
            <a:r>
              <a:rPr lang="en-US" sz="1100" dirty="0">
                <a:solidFill>
                  <a:srgbClr val="CADCFC"/>
                </a:solidFill>
                <a:latin typeface="Calibri" pitchFamily="34" charset="0"/>
                <a:ea typeface="Calibri" pitchFamily="34" charset="-122"/>
                <a:cs typeface="Calibri" pitchFamily="34" charset="-120"/>
              </a:rPr>
              <a:t>Sobre variables cuantitativas.</a:t>
            </a:r>
            <a:endParaRPr lang="en-US" sz="1100" dirty="0"/>
          </a:p>
          <a:p>
            <a:pPr marL="0" indent="0">
              <a:lnSpc>
                <a:spcPct val="120000"/>
              </a:lnSpc>
              <a:buNone/>
            </a:pPr>
            <a:r>
              <a:rPr lang="en-US" sz="1100" dirty="0">
                <a:solidFill>
                  <a:srgbClr val="CADCFC"/>
                </a:solidFill>
                <a:latin typeface="Calibri" pitchFamily="34" charset="0"/>
                <a:ea typeface="Calibri" pitchFamily="34" charset="-122"/>
                <a:cs typeface="Calibri" pitchFamily="34" charset="-120"/>
              </a:rPr>
              <a:t>Detecta multicolinealidad:</a:t>
            </a:r>
            <a:endParaRPr lang="en-US" sz="1100" dirty="0"/>
          </a:p>
          <a:p>
            <a:pPr marL="0" indent="0">
              <a:lnSpc>
                <a:spcPct val="120000"/>
              </a:lnSpc>
              <a:buNone/>
            </a:pPr>
            <a:r>
              <a:rPr lang="en-US" sz="1100" dirty="0">
                <a:solidFill>
                  <a:srgbClr val="CADCFC"/>
                </a:solidFill>
                <a:latin typeface="Calibri" pitchFamily="34" charset="0"/>
                <a:ea typeface="Calibri" pitchFamily="34" charset="-122"/>
                <a:cs typeface="Calibri" pitchFamily="34" charset="-120"/>
              </a:rPr>
              <a:t>capital vs cuota (r = 0.764)</a:t>
            </a:r>
            <a:endParaRPr lang="en-US" sz="1100" dirty="0"/>
          </a:p>
        </p:txBody>
      </p:sp>
      <p:sp>
        <p:nvSpPr>
          <p:cNvPr id="7" name="Shape 5"/>
          <p:cNvSpPr/>
          <p:nvPr/>
        </p:nvSpPr>
        <p:spPr>
          <a:xfrm>
            <a:off x="3438144" y="1965960"/>
            <a:ext cx="2670048" cy="1920240"/>
          </a:xfrm>
          <a:prstGeom prst="roundRect">
            <a:avLst>
              <a:gd name="adj" fmla="val 3810"/>
            </a:avLst>
          </a:prstGeom>
          <a:solidFill>
            <a:srgbClr val="F4F7FC"/>
          </a:solidFill>
          <a:ln/>
        </p:spPr>
        <p:txBody>
          <a:bodyPr/>
          <a:lstStyle/>
          <a:p>
            <a:endParaRPr lang="es-CO"/>
          </a:p>
        </p:txBody>
      </p:sp>
      <p:sp>
        <p:nvSpPr>
          <p:cNvPr id="8" name="Text 6"/>
          <p:cNvSpPr/>
          <p:nvPr/>
        </p:nvSpPr>
        <p:spPr>
          <a:xfrm>
            <a:off x="3694176" y="2221992"/>
            <a:ext cx="2157984" cy="685800"/>
          </a:xfrm>
          <a:prstGeom prst="rect">
            <a:avLst/>
          </a:prstGeom>
          <a:noFill/>
          <a:ln/>
        </p:spPr>
        <p:txBody>
          <a:bodyPr wrap="square" lIns="0" tIns="0" rIns="0" bIns="0"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Pairplot con hue</a:t>
            </a:r>
            <a:endParaRPr lang="en-US" sz="1400" dirty="0"/>
          </a:p>
        </p:txBody>
      </p:sp>
      <p:sp>
        <p:nvSpPr>
          <p:cNvPr id="9" name="Text 7"/>
          <p:cNvSpPr/>
          <p:nvPr/>
        </p:nvSpPr>
        <p:spPr>
          <a:xfrm>
            <a:off x="3694176" y="2880360"/>
            <a:ext cx="2157984" cy="914400"/>
          </a:xfrm>
          <a:prstGeom prst="rect">
            <a:avLst/>
          </a:prstGeom>
          <a:noFill/>
          <a:ln/>
        </p:spPr>
        <p:txBody>
          <a:bodyPr wrap="square" lIns="0" tIns="0" rIns="0" bIns="0" rtlCol="0" anchor="t"/>
          <a:lstStyle/>
          <a:p>
            <a:pPr marL="0" indent="0">
              <a:lnSpc>
                <a:spcPct val="120000"/>
              </a:lnSpc>
              <a:buNone/>
            </a:pPr>
            <a:r>
              <a:rPr lang="en-US" sz="1100" dirty="0">
                <a:solidFill>
                  <a:srgbClr val="5A5F73"/>
                </a:solidFill>
                <a:latin typeface="Calibri" pitchFamily="34" charset="0"/>
                <a:ea typeface="Calibri" pitchFamily="34" charset="-122"/>
                <a:cs typeface="Calibri" pitchFamily="34" charset="-120"/>
              </a:rPr>
              <a:t>Muestra de 1.500 registros</a:t>
            </a:r>
            <a:endParaRPr lang="en-US" sz="1100" dirty="0"/>
          </a:p>
          <a:p>
            <a:pPr marL="0" indent="0">
              <a:lnSpc>
                <a:spcPct val="120000"/>
              </a:lnSpc>
              <a:buNone/>
            </a:pPr>
            <a:r>
              <a:rPr lang="en-US" sz="1100" dirty="0">
                <a:solidFill>
                  <a:srgbClr val="5A5F73"/>
                </a:solidFill>
                <a:latin typeface="Calibri" pitchFamily="34" charset="0"/>
                <a:ea typeface="Calibri" pitchFamily="34" charset="-122"/>
                <a:cs typeface="Calibri" pitchFamily="34" charset="-120"/>
              </a:rPr>
              <a:t>coloreada por resultado de pago</a:t>
            </a:r>
            <a:endParaRPr lang="en-US" sz="1100" dirty="0"/>
          </a:p>
        </p:txBody>
      </p:sp>
      <p:sp>
        <p:nvSpPr>
          <p:cNvPr id="10" name="Shape 8"/>
          <p:cNvSpPr/>
          <p:nvPr/>
        </p:nvSpPr>
        <p:spPr>
          <a:xfrm>
            <a:off x="6327648" y="1965960"/>
            <a:ext cx="2670048" cy="1920240"/>
          </a:xfrm>
          <a:prstGeom prst="roundRect">
            <a:avLst>
              <a:gd name="adj" fmla="val 3810"/>
            </a:avLst>
          </a:prstGeom>
          <a:solidFill>
            <a:srgbClr val="F4F7FC"/>
          </a:solidFill>
          <a:ln/>
        </p:spPr>
        <p:txBody>
          <a:bodyPr/>
          <a:lstStyle/>
          <a:p>
            <a:endParaRPr lang="es-CO"/>
          </a:p>
        </p:txBody>
      </p:sp>
      <p:sp>
        <p:nvSpPr>
          <p:cNvPr id="11" name="Text 9"/>
          <p:cNvSpPr/>
          <p:nvPr/>
        </p:nvSpPr>
        <p:spPr>
          <a:xfrm>
            <a:off x="6583680" y="2221992"/>
            <a:ext cx="2157984" cy="685800"/>
          </a:xfrm>
          <a:prstGeom prst="rect">
            <a:avLst/>
          </a:prstGeom>
          <a:noFill/>
          <a:ln/>
        </p:spPr>
        <p:txBody>
          <a:bodyPr wrap="square" lIns="0" tIns="0" rIns="0" bIns="0"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Dispersión entre numéricas</a:t>
            </a:r>
            <a:endParaRPr lang="en-US" sz="1400" dirty="0"/>
          </a:p>
        </p:txBody>
      </p:sp>
      <p:sp>
        <p:nvSpPr>
          <p:cNvPr id="12" name="Text 10"/>
          <p:cNvSpPr/>
          <p:nvPr/>
        </p:nvSpPr>
        <p:spPr>
          <a:xfrm>
            <a:off x="6583680" y="2880360"/>
            <a:ext cx="2157984" cy="914400"/>
          </a:xfrm>
          <a:prstGeom prst="rect">
            <a:avLst/>
          </a:prstGeom>
          <a:noFill/>
          <a:ln/>
        </p:spPr>
        <p:txBody>
          <a:bodyPr wrap="square" lIns="0" tIns="0" rIns="0" bIns="0" rtlCol="0" anchor="t"/>
          <a:lstStyle/>
          <a:p>
            <a:pPr marL="0" indent="0">
              <a:lnSpc>
                <a:spcPct val="120000"/>
              </a:lnSpc>
              <a:buNone/>
            </a:pPr>
            <a:r>
              <a:rPr lang="en-US" sz="1100" dirty="0">
                <a:solidFill>
                  <a:srgbClr val="5A5F73"/>
                </a:solidFill>
                <a:latin typeface="Calibri" pitchFamily="34" charset="0"/>
                <a:ea typeface="Calibri" pitchFamily="34" charset="-122"/>
                <a:cs typeface="Calibri" pitchFamily="34" charset="-120"/>
              </a:rPr>
              <a:t>Cuatro pares clave,</a:t>
            </a:r>
            <a:endParaRPr lang="en-US" sz="1100" dirty="0"/>
          </a:p>
          <a:p>
            <a:pPr marL="0" indent="0">
              <a:lnSpc>
                <a:spcPct val="120000"/>
              </a:lnSpc>
              <a:buNone/>
            </a:pPr>
            <a:r>
              <a:rPr lang="en-US" sz="1100" dirty="0">
                <a:solidFill>
                  <a:srgbClr val="5A5F73"/>
                </a:solidFill>
                <a:latin typeface="Calibri" pitchFamily="34" charset="0"/>
                <a:ea typeface="Calibri" pitchFamily="34" charset="-122"/>
                <a:cs typeface="Calibri" pitchFamily="34" charset="-120"/>
              </a:rPr>
              <a:t>diferenciando mora y al día</a:t>
            </a:r>
            <a:endParaRPr lang="en-US" sz="1100" dirty="0"/>
          </a:p>
        </p:txBody>
      </p:sp>
      <p:sp>
        <p:nvSpPr>
          <p:cNvPr id="13" name="Shape 11"/>
          <p:cNvSpPr/>
          <p:nvPr/>
        </p:nvSpPr>
        <p:spPr>
          <a:xfrm>
            <a:off x="9217152" y="1965960"/>
            <a:ext cx="2670048" cy="1920240"/>
          </a:xfrm>
          <a:prstGeom prst="roundRect">
            <a:avLst>
              <a:gd name="adj" fmla="val 3810"/>
            </a:avLst>
          </a:prstGeom>
          <a:solidFill>
            <a:srgbClr val="F4F7FC"/>
          </a:solidFill>
          <a:ln/>
        </p:spPr>
        <p:txBody>
          <a:bodyPr/>
          <a:lstStyle/>
          <a:p>
            <a:endParaRPr lang="es-CO"/>
          </a:p>
        </p:txBody>
      </p:sp>
      <p:sp>
        <p:nvSpPr>
          <p:cNvPr id="14" name="Text 12"/>
          <p:cNvSpPr/>
          <p:nvPr/>
        </p:nvSpPr>
        <p:spPr>
          <a:xfrm>
            <a:off x="9473184" y="2221992"/>
            <a:ext cx="2157984" cy="685800"/>
          </a:xfrm>
          <a:prstGeom prst="rect">
            <a:avLst/>
          </a:prstGeom>
          <a:noFill/>
          <a:ln/>
        </p:spPr>
        <p:txBody>
          <a:bodyPr wrap="square" lIns="0" tIns="0" rIns="0" bIns="0"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Tablas de contingencia</a:t>
            </a:r>
            <a:endParaRPr lang="en-US" sz="1400" dirty="0"/>
          </a:p>
        </p:txBody>
      </p:sp>
      <p:sp>
        <p:nvSpPr>
          <p:cNvPr id="15" name="Text 13"/>
          <p:cNvSpPr/>
          <p:nvPr/>
        </p:nvSpPr>
        <p:spPr>
          <a:xfrm>
            <a:off x="9473184" y="2880360"/>
            <a:ext cx="2157984" cy="914400"/>
          </a:xfrm>
          <a:prstGeom prst="rect">
            <a:avLst/>
          </a:prstGeom>
          <a:noFill/>
          <a:ln/>
        </p:spPr>
        <p:txBody>
          <a:bodyPr wrap="square" lIns="0" tIns="0" rIns="0" bIns="0" rtlCol="0" anchor="t"/>
          <a:lstStyle/>
          <a:p>
            <a:pPr marL="0" indent="0">
              <a:lnSpc>
                <a:spcPct val="120000"/>
              </a:lnSpc>
              <a:buNone/>
            </a:pPr>
            <a:r>
              <a:rPr lang="en-US" sz="1100" dirty="0">
                <a:solidFill>
                  <a:srgbClr val="5A5F73"/>
                </a:solidFill>
                <a:latin typeface="Calibri" pitchFamily="34" charset="0"/>
                <a:ea typeface="Calibri" pitchFamily="34" charset="-122"/>
                <a:cs typeface="Calibri" pitchFamily="34" charset="-120"/>
              </a:rPr>
              <a:t>Cruces entre variables</a:t>
            </a:r>
            <a:endParaRPr lang="en-US" sz="1100" dirty="0"/>
          </a:p>
          <a:p>
            <a:pPr marL="0" indent="0">
              <a:lnSpc>
                <a:spcPct val="120000"/>
              </a:lnSpc>
              <a:buNone/>
            </a:pPr>
            <a:r>
              <a:rPr lang="en-US" sz="1100" dirty="0">
                <a:solidFill>
                  <a:srgbClr val="5A5F73"/>
                </a:solidFill>
                <a:latin typeface="Calibri" pitchFamily="34" charset="0"/>
                <a:ea typeface="Calibri" pitchFamily="34" charset="-122"/>
                <a:cs typeface="Calibri" pitchFamily="34" charset="-120"/>
              </a:rPr>
              <a:t>categóricas y el objetivo</a:t>
            </a:r>
            <a:endParaRPr lang="en-US" sz="1100" dirty="0"/>
          </a:p>
        </p:txBody>
      </p:sp>
      <p:sp>
        <p:nvSpPr>
          <p:cNvPr id="16" name="Shape 14"/>
          <p:cNvSpPr/>
          <p:nvPr/>
        </p:nvSpPr>
        <p:spPr>
          <a:xfrm>
            <a:off x="548640" y="4206240"/>
            <a:ext cx="11064240" cy="1600200"/>
          </a:xfrm>
          <a:prstGeom prst="roundRect">
            <a:avLst>
              <a:gd name="adj" fmla="val 4571"/>
            </a:avLst>
          </a:prstGeom>
          <a:solidFill>
            <a:srgbClr val="FBEAEA"/>
          </a:solidFill>
          <a:ln/>
        </p:spPr>
        <p:txBody>
          <a:bodyPr/>
          <a:lstStyle/>
          <a:p>
            <a:endParaRPr lang="es-CO"/>
          </a:p>
        </p:txBody>
      </p:sp>
      <p:sp>
        <p:nvSpPr>
          <p:cNvPr id="17" name="Text 15"/>
          <p:cNvSpPr/>
          <p:nvPr/>
        </p:nvSpPr>
        <p:spPr>
          <a:xfrm>
            <a:off x="822960" y="4389120"/>
            <a:ext cx="10515600" cy="1280160"/>
          </a:xfrm>
          <a:prstGeom prst="rect">
            <a:avLst/>
          </a:prstGeom>
          <a:noFill/>
          <a:ln/>
        </p:spPr>
        <p:txBody>
          <a:bodyPr wrap="square" lIns="0" tIns="0" rIns="0" bIns="0" rtlCol="0" anchor="t"/>
          <a:lstStyle/>
          <a:p>
            <a:pPr marL="0" indent="0">
              <a:lnSpc>
                <a:spcPct val="125000"/>
              </a:lnSpc>
              <a:buNone/>
            </a:pPr>
            <a:r>
              <a:rPr lang="en-US" sz="1400" b="1" dirty="0">
                <a:solidFill>
                  <a:srgbClr val="1E2761"/>
                </a:solidFill>
                <a:latin typeface="Calibri" pitchFamily="34" charset="0"/>
                <a:ea typeface="Calibri" pitchFamily="34" charset="-122"/>
                <a:cs typeface="Calibri" pitchFamily="34" charset="-120"/>
              </a:rPr>
              <a:t>Conclusión del multivariado:
</a:t>
            </a:r>
            <a:endParaRPr lang="en-US" sz="1400" dirty="0"/>
          </a:p>
          <a:p>
            <a:pPr marL="0" indent="0">
              <a:lnSpc>
                <a:spcPct val="125000"/>
              </a:lnSpc>
              <a:buNone/>
            </a:pPr>
            <a:r>
              <a:rPr lang="en-US" sz="1250" dirty="0">
                <a:solidFill>
                  <a:srgbClr val="5A5F73"/>
                </a:solidFill>
                <a:latin typeface="Calibri" pitchFamily="34" charset="0"/>
                <a:ea typeface="Calibri" pitchFamily="34" charset="-122"/>
                <a:cs typeface="Calibri" pitchFamily="34" charset="-120"/>
              </a:rPr>
              <a:t>ninguna combinación de dos variables separa a los clientes en mora. Las nubes de puntos se superponen ampliamente en todos los gráficos. Esto confirma que el riesgo depende de múltiples factores simultáneos y justifica un modelo multivariado en la siguiente fase.</a:t>
            </a:r>
            <a:endParaRPr lang="en-US" sz="1400" dirty="0"/>
          </a:p>
        </p:txBody>
      </p:sp>
      <p:sp>
        <p:nvSpPr>
          <p:cNvPr id="18" name="Text 16"/>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19" name="Text 17"/>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HALLAZGOS ADICIONALES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Otras señales relevantes</a:t>
            </a:r>
            <a:endParaRPr lang="en-US" sz="3000" dirty="0"/>
          </a:p>
        </p:txBody>
      </p:sp>
      <p:graphicFrame>
        <p:nvGraphicFramePr>
          <p:cNvPr id="4" name="Chart 0"/>
          <p:cNvGraphicFramePr/>
          <p:nvPr/>
        </p:nvGraphicFramePr>
        <p:xfrm>
          <a:off x="548640" y="1920240"/>
          <a:ext cx="53949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309360" y="1920240"/>
            <a:ext cx="5303520" cy="1920240"/>
          </a:xfrm>
          <a:prstGeom prst="roundRect">
            <a:avLst>
              <a:gd name="adj" fmla="val 3810"/>
            </a:avLst>
          </a:prstGeom>
          <a:solidFill>
            <a:srgbClr val="F4F7FC"/>
          </a:solidFill>
          <a:ln/>
        </p:spPr>
        <p:txBody>
          <a:bodyPr/>
          <a:lstStyle/>
          <a:p>
            <a:endParaRPr lang="es-CO"/>
          </a:p>
        </p:txBody>
      </p:sp>
      <p:sp>
        <p:nvSpPr>
          <p:cNvPr id="6" name="Text 3"/>
          <p:cNvSpPr/>
          <p:nvPr/>
        </p:nvSpPr>
        <p:spPr>
          <a:xfrm>
            <a:off x="6537960" y="2103120"/>
            <a:ext cx="4846320" cy="1600200"/>
          </a:xfrm>
          <a:prstGeom prst="rect">
            <a:avLst/>
          </a:prstGeom>
          <a:noFill/>
          <a:ln/>
        </p:spPr>
        <p:txBody>
          <a:bodyPr wrap="square" lIns="0" tIns="0" rIns="0" bIns="0" rtlCol="0" anchor="t"/>
          <a:lstStyle/>
          <a:p>
            <a:pPr marL="0" indent="0">
              <a:lnSpc>
                <a:spcPct val="120000"/>
              </a:lnSpc>
              <a:buNone/>
            </a:pPr>
            <a:r>
              <a:rPr lang="en-US" sz="1500" b="1" dirty="0">
                <a:solidFill>
                  <a:srgbClr val="1E2761"/>
                </a:solidFill>
              </a:rPr>
              <a:t>Independientes vs. empleados
</a:t>
            </a:r>
            <a:endParaRPr lang="en-US" sz="1500" dirty="0"/>
          </a:p>
          <a:p>
            <a:pPr marL="0" indent="0">
              <a:lnSpc>
                <a:spcPct val="120000"/>
              </a:lnSpc>
              <a:buNone/>
            </a:pPr>
            <a:r>
              <a:rPr lang="en-US" sz="1250" dirty="0">
                <a:solidFill>
                  <a:srgbClr val="5A5F73"/>
                </a:solidFill>
              </a:rPr>
              <a:t>Mayor tasa de mora (5.51% vs 4.29%), coherente con la mayor variabilidad de ingresos de ese segmento.</a:t>
            </a:r>
            <a:endParaRPr lang="en-US" sz="1500" dirty="0"/>
          </a:p>
        </p:txBody>
      </p:sp>
      <p:sp>
        <p:nvSpPr>
          <p:cNvPr id="7" name="Shape 4"/>
          <p:cNvSpPr/>
          <p:nvPr/>
        </p:nvSpPr>
        <p:spPr>
          <a:xfrm>
            <a:off x="6309360" y="4069080"/>
            <a:ext cx="5303520" cy="2011680"/>
          </a:xfrm>
          <a:prstGeom prst="roundRect">
            <a:avLst>
              <a:gd name="adj" fmla="val 3636"/>
            </a:avLst>
          </a:prstGeom>
          <a:solidFill>
            <a:srgbClr val="F4F7FC"/>
          </a:solidFill>
          <a:ln/>
        </p:spPr>
        <p:txBody>
          <a:bodyPr/>
          <a:lstStyle/>
          <a:p>
            <a:endParaRPr lang="es-CO"/>
          </a:p>
        </p:txBody>
      </p:sp>
      <p:sp>
        <p:nvSpPr>
          <p:cNvPr id="8" name="Text 5"/>
          <p:cNvSpPr/>
          <p:nvPr/>
        </p:nvSpPr>
        <p:spPr>
          <a:xfrm>
            <a:off x="6537960" y="4251960"/>
            <a:ext cx="4846320" cy="1691640"/>
          </a:xfrm>
          <a:prstGeom prst="rect">
            <a:avLst/>
          </a:prstGeom>
          <a:noFill/>
          <a:ln/>
        </p:spPr>
        <p:txBody>
          <a:bodyPr wrap="square" lIns="0" tIns="0" rIns="0" bIns="0" rtlCol="0" anchor="t"/>
          <a:lstStyle/>
          <a:p>
            <a:pPr marL="0" indent="0">
              <a:lnSpc>
                <a:spcPct val="120000"/>
              </a:lnSpc>
              <a:buNone/>
            </a:pPr>
            <a:r>
              <a:rPr lang="en-US" sz="1500" b="1" dirty="0">
                <a:solidFill>
                  <a:srgbClr val="1E2761"/>
                </a:solidFill>
              </a:rPr>
              <a:t>El score discrimina, pero no linealmente</a:t>
            </a:r>
            <a:endParaRPr lang="en-US" sz="1500" dirty="0"/>
          </a:p>
          <a:p>
            <a:pPr marL="0" indent="0">
              <a:lnSpc>
                <a:spcPct val="120000"/>
              </a:lnSpc>
              <a:buNone/>
            </a:pPr>
            <a:r>
              <a:rPr lang="en-US" sz="1250" dirty="0">
                <a:solidFill>
                  <a:srgbClr val="5A5F73"/>
                </a:solidFill>
              </a:rPr>
              <a:t>Por bandas, la tasa de mora va de 64,0% por debajo de 600 puntos a 2,9% por encima de 850. Su correlación de Pearson es solo 0,121.</a:t>
            </a:r>
            <a:endParaRPr lang="en-US" sz="1500" dirty="0"/>
          </a:p>
        </p:txBody>
      </p:sp>
      <p:sp>
        <p:nvSpPr>
          <p:cNvPr id="9" name="Text 6"/>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10" name="Text 7"/>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TRANSPARENCIA</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Riesgos y limitaciones del análisis</a:t>
            </a:r>
            <a:endParaRPr lang="en-US" sz="3000" dirty="0"/>
          </a:p>
        </p:txBody>
      </p:sp>
      <p:sp>
        <p:nvSpPr>
          <p:cNvPr id="4" name="Shape 2"/>
          <p:cNvSpPr/>
          <p:nvPr/>
        </p:nvSpPr>
        <p:spPr>
          <a:xfrm>
            <a:off x="548640" y="1874520"/>
            <a:ext cx="11064240" cy="1005840"/>
          </a:xfrm>
          <a:prstGeom prst="roundRect">
            <a:avLst>
              <a:gd name="adj" fmla="val 5455"/>
            </a:avLst>
          </a:prstGeom>
          <a:solidFill>
            <a:srgbClr val="F4F7FC"/>
          </a:solidFill>
          <a:ln/>
        </p:spPr>
        <p:txBody>
          <a:bodyPr/>
          <a:lstStyle/>
          <a:p>
            <a:endParaRPr lang="es-CO"/>
          </a:p>
        </p:txBody>
      </p:sp>
      <p:sp>
        <p:nvSpPr>
          <p:cNvPr id="5" name="Shape 3"/>
          <p:cNvSpPr/>
          <p:nvPr/>
        </p:nvSpPr>
        <p:spPr>
          <a:xfrm>
            <a:off x="822960" y="2304288"/>
            <a:ext cx="146304" cy="146304"/>
          </a:xfrm>
          <a:prstGeom prst="ellipse">
            <a:avLst/>
          </a:prstGeom>
          <a:solidFill>
            <a:srgbClr val="B33A3A"/>
          </a:solidFill>
          <a:ln/>
        </p:spPr>
        <p:txBody>
          <a:bodyPr/>
          <a:lstStyle/>
          <a:p>
            <a:endParaRPr lang="es-CO"/>
          </a:p>
        </p:txBody>
      </p:sp>
      <p:sp>
        <p:nvSpPr>
          <p:cNvPr id="6" name="Text 4"/>
          <p:cNvSpPr/>
          <p:nvPr/>
        </p:nvSpPr>
        <p:spPr>
          <a:xfrm>
            <a:off x="1143000" y="1874520"/>
            <a:ext cx="3291840" cy="100584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Posible fuga de información</a:t>
            </a:r>
            <a:endParaRPr lang="en-US" sz="1350" dirty="0"/>
          </a:p>
        </p:txBody>
      </p:sp>
      <p:sp>
        <p:nvSpPr>
          <p:cNvPr id="7" name="Text 5"/>
          <p:cNvSpPr/>
          <p:nvPr/>
        </p:nvSpPr>
        <p:spPr>
          <a:xfrm>
            <a:off x="4572000" y="1874520"/>
            <a:ext cx="6675120" cy="1005840"/>
          </a:xfrm>
          <a:prstGeom prst="rect">
            <a:avLst/>
          </a:prstGeom>
          <a:noFill/>
          <a:ln/>
        </p:spPr>
        <p:txBody>
          <a:bodyPr wrap="square" lIns="0" tIns="0" rIns="0" bIns="0" rtlCol="0" anchor="ctr"/>
          <a:lstStyle/>
          <a:p>
            <a:pPr marL="0" indent="0">
              <a:lnSpc>
                <a:spcPct val="115000"/>
              </a:lnSpc>
              <a:buNone/>
            </a:pPr>
            <a:r>
              <a:rPr lang="en-US" sz="1200" dirty="0">
                <a:solidFill>
                  <a:srgbClr val="5A5F73"/>
                </a:solidFill>
                <a:latin typeface="Calibri" pitchFamily="34" charset="0"/>
                <a:ea typeface="Calibri" pitchFamily="34" charset="-122"/>
                <a:cs typeface="Calibri" pitchFamily="34" charset="-120"/>
              </a:rPr>
              <a:t>Las variables de saldo en mora podrían registrarse después del desembolso — deben validarse con el negocio antes de modelar.</a:t>
            </a:r>
            <a:endParaRPr lang="en-US" sz="1200" dirty="0"/>
          </a:p>
        </p:txBody>
      </p:sp>
      <p:sp>
        <p:nvSpPr>
          <p:cNvPr id="8" name="Shape 6"/>
          <p:cNvSpPr/>
          <p:nvPr/>
        </p:nvSpPr>
        <p:spPr>
          <a:xfrm>
            <a:off x="548640" y="2990088"/>
            <a:ext cx="11064240" cy="1005840"/>
          </a:xfrm>
          <a:prstGeom prst="roundRect">
            <a:avLst>
              <a:gd name="adj" fmla="val 5455"/>
            </a:avLst>
          </a:prstGeom>
          <a:solidFill>
            <a:srgbClr val="F4F7FC"/>
          </a:solidFill>
          <a:ln/>
        </p:spPr>
        <p:txBody>
          <a:bodyPr/>
          <a:lstStyle/>
          <a:p>
            <a:endParaRPr lang="es-CO"/>
          </a:p>
        </p:txBody>
      </p:sp>
      <p:sp>
        <p:nvSpPr>
          <p:cNvPr id="9" name="Shape 7"/>
          <p:cNvSpPr/>
          <p:nvPr/>
        </p:nvSpPr>
        <p:spPr>
          <a:xfrm>
            <a:off x="822960" y="3419856"/>
            <a:ext cx="146304" cy="146304"/>
          </a:xfrm>
          <a:prstGeom prst="ellipse">
            <a:avLst/>
          </a:prstGeom>
          <a:solidFill>
            <a:srgbClr val="B33A3A"/>
          </a:solidFill>
          <a:ln/>
        </p:spPr>
        <p:txBody>
          <a:bodyPr/>
          <a:lstStyle/>
          <a:p>
            <a:endParaRPr lang="es-CO"/>
          </a:p>
        </p:txBody>
      </p:sp>
      <p:sp>
        <p:nvSpPr>
          <p:cNvPr id="10" name="Text 8"/>
          <p:cNvSpPr/>
          <p:nvPr/>
        </p:nvSpPr>
        <p:spPr>
          <a:xfrm>
            <a:off x="1143000" y="2990088"/>
            <a:ext cx="3291840" cy="100584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Muestras pequeñas en hallazgos clave</a:t>
            </a:r>
            <a:endParaRPr lang="en-US" sz="1350" dirty="0"/>
          </a:p>
        </p:txBody>
      </p:sp>
      <p:sp>
        <p:nvSpPr>
          <p:cNvPr id="11" name="Text 9"/>
          <p:cNvSpPr/>
          <p:nvPr/>
        </p:nvSpPr>
        <p:spPr>
          <a:xfrm>
            <a:off x="4572000" y="2990088"/>
            <a:ext cx="6675120" cy="1005840"/>
          </a:xfrm>
          <a:prstGeom prst="rect">
            <a:avLst/>
          </a:prstGeom>
          <a:noFill/>
          <a:ln/>
        </p:spPr>
        <p:txBody>
          <a:bodyPr wrap="square" lIns="0" tIns="0" rIns="0" bIns="0" rtlCol="0" anchor="ctr"/>
          <a:lstStyle/>
          <a:p>
            <a:pPr marL="0" indent="0">
              <a:lnSpc>
                <a:spcPct val="115000"/>
              </a:lnSpc>
              <a:buNone/>
            </a:pPr>
            <a:r>
              <a:rPr lang="en-US" sz="1200" dirty="0">
                <a:solidFill>
                  <a:srgbClr val="5A5F73"/>
                </a:solidFill>
                <a:latin typeface="Calibri" pitchFamily="34" charset="0"/>
                <a:ea typeface="Calibri" pitchFamily="34" charset="-122"/>
                <a:cs typeface="Calibri" pitchFamily="34" charset="-120"/>
              </a:rPr>
              <a:t>El tipo de crédito 6 (21) y la mora previa (55) tienen bases reducidas; sus tasas son indicativas, no concluyentes.</a:t>
            </a:r>
            <a:endParaRPr lang="en-US" sz="1200" dirty="0"/>
          </a:p>
        </p:txBody>
      </p:sp>
      <p:sp>
        <p:nvSpPr>
          <p:cNvPr id="12" name="Shape 10"/>
          <p:cNvSpPr/>
          <p:nvPr/>
        </p:nvSpPr>
        <p:spPr>
          <a:xfrm>
            <a:off x="548640" y="4105656"/>
            <a:ext cx="11064240" cy="1005840"/>
          </a:xfrm>
          <a:prstGeom prst="roundRect">
            <a:avLst>
              <a:gd name="adj" fmla="val 5455"/>
            </a:avLst>
          </a:prstGeom>
          <a:solidFill>
            <a:srgbClr val="F4F7FC"/>
          </a:solidFill>
          <a:ln/>
        </p:spPr>
        <p:txBody>
          <a:bodyPr/>
          <a:lstStyle/>
          <a:p>
            <a:endParaRPr lang="es-CO"/>
          </a:p>
        </p:txBody>
      </p:sp>
      <p:sp>
        <p:nvSpPr>
          <p:cNvPr id="13" name="Shape 11"/>
          <p:cNvSpPr/>
          <p:nvPr/>
        </p:nvSpPr>
        <p:spPr>
          <a:xfrm>
            <a:off x="822960" y="4535424"/>
            <a:ext cx="146304" cy="146304"/>
          </a:xfrm>
          <a:prstGeom prst="ellipse">
            <a:avLst/>
          </a:prstGeom>
          <a:solidFill>
            <a:srgbClr val="B33A3A"/>
          </a:solidFill>
          <a:ln/>
        </p:spPr>
        <p:txBody>
          <a:bodyPr/>
          <a:lstStyle/>
          <a:p>
            <a:endParaRPr lang="es-CO"/>
          </a:p>
        </p:txBody>
      </p:sp>
      <p:sp>
        <p:nvSpPr>
          <p:cNvPr id="14" name="Text 12"/>
          <p:cNvSpPr/>
          <p:nvPr/>
        </p:nvSpPr>
        <p:spPr>
          <a:xfrm>
            <a:off x="1143000" y="4105656"/>
            <a:ext cx="3291840" cy="100584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Etiqueta no homogénea en el tiempo</a:t>
            </a:r>
            <a:endParaRPr lang="en-US" sz="1350" dirty="0"/>
          </a:p>
        </p:txBody>
      </p:sp>
      <p:sp>
        <p:nvSpPr>
          <p:cNvPr id="15" name="Text 13"/>
          <p:cNvSpPr/>
          <p:nvPr/>
        </p:nvSpPr>
        <p:spPr>
          <a:xfrm>
            <a:off x="4572000" y="4105656"/>
            <a:ext cx="6675120" cy="1005840"/>
          </a:xfrm>
          <a:prstGeom prst="rect">
            <a:avLst/>
          </a:prstGeom>
          <a:noFill/>
          <a:ln/>
        </p:spPr>
        <p:txBody>
          <a:bodyPr wrap="square" lIns="0" tIns="0" rIns="0" bIns="0" rtlCol="0" anchor="ctr"/>
          <a:lstStyle/>
          <a:p>
            <a:pPr marL="0" indent="0">
              <a:lnSpc>
                <a:spcPct val="115000"/>
              </a:lnSpc>
              <a:buNone/>
            </a:pPr>
            <a:r>
              <a:rPr lang="en-US" sz="1200" dirty="0">
                <a:solidFill>
                  <a:srgbClr val="5A5F73"/>
                </a:solidFill>
                <a:latin typeface="Calibri" pitchFamily="34" charset="0"/>
                <a:ea typeface="Calibri" pitchFamily="34" charset="-122"/>
                <a:cs typeface="Calibri" pitchFamily="34" charset="-120"/>
              </a:rPr>
              <a:t>El 19,9% de los créditos vence después del corte de datos: su resultado de pago aún no es definitivo (6,40% vs 4,34%).</a:t>
            </a:r>
            <a:endParaRPr lang="en-US" sz="1200" dirty="0"/>
          </a:p>
        </p:txBody>
      </p:sp>
      <p:sp>
        <p:nvSpPr>
          <p:cNvPr id="16" name="Shape 14"/>
          <p:cNvSpPr/>
          <p:nvPr/>
        </p:nvSpPr>
        <p:spPr>
          <a:xfrm>
            <a:off x="548640" y="5221224"/>
            <a:ext cx="11064240" cy="1005840"/>
          </a:xfrm>
          <a:prstGeom prst="roundRect">
            <a:avLst>
              <a:gd name="adj" fmla="val 5455"/>
            </a:avLst>
          </a:prstGeom>
          <a:solidFill>
            <a:srgbClr val="F4F7FC"/>
          </a:solidFill>
          <a:ln/>
        </p:spPr>
        <p:txBody>
          <a:bodyPr/>
          <a:lstStyle/>
          <a:p>
            <a:endParaRPr lang="es-CO"/>
          </a:p>
        </p:txBody>
      </p:sp>
      <p:sp>
        <p:nvSpPr>
          <p:cNvPr id="17" name="Shape 15"/>
          <p:cNvSpPr/>
          <p:nvPr/>
        </p:nvSpPr>
        <p:spPr>
          <a:xfrm>
            <a:off x="822960" y="5650992"/>
            <a:ext cx="146304" cy="146304"/>
          </a:xfrm>
          <a:prstGeom prst="ellipse">
            <a:avLst/>
          </a:prstGeom>
          <a:solidFill>
            <a:srgbClr val="B33A3A"/>
          </a:solidFill>
          <a:ln/>
        </p:spPr>
        <p:txBody>
          <a:bodyPr/>
          <a:lstStyle/>
          <a:p>
            <a:endParaRPr lang="es-CO"/>
          </a:p>
        </p:txBody>
      </p:sp>
      <p:sp>
        <p:nvSpPr>
          <p:cNvPr id="18" name="Text 16"/>
          <p:cNvSpPr/>
          <p:nvPr/>
        </p:nvSpPr>
        <p:spPr>
          <a:xfrm>
            <a:off x="1143000" y="5221224"/>
            <a:ext cx="3291840" cy="100584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Ausencia de diccionario de datos</a:t>
            </a:r>
            <a:endParaRPr lang="en-US" sz="1350" dirty="0"/>
          </a:p>
        </p:txBody>
      </p:sp>
      <p:sp>
        <p:nvSpPr>
          <p:cNvPr id="19" name="Text 17"/>
          <p:cNvSpPr/>
          <p:nvPr/>
        </p:nvSpPr>
        <p:spPr>
          <a:xfrm>
            <a:off x="4572000" y="5221224"/>
            <a:ext cx="6675120" cy="1005840"/>
          </a:xfrm>
          <a:prstGeom prst="rect">
            <a:avLst/>
          </a:prstGeom>
          <a:noFill/>
          <a:ln/>
        </p:spPr>
        <p:txBody>
          <a:bodyPr wrap="square" lIns="0" tIns="0" rIns="0" bIns="0" rtlCol="0" anchor="ctr"/>
          <a:lstStyle/>
          <a:p>
            <a:pPr marL="0" indent="0">
              <a:lnSpc>
                <a:spcPct val="115000"/>
              </a:lnSpc>
              <a:buNone/>
            </a:pPr>
            <a:r>
              <a:rPr lang="en-US" sz="1200" dirty="0">
                <a:solidFill>
                  <a:srgbClr val="5A5F73"/>
                </a:solidFill>
                <a:latin typeface="Calibri" pitchFamily="34" charset="0"/>
                <a:ea typeface="Calibri" pitchFamily="34" charset="-122"/>
                <a:cs typeface="Calibri" pitchFamily="34" charset="-120"/>
              </a:rPr>
              <a:t>La interpretación de varias variables, en especial tipo_credito, se basa en inferencia propia.</a:t>
            </a:r>
            <a:endParaRPr lang="en-US" sz="1200" dirty="0"/>
          </a:p>
        </p:txBody>
      </p:sp>
      <p:sp>
        <p:nvSpPr>
          <p:cNvPr id="20" name="Text 18"/>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21" name="Text 19"/>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marL="0" indent="0">
              <a:buNone/>
            </a:pPr>
            <a:r>
              <a:rPr lang="en-US" sz="1300" b="1" kern="0" spc="200" dirty="0">
                <a:solidFill>
                  <a:srgbClr val="B33A3A"/>
                </a:solidFill>
                <a:latin typeface="Calibri" pitchFamily="34" charset="0"/>
                <a:ea typeface="Calibri" pitchFamily="34" charset="-122"/>
                <a:cs typeface="Calibri" pitchFamily="34" charset="-120"/>
              </a:rPr>
              <a:t>PARA EL NEGOCIO</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Recomendaciones accionables</a:t>
            </a:r>
            <a:endParaRPr lang="en-US" sz="3000" dirty="0"/>
          </a:p>
        </p:txBody>
      </p:sp>
      <p:sp>
        <p:nvSpPr>
          <p:cNvPr id="4" name="Shape 2"/>
          <p:cNvSpPr/>
          <p:nvPr/>
        </p:nvSpPr>
        <p:spPr>
          <a:xfrm>
            <a:off x="548640" y="1965960"/>
            <a:ext cx="3566160" cy="4023360"/>
          </a:xfrm>
          <a:prstGeom prst="roundRect">
            <a:avLst>
              <a:gd name="adj" fmla="val 2564"/>
            </a:avLst>
          </a:prstGeom>
          <a:solidFill>
            <a:srgbClr val="1E2761"/>
          </a:solidFill>
          <a:ln/>
        </p:spPr>
        <p:txBody>
          <a:bodyPr/>
          <a:lstStyle/>
          <a:p>
            <a:endParaRPr lang="es-CO"/>
          </a:p>
        </p:txBody>
      </p:sp>
      <p:sp>
        <p:nvSpPr>
          <p:cNvPr id="5" name="Shape 3"/>
          <p:cNvSpPr/>
          <p:nvPr/>
        </p:nvSpPr>
        <p:spPr>
          <a:xfrm>
            <a:off x="868680" y="2286000"/>
            <a:ext cx="548640" cy="548640"/>
          </a:xfrm>
          <a:prstGeom prst="ellipse">
            <a:avLst/>
          </a:prstGeom>
          <a:solidFill>
            <a:srgbClr val="1E2761"/>
          </a:solidFill>
          <a:ln/>
        </p:spPr>
        <p:txBody>
          <a:bodyPr/>
          <a:lstStyle/>
          <a:p>
            <a:endParaRPr lang="es-CO"/>
          </a:p>
        </p:txBody>
      </p:sp>
      <p:sp>
        <p:nvSpPr>
          <p:cNvPr id="6" name="Text 4"/>
          <p:cNvSpPr/>
          <p:nvPr/>
        </p:nvSpPr>
        <p:spPr>
          <a:xfrm>
            <a:off x="868680" y="22860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868680" y="3063240"/>
            <a:ext cx="2926080" cy="64008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Alerta temprana</a:t>
            </a:r>
            <a:endParaRPr lang="en-US" sz="1800" dirty="0"/>
          </a:p>
        </p:txBody>
      </p:sp>
      <p:sp>
        <p:nvSpPr>
          <p:cNvPr id="8" name="Text 6"/>
          <p:cNvSpPr/>
          <p:nvPr/>
        </p:nvSpPr>
        <p:spPr>
          <a:xfrm>
            <a:off x="868680" y="3794760"/>
            <a:ext cx="2926080" cy="2011680"/>
          </a:xfrm>
          <a:prstGeom prst="rect">
            <a:avLst/>
          </a:prstGeom>
          <a:noFill/>
          <a:ln/>
        </p:spPr>
        <p:txBody>
          <a:bodyPr wrap="square" lIns="0" tIns="0" rIns="0" bIns="0" rtlCol="0" anchor="t"/>
          <a:lstStyle/>
          <a:p>
            <a:pPr marL="0" indent="0">
              <a:lnSpc>
                <a:spcPct val="125000"/>
              </a:lnSpc>
              <a:buNone/>
            </a:pPr>
            <a:r>
              <a:rPr lang="en-US" sz="1300" dirty="0">
                <a:solidFill>
                  <a:srgbClr val="CADCFC"/>
                </a:solidFill>
                <a:latin typeface="Calibri" pitchFamily="34" charset="0"/>
                <a:ea typeface="Calibri" pitchFamily="34" charset="-122"/>
                <a:cs typeface="Calibri" pitchFamily="34" charset="-120"/>
              </a:rPr>
              <a:t>Incorporar mora previa y el tipo de crédito 6 como criterios de alerta en la originación.</a:t>
            </a:r>
            <a:endParaRPr lang="en-US" sz="1300" dirty="0"/>
          </a:p>
        </p:txBody>
      </p:sp>
      <p:sp>
        <p:nvSpPr>
          <p:cNvPr id="9" name="Shape 7"/>
          <p:cNvSpPr/>
          <p:nvPr/>
        </p:nvSpPr>
        <p:spPr>
          <a:xfrm>
            <a:off x="4343400" y="1965960"/>
            <a:ext cx="3566160" cy="4023360"/>
          </a:xfrm>
          <a:prstGeom prst="roundRect">
            <a:avLst>
              <a:gd name="adj" fmla="val 2564"/>
            </a:avLst>
          </a:prstGeom>
          <a:solidFill>
            <a:srgbClr val="F4F7FC"/>
          </a:solidFill>
          <a:ln/>
        </p:spPr>
        <p:txBody>
          <a:bodyPr/>
          <a:lstStyle/>
          <a:p>
            <a:endParaRPr lang="es-CO"/>
          </a:p>
        </p:txBody>
      </p:sp>
      <p:sp>
        <p:nvSpPr>
          <p:cNvPr id="10" name="Shape 8"/>
          <p:cNvSpPr/>
          <p:nvPr/>
        </p:nvSpPr>
        <p:spPr>
          <a:xfrm>
            <a:off x="4663440" y="2286000"/>
            <a:ext cx="548640" cy="548640"/>
          </a:xfrm>
          <a:prstGeom prst="ellipse">
            <a:avLst/>
          </a:prstGeom>
          <a:solidFill>
            <a:srgbClr val="1E2761"/>
          </a:solidFill>
          <a:ln/>
        </p:spPr>
        <p:txBody>
          <a:bodyPr/>
          <a:lstStyle/>
          <a:p>
            <a:endParaRPr lang="es-CO"/>
          </a:p>
        </p:txBody>
      </p:sp>
      <p:sp>
        <p:nvSpPr>
          <p:cNvPr id="11" name="Text 9"/>
          <p:cNvSpPr/>
          <p:nvPr/>
        </p:nvSpPr>
        <p:spPr>
          <a:xfrm>
            <a:off x="4663440" y="22860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4663440" y="3063240"/>
            <a:ext cx="2926080" cy="64008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Auditoría de origen</a:t>
            </a:r>
            <a:endParaRPr lang="en-US" sz="1800" dirty="0"/>
          </a:p>
        </p:txBody>
      </p:sp>
      <p:sp>
        <p:nvSpPr>
          <p:cNvPr id="13" name="Text 11"/>
          <p:cNvSpPr/>
          <p:nvPr/>
        </p:nvSpPr>
        <p:spPr>
          <a:xfrm>
            <a:off x="4663440" y="3794760"/>
            <a:ext cx="2926080" cy="2011680"/>
          </a:xfrm>
          <a:prstGeom prst="rect">
            <a:avLst/>
          </a:prstGeom>
          <a:noFill/>
          <a:ln/>
        </p:spPr>
        <p:txBody>
          <a:bodyPr wrap="square" lIns="0" tIns="0" rIns="0" bIns="0" rtlCol="0" anchor="t"/>
          <a:lstStyle/>
          <a:p>
            <a:pPr marL="0" indent="0">
              <a:lnSpc>
                <a:spcPct val="125000"/>
              </a:lnSpc>
              <a:buNone/>
            </a:pPr>
            <a:r>
              <a:rPr lang="en-US" sz="1300" dirty="0">
                <a:solidFill>
                  <a:srgbClr val="5A5F73"/>
                </a:solidFill>
                <a:latin typeface="Calibri" pitchFamily="34" charset="0"/>
                <a:ea typeface="Calibri" pitchFamily="34" charset="-122"/>
                <a:cs typeface="Calibri" pitchFamily="34" charset="-120"/>
              </a:rPr>
              <a:t>Corregir en la fuente los errores de captura (edades, salarios, categorías) que hoy se corrigen en el análisis.</a:t>
            </a:r>
            <a:endParaRPr lang="en-US" sz="1300" dirty="0"/>
          </a:p>
        </p:txBody>
      </p:sp>
      <p:sp>
        <p:nvSpPr>
          <p:cNvPr id="14" name="Shape 12"/>
          <p:cNvSpPr/>
          <p:nvPr/>
        </p:nvSpPr>
        <p:spPr>
          <a:xfrm>
            <a:off x="8138160" y="1965960"/>
            <a:ext cx="3566160" cy="4023360"/>
          </a:xfrm>
          <a:prstGeom prst="roundRect">
            <a:avLst>
              <a:gd name="adj" fmla="val 2564"/>
            </a:avLst>
          </a:prstGeom>
          <a:solidFill>
            <a:srgbClr val="F4F7FC"/>
          </a:solidFill>
          <a:ln/>
        </p:spPr>
        <p:txBody>
          <a:bodyPr/>
          <a:lstStyle/>
          <a:p>
            <a:endParaRPr lang="es-CO"/>
          </a:p>
        </p:txBody>
      </p:sp>
      <p:sp>
        <p:nvSpPr>
          <p:cNvPr id="15" name="Shape 13"/>
          <p:cNvSpPr/>
          <p:nvPr/>
        </p:nvSpPr>
        <p:spPr>
          <a:xfrm>
            <a:off x="8458200" y="2286000"/>
            <a:ext cx="548640" cy="548640"/>
          </a:xfrm>
          <a:prstGeom prst="ellipse">
            <a:avLst/>
          </a:prstGeom>
          <a:solidFill>
            <a:srgbClr val="1E2761"/>
          </a:solidFill>
          <a:ln/>
        </p:spPr>
        <p:txBody>
          <a:bodyPr/>
          <a:lstStyle/>
          <a:p>
            <a:endParaRPr lang="es-CO"/>
          </a:p>
        </p:txBody>
      </p:sp>
      <p:sp>
        <p:nvSpPr>
          <p:cNvPr id="16" name="Text 14"/>
          <p:cNvSpPr/>
          <p:nvPr/>
        </p:nvSpPr>
        <p:spPr>
          <a:xfrm>
            <a:off x="8458200" y="22860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8458200" y="3063240"/>
            <a:ext cx="2926080" cy="64008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Investigación dirigida</a:t>
            </a:r>
            <a:endParaRPr lang="en-US" sz="1800" dirty="0"/>
          </a:p>
        </p:txBody>
      </p:sp>
      <p:sp>
        <p:nvSpPr>
          <p:cNvPr id="18" name="Text 16"/>
          <p:cNvSpPr/>
          <p:nvPr/>
        </p:nvSpPr>
        <p:spPr>
          <a:xfrm>
            <a:off x="8458200" y="3794760"/>
            <a:ext cx="2926080" cy="2011680"/>
          </a:xfrm>
          <a:prstGeom prst="rect">
            <a:avLst/>
          </a:prstGeom>
          <a:noFill/>
          <a:ln/>
        </p:spPr>
        <p:txBody>
          <a:bodyPr wrap="square" lIns="0" tIns="0" rIns="0" bIns="0" rtlCol="0" anchor="t"/>
          <a:lstStyle/>
          <a:p>
            <a:pPr marL="0" indent="0">
              <a:lnSpc>
                <a:spcPct val="125000"/>
              </a:lnSpc>
              <a:buNone/>
            </a:pPr>
            <a:r>
              <a:rPr lang="en-US" sz="1300" dirty="0">
                <a:solidFill>
                  <a:srgbClr val="5A5F73"/>
                </a:solidFill>
                <a:latin typeface="Calibri" pitchFamily="34" charset="0"/>
                <a:ea typeface="Calibri" pitchFamily="34" charset="-122"/>
                <a:cs typeface="Calibri" pitchFamily="34" charset="-120"/>
              </a:rPr>
              <a:t>Trabajar con el área de producto para entender qué representa el tipo de crédito 6.</a:t>
            </a:r>
            <a:endParaRPr lang="en-US" sz="1300" dirty="0"/>
          </a:p>
        </p:txBody>
      </p:sp>
      <p:sp>
        <p:nvSpPr>
          <p:cNvPr id="19" name="Text 17"/>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20" name="Text 18"/>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4" name="Shape 2"/>
          <p:cNvSpPr/>
          <p:nvPr/>
        </p:nvSpPr>
        <p:spPr>
          <a:xfrm>
            <a:off x="548640" y="1920240"/>
            <a:ext cx="502920" cy="502920"/>
          </a:xfrm>
          <a:prstGeom prst="ellipse">
            <a:avLst/>
          </a:prstGeom>
          <a:solidFill>
            <a:srgbClr val="B33A3A"/>
          </a:solidFill>
          <a:ln/>
        </p:spPr>
        <p:txBody>
          <a:bodyPr/>
          <a:lstStyle/>
          <a:p>
            <a:endParaRPr lang="es-CO"/>
          </a:p>
        </p:txBody>
      </p:sp>
      <p:sp>
        <p:nvSpPr>
          <p:cNvPr id="5" name="Text 3"/>
          <p:cNvSpPr/>
          <p:nvPr/>
        </p:nvSpPr>
        <p:spPr>
          <a:xfrm>
            <a:off x="548640" y="1920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548640" y="2578608"/>
            <a:ext cx="2084832" cy="640080"/>
          </a:xfrm>
          <a:prstGeom prst="rect">
            <a:avLst/>
          </a:prstGeom>
          <a:noFill/>
          <a:ln/>
        </p:spPr>
        <p:txBody>
          <a:bodyPr wrap="square" lIns="0" tIns="0" rIns="0" bIns="0" rtlCol="0" anchor="t"/>
          <a:lstStyle/>
          <a:p>
            <a:pPr marL="0" indent="0">
              <a:buNone/>
            </a:pPr>
            <a:r>
              <a:rPr lang="en-US" sz="1300" b="1" dirty="0">
                <a:solidFill>
                  <a:srgbClr val="B33A3A"/>
                </a:solidFill>
                <a:latin typeface="Calibri" pitchFamily="34" charset="0"/>
                <a:ea typeface="Calibri" pitchFamily="34" charset="-122"/>
                <a:cs typeface="Calibri" pitchFamily="34" charset="-120"/>
              </a:rPr>
              <a:t>EDA + Limpieza</a:t>
            </a:r>
            <a:endParaRPr lang="en-US" sz="1300" dirty="0"/>
          </a:p>
        </p:txBody>
      </p:sp>
      <p:sp>
        <p:nvSpPr>
          <p:cNvPr id="7" name="Text 5"/>
          <p:cNvSpPr/>
          <p:nvPr/>
        </p:nvSpPr>
        <p:spPr>
          <a:xfrm>
            <a:off x="548640" y="3200400"/>
            <a:ext cx="2084832" cy="1417320"/>
          </a:xfrm>
          <a:prstGeom prst="rect">
            <a:avLst/>
          </a:prstGeom>
          <a:noFill/>
          <a:ln/>
        </p:spPr>
        <p:txBody>
          <a:bodyPr wrap="square" lIns="0" tIns="0" rIns="0" bIns="0" rtlCol="0" anchor="t"/>
          <a:lstStyle/>
          <a:p>
            <a:pPr marL="0" indent="0">
              <a:lnSpc>
                <a:spcPct val="115000"/>
              </a:lnSpc>
              <a:buNone/>
            </a:pPr>
            <a:r>
              <a:rPr lang="en-US" sz="1000" dirty="0">
                <a:solidFill>
                  <a:srgbClr val="5A5F73"/>
                </a:solidFill>
                <a:latin typeface="Calibri" pitchFamily="34" charset="0"/>
                <a:ea typeface="Calibri" pitchFamily="34" charset="-122"/>
                <a:cs typeface="Calibri" pitchFamily="34" charset="-120"/>
              </a:rPr>
              <a:t>Comprensión, calidad de datos e insights</a:t>
            </a:r>
            <a:endParaRPr lang="en-US" sz="1000" dirty="0"/>
          </a:p>
        </p:txBody>
      </p:sp>
      <p:sp>
        <p:nvSpPr>
          <p:cNvPr id="8" name="Text 6"/>
          <p:cNvSpPr/>
          <p:nvPr/>
        </p:nvSpPr>
        <p:spPr>
          <a:xfrm>
            <a:off x="548640" y="4663440"/>
            <a:ext cx="2084832" cy="320040"/>
          </a:xfrm>
          <a:prstGeom prst="rect">
            <a:avLst/>
          </a:prstGeom>
          <a:noFill/>
          <a:ln/>
        </p:spPr>
        <p:txBody>
          <a:bodyPr wrap="square" lIns="0" tIns="0" rIns="0" bIns="0" rtlCol="0" anchor="ctr"/>
          <a:lstStyle/>
          <a:p>
            <a:pPr marL="0" indent="0">
              <a:buNone/>
            </a:pPr>
            <a:r>
              <a:rPr lang="en-US" sz="900" i="1" dirty="0">
                <a:solidFill>
                  <a:srgbClr val="8A8FA3"/>
                </a:solidFill>
                <a:latin typeface="Consolas" pitchFamily="34" charset="0"/>
                <a:ea typeface="Consolas" pitchFamily="34" charset="-122"/>
                <a:cs typeface="Consolas" pitchFamily="34" charset="-120"/>
              </a:rPr>
              <a:t>transformacion_eda.ipynb</a:t>
            </a:r>
            <a:endParaRPr lang="en-US" sz="900" dirty="0"/>
          </a:p>
        </p:txBody>
      </p:sp>
      <p:sp>
        <p:nvSpPr>
          <p:cNvPr id="9" name="Shape 7"/>
          <p:cNvSpPr/>
          <p:nvPr/>
        </p:nvSpPr>
        <p:spPr>
          <a:xfrm>
            <a:off x="2651760" y="2167128"/>
            <a:ext cx="128016" cy="0"/>
          </a:xfrm>
          <a:prstGeom prst="line">
            <a:avLst/>
          </a:prstGeom>
          <a:noFill/>
          <a:ln w="25400">
            <a:solidFill>
              <a:srgbClr val="CADCFC"/>
            </a:solidFill>
            <a:prstDash val="solid"/>
          </a:ln>
        </p:spPr>
        <p:txBody>
          <a:bodyPr/>
          <a:lstStyle/>
          <a:p>
            <a:endParaRPr lang="es-CO"/>
          </a:p>
        </p:txBody>
      </p:sp>
      <p:sp>
        <p:nvSpPr>
          <p:cNvPr id="10" name="Shape 8"/>
          <p:cNvSpPr/>
          <p:nvPr/>
        </p:nvSpPr>
        <p:spPr>
          <a:xfrm>
            <a:off x="2798064" y="1920240"/>
            <a:ext cx="502920" cy="502920"/>
          </a:xfrm>
          <a:prstGeom prst="ellipse">
            <a:avLst/>
          </a:prstGeom>
          <a:solidFill>
            <a:srgbClr val="1E2761"/>
          </a:solidFill>
          <a:ln/>
        </p:spPr>
        <p:txBody>
          <a:bodyPr/>
          <a:lstStyle/>
          <a:p>
            <a:endParaRPr lang="es-CO"/>
          </a:p>
        </p:txBody>
      </p:sp>
      <p:sp>
        <p:nvSpPr>
          <p:cNvPr id="11" name="Text 9"/>
          <p:cNvSpPr/>
          <p:nvPr/>
        </p:nvSpPr>
        <p:spPr>
          <a:xfrm>
            <a:off x="2798064" y="1920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2798064" y="2578608"/>
            <a:ext cx="2084832" cy="640080"/>
          </a:xfrm>
          <a:prstGeom prst="rect">
            <a:avLst/>
          </a:prstGeom>
          <a:noFill/>
          <a:ln/>
        </p:spPr>
        <p:txBody>
          <a:bodyPr wrap="square" lIns="0" tIns="0" rIns="0" bIns="0"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Feature Engineering</a:t>
            </a:r>
            <a:endParaRPr lang="en-US" sz="1300" dirty="0"/>
          </a:p>
        </p:txBody>
      </p:sp>
      <p:sp>
        <p:nvSpPr>
          <p:cNvPr id="13" name="Text 11"/>
          <p:cNvSpPr/>
          <p:nvPr/>
        </p:nvSpPr>
        <p:spPr>
          <a:xfrm>
            <a:off x="2798064" y="3200400"/>
            <a:ext cx="2084832" cy="1417320"/>
          </a:xfrm>
          <a:prstGeom prst="rect">
            <a:avLst/>
          </a:prstGeom>
          <a:noFill/>
          <a:ln/>
        </p:spPr>
        <p:txBody>
          <a:bodyPr wrap="square" lIns="0" tIns="0" rIns="0" bIns="0" rtlCol="0" anchor="t"/>
          <a:lstStyle/>
          <a:p>
            <a:pPr marL="0" indent="0">
              <a:lnSpc>
                <a:spcPct val="115000"/>
              </a:lnSpc>
              <a:buNone/>
            </a:pPr>
            <a:r>
              <a:rPr lang="en-US" sz="1000" dirty="0">
                <a:solidFill>
                  <a:srgbClr val="5A5F73"/>
                </a:solidFill>
                <a:latin typeface="Calibri" pitchFamily="34" charset="0"/>
                <a:ea typeface="Calibri" pitchFamily="34" charset="-122"/>
                <a:cs typeface="Calibri" pitchFamily="34" charset="-120"/>
              </a:rPr>
              <a:t>Formalizar tiene_mora_previa y consultas_por_credito</a:t>
            </a:r>
            <a:endParaRPr lang="en-US" sz="1000" dirty="0"/>
          </a:p>
        </p:txBody>
      </p:sp>
      <p:sp>
        <p:nvSpPr>
          <p:cNvPr id="14" name="Text 12"/>
          <p:cNvSpPr/>
          <p:nvPr/>
        </p:nvSpPr>
        <p:spPr>
          <a:xfrm>
            <a:off x="2798064" y="4663440"/>
            <a:ext cx="2084832" cy="320040"/>
          </a:xfrm>
          <a:prstGeom prst="rect">
            <a:avLst/>
          </a:prstGeom>
          <a:noFill/>
          <a:ln/>
        </p:spPr>
        <p:txBody>
          <a:bodyPr wrap="square" lIns="0" tIns="0" rIns="0" bIns="0" rtlCol="0" anchor="ctr"/>
          <a:lstStyle/>
          <a:p>
            <a:pPr marL="0" indent="0">
              <a:buNone/>
            </a:pPr>
            <a:r>
              <a:rPr lang="en-US" sz="900" i="1" dirty="0">
                <a:solidFill>
                  <a:srgbClr val="8A8FA3"/>
                </a:solidFill>
                <a:latin typeface="Consolas" pitchFamily="34" charset="0"/>
                <a:ea typeface="Consolas" pitchFamily="34" charset="-122"/>
                <a:cs typeface="Consolas" pitchFamily="34" charset="-120"/>
              </a:rPr>
              <a:t>ft_engineering.py</a:t>
            </a:r>
            <a:endParaRPr lang="en-US" sz="900" dirty="0"/>
          </a:p>
        </p:txBody>
      </p:sp>
      <p:sp>
        <p:nvSpPr>
          <p:cNvPr id="15" name="Shape 13"/>
          <p:cNvSpPr/>
          <p:nvPr/>
        </p:nvSpPr>
        <p:spPr>
          <a:xfrm>
            <a:off x="4901184" y="2167128"/>
            <a:ext cx="128016" cy="0"/>
          </a:xfrm>
          <a:prstGeom prst="line">
            <a:avLst/>
          </a:prstGeom>
          <a:noFill/>
          <a:ln w="25400">
            <a:solidFill>
              <a:srgbClr val="CADCFC"/>
            </a:solidFill>
            <a:prstDash val="solid"/>
          </a:ln>
        </p:spPr>
        <p:txBody>
          <a:bodyPr/>
          <a:lstStyle/>
          <a:p>
            <a:endParaRPr lang="es-CO"/>
          </a:p>
        </p:txBody>
      </p:sp>
      <p:sp>
        <p:nvSpPr>
          <p:cNvPr id="16" name="Shape 14"/>
          <p:cNvSpPr/>
          <p:nvPr/>
        </p:nvSpPr>
        <p:spPr>
          <a:xfrm>
            <a:off x="5047488" y="1920240"/>
            <a:ext cx="502920" cy="502920"/>
          </a:xfrm>
          <a:prstGeom prst="ellipse">
            <a:avLst/>
          </a:prstGeom>
          <a:solidFill>
            <a:srgbClr val="1E2761"/>
          </a:solidFill>
          <a:ln/>
        </p:spPr>
        <p:txBody>
          <a:bodyPr/>
          <a:lstStyle/>
          <a:p>
            <a:endParaRPr lang="es-CO"/>
          </a:p>
        </p:txBody>
      </p:sp>
      <p:sp>
        <p:nvSpPr>
          <p:cNvPr id="17" name="Text 15"/>
          <p:cNvSpPr/>
          <p:nvPr/>
        </p:nvSpPr>
        <p:spPr>
          <a:xfrm>
            <a:off x="5047488" y="1920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p:nvPr/>
        </p:nvSpPr>
        <p:spPr>
          <a:xfrm>
            <a:off x="5047488" y="2578608"/>
            <a:ext cx="2084832" cy="640080"/>
          </a:xfrm>
          <a:prstGeom prst="rect">
            <a:avLst/>
          </a:prstGeom>
          <a:noFill/>
          <a:ln/>
        </p:spPr>
        <p:txBody>
          <a:bodyPr wrap="square" lIns="0" tIns="0" rIns="0" bIns="0"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Modelado predictivo</a:t>
            </a:r>
            <a:endParaRPr lang="en-US" sz="1300" dirty="0"/>
          </a:p>
        </p:txBody>
      </p:sp>
      <p:sp>
        <p:nvSpPr>
          <p:cNvPr id="19" name="Text 17"/>
          <p:cNvSpPr/>
          <p:nvPr/>
        </p:nvSpPr>
        <p:spPr>
          <a:xfrm>
            <a:off x="5047488" y="3200400"/>
            <a:ext cx="2084832" cy="1417320"/>
          </a:xfrm>
          <a:prstGeom prst="rect">
            <a:avLst/>
          </a:prstGeom>
          <a:noFill/>
          <a:ln/>
        </p:spPr>
        <p:txBody>
          <a:bodyPr wrap="square" lIns="0" tIns="0" rIns="0" bIns="0" rtlCol="0" anchor="t"/>
          <a:lstStyle/>
          <a:p>
            <a:pPr marL="0" indent="0">
              <a:lnSpc>
                <a:spcPct val="115000"/>
              </a:lnSpc>
              <a:buNone/>
            </a:pPr>
            <a:r>
              <a:rPr lang="en-US" sz="1000" dirty="0">
                <a:solidFill>
                  <a:srgbClr val="5A5F73"/>
                </a:solidFill>
                <a:latin typeface="Calibri" pitchFamily="34" charset="0"/>
                <a:ea typeface="Calibri" pitchFamily="34" charset="-122"/>
                <a:cs typeface="Calibri" pitchFamily="34" charset="-120"/>
              </a:rPr>
              <a:t>Manejo del desbalance (20:1), métricas recall/F1/AUC-PR</a:t>
            </a:r>
            <a:endParaRPr lang="en-US" sz="1000" dirty="0"/>
          </a:p>
        </p:txBody>
      </p:sp>
      <p:sp>
        <p:nvSpPr>
          <p:cNvPr id="20" name="Text 18"/>
          <p:cNvSpPr/>
          <p:nvPr/>
        </p:nvSpPr>
        <p:spPr>
          <a:xfrm>
            <a:off x="5047488" y="4663440"/>
            <a:ext cx="2084832" cy="320040"/>
          </a:xfrm>
          <a:prstGeom prst="rect">
            <a:avLst/>
          </a:prstGeom>
          <a:noFill/>
          <a:ln/>
        </p:spPr>
        <p:txBody>
          <a:bodyPr wrap="square" lIns="0" tIns="0" rIns="0" bIns="0" rtlCol="0" anchor="ctr"/>
          <a:lstStyle/>
          <a:p>
            <a:pPr marL="0" indent="0">
              <a:buNone/>
            </a:pPr>
            <a:r>
              <a:rPr lang="en-US" sz="900" i="1" dirty="0">
                <a:solidFill>
                  <a:srgbClr val="8A8FA3"/>
                </a:solidFill>
                <a:latin typeface="Consolas" pitchFamily="34" charset="0"/>
                <a:ea typeface="Consolas" pitchFamily="34" charset="-122"/>
                <a:cs typeface="Consolas" pitchFamily="34" charset="-120"/>
              </a:rPr>
              <a:t>model_training_evaluation.py</a:t>
            </a:r>
            <a:endParaRPr lang="en-US" sz="900" dirty="0"/>
          </a:p>
        </p:txBody>
      </p:sp>
      <p:sp>
        <p:nvSpPr>
          <p:cNvPr id="21" name="Shape 19"/>
          <p:cNvSpPr/>
          <p:nvPr/>
        </p:nvSpPr>
        <p:spPr>
          <a:xfrm>
            <a:off x="7150608" y="2167128"/>
            <a:ext cx="128016" cy="0"/>
          </a:xfrm>
          <a:prstGeom prst="line">
            <a:avLst/>
          </a:prstGeom>
          <a:noFill/>
          <a:ln w="25400">
            <a:solidFill>
              <a:srgbClr val="CADCFC"/>
            </a:solidFill>
            <a:prstDash val="solid"/>
          </a:ln>
        </p:spPr>
        <p:txBody>
          <a:bodyPr/>
          <a:lstStyle/>
          <a:p>
            <a:endParaRPr lang="es-CO"/>
          </a:p>
        </p:txBody>
      </p:sp>
      <p:sp>
        <p:nvSpPr>
          <p:cNvPr id="22" name="Shape 20"/>
          <p:cNvSpPr/>
          <p:nvPr/>
        </p:nvSpPr>
        <p:spPr>
          <a:xfrm>
            <a:off x="7296912" y="1920240"/>
            <a:ext cx="502920" cy="502920"/>
          </a:xfrm>
          <a:prstGeom prst="ellipse">
            <a:avLst/>
          </a:prstGeom>
          <a:solidFill>
            <a:srgbClr val="1E2761"/>
          </a:solidFill>
          <a:ln/>
        </p:spPr>
        <p:txBody>
          <a:bodyPr/>
          <a:lstStyle/>
          <a:p>
            <a:endParaRPr lang="es-CO"/>
          </a:p>
        </p:txBody>
      </p:sp>
      <p:sp>
        <p:nvSpPr>
          <p:cNvPr id="23" name="Text 21"/>
          <p:cNvSpPr/>
          <p:nvPr/>
        </p:nvSpPr>
        <p:spPr>
          <a:xfrm>
            <a:off x="7296912" y="1920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4" name="Text 22"/>
          <p:cNvSpPr/>
          <p:nvPr/>
        </p:nvSpPr>
        <p:spPr>
          <a:xfrm>
            <a:off x="7296912" y="2578608"/>
            <a:ext cx="2084832" cy="640080"/>
          </a:xfrm>
          <a:prstGeom prst="rect">
            <a:avLst/>
          </a:prstGeom>
          <a:noFill/>
          <a:ln/>
        </p:spPr>
        <p:txBody>
          <a:bodyPr wrap="square" lIns="0" tIns="0" rIns="0" bIns="0"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Despliegue</a:t>
            </a:r>
            <a:endParaRPr lang="en-US" sz="1300" dirty="0"/>
          </a:p>
        </p:txBody>
      </p:sp>
      <p:sp>
        <p:nvSpPr>
          <p:cNvPr id="25" name="Text 23"/>
          <p:cNvSpPr/>
          <p:nvPr/>
        </p:nvSpPr>
        <p:spPr>
          <a:xfrm>
            <a:off x="7296912" y="3200400"/>
            <a:ext cx="2084832" cy="1417320"/>
          </a:xfrm>
          <a:prstGeom prst="rect">
            <a:avLst/>
          </a:prstGeom>
          <a:noFill/>
          <a:ln/>
        </p:spPr>
        <p:txBody>
          <a:bodyPr wrap="square" lIns="0" tIns="0" rIns="0" bIns="0" rtlCol="0" anchor="t"/>
          <a:lstStyle/>
          <a:p>
            <a:pPr marL="0" indent="0">
              <a:lnSpc>
                <a:spcPct val="115000"/>
              </a:lnSpc>
              <a:buNone/>
            </a:pPr>
            <a:r>
              <a:rPr lang="en-US" sz="1000" dirty="0">
                <a:solidFill>
                  <a:srgbClr val="5A5F73"/>
                </a:solidFill>
                <a:latin typeface="Calibri" pitchFamily="34" charset="0"/>
                <a:ea typeface="Calibri" pitchFamily="34" charset="-122"/>
                <a:cs typeface="Calibri" pitchFamily="34" charset="-120"/>
              </a:rPr>
              <a:t>Poner el modelo en producción</a:t>
            </a:r>
            <a:endParaRPr lang="en-US" sz="1000" dirty="0"/>
          </a:p>
        </p:txBody>
      </p:sp>
      <p:sp>
        <p:nvSpPr>
          <p:cNvPr id="26" name="Text 24"/>
          <p:cNvSpPr/>
          <p:nvPr/>
        </p:nvSpPr>
        <p:spPr>
          <a:xfrm>
            <a:off x="7296912" y="4663440"/>
            <a:ext cx="2084832" cy="320040"/>
          </a:xfrm>
          <a:prstGeom prst="rect">
            <a:avLst/>
          </a:prstGeom>
          <a:noFill/>
          <a:ln/>
        </p:spPr>
        <p:txBody>
          <a:bodyPr wrap="square" lIns="0" tIns="0" rIns="0" bIns="0" rtlCol="0" anchor="ctr"/>
          <a:lstStyle/>
          <a:p>
            <a:pPr marL="0" indent="0">
              <a:buNone/>
            </a:pPr>
            <a:r>
              <a:rPr lang="en-US" sz="900" i="1" dirty="0">
                <a:solidFill>
                  <a:srgbClr val="8A8FA3"/>
                </a:solidFill>
                <a:latin typeface="Consolas" pitchFamily="34" charset="0"/>
                <a:ea typeface="Consolas" pitchFamily="34" charset="-122"/>
                <a:cs typeface="Consolas" pitchFamily="34" charset="-120"/>
              </a:rPr>
              <a:t>model_deploy.py</a:t>
            </a:r>
            <a:endParaRPr lang="en-US" sz="900" dirty="0"/>
          </a:p>
        </p:txBody>
      </p:sp>
      <p:sp>
        <p:nvSpPr>
          <p:cNvPr id="27" name="Shape 25"/>
          <p:cNvSpPr/>
          <p:nvPr/>
        </p:nvSpPr>
        <p:spPr>
          <a:xfrm>
            <a:off x="9400032" y="2167128"/>
            <a:ext cx="128016" cy="0"/>
          </a:xfrm>
          <a:prstGeom prst="line">
            <a:avLst/>
          </a:prstGeom>
          <a:noFill/>
          <a:ln w="25400">
            <a:solidFill>
              <a:srgbClr val="CADCFC"/>
            </a:solidFill>
            <a:prstDash val="solid"/>
          </a:ln>
        </p:spPr>
        <p:txBody>
          <a:bodyPr/>
          <a:lstStyle/>
          <a:p>
            <a:endParaRPr lang="es-CO"/>
          </a:p>
        </p:txBody>
      </p:sp>
      <p:sp>
        <p:nvSpPr>
          <p:cNvPr id="28" name="Shape 26"/>
          <p:cNvSpPr/>
          <p:nvPr/>
        </p:nvSpPr>
        <p:spPr>
          <a:xfrm>
            <a:off x="9546336" y="1920240"/>
            <a:ext cx="502920" cy="502920"/>
          </a:xfrm>
          <a:prstGeom prst="ellipse">
            <a:avLst/>
          </a:prstGeom>
          <a:solidFill>
            <a:srgbClr val="1E2761"/>
          </a:solidFill>
          <a:ln/>
        </p:spPr>
        <p:txBody>
          <a:bodyPr/>
          <a:lstStyle/>
          <a:p>
            <a:endParaRPr lang="es-CO"/>
          </a:p>
        </p:txBody>
      </p:sp>
      <p:sp>
        <p:nvSpPr>
          <p:cNvPr id="29" name="Text 27"/>
          <p:cNvSpPr/>
          <p:nvPr/>
        </p:nvSpPr>
        <p:spPr>
          <a:xfrm>
            <a:off x="9546336" y="1920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0" name="Text 28"/>
          <p:cNvSpPr/>
          <p:nvPr/>
        </p:nvSpPr>
        <p:spPr>
          <a:xfrm>
            <a:off x="9546336" y="2578608"/>
            <a:ext cx="2084832" cy="640080"/>
          </a:xfrm>
          <a:prstGeom prst="rect">
            <a:avLst/>
          </a:prstGeom>
          <a:noFill/>
          <a:ln/>
        </p:spPr>
        <p:txBody>
          <a:bodyPr wrap="square" lIns="0" tIns="0" rIns="0" bIns="0"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Monitoreo</a:t>
            </a:r>
            <a:endParaRPr lang="en-US" sz="1300" dirty="0"/>
          </a:p>
        </p:txBody>
      </p:sp>
      <p:sp>
        <p:nvSpPr>
          <p:cNvPr id="31" name="Text 29"/>
          <p:cNvSpPr/>
          <p:nvPr/>
        </p:nvSpPr>
        <p:spPr>
          <a:xfrm>
            <a:off x="9546336" y="3200400"/>
            <a:ext cx="2084832" cy="1417320"/>
          </a:xfrm>
          <a:prstGeom prst="rect">
            <a:avLst/>
          </a:prstGeom>
          <a:noFill/>
          <a:ln/>
        </p:spPr>
        <p:txBody>
          <a:bodyPr wrap="square" lIns="0" tIns="0" rIns="0" bIns="0" rtlCol="0" anchor="t"/>
          <a:lstStyle/>
          <a:p>
            <a:pPr marL="0" indent="0">
              <a:lnSpc>
                <a:spcPct val="115000"/>
              </a:lnSpc>
              <a:buNone/>
            </a:pPr>
            <a:r>
              <a:rPr lang="en-US" sz="1000" dirty="0">
                <a:solidFill>
                  <a:srgbClr val="5A5F73"/>
                </a:solidFill>
                <a:latin typeface="Calibri" pitchFamily="34" charset="0"/>
                <a:ea typeface="Calibri" pitchFamily="34" charset="-122"/>
                <a:cs typeface="Calibri" pitchFamily="34" charset="-120"/>
              </a:rPr>
              <a:t>Vigilar el desempeño del modelo en el tiempo</a:t>
            </a:r>
            <a:endParaRPr lang="en-US" sz="1000" dirty="0"/>
          </a:p>
        </p:txBody>
      </p:sp>
      <p:sp>
        <p:nvSpPr>
          <p:cNvPr id="32" name="Text 30"/>
          <p:cNvSpPr/>
          <p:nvPr/>
        </p:nvSpPr>
        <p:spPr>
          <a:xfrm>
            <a:off x="9546336" y="4663440"/>
            <a:ext cx="2084832" cy="320040"/>
          </a:xfrm>
          <a:prstGeom prst="rect">
            <a:avLst/>
          </a:prstGeom>
          <a:noFill/>
          <a:ln/>
        </p:spPr>
        <p:txBody>
          <a:bodyPr wrap="square" lIns="0" tIns="0" rIns="0" bIns="0" rtlCol="0" anchor="ctr"/>
          <a:lstStyle/>
          <a:p>
            <a:pPr marL="0" indent="0">
              <a:buNone/>
            </a:pPr>
            <a:r>
              <a:rPr lang="en-US" sz="900" i="1" dirty="0">
                <a:solidFill>
                  <a:srgbClr val="8A8FA3"/>
                </a:solidFill>
                <a:latin typeface="Consolas" pitchFamily="34" charset="0"/>
                <a:ea typeface="Consolas" pitchFamily="34" charset="-122"/>
                <a:cs typeface="Consolas" pitchFamily="34" charset="-120"/>
              </a:rPr>
              <a:t>model_monitoring.py</a:t>
            </a:r>
            <a:endParaRPr lang="en-US" sz="900" dirty="0"/>
          </a:p>
        </p:txBody>
      </p:sp>
      <p:sp>
        <p:nvSpPr>
          <p:cNvPr id="34" name="Text 32"/>
          <p:cNvSpPr/>
          <p:nvPr/>
        </p:nvSpPr>
        <p:spPr>
          <a:xfrm>
            <a:off x="457200" y="6446520"/>
            <a:ext cx="5486400" cy="274320"/>
          </a:xfrm>
          <a:prstGeom prst="rect">
            <a:avLst/>
          </a:prstGeom>
          <a:noFill/>
          <a:ln/>
        </p:spPr>
        <p:txBody>
          <a:bodyPr wrap="square" lIns="0" tIns="0" rIns="0" bIns="0" rtlCol="0" anchor="ctr"/>
          <a:lstStyle/>
          <a:p>
            <a:pPr marL="0" indent="0">
              <a:buNone/>
            </a:pPr>
            <a:r>
              <a:rPr lang="en-US" sz="1000" dirty="0">
                <a:solidFill>
                  <a:srgbClr val="8A8FA3"/>
                </a:solidFill>
                <a:latin typeface="Calibri" pitchFamily="34" charset="0"/>
                <a:ea typeface="Calibri" pitchFamily="34" charset="-122"/>
                <a:cs typeface="Calibri" pitchFamily="34" charset="-120"/>
              </a:rPr>
              <a:t>Análisis de Riesgo Crediticio</a:t>
            </a:r>
            <a:endParaRPr lang="en-US" sz="1000" dirty="0"/>
          </a:p>
        </p:txBody>
      </p:sp>
      <p:sp>
        <p:nvSpPr>
          <p:cNvPr id="35" name="Text 33"/>
          <p:cNvSpPr/>
          <p:nvPr/>
        </p:nvSpPr>
        <p:spPr>
          <a:xfrm>
            <a:off x="11247120" y="6446520"/>
            <a:ext cx="457200" cy="274320"/>
          </a:xfrm>
          <a:prstGeom prst="rect">
            <a:avLst/>
          </a:prstGeom>
          <a:noFill/>
          <a:ln/>
        </p:spPr>
        <p:txBody>
          <a:bodyPr wrap="square" lIns="0" tIns="0" rIns="0" bIns="0" rtlCol="0" anchor="ctr"/>
          <a:lstStyle/>
          <a:p>
            <a:pPr marL="0" indent="0" algn="r">
              <a:buNone/>
            </a:pPr>
            <a:r>
              <a:rPr lang="en-US" sz="1000" dirty="0">
                <a:solidFill>
                  <a:srgbClr val="8A8FA3"/>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2468880"/>
            <a:ext cx="10515600" cy="118872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Gracias</a:t>
            </a:r>
            <a:endParaRPr lang="en-US" sz="4800" dirty="0"/>
          </a:p>
        </p:txBody>
      </p:sp>
      <p:sp>
        <p:nvSpPr>
          <p:cNvPr id="3" name="Text 1"/>
          <p:cNvSpPr/>
          <p:nvPr/>
        </p:nvSpPr>
        <p:spPr>
          <a:xfrm>
            <a:off x="822960" y="3429000"/>
            <a:ext cx="10515600" cy="54864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Preguntas y discusión</a:t>
            </a:r>
            <a:endParaRPr lang="en-US" sz="1800" dirty="0"/>
          </a:p>
        </p:txBody>
      </p:sp>
      <p:sp>
        <p:nvSpPr>
          <p:cNvPr id="4" name="Shape 2"/>
          <p:cNvSpPr/>
          <p:nvPr/>
        </p:nvSpPr>
        <p:spPr>
          <a:xfrm>
            <a:off x="822960" y="4114800"/>
            <a:ext cx="2011680" cy="0"/>
          </a:xfrm>
          <a:prstGeom prst="line">
            <a:avLst/>
          </a:prstGeom>
          <a:noFill/>
          <a:ln w="38100">
            <a:solidFill>
              <a:srgbClr val="B33A3A"/>
            </a:solidFill>
            <a:prstDash val="solid"/>
          </a:ln>
        </p:spPr>
        <p:txBody>
          <a:bodyPr/>
          <a:lstStyle/>
          <a:p>
            <a:endParaRPr lang="es-CO"/>
          </a:p>
        </p:txBody>
      </p:sp>
      <p:sp>
        <p:nvSpPr>
          <p:cNvPr id="5" name="Text 3"/>
          <p:cNvSpPr/>
          <p:nvPr/>
        </p:nvSpPr>
        <p:spPr>
          <a:xfrm>
            <a:off x="822960" y="5989320"/>
            <a:ext cx="822960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Repositorio: github.com/papiarcacamilo/MLOPS_CURSE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2470</Words>
  <Application>Microsoft Office PowerPoint</Application>
  <PresentationFormat>Panorámica</PresentationFormat>
  <Paragraphs>329</Paragraphs>
  <Slides>19</Slides>
  <Notes>19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Calibri</vt:lpstr>
      <vt:lpstr>Cambria</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Camilo Andres Armenta Pedrozo</cp:lastModifiedBy>
  <cp:revision>2</cp:revision>
  <dcterms:created xsi:type="dcterms:W3CDTF">2026-08-23T23:01:48Z</dcterms:created>
  <dcterms:modified xsi:type="dcterms:W3CDTF">2026-08-23T23:06:46Z</dcterms:modified>
</cp:coreProperties>
</file>