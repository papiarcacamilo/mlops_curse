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notesSlides/notesSlide9.xml" ContentType="application/vnd.openxmlformats-officedocument.presentationml.notesSlide+xml"/>
  <Override PartName="/ppt/charts/chart2.xml" ContentType="application/vnd.openxmlformats-officedocument.drawingml.chart+xml"/>
  <Override PartName="/ppt/notesSlides/notesSlide10.xml" ContentType="application/vnd.openxmlformats-officedocument.presentationml.notesSlide+xml"/>
  <Override PartName="/ppt/charts/chart3.xml" ContentType="application/vnd.openxmlformats-officedocument.drawingml.chart+xml"/>
  <Override PartName="/ppt/notesSlides/notesSlide11.xml" ContentType="application/vnd.openxmlformats-officedocument.presentationml.notesSlide+xml"/>
  <Override PartName="/ppt/charts/chart4.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5.xml" ContentType="application/vnd.openxmlformats-officedocument.drawingml.chart+xml"/>
  <Override PartName="/ppt/notesSlides/notesSlide14.xml" ContentType="application/vnd.openxmlformats-officedocument.presentationml.notesSlide+xml"/>
  <Override PartName="/ppt/charts/chart6.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title>
      <c:tx>
        <c:rich>
          <a:bodyPr/>
          <a:lstStyle/>
          <a:p>
            <a:pPr>
              <a:defRPr sz="1400" b="0" i="0" u="none" strike="noStrike">
                <a:solidFill>
                  <a:srgbClr val="1E2761"/>
                </a:solidFill>
                <a:latin typeface="Calibri"/>
              </a:defRPr>
            </a:pPr>
            <a:r>
              <a:rPr lang="es-CO" sz="1400" b="0" i="0" u="none" strike="noStrike">
                <a:solidFill>
                  <a:srgbClr val="1E2761"/>
                </a:solidFill>
                <a:latin typeface="Calibri"/>
              </a:rPr>
              <a:t>Distribución de Pago_atiempo (%)</a:t>
            </a:r>
          </a:p>
        </c:rich>
      </c:tx>
      <c:overlay val="0"/>
    </c:title>
    <c:autoTitleDeleted val="0"/>
    <c:plotArea>
      <c:layout/>
      <c:pieChart>
        <c:varyColors val="1"/>
        <c:ser>
          <c:idx val="0"/>
          <c:order val="0"/>
          <c:tx>
            <c:strRef>
              <c:f>Sheet1!$B$1</c:f>
              <c:strCache>
                <c:ptCount val="1"/>
                <c:pt idx="0">
                  <c:v>Pago_atiempo</c:v>
                </c:pt>
              </c:strCache>
            </c:strRef>
          </c:tx>
          <c:spPr>
            <a:solidFill>
              <a:schemeClr val="accent1"/>
            </a:solidFill>
            <a:ln w="9525" cap="flat">
              <a:solidFill>
                <a:srgbClr val="F9F9F9"/>
              </a:solidFill>
              <a:prstDash val="solid"/>
              <a:round/>
            </a:ln>
            <a:effectLst/>
          </c:spPr>
          <c:dPt>
            <c:idx val="0"/>
            <c:bubble3D val="0"/>
            <c:spPr>
              <a:solidFill>
                <a:srgbClr val="1E2761"/>
              </a:solidFill>
              <a:effectLst/>
            </c:spPr>
            <c:extLst>
              <c:ext xmlns:c16="http://schemas.microsoft.com/office/drawing/2014/chart" uri="{C3380CC4-5D6E-409C-BE32-E72D297353CC}">
                <c16:uniqueId val="{00000001-2A58-4B65-9023-DC9A707F2F27}"/>
              </c:ext>
            </c:extLst>
          </c:dPt>
          <c:dPt>
            <c:idx val="1"/>
            <c:bubble3D val="0"/>
            <c:spPr>
              <a:solidFill>
                <a:srgbClr val="B33A3A"/>
              </a:solidFill>
              <a:effectLst/>
            </c:spPr>
            <c:extLst>
              <c:ext xmlns:c16="http://schemas.microsoft.com/office/drawing/2014/chart" uri="{C3380CC4-5D6E-409C-BE32-E72D297353CC}">
                <c16:uniqueId val="{00000003-2A58-4B65-9023-DC9A707F2F27}"/>
              </c:ext>
            </c:extLst>
          </c:dPt>
          <c:dLbls>
            <c:dLbl>
              <c:idx val="0"/>
              <c:numFmt formatCode="0.0&quot;%&quot;" sourceLinked="0"/>
              <c:spPr/>
              <c:txPr>
                <a:bodyPr/>
                <a:lstStyle/>
                <a:p>
                  <a:pPr>
                    <a:defRPr sz="1200" b="0" i="0" u="none" strike="noStrike">
                      <a:solidFill>
                        <a:srgbClr val="FFFFFF"/>
                      </a:solidFill>
                      <a:latin typeface="Calibri"/>
                    </a:defRPr>
                  </a:pPr>
                  <a:endParaRPr lang="es-CO"/>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2A58-4B65-9023-DC9A707F2F27}"/>
                </c:ext>
              </c:extLst>
            </c:dLbl>
            <c:dLbl>
              <c:idx val="1"/>
              <c:numFmt formatCode="0.0&quot;%&quot;" sourceLinked="0"/>
              <c:spPr/>
              <c:txPr>
                <a:bodyPr/>
                <a:lstStyle/>
                <a:p>
                  <a:pPr>
                    <a:defRPr sz="1200" b="0" i="0" u="none" strike="noStrike">
                      <a:solidFill>
                        <a:srgbClr val="FFFFFF"/>
                      </a:solidFill>
                      <a:latin typeface="Calibri"/>
                    </a:defRPr>
                  </a:pPr>
                  <a:endParaRPr lang="es-CO"/>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2A58-4B65-9023-DC9A707F2F27}"/>
                </c:ext>
              </c:extLst>
            </c:dLbl>
            <c:numFmt formatCode="0.0&quot;%&quot;" sourceLinked="0"/>
            <c:spPr>
              <a:noFill/>
              <a:ln>
                <a:noFill/>
              </a:ln>
              <a:effectLst/>
            </c:spPr>
            <c:txPr>
              <a:bodyPr/>
              <a:lstStyle/>
              <a:p>
                <a:pPr>
                  <a:defRPr sz="1800" b="0" i="0" u="none" strike="noStrike">
                    <a:solidFill>
                      <a:srgbClr val="000000"/>
                    </a:solidFill>
                    <a:latin typeface="Arial"/>
                  </a:defRPr>
                </a:pPr>
                <a:endParaRPr lang="es-CO"/>
              </a:p>
            </c:txPr>
            <c:dLblPos val="ctr"/>
            <c:showLegendKey val="0"/>
            <c:showVal val="0"/>
            <c:showCatName val="1"/>
            <c:showSerName val="0"/>
            <c:showPercent val="1"/>
            <c:showBubbleSize val="0"/>
            <c:showLeaderLines val="0"/>
            <c:extLst>
              <c:ext xmlns:c15="http://schemas.microsoft.com/office/drawing/2012/chart" uri="{CE6537A1-D6FC-4f65-9D91-7224C49458BB}"/>
            </c:extLst>
          </c:dLbls>
          <c:cat>
            <c:strRef>
              <c:f>Sheet1!$A$2:$A$3</c:f>
              <c:strCache>
                <c:ptCount val="2"/>
                <c:pt idx="0">
                  <c:v>Al día</c:v>
                </c:pt>
                <c:pt idx="1">
                  <c:v>En mora</c:v>
                </c:pt>
              </c:strCache>
            </c:strRef>
          </c:cat>
          <c:val>
            <c:numRef>
              <c:f>Sheet1!$B$2:$B$3</c:f>
              <c:numCache>
                <c:formatCode>General</c:formatCode>
                <c:ptCount val="2"/>
                <c:pt idx="0">
                  <c:v>95.25</c:v>
                </c:pt>
                <c:pt idx="1">
                  <c:v>4.75</c:v>
                </c:pt>
              </c:numCache>
            </c:numRef>
          </c:val>
          <c:extLst>
            <c:ext xmlns:c16="http://schemas.microsoft.com/office/drawing/2014/chart" uri="{C3380CC4-5D6E-409C-BE32-E72D297353CC}">
              <c16:uniqueId val="{00000004-2A58-4B65-9023-DC9A707F2F27}"/>
            </c:ext>
          </c:extLst>
        </c:ser>
        <c:dLbls>
          <c:showLegendKey val="0"/>
          <c:showVal val="0"/>
          <c:showCatName val="0"/>
          <c:showSerName val="0"/>
          <c:showPercent val="0"/>
          <c:showBubbleSize val="0"/>
          <c:showLeaderLines val="0"/>
        </c:dLbls>
        <c:firstSliceAng val="0"/>
      </c:pie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autoTitleDeleted val="1"/>
    <c:plotArea>
      <c:layout/>
      <c:barChart>
        <c:barDir val="col"/>
        <c:grouping val="clustered"/>
        <c:varyColors val="0"/>
        <c:ser>
          <c:idx val="0"/>
          <c:order val="0"/>
          <c:tx>
            <c:strRef>
              <c:f>Sheet1!$B$1</c:f>
              <c:strCache>
                <c:ptCount val="1"/>
                <c:pt idx="0">
                  <c:v>Tasa de mora (%)</c:v>
                </c:pt>
              </c:strCache>
            </c:strRef>
          </c:tx>
          <c:spPr>
            <a:solidFill>
              <a:srgbClr val="1E2761"/>
            </a:solidFill>
            <a:effectLst/>
          </c:spPr>
          <c:invertIfNegative val="0"/>
          <c:dPt>
            <c:idx val="0"/>
            <c:invertIfNegative val="0"/>
            <c:bubble3D val="0"/>
            <c:extLst>
              <c:ext xmlns:c16="http://schemas.microsoft.com/office/drawing/2014/chart" uri="{C3380CC4-5D6E-409C-BE32-E72D297353CC}">
                <c16:uniqueId val="{00000001-C7EA-4A60-8A44-719B1FCC74AD}"/>
              </c:ext>
            </c:extLst>
          </c:dPt>
          <c:dPt>
            <c:idx val="1"/>
            <c:invertIfNegative val="0"/>
            <c:bubble3D val="0"/>
            <c:spPr>
              <a:solidFill>
                <a:srgbClr val="B33A3A"/>
              </a:solidFill>
              <a:effectLst/>
            </c:spPr>
            <c:extLst>
              <c:ext xmlns:c16="http://schemas.microsoft.com/office/drawing/2014/chart" uri="{C3380CC4-5D6E-409C-BE32-E72D297353CC}">
                <c16:uniqueId val="{00000003-C7EA-4A60-8A44-719B1FCC74AD}"/>
              </c:ext>
            </c:extLst>
          </c:dPt>
          <c:dLbls>
            <c:numFmt formatCode="0.0&quot;%&quot;" sourceLinked="0"/>
            <c:spPr>
              <a:noFill/>
              <a:ln>
                <a:noFill/>
              </a:ln>
              <a:effectLst/>
            </c:spPr>
            <c:txPr>
              <a:bodyPr/>
              <a:lstStyle/>
              <a:p>
                <a:pPr>
                  <a:defRPr sz="1400" b="0" i="0" u="none" strike="noStrike">
                    <a:solidFill>
                      <a:srgbClr val="1E2761"/>
                    </a:solidFill>
                    <a:latin typeface="Calibri"/>
                  </a:defRPr>
                </a:pPr>
                <a:endParaRPr lang="es-CO"/>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Sin mora previa
(10,708 clientes)</c:v>
                </c:pt>
                <c:pt idx="1">
                  <c:v>Con mora previa
(55 clientes)</c:v>
                </c:pt>
              </c:strCache>
            </c:strRef>
          </c:cat>
          <c:val>
            <c:numRef>
              <c:f>Sheet1!$B$2:$B$3</c:f>
              <c:numCache>
                <c:formatCode>General</c:formatCode>
                <c:ptCount val="2"/>
                <c:pt idx="0">
                  <c:v>4.59</c:v>
                </c:pt>
                <c:pt idx="1">
                  <c:v>36.36</c:v>
                </c:pt>
              </c:numCache>
            </c:numRef>
          </c:val>
          <c:extLst>
            <c:ext xmlns:c16="http://schemas.microsoft.com/office/drawing/2014/chart" uri="{C3380CC4-5D6E-409C-BE32-E72D297353CC}">
              <c16:uniqueId val="{00000004-C7EA-4A60-8A44-719B1FCC74AD}"/>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5F73"/>
                </a:solidFill>
                <a:latin typeface="Calibri"/>
              </a:defRPr>
            </a:pPr>
            <a:endParaRPr lang="en-US"/>
          </a:p>
        </c:txPr>
        <c:crossAx val="2094734552"/>
        <c:crosses val="autoZero"/>
        <c:auto val="1"/>
        <c:lblAlgn val="ctr"/>
        <c:lblOffset val="100"/>
        <c:noMultiLvlLbl val="1"/>
      </c:catAx>
      <c:valAx>
        <c:axId val="2094734552"/>
        <c:scaling>
          <c:orientation val="minMax"/>
          <c:max val="42"/>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title>
      <c:tx>
        <c:rich>
          <a:bodyPr/>
          <a:lstStyle/>
          <a:p>
            <a:pPr>
              <a:defRPr sz="1400" b="0" i="0" u="none" strike="noStrike">
                <a:solidFill>
                  <a:srgbClr val="1E2761"/>
                </a:solidFill>
                <a:latin typeface="Calibri"/>
              </a:defRPr>
            </a:pPr>
            <a:r>
              <a:rPr lang="es-CO" sz="1400" b="0" i="0" u="none" strike="noStrike">
                <a:solidFill>
                  <a:srgbClr val="1E2761"/>
                </a:solidFill>
                <a:latin typeface="Calibri"/>
              </a:rPr>
              <a:t>Tasa de mora por tipo de crédito (%)</a:t>
            </a:r>
          </a:p>
        </c:rich>
      </c:tx>
      <c:overlay val="0"/>
    </c:title>
    <c:autoTitleDeleted val="0"/>
    <c:plotArea>
      <c:layout/>
      <c:barChart>
        <c:barDir val="col"/>
        <c:grouping val="clustered"/>
        <c:varyColors val="0"/>
        <c:ser>
          <c:idx val="0"/>
          <c:order val="0"/>
          <c:tx>
            <c:strRef>
              <c:f>Sheet1!$B$1</c:f>
              <c:strCache>
                <c:ptCount val="1"/>
                <c:pt idx="0">
                  <c:v>Tasa de mora (%)</c:v>
                </c:pt>
              </c:strCache>
            </c:strRef>
          </c:tx>
          <c:spPr>
            <a:solidFill>
              <a:srgbClr val="B33A3A"/>
            </a:solidFill>
            <a:effectLst/>
          </c:spPr>
          <c:invertIfNegative val="0"/>
          <c:dPt>
            <c:idx val="0"/>
            <c:invertIfNegative val="0"/>
            <c:bubble3D val="0"/>
            <c:extLst>
              <c:ext xmlns:c16="http://schemas.microsoft.com/office/drawing/2014/chart" uri="{C3380CC4-5D6E-409C-BE32-E72D297353CC}">
                <c16:uniqueId val="{00000001-1951-4F8A-9560-E27C3F002B3B}"/>
              </c:ext>
            </c:extLst>
          </c:dPt>
          <c:dPt>
            <c:idx val="1"/>
            <c:invertIfNegative val="0"/>
            <c:bubble3D val="0"/>
            <c:spPr>
              <a:solidFill>
                <a:srgbClr val="1E2761"/>
              </a:solidFill>
              <a:effectLst/>
            </c:spPr>
            <c:extLst>
              <c:ext xmlns:c16="http://schemas.microsoft.com/office/drawing/2014/chart" uri="{C3380CC4-5D6E-409C-BE32-E72D297353CC}">
                <c16:uniqueId val="{00000003-1951-4F8A-9560-E27C3F002B3B}"/>
              </c:ext>
            </c:extLst>
          </c:dPt>
          <c:dPt>
            <c:idx val="2"/>
            <c:invertIfNegative val="0"/>
            <c:bubble3D val="0"/>
            <c:spPr>
              <a:solidFill>
                <a:srgbClr val="1E2761"/>
              </a:solidFill>
              <a:effectLst/>
            </c:spPr>
            <c:extLst>
              <c:ext xmlns:c16="http://schemas.microsoft.com/office/drawing/2014/chart" uri="{C3380CC4-5D6E-409C-BE32-E72D297353CC}">
                <c16:uniqueId val="{00000005-1951-4F8A-9560-E27C3F002B3B}"/>
              </c:ext>
            </c:extLst>
          </c:dPt>
          <c:dPt>
            <c:idx val="3"/>
            <c:invertIfNegative val="0"/>
            <c:bubble3D val="0"/>
            <c:spPr>
              <a:solidFill>
                <a:srgbClr val="1E2761"/>
              </a:solidFill>
              <a:effectLst/>
            </c:spPr>
            <c:extLst>
              <c:ext xmlns:c16="http://schemas.microsoft.com/office/drawing/2014/chart" uri="{C3380CC4-5D6E-409C-BE32-E72D297353CC}">
                <c16:uniqueId val="{00000007-1951-4F8A-9560-E27C3F002B3B}"/>
              </c:ext>
            </c:extLst>
          </c:dPt>
          <c:dLbls>
            <c:numFmt formatCode="0.0&quot;%&quot;" sourceLinked="0"/>
            <c:spPr>
              <a:noFill/>
              <a:ln>
                <a:noFill/>
              </a:ln>
              <a:effectLst/>
            </c:spPr>
            <c:txPr>
              <a:bodyPr/>
              <a:lstStyle/>
              <a:p>
                <a:pPr>
                  <a:defRPr sz="1200" b="0" i="0" u="none" strike="noStrike">
                    <a:solidFill>
                      <a:srgbClr val="1E2761"/>
                    </a:solidFill>
                    <a:latin typeface="Calibri"/>
                  </a:defRPr>
                </a:pPr>
                <a:endParaRPr lang="es-CO"/>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Tipo 6
(n=21)</c:v>
                </c:pt>
                <c:pt idx="1">
                  <c:v>Tipo 9
(n=2,876)</c:v>
                </c:pt>
                <c:pt idx="2">
                  <c:v>Tipo 4
(n=7,747)</c:v>
                </c:pt>
                <c:pt idx="3">
                  <c:v>Tipo 10
(n=116)</c:v>
                </c:pt>
              </c:strCache>
            </c:strRef>
          </c:cat>
          <c:val>
            <c:numRef>
              <c:f>Sheet1!$B$2:$B$5</c:f>
              <c:numCache>
                <c:formatCode>General</c:formatCode>
                <c:ptCount val="4"/>
                <c:pt idx="0">
                  <c:v>42.86</c:v>
                </c:pt>
                <c:pt idx="1">
                  <c:v>4.7300000000000004</c:v>
                </c:pt>
                <c:pt idx="2">
                  <c:v>4.6900000000000004</c:v>
                </c:pt>
                <c:pt idx="3">
                  <c:v>2.59</c:v>
                </c:pt>
              </c:numCache>
            </c:numRef>
          </c:val>
          <c:extLst>
            <c:ext xmlns:c16="http://schemas.microsoft.com/office/drawing/2014/chart" uri="{C3380CC4-5D6E-409C-BE32-E72D297353CC}">
              <c16:uniqueId val="{00000008-1951-4F8A-9560-E27C3F002B3B}"/>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5A5F73"/>
                </a:solidFill>
                <a:latin typeface="Calibri"/>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autoTitleDeleted val="1"/>
    <c:plotArea>
      <c:layout/>
      <c:barChart>
        <c:barDir val="bar"/>
        <c:grouping val="clustered"/>
        <c:varyColors val="0"/>
        <c:ser>
          <c:idx val="0"/>
          <c:order val="0"/>
          <c:tx>
            <c:strRef>
              <c:f>Sheet1!$B$1</c:f>
              <c:strCache>
                <c:ptCount val="1"/>
                <c:pt idx="0">
                  <c:v>Correlación absoluta con Pago_atiempo</c:v>
                </c:pt>
              </c:strCache>
            </c:strRef>
          </c:tx>
          <c:spPr>
            <a:solidFill>
              <a:srgbClr val="B33A3A"/>
            </a:solidFill>
            <a:effectLst/>
          </c:spPr>
          <c:invertIfNegative val="0"/>
          <c:dPt>
            <c:idx val="0"/>
            <c:invertIfNegative val="0"/>
            <c:bubble3D val="0"/>
            <c:extLst>
              <c:ext xmlns:c16="http://schemas.microsoft.com/office/drawing/2014/chart" uri="{C3380CC4-5D6E-409C-BE32-E72D297353CC}">
                <c16:uniqueId val="{00000001-B85E-42BC-87A7-574C5FBD7F09}"/>
              </c:ext>
            </c:extLst>
          </c:dPt>
          <c:dPt>
            <c:idx val="1"/>
            <c:invertIfNegative val="0"/>
            <c:bubble3D val="0"/>
            <c:extLst>
              <c:ext xmlns:c16="http://schemas.microsoft.com/office/drawing/2014/chart" uri="{C3380CC4-5D6E-409C-BE32-E72D297353CC}">
                <c16:uniqueId val="{00000003-B85E-42BC-87A7-574C5FBD7F09}"/>
              </c:ext>
            </c:extLst>
          </c:dPt>
          <c:dPt>
            <c:idx val="2"/>
            <c:invertIfNegative val="0"/>
            <c:bubble3D val="0"/>
            <c:extLst>
              <c:ext xmlns:c16="http://schemas.microsoft.com/office/drawing/2014/chart" uri="{C3380CC4-5D6E-409C-BE32-E72D297353CC}">
                <c16:uniqueId val="{00000005-B85E-42BC-87A7-574C5FBD7F09}"/>
              </c:ext>
            </c:extLst>
          </c:dPt>
          <c:dPt>
            <c:idx val="3"/>
            <c:invertIfNegative val="0"/>
            <c:bubble3D val="0"/>
            <c:spPr>
              <a:solidFill>
                <a:srgbClr val="1E2761"/>
              </a:solidFill>
              <a:effectLst/>
            </c:spPr>
            <c:extLst>
              <c:ext xmlns:c16="http://schemas.microsoft.com/office/drawing/2014/chart" uri="{C3380CC4-5D6E-409C-BE32-E72D297353CC}">
                <c16:uniqueId val="{00000007-B85E-42BC-87A7-574C5FBD7F09}"/>
              </c:ext>
            </c:extLst>
          </c:dPt>
          <c:dPt>
            <c:idx val="4"/>
            <c:invertIfNegative val="0"/>
            <c:bubble3D val="0"/>
            <c:spPr>
              <a:solidFill>
                <a:srgbClr val="1E2761"/>
              </a:solidFill>
              <a:effectLst/>
            </c:spPr>
            <c:extLst>
              <c:ext xmlns:c16="http://schemas.microsoft.com/office/drawing/2014/chart" uri="{C3380CC4-5D6E-409C-BE32-E72D297353CC}">
                <c16:uniqueId val="{00000009-B85E-42BC-87A7-574C5FBD7F09}"/>
              </c:ext>
            </c:extLst>
          </c:dPt>
          <c:dPt>
            <c:idx val="5"/>
            <c:invertIfNegative val="0"/>
            <c:bubble3D val="0"/>
            <c:spPr>
              <a:solidFill>
                <a:srgbClr val="1E2761"/>
              </a:solidFill>
              <a:effectLst/>
            </c:spPr>
            <c:extLst>
              <c:ext xmlns:c16="http://schemas.microsoft.com/office/drawing/2014/chart" uri="{C3380CC4-5D6E-409C-BE32-E72D297353CC}">
                <c16:uniqueId val="{0000000B-B85E-42BC-87A7-574C5FBD7F09}"/>
              </c:ext>
            </c:extLst>
          </c:dPt>
          <c:dPt>
            <c:idx val="6"/>
            <c:invertIfNegative val="0"/>
            <c:bubble3D val="0"/>
            <c:spPr>
              <a:solidFill>
                <a:srgbClr val="1E2761"/>
              </a:solidFill>
              <a:effectLst/>
            </c:spPr>
            <c:extLst>
              <c:ext xmlns:c16="http://schemas.microsoft.com/office/drawing/2014/chart" uri="{C3380CC4-5D6E-409C-BE32-E72D297353CC}">
                <c16:uniqueId val="{0000000D-B85E-42BC-87A7-574C5FBD7F09}"/>
              </c:ext>
            </c:extLst>
          </c:dPt>
          <c:dPt>
            <c:idx val="7"/>
            <c:invertIfNegative val="0"/>
            <c:bubble3D val="0"/>
            <c:spPr>
              <a:solidFill>
                <a:srgbClr val="1E2761"/>
              </a:solidFill>
              <a:effectLst/>
            </c:spPr>
            <c:extLst>
              <c:ext xmlns:c16="http://schemas.microsoft.com/office/drawing/2014/chart" uri="{C3380CC4-5D6E-409C-BE32-E72D297353CC}">
                <c16:uniqueId val="{0000000F-B85E-42BC-87A7-574C5FBD7F09}"/>
              </c:ext>
            </c:extLst>
          </c:dPt>
          <c:dLbls>
            <c:numFmt formatCode="0.000" sourceLinked="0"/>
            <c:spPr>
              <a:noFill/>
              <a:ln>
                <a:noFill/>
              </a:ln>
              <a:effectLst/>
            </c:spPr>
            <c:txPr>
              <a:bodyPr/>
              <a:lstStyle/>
              <a:p>
                <a:pPr>
                  <a:defRPr sz="1050" b="0" i="0" u="none" strike="noStrike">
                    <a:solidFill>
                      <a:srgbClr val="1E2761"/>
                    </a:solidFill>
                    <a:latin typeface="Calibri"/>
                  </a:defRPr>
                </a:pPr>
                <a:endParaRPr lang="es-CO"/>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puntaje_datacredito (depurado)</c:v>
                </c:pt>
                <c:pt idx="1">
                  <c:v>tiene_mora_previa</c:v>
                </c:pt>
                <c:pt idx="2">
                  <c:v>consultas_por_credito</c:v>
                </c:pt>
                <c:pt idx="3">
                  <c:v>huella_consulta</c:v>
                </c:pt>
                <c:pt idx="4">
                  <c:v>saldo_mora</c:v>
                </c:pt>
                <c:pt idx="5">
                  <c:v>plazo_meses</c:v>
                </c:pt>
                <c:pt idx="6">
                  <c:v>edad_cliente</c:v>
                </c:pt>
                <c:pt idx="7">
                  <c:v>capital_prestado</c:v>
                </c:pt>
              </c:strCache>
            </c:strRef>
          </c:cat>
          <c:val>
            <c:numRef>
              <c:f>Sheet1!$B$2:$B$9</c:f>
              <c:numCache>
                <c:formatCode>General</c:formatCode>
                <c:ptCount val="8"/>
                <c:pt idx="0">
                  <c:v>0.121</c:v>
                </c:pt>
                <c:pt idx="1">
                  <c:v>0.107</c:v>
                </c:pt>
                <c:pt idx="2">
                  <c:v>7.6999999999999999E-2</c:v>
                </c:pt>
                <c:pt idx="3">
                  <c:v>7.3999999999999996E-2</c:v>
                </c:pt>
                <c:pt idx="4">
                  <c:v>7.2999999999999995E-2</c:v>
                </c:pt>
                <c:pt idx="5">
                  <c:v>6.3E-2</c:v>
                </c:pt>
                <c:pt idx="6">
                  <c:v>5.1999999999999998E-2</c:v>
                </c:pt>
                <c:pt idx="7">
                  <c:v>4.1000000000000002E-2</c:v>
                </c:pt>
              </c:numCache>
            </c:numRef>
          </c:val>
          <c:extLst>
            <c:ext xmlns:c16="http://schemas.microsoft.com/office/drawing/2014/chart" uri="{C3380CC4-5D6E-409C-BE32-E72D297353CC}">
              <c16:uniqueId val="{00000010-B85E-42BC-87A7-574C5FBD7F09}"/>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A5F73"/>
                </a:solidFill>
                <a:latin typeface="Calibri"/>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title>
      <c:tx>
        <c:rich>
          <a:bodyPr/>
          <a:lstStyle/>
          <a:p>
            <a:pPr>
              <a:defRPr sz="1300" b="0" i="0" u="none" strike="noStrike">
                <a:solidFill>
                  <a:srgbClr val="1E2761"/>
                </a:solidFill>
                <a:latin typeface="Calibri"/>
              </a:defRPr>
            </a:pPr>
            <a:r>
              <a:rPr lang="es-CO" sz="1300" b="0" i="0" u="none" strike="noStrike">
                <a:solidFill>
                  <a:srgbClr val="1E2761"/>
                </a:solidFill>
                <a:latin typeface="Calibri"/>
              </a:rPr>
              <a:t>PCA — varianza acumulada por componente</a:t>
            </a:r>
          </a:p>
        </c:rich>
      </c:tx>
      <c:overlay val="0"/>
    </c:title>
    <c:autoTitleDeleted val="0"/>
    <c:plotArea>
      <c:layout/>
      <c:lineChart>
        <c:grouping val="standard"/>
        <c:varyColors val="0"/>
        <c:ser>
          <c:idx val="0"/>
          <c:order val="0"/>
          <c:tx>
            <c:strRef>
              <c:f>Sheet1!$B$1</c:f>
              <c:strCache>
                <c:ptCount val="1"/>
                <c:pt idx="0">
                  <c:v>Varianza acumulada (%)</c:v>
                </c:pt>
              </c:strCache>
            </c:strRef>
          </c:tx>
          <c:spPr>
            <a:ln w="38100" cap="flat">
              <a:solidFill>
                <a:srgbClr val="1E2761"/>
              </a:solidFill>
              <a:prstDash val="solid"/>
              <a:round/>
            </a:ln>
            <a:effectLst/>
          </c:spPr>
          <c:marker>
            <c:symbol val="circle"/>
            <c:size val="6"/>
            <c:spPr>
              <a:solidFill>
                <a:srgbClr val="1E2761"/>
              </a:solidFill>
              <a:ln w="9525" cap="flat">
                <a:solidFill>
                  <a:srgbClr val="1E2761"/>
                </a:solidFill>
                <a:prstDash val="solid"/>
                <a:round/>
              </a:ln>
              <a:effectLst/>
            </c:spPr>
          </c:marker>
          <c:cat>
            <c:strRef>
              <c:f>Sheet1!$A$2:$A$11</c:f>
              <c:strCache>
                <c:ptCount val="10"/>
                <c:pt idx="0">
                  <c:v>PC1</c:v>
                </c:pt>
                <c:pt idx="1">
                  <c:v>PC2</c:v>
                </c:pt>
                <c:pt idx="2">
                  <c:v>PC3</c:v>
                </c:pt>
                <c:pt idx="3">
                  <c:v>PC4</c:v>
                </c:pt>
                <c:pt idx="4">
                  <c:v>PC5</c:v>
                </c:pt>
                <c:pt idx="5">
                  <c:v>PC6</c:v>
                </c:pt>
                <c:pt idx="6">
                  <c:v>PC7</c:v>
                </c:pt>
                <c:pt idx="7">
                  <c:v>PC8</c:v>
                </c:pt>
                <c:pt idx="8">
                  <c:v>PC9</c:v>
                </c:pt>
                <c:pt idx="9">
                  <c:v>PC10</c:v>
                </c:pt>
              </c:strCache>
            </c:strRef>
          </c:cat>
          <c:val>
            <c:numRef>
              <c:f>Sheet1!$B$2:$B$11</c:f>
              <c:numCache>
                <c:formatCode>General</c:formatCode>
                <c:ptCount val="10"/>
                <c:pt idx="0">
                  <c:v>20.100000000000001</c:v>
                </c:pt>
                <c:pt idx="1">
                  <c:v>31.8</c:v>
                </c:pt>
                <c:pt idx="2">
                  <c:v>41.1</c:v>
                </c:pt>
                <c:pt idx="3">
                  <c:v>48</c:v>
                </c:pt>
                <c:pt idx="4">
                  <c:v>54.7</c:v>
                </c:pt>
                <c:pt idx="5">
                  <c:v>60.8</c:v>
                </c:pt>
                <c:pt idx="6">
                  <c:v>66.7</c:v>
                </c:pt>
                <c:pt idx="7">
                  <c:v>72.5</c:v>
                </c:pt>
                <c:pt idx="8">
                  <c:v>77</c:v>
                </c:pt>
                <c:pt idx="9">
                  <c:v>81.2</c:v>
                </c:pt>
              </c:numCache>
            </c:numRef>
          </c:val>
          <c:smooth val="0"/>
          <c:extLst>
            <c:ext xmlns:c16="http://schemas.microsoft.com/office/drawing/2014/chart" uri="{C3380CC4-5D6E-409C-BE32-E72D297353CC}">
              <c16:uniqueId val="{00000000-3E6D-4810-AA29-5FBBAB2CFD27}"/>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A5F73"/>
                </a:solidFill>
                <a:latin typeface="Calibri"/>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5F73"/>
                </a:solidFill>
                <a:latin typeface="Calibri"/>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title>
      <c:tx>
        <c:rich>
          <a:bodyPr/>
          <a:lstStyle/>
          <a:p>
            <a:pPr>
              <a:defRPr sz="1300" b="0" i="0" u="none" strike="noStrike">
                <a:solidFill>
                  <a:srgbClr val="1E2761"/>
                </a:solidFill>
                <a:latin typeface="Calibri"/>
              </a:defRPr>
            </a:pPr>
            <a:r>
              <a:rPr lang="es-CO" sz="1300" b="0" i="0" u="none" strike="noStrike">
                <a:solidFill>
                  <a:srgbClr val="1E2761"/>
                </a:solidFill>
                <a:latin typeface="Calibri"/>
              </a:rPr>
              <a:t>Tasa de mora por tipo laboral (%)</a:t>
            </a:r>
          </a:p>
        </c:rich>
      </c:tx>
      <c:overlay val="0"/>
    </c:title>
    <c:autoTitleDeleted val="0"/>
    <c:plotArea>
      <c:layout/>
      <c:barChart>
        <c:barDir val="col"/>
        <c:grouping val="clustered"/>
        <c:varyColors val="0"/>
        <c:ser>
          <c:idx val="0"/>
          <c:order val="0"/>
          <c:tx>
            <c:strRef>
              <c:f>Sheet1!$B$1</c:f>
              <c:strCache>
                <c:ptCount val="1"/>
                <c:pt idx="0">
                  <c:v>Tasa de mora (%)</c:v>
                </c:pt>
              </c:strCache>
            </c:strRef>
          </c:tx>
          <c:spPr>
            <a:solidFill>
              <a:srgbClr val="1E2761"/>
            </a:solidFill>
            <a:effectLst/>
          </c:spPr>
          <c:invertIfNegative val="0"/>
          <c:dPt>
            <c:idx val="0"/>
            <c:invertIfNegative val="0"/>
            <c:bubble3D val="0"/>
            <c:extLst>
              <c:ext xmlns:c16="http://schemas.microsoft.com/office/drawing/2014/chart" uri="{C3380CC4-5D6E-409C-BE32-E72D297353CC}">
                <c16:uniqueId val="{00000001-8200-4837-83A0-E49E9D63A97E}"/>
              </c:ext>
            </c:extLst>
          </c:dPt>
          <c:dPt>
            <c:idx val="1"/>
            <c:invertIfNegative val="0"/>
            <c:bubble3D val="0"/>
            <c:spPr>
              <a:solidFill>
                <a:srgbClr val="5C77B8"/>
              </a:solidFill>
              <a:effectLst/>
            </c:spPr>
            <c:extLst>
              <c:ext xmlns:c16="http://schemas.microsoft.com/office/drawing/2014/chart" uri="{C3380CC4-5D6E-409C-BE32-E72D297353CC}">
                <c16:uniqueId val="{00000003-8200-4837-83A0-E49E9D63A97E}"/>
              </c:ext>
            </c:extLst>
          </c:dPt>
          <c:dLbls>
            <c:numFmt formatCode="0.00&quot;%&quot;" sourceLinked="0"/>
            <c:spPr>
              <a:noFill/>
              <a:ln>
                <a:noFill/>
              </a:ln>
              <a:effectLst/>
            </c:spPr>
            <c:txPr>
              <a:bodyPr/>
              <a:lstStyle/>
              <a:p>
                <a:pPr>
                  <a:defRPr sz="1200" b="0" i="0" u="none" strike="noStrike">
                    <a:solidFill>
                      <a:srgbClr val="1E2761"/>
                    </a:solidFill>
                    <a:latin typeface="Calibri"/>
                  </a:defRPr>
                </a:pPr>
                <a:endParaRPr lang="es-CO"/>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Empleado (n=6,754)</c:v>
                </c:pt>
                <c:pt idx="1">
                  <c:v>Independiente (n=4,009)</c:v>
                </c:pt>
              </c:strCache>
            </c:strRef>
          </c:cat>
          <c:val>
            <c:numRef>
              <c:f>Sheet1!$B$2:$B$3</c:f>
              <c:numCache>
                <c:formatCode>General</c:formatCode>
                <c:ptCount val="2"/>
                <c:pt idx="0">
                  <c:v>4.29</c:v>
                </c:pt>
                <c:pt idx="1">
                  <c:v>5.51</c:v>
                </c:pt>
              </c:numCache>
            </c:numRef>
          </c:val>
          <c:extLst>
            <c:ext xmlns:c16="http://schemas.microsoft.com/office/drawing/2014/chart" uri="{C3380CC4-5D6E-409C-BE32-E72D297353CC}">
              <c16:uniqueId val="{00000004-8200-4837-83A0-E49E9D63A97E}"/>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5F73"/>
                </a:solidFill>
                <a:latin typeface="Calibri"/>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007547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a:p>
        </p:txBody>
      </p:sp>
      <p:sp>
        <p:nvSpPr>
          <p:cNvPr id="3" name="Notes Placeholder 2"/>
          <p:cNvSpPr>
            <a:spLocks noGrp="1"/>
          </p:cNvSpPr>
          <p:nvPr>
            <p:ph type="body" idx="1"/>
          </p:nvPr>
        </p:nvSpPr>
        <p:spPr/>
        <p:txBody>
          <a:bodyPr/>
          <a:lstStyle/>
          <a:p>
            <a:r>
              <a:rPr lang="en-US" dirty="0"/>
              <a:t>Bienvenida. Contexto: soy candidato a Científico de Datos Junior, se me entregó una base de datos de créditos sin diccionario de datos, y el objetivo es presentar los insights más valiosos para el negocio en 15 minutos, dirigidos tanto a un perfil técnico como a un perfil de negocio.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a:p>
        </p:txBody>
      </p:sp>
      <p:sp>
        <p:nvSpPr>
          <p:cNvPr id="3" name="Notes Placeholder 2"/>
          <p:cNvSpPr>
            <a:spLocks noGrp="1"/>
          </p:cNvSpPr>
          <p:nvPr>
            <p:ph type="body" idx="1"/>
          </p:nvPr>
        </p:nvSpPr>
        <p:spPr/>
        <p:txBody>
          <a:bodyPr/>
          <a:lstStyle/>
          <a:p>
            <a:r>
              <a:rPr lang="en-US" dirty="0"/>
              <a:t>Esta diapositiva resume todo el análisis en 30 segundos, para quien solo se lleve una idea de la reunión. El resto de la presentación desarrolla cada uno de estos puntos con evidencia.</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a:p>
        </p:txBody>
      </p:sp>
      <p:sp>
        <p:nvSpPr>
          <p:cNvPr id="3" name="Notes Placeholder 2"/>
          <p:cNvSpPr>
            <a:spLocks noGrp="1"/>
          </p:cNvSpPr>
          <p:nvPr>
            <p:ph type="body" idx="1"/>
          </p:nvPr>
        </p:nvSpPr>
        <p:spPr/>
        <p:txBody>
          <a:bodyPr/>
          <a:lstStyle/>
          <a:p>
            <a:r>
              <a:rPr lang="en-US" dirty="0"/>
              <a:t>Este es un ejercicio real de EDA: nos entregaron el DataFrame crudo, sin diccionario, así que la primera tarea fue investigar el negocio (central de riesgo Datacrédito) para entender cada variable con criterio propio.</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a:p>
        </p:txBody>
      </p:sp>
      <p:sp>
        <p:nvSpPr>
          <p:cNvPr id="3" name="Notes Placeholder 2"/>
          <p:cNvSpPr>
            <a:spLocks noGrp="1"/>
          </p:cNvSpPr>
          <p:nvPr>
            <p:ph type="body" idx="1"/>
          </p:nvPr>
        </p:nvSpPr>
        <p:spPr/>
        <p:txBody>
          <a:bodyPr/>
          <a:lstStyle/>
          <a:p>
            <a:r>
              <a:rPr lang="en-US" dirty="0"/>
              <a:t>El diccionario no es documentación decorativa: definirlo formalmente destapó tres errores metodológicos que estaban en el análisis y produjo dos hallazgos nuevos.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a:p>
        </p:txBody>
      </p:sp>
      <p:sp>
        <p:nvSpPr>
          <p:cNvPr id="3" name="Notes Placeholder 2"/>
          <p:cNvSpPr>
            <a:spLocks noGrp="1"/>
          </p:cNvSpPr>
          <p:nvPr>
            <p:ph type="body" idx="1"/>
          </p:nvPr>
        </p:nvSpPr>
        <p:spPr/>
        <p:txBody>
          <a:bodyPr/>
          <a:lstStyle/>
          <a:p>
            <a:r>
              <a:rPr lang="en-US" dirty="0"/>
              <a:t>Los insights principales no cambiaron porque se calcularon con groupby, el método correcto. Lo que falló fueron los análisis numéricos automáticos y las reglas de validación.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a:p>
        </p:txBody>
      </p:sp>
      <p:sp>
        <p:nvSpPr>
          <p:cNvPr id="3" name="Notes Placeholder 2"/>
          <p:cNvSpPr>
            <a:spLocks noGrp="1"/>
          </p:cNvSpPr>
          <p:nvPr>
            <p:ph type="body" idx="1"/>
          </p:nvPr>
        </p:nvSpPr>
        <p:spPr/>
        <p:txBody>
          <a:bodyPr/>
          <a:lstStyle/>
          <a:p>
            <a:r>
              <a:rPr lang="en-US" dirty="0"/>
              <a:t>Seguimos un flujo estándar de ciencia de datos: primero entender antes de limpiar, y limpiar antes de analizar en profundidad. Cada decisión de limpieza se investigó con evidencia antes de aplicarse.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a:p>
        </p:txBody>
      </p:sp>
      <p:sp>
        <p:nvSpPr>
          <p:cNvPr id="3" name="Notes Placeholder 2"/>
          <p:cNvSpPr>
            <a:spLocks noGrp="1"/>
          </p:cNvSpPr>
          <p:nvPr>
            <p:ph type="body" idx="1"/>
          </p:nvPr>
        </p:nvSpPr>
        <p:spPr/>
        <p:txBody>
          <a:bodyPr/>
          <a:lstStyle/>
          <a:p>
            <a:r>
              <a:rPr lang="en-US" dirty="0"/>
              <a:t>Sin estas correcciones, cualquier análisis posterior habría partido de datos falsos: edades de 122 años, salarios de miles de millones, y una variable de tendencia de ingresos parcialmente corrupta.</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a:p>
        </p:txBody>
      </p:sp>
      <p:sp>
        <p:nvSpPr>
          <p:cNvPr id="3" name="Notes Placeholder 2"/>
          <p:cNvSpPr>
            <a:spLocks noGrp="1"/>
          </p:cNvSpPr>
          <p:nvPr>
            <p:ph type="body" idx="1"/>
          </p:nvPr>
        </p:nvSpPr>
        <p:spPr/>
        <p:txBody>
          <a:bodyPr/>
          <a:lstStyle/>
          <a:p>
            <a:r>
              <a:rPr lang="en-US" dirty="0"/>
              <a:t>Este punto es crítico para el equipo técnico: cualquier modelo que se entrene después debe manejar este desbalance explícitamente, y cualquier métrica de éxito debe evitar la exactitud simple.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a:p>
        </p:txBody>
      </p:sp>
      <p:sp>
        <p:nvSpPr>
          <p:cNvPr id="3" name="Notes Placeholder 2"/>
          <p:cNvSpPr>
            <a:spLocks noGrp="1"/>
          </p:cNvSpPr>
          <p:nvPr>
            <p:ph type="body" idx="1"/>
          </p:nvPr>
        </p:nvSpPr>
        <p:spPr/>
        <p:txBody>
          <a:bodyPr/>
          <a:lstStyle/>
          <a:p>
            <a:r>
              <a:rPr lang="en-US" dirty="0"/>
              <a:t>Es el hallazgo con mayor valor accionable: un cliente que ya está en mora en otro producto tiene casi 8 veces más probabilidad de incumplir este crédito. Recomendación directa: usarlo como criterio de alerta temprana.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a:p>
        </p:txBody>
      </p:sp>
      <p:sp>
        <p:nvSpPr>
          <p:cNvPr id="3" name="Notes Placeholder 2"/>
          <p:cNvSpPr>
            <a:spLocks noGrp="1"/>
          </p:cNvSpPr>
          <p:nvPr>
            <p:ph type="body" idx="1"/>
          </p:nvPr>
        </p:nvSpPr>
        <p:spPr/>
        <p:txBody>
          <a:bodyPr/>
          <a:lstStyle/>
          <a:p>
            <a:r>
              <a:rPr lang="en-US" dirty="0"/>
              <a:t>Para el líder de negocio: vale la pena preguntar qué representa el tipo de crédito 6 y por qué concentra tanto riesgo, antes de invertir en un modelo — puede ser un problema de política de originación.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a:p>
        </p:txBody>
      </p:sp>
      <p:sp>
        <p:nvSpPr>
          <p:cNvPr id="3" name="Notes Placeholder 2"/>
          <p:cNvSpPr>
            <a:spLocks noGrp="1"/>
          </p:cNvSpPr>
          <p:nvPr>
            <p:ph type="body" idx="1"/>
          </p:nvPr>
        </p:nvSpPr>
        <p:spPr/>
        <p:txBody>
          <a:bodyPr/>
          <a:lstStyle/>
          <a:p>
            <a:r>
              <a:rPr lang="en-US" dirty="0"/>
              <a:t>Mensaje para el técnico: esto justifica no intentar reglas de negocio simplistas de una sola variable, y sí invertir en un modelo que capture interacciones entre variables.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a:p>
        </p:txBody>
      </p:sp>
      <p:sp>
        <p:nvSpPr>
          <p:cNvPr id="3" name="Notes Placeholder 2"/>
          <p:cNvSpPr>
            <a:spLocks noGrp="1"/>
          </p:cNvSpPr>
          <p:nvPr>
            <p:ph type="body" idx="1"/>
          </p:nvPr>
        </p:nvSpPr>
        <p:spPr/>
        <p:txBody>
          <a:bodyPr/>
          <a:lstStyle/>
          <a:p>
            <a:r>
              <a:rPr lang="en-US" dirty="0"/>
              <a:t>Valida la inversión en feature engineering: construir variables con lógica de negocio (mora previa, intensidad de consultas) rindió más que los ratios financieros tradicionales en este dataset específico.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a:p>
        </p:txBody>
      </p:sp>
      <p:sp>
        <p:nvSpPr>
          <p:cNvPr id="3" name="Notes Placeholder 2"/>
          <p:cNvSpPr>
            <a:spLocks noGrp="1"/>
          </p:cNvSpPr>
          <p:nvPr>
            <p:ph type="body" idx="1"/>
          </p:nvPr>
        </p:nvSpPr>
        <p:spPr/>
        <p:txBody>
          <a:bodyPr/>
          <a:lstStyle/>
          <a:p>
            <a:r>
              <a:rPr lang="en-US" dirty="0"/>
              <a:t>El PCA aquí tiene valor diagnóstico, no operativo: confirma que no existe estructura lineal simple que separe a los clientes en mora.</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a:p>
        </p:txBody>
      </p:sp>
      <p:sp>
        <p:nvSpPr>
          <p:cNvPr id="3" name="Notes Placeholder 2"/>
          <p:cNvSpPr>
            <a:spLocks noGrp="1"/>
          </p:cNvSpPr>
          <p:nvPr>
            <p:ph type="body" idx="1"/>
          </p:nvPr>
        </p:nvSpPr>
        <p:spPr/>
        <p:txBody>
          <a:bodyPr/>
          <a:lstStyle/>
          <a:p>
            <a:r>
              <a:rPr lang="en-US" dirty="0"/>
              <a:t>Estos son hallazgos secundarios pero útiles: la diferencia laboral es moderada, y la bimodalidad del score sugiere segmentar el análisis por historial crediticio en fases futuras.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a:p>
        </p:txBody>
      </p:sp>
      <p:sp>
        <p:nvSpPr>
          <p:cNvPr id="3" name="Notes Placeholder 2"/>
          <p:cNvSpPr>
            <a:spLocks noGrp="1"/>
          </p:cNvSpPr>
          <p:nvPr>
            <p:ph type="body" idx="1"/>
          </p:nvPr>
        </p:nvSpPr>
        <p:spPr/>
        <p:txBody>
          <a:bodyPr/>
          <a:lstStyle/>
          <a:p>
            <a:r>
              <a:rPr lang="en-US" dirty="0"/>
              <a:t>Es importante ser transparente con estas limitaciones frente al líder técnico: ninguna es motivo para descartar los hallazgos, pero sí para validarlos antes de tomar decisiones de alto impacto.</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a:p>
        </p:txBody>
      </p:sp>
      <p:sp>
        <p:nvSpPr>
          <p:cNvPr id="3" name="Notes Placeholder 2"/>
          <p:cNvSpPr>
            <a:spLocks noGrp="1"/>
          </p:cNvSpPr>
          <p:nvPr>
            <p:ph type="body" idx="1"/>
          </p:nvPr>
        </p:nvSpPr>
        <p:spPr/>
        <p:txBody>
          <a:bodyPr/>
          <a:lstStyle/>
          <a:p>
            <a:r>
              <a:rPr lang="en-US" dirty="0"/>
              <a:t>Cierro la parte de insights con acciones concretas: no solo 'qué encontramos', sino 'qué hacer con esto'.</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a:p>
        </p:txBody>
      </p:sp>
      <p:sp>
        <p:nvSpPr>
          <p:cNvPr id="3" name="Notes Placeholder 2"/>
          <p:cNvSpPr>
            <a:spLocks noGrp="1"/>
          </p:cNvSpPr>
          <p:nvPr>
            <p:ph type="body" idx="1"/>
          </p:nvPr>
        </p:nvSpPr>
        <p:spPr/>
        <p:txBody>
          <a:bodyPr/>
          <a:lstStyle/>
          <a:p>
            <a:r>
              <a:rPr lang="en-US" dirty="0"/>
              <a:t>Este análisis es la base para las siguientes fases del proyecto: feature engineering formal, modelado predictivo, despliegue y monitoreo continuo.</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a:p>
        </p:txBody>
      </p:sp>
      <p:sp>
        <p:nvSpPr>
          <p:cNvPr id="3" name="Notes Placeholder 2"/>
          <p:cNvSpPr>
            <a:spLocks noGrp="1"/>
          </p:cNvSpPr>
          <p:nvPr>
            <p:ph type="body" idx="1"/>
          </p:nvPr>
        </p:nvSpPr>
        <p:spPr/>
        <p:txBody>
          <a:bodyPr/>
          <a:lstStyle/>
          <a:p>
            <a:r>
              <a:rPr lang="en-US" dirty="0"/>
              <a:t>Cierro invitando a preguntas, y menciono que todo el proceso (código, commits, decisiones documentadas) está disponible en el repositorio para su revisión.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822960" y="1965960"/>
            <a:ext cx="10515600" cy="457200"/>
          </a:xfrm>
          <a:prstGeom prst="rect">
            <a:avLst/>
          </a:prstGeom>
          <a:noFill/>
          <a:ln/>
        </p:spPr>
        <p:txBody>
          <a:bodyPr wrap="square" lIns="0" tIns="0" rIns="0" bIns="0" rtlCol="0" anchor="ctr"/>
          <a:lstStyle/>
          <a:p>
            <a:pPr marL="0" indent="0">
              <a:buNone/>
            </a:pPr>
            <a:r>
              <a:rPr lang="en-US" sz="1500" b="1" kern="0" spc="300" dirty="0">
                <a:solidFill>
                  <a:srgbClr val="CADCFC"/>
                </a:solidFill>
                <a:latin typeface="Calibri" pitchFamily="34" charset="0"/>
                <a:ea typeface="Calibri" pitchFamily="34" charset="-122"/>
                <a:cs typeface="Calibri" pitchFamily="34" charset="-120"/>
              </a:rPr>
              <a:t>ANÁLISIS DE RIESGO CREDITICIO</a:t>
            </a:r>
            <a:endParaRPr lang="en-US" sz="1500" dirty="0"/>
          </a:p>
        </p:txBody>
      </p:sp>
      <p:sp>
        <p:nvSpPr>
          <p:cNvPr id="3" name="Text 1"/>
          <p:cNvSpPr/>
          <p:nvPr/>
        </p:nvSpPr>
        <p:spPr>
          <a:xfrm>
            <a:off x="822960" y="2423160"/>
            <a:ext cx="10515600" cy="1188720"/>
          </a:xfrm>
          <a:prstGeom prst="rect">
            <a:avLst/>
          </a:prstGeom>
          <a:noFill/>
          <a:ln/>
        </p:spPr>
        <p:txBody>
          <a:bodyPr wrap="square" lIns="0" tIns="0" rIns="0" bIns="0" rtlCol="0" anchor="ctr"/>
          <a:lstStyle/>
          <a:p>
            <a:pPr marL="0" indent="0">
              <a:buNone/>
            </a:pPr>
            <a:r>
              <a:rPr lang="en-US" sz="4200" b="1" dirty="0">
                <a:solidFill>
                  <a:srgbClr val="FFFFFF"/>
                </a:solidFill>
                <a:latin typeface="Cambria" pitchFamily="34" charset="0"/>
                <a:ea typeface="Cambria" pitchFamily="34" charset="-122"/>
                <a:cs typeface="Cambria" pitchFamily="34" charset="-120"/>
              </a:rPr>
              <a:t>Hallazgos clave del análisis exploratorio de datos</a:t>
            </a:r>
            <a:endParaRPr lang="en-US" sz="4200" dirty="0"/>
          </a:p>
        </p:txBody>
      </p:sp>
      <p:sp>
        <p:nvSpPr>
          <p:cNvPr id="4" name="Text 2"/>
          <p:cNvSpPr/>
          <p:nvPr/>
        </p:nvSpPr>
        <p:spPr>
          <a:xfrm>
            <a:off x="822960" y="3520440"/>
            <a:ext cx="10515600" cy="457200"/>
          </a:xfrm>
          <a:prstGeom prst="rect">
            <a:avLst/>
          </a:prstGeom>
          <a:noFill/>
          <a:ln/>
        </p:spPr>
        <p:txBody>
          <a:bodyPr wrap="square" lIns="0" tIns="0" rIns="0" bIns="0" rtlCol="0" anchor="ctr"/>
          <a:lstStyle/>
          <a:p>
            <a:pPr marL="0" indent="0">
              <a:buNone/>
            </a:pPr>
            <a:r>
              <a:rPr lang="en-US" sz="1600" i="1" dirty="0">
                <a:solidFill>
                  <a:srgbClr val="CADCFC"/>
                </a:solidFill>
                <a:latin typeface="Calibri" pitchFamily="34" charset="0"/>
                <a:ea typeface="Calibri" pitchFamily="34" charset="-122"/>
                <a:cs typeface="Calibri" pitchFamily="34" charset="-120"/>
              </a:rPr>
              <a:t>Entregable 2 · Ciencia de Datos en Producción</a:t>
            </a:r>
            <a:endParaRPr lang="en-US" sz="1600" dirty="0"/>
          </a:p>
        </p:txBody>
      </p:sp>
      <p:sp>
        <p:nvSpPr>
          <p:cNvPr id="5" name="Shape 3"/>
          <p:cNvSpPr/>
          <p:nvPr/>
        </p:nvSpPr>
        <p:spPr>
          <a:xfrm>
            <a:off x="822960" y="4160520"/>
            <a:ext cx="2011680" cy="0"/>
          </a:xfrm>
          <a:prstGeom prst="line">
            <a:avLst/>
          </a:prstGeom>
          <a:noFill/>
          <a:ln w="38100">
            <a:solidFill>
              <a:srgbClr val="B33A3A"/>
            </a:solidFill>
            <a:prstDash val="solid"/>
          </a:ln>
        </p:spPr>
        <p:txBody>
          <a:bodyPr/>
          <a:lstStyle/>
          <a:p>
            <a:endParaRPr lang="es-CO"/>
          </a:p>
        </p:txBody>
      </p:sp>
      <p:sp>
        <p:nvSpPr>
          <p:cNvPr id="6" name="Text 4"/>
          <p:cNvSpPr/>
          <p:nvPr/>
        </p:nvSpPr>
        <p:spPr>
          <a:xfrm>
            <a:off x="735874" y="4343400"/>
            <a:ext cx="8229600" cy="365760"/>
          </a:xfrm>
          <a:prstGeom prst="rect">
            <a:avLst/>
          </a:prstGeom>
          <a:noFill/>
          <a:ln/>
        </p:spPr>
        <p:txBody>
          <a:bodyPr wrap="square" lIns="0" tIns="0" rIns="0" bIns="0" rtlCol="0" anchor="ctr"/>
          <a:lstStyle/>
          <a:p>
            <a:pPr marL="0" indent="0">
              <a:buNone/>
            </a:pPr>
            <a:r>
              <a:rPr lang="en-US" sz="1200" dirty="0">
                <a:solidFill>
                  <a:srgbClr val="CADCFC"/>
                </a:solidFill>
                <a:latin typeface="Calibri" pitchFamily="34" charset="0"/>
                <a:ea typeface="Calibri" pitchFamily="34" charset="-122"/>
                <a:cs typeface="Calibri" pitchFamily="34" charset="-120"/>
              </a:rPr>
              <a:t>CAMILO ANDRES ARMENTA PEDROZO</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err="1">
                <a:solidFill>
                  <a:srgbClr val="1E2761"/>
                </a:solidFill>
                <a:latin typeface="Cambria" pitchFamily="34" charset="0"/>
                <a:ea typeface="Cambria" pitchFamily="34" charset="-122"/>
                <a:cs typeface="Cambria" pitchFamily="34" charset="-120"/>
              </a:rPr>
              <a:t>Resumen</a:t>
            </a:r>
            <a:r>
              <a:rPr lang="en-US" sz="3000" b="1" dirty="0">
                <a:solidFill>
                  <a:srgbClr val="1E2761"/>
                </a:solidFill>
                <a:latin typeface="Cambria" pitchFamily="34" charset="0"/>
                <a:ea typeface="Cambria" pitchFamily="34" charset="-122"/>
                <a:cs typeface="Cambria" pitchFamily="34" charset="-120"/>
              </a:rPr>
              <a:t> </a:t>
            </a:r>
            <a:r>
              <a:rPr lang="en-US" sz="3000" b="1" dirty="0" err="1">
                <a:solidFill>
                  <a:srgbClr val="1E2761"/>
                </a:solidFill>
                <a:latin typeface="Cambria" pitchFamily="34" charset="0"/>
                <a:ea typeface="Cambria" pitchFamily="34" charset="-122"/>
                <a:cs typeface="Cambria" pitchFamily="34" charset="-120"/>
              </a:rPr>
              <a:t>Obtenido</a:t>
            </a:r>
            <a:endParaRPr lang="en-US" sz="3000" dirty="0"/>
          </a:p>
        </p:txBody>
      </p:sp>
      <p:sp>
        <p:nvSpPr>
          <p:cNvPr id="4" name="Shape 2"/>
          <p:cNvSpPr/>
          <p:nvPr/>
        </p:nvSpPr>
        <p:spPr>
          <a:xfrm>
            <a:off x="548640" y="1965960"/>
            <a:ext cx="3520440" cy="2377440"/>
          </a:xfrm>
          <a:prstGeom prst="roundRect">
            <a:avLst>
              <a:gd name="adj" fmla="val 3846"/>
            </a:avLst>
          </a:prstGeom>
          <a:solidFill>
            <a:srgbClr val="1E2761"/>
          </a:solidFill>
          <a:ln/>
          <a:effectLst>
            <a:outerShdw blurRad="76200" dist="25400" dir="5400000" algn="bl" rotWithShape="0">
              <a:srgbClr val="000000">
                <a:alpha val="10000"/>
              </a:srgbClr>
            </a:outerShdw>
          </a:effectLst>
        </p:spPr>
        <p:txBody>
          <a:bodyPr/>
          <a:lstStyle/>
          <a:p>
            <a:endParaRPr lang="es-CO"/>
          </a:p>
        </p:txBody>
      </p:sp>
      <p:sp>
        <p:nvSpPr>
          <p:cNvPr id="5" name="Text 3"/>
          <p:cNvSpPr/>
          <p:nvPr/>
        </p:nvSpPr>
        <p:spPr>
          <a:xfrm>
            <a:off x="822960" y="2286000"/>
            <a:ext cx="2971800" cy="82296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8x</a:t>
            </a:r>
            <a:endParaRPr lang="en-US" sz="4000" dirty="0"/>
          </a:p>
        </p:txBody>
      </p:sp>
      <p:sp>
        <p:nvSpPr>
          <p:cNvPr id="6" name="Text 4"/>
          <p:cNvSpPr/>
          <p:nvPr/>
        </p:nvSpPr>
        <p:spPr>
          <a:xfrm>
            <a:off x="822960" y="3200400"/>
            <a:ext cx="2971800" cy="1005840"/>
          </a:xfrm>
          <a:prstGeom prst="rect">
            <a:avLst/>
          </a:prstGeom>
          <a:noFill/>
          <a:ln/>
        </p:spPr>
        <p:txBody>
          <a:bodyPr wrap="square" lIns="0" tIns="0" rIns="0" bIns="0" rtlCol="0" anchor="t"/>
          <a:lstStyle/>
          <a:p>
            <a:pPr marL="0" indent="0">
              <a:lnSpc>
                <a:spcPct val="120000"/>
              </a:lnSpc>
              <a:buNone/>
            </a:pPr>
            <a:r>
              <a:rPr lang="en-US" sz="1300" dirty="0">
                <a:solidFill>
                  <a:srgbClr val="CADCFC"/>
                </a:solidFill>
                <a:latin typeface="Calibri" pitchFamily="34" charset="0"/>
                <a:ea typeface="Calibri" pitchFamily="34" charset="-122"/>
                <a:cs typeface="Calibri" pitchFamily="34" charset="-120"/>
              </a:rPr>
              <a:t>más riesgo si el cliente ya tiene mora previa registrada</a:t>
            </a:r>
            <a:endParaRPr lang="en-US" sz="1300" dirty="0"/>
          </a:p>
        </p:txBody>
      </p:sp>
      <p:sp>
        <p:nvSpPr>
          <p:cNvPr id="7" name="Shape 5"/>
          <p:cNvSpPr/>
          <p:nvPr/>
        </p:nvSpPr>
        <p:spPr>
          <a:xfrm>
            <a:off x="4343400" y="1965960"/>
            <a:ext cx="3520440" cy="2377440"/>
          </a:xfrm>
          <a:prstGeom prst="roundRect">
            <a:avLst>
              <a:gd name="adj" fmla="val 3846"/>
            </a:avLst>
          </a:prstGeom>
          <a:solidFill>
            <a:srgbClr val="F4F7FC"/>
          </a:solidFill>
          <a:ln/>
          <a:effectLst>
            <a:outerShdw blurRad="76200" dist="25400" dir="5400000" algn="bl" rotWithShape="0">
              <a:srgbClr val="000000">
                <a:alpha val="10000"/>
              </a:srgbClr>
            </a:outerShdw>
          </a:effectLst>
        </p:spPr>
        <p:txBody>
          <a:bodyPr/>
          <a:lstStyle/>
          <a:p>
            <a:endParaRPr lang="es-CO"/>
          </a:p>
        </p:txBody>
      </p:sp>
      <p:sp>
        <p:nvSpPr>
          <p:cNvPr id="8" name="Text 6"/>
          <p:cNvSpPr/>
          <p:nvPr/>
        </p:nvSpPr>
        <p:spPr>
          <a:xfrm>
            <a:off x="4617720" y="2286000"/>
            <a:ext cx="2971800" cy="822960"/>
          </a:xfrm>
          <a:prstGeom prst="rect">
            <a:avLst/>
          </a:prstGeom>
          <a:noFill/>
          <a:ln/>
        </p:spPr>
        <p:txBody>
          <a:bodyPr wrap="square" lIns="0" tIns="0" rIns="0" bIns="0" rtlCol="0" anchor="ctr"/>
          <a:lstStyle/>
          <a:p>
            <a:pPr marL="0" indent="0">
              <a:buNone/>
            </a:pPr>
            <a:r>
              <a:rPr lang="en-US" sz="4000" b="1" dirty="0">
                <a:solidFill>
                  <a:srgbClr val="B33A3A"/>
                </a:solidFill>
                <a:latin typeface="Cambria" pitchFamily="34" charset="0"/>
                <a:ea typeface="Cambria" pitchFamily="34" charset="-122"/>
                <a:cs typeface="Cambria" pitchFamily="34" charset="-120"/>
              </a:rPr>
              <a:t>42.9%</a:t>
            </a:r>
            <a:endParaRPr lang="en-US" sz="4000" dirty="0"/>
          </a:p>
        </p:txBody>
      </p:sp>
      <p:sp>
        <p:nvSpPr>
          <p:cNvPr id="9" name="Text 7"/>
          <p:cNvSpPr/>
          <p:nvPr/>
        </p:nvSpPr>
        <p:spPr>
          <a:xfrm>
            <a:off x="4617720" y="3200400"/>
            <a:ext cx="2971800" cy="1005840"/>
          </a:xfrm>
          <a:prstGeom prst="rect">
            <a:avLst/>
          </a:prstGeom>
          <a:noFill/>
          <a:ln/>
        </p:spPr>
        <p:txBody>
          <a:bodyPr wrap="square" lIns="0" tIns="0" rIns="0" bIns="0" rtlCol="0" anchor="t"/>
          <a:lstStyle/>
          <a:p>
            <a:pPr marL="0" indent="0">
              <a:lnSpc>
                <a:spcPct val="120000"/>
              </a:lnSpc>
              <a:buNone/>
            </a:pPr>
            <a:r>
              <a:rPr lang="en-US" sz="1300" dirty="0">
                <a:solidFill>
                  <a:srgbClr val="5A5F73"/>
                </a:solidFill>
                <a:latin typeface="Calibri" pitchFamily="34" charset="0"/>
                <a:ea typeface="Calibri" pitchFamily="34" charset="-122"/>
                <a:cs typeface="Calibri" pitchFamily="34" charset="-120"/>
              </a:rPr>
              <a:t>de mora en el tipo de crédito 6 (vs. 4.75% promedio)</a:t>
            </a:r>
            <a:endParaRPr lang="en-US" sz="1300" dirty="0"/>
          </a:p>
        </p:txBody>
      </p:sp>
      <p:sp>
        <p:nvSpPr>
          <p:cNvPr id="10" name="Shape 8"/>
          <p:cNvSpPr/>
          <p:nvPr/>
        </p:nvSpPr>
        <p:spPr>
          <a:xfrm>
            <a:off x="8138160" y="1965960"/>
            <a:ext cx="3520440" cy="2377440"/>
          </a:xfrm>
          <a:prstGeom prst="roundRect">
            <a:avLst>
              <a:gd name="adj" fmla="val 3846"/>
            </a:avLst>
          </a:prstGeom>
          <a:solidFill>
            <a:srgbClr val="F4F7FC"/>
          </a:solidFill>
          <a:ln/>
          <a:effectLst>
            <a:outerShdw blurRad="76200" dist="25400" dir="5400000" algn="bl" rotWithShape="0">
              <a:srgbClr val="000000">
                <a:alpha val="10000"/>
              </a:srgbClr>
            </a:outerShdw>
          </a:effectLst>
        </p:spPr>
        <p:txBody>
          <a:bodyPr/>
          <a:lstStyle/>
          <a:p>
            <a:endParaRPr lang="es-CO"/>
          </a:p>
        </p:txBody>
      </p:sp>
      <p:sp>
        <p:nvSpPr>
          <p:cNvPr id="11" name="Text 9"/>
          <p:cNvSpPr/>
          <p:nvPr/>
        </p:nvSpPr>
        <p:spPr>
          <a:xfrm>
            <a:off x="8412480" y="2286000"/>
            <a:ext cx="2971800" cy="822960"/>
          </a:xfrm>
          <a:prstGeom prst="rect">
            <a:avLst/>
          </a:prstGeom>
          <a:noFill/>
          <a:ln/>
        </p:spPr>
        <p:txBody>
          <a:bodyPr wrap="square" lIns="0" tIns="0" rIns="0" bIns="0" rtlCol="0" anchor="ctr"/>
          <a:lstStyle/>
          <a:p>
            <a:pPr marL="0" indent="0">
              <a:buNone/>
            </a:pPr>
            <a:r>
              <a:rPr lang="en-US" sz="4000" b="1" dirty="0">
                <a:solidFill>
                  <a:srgbClr val="B33A3A"/>
                </a:solidFill>
                <a:latin typeface="Cambria" pitchFamily="34" charset="0"/>
                <a:ea typeface="Cambria" pitchFamily="34" charset="-122"/>
                <a:cs typeface="Cambria" pitchFamily="34" charset="-120"/>
              </a:rPr>
              <a:t>153</a:t>
            </a:r>
            <a:endParaRPr lang="en-US" sz="4000" dirty="0"/>
          </a:p>
        </p:txBody>
      </p:sp>
      <p:sp>
        <p:nvSpPr>
          <p:cNvPr id="12" name="Text 10"/>
          <p:cNvSpPr/>
          <p:nvPr/>
        </p:nvSpPr>
        <p:spPr>
          <a:xfrm>
            <a:off x="8412480" y="3200400"/>
            <a:ext cx="2971800" cy="1005840"/>
          </a:xfrm>
          <a:prstGeom prst="rect">
            <a:avLst/>
          </a:prstGeom>
          <a:noFill/>
          <a:ln/>
        </p:spPr>
        <p:txBody>
          <a:bodyPr wrap="square" lIns="0" tIns="0" rIns="0" bIns="0" rtlCol="0" anchor="t"/>
          <a:lstStyle/>
          <a:p>
            <a:pPr marL="0" indent="0">
              <a:lnSpc>
                <a:spcPct val="120000"/>
              </a:lnSpc>
              <a:buNone/>
            </a:pPr>
            <a:r>
              <a:rPr lang="en-US" sz="1300" dirty="0">
                <a:solidFill>
                  <a:srgbClr val="5A5F73"/>
                </a:solidFill>
                <a:latin typeface="Calibri" pitchFamily="34" charset="0"/>
                <a:ea typeface="Calibri" pitchFamily="34" charset="-122"/>
                <a:cs typeface="Calibri" pitchFamily="34" charset="-120"/>
              </a:rPr>
              <a:t>clientes sin historial crediticio: 6.54% de mora vs 4.72%</a:t>
            </a:r>
            <a:endParaRPr lang="en-US" sz="1300" dirty="0"/>
          </a:p>
        </p:txBody>
      </p:sp>
      <p:sp>
        <p:nvSpPr>
          <p:cNvPr id="13" name="Shape 11"/>
          <p:cNvSpPr/>
          <p:nvPr/>
        </p:nvSpPr>
        <p:spPr>
          <a:xfrm>
            <a:off x="548640" y="4617720"/>
            <a:ext cx="11064240" cy="1051560"/>
          </a:xfrm>
          <a:prstGeom prst="roundRect">
            <a:avLst>
              <a:gd name="adj" fmla="val 6957"/>
            </a:avLst>
          </a:prstGeom>
          <a:solidFill>
            <a:srgbClr val="F4F7FC"/>
          </a:solidFill>
          <a:ln/>
        </p:spPr>
        <p:txBody>
          <a:bodyPr/>
          <a:lstStyle/>
          <a:p>
            <a:endParaRPr lang="es-CO"/>
          </a:p>
        </p:txBody>
      </p:sp>
      <p:sp>
        <p:nvSpPr>
          <p:cNvPr id="14" name="Text 12"/>
          <p:cNvSpPr/>
          <p:nvPr/>
        </p:nvSpPr>
        <p:spPr>
          <a:xfrm>
            <a:off x="777240" y="4754880"/>
            <a:ext cx="10607040" cy="822960"/>
          </a:xfrm>
          <a:prstGeom prst="rect">
            <a:avLst/>
          </a:prstGeom>
          <a:noFill/>
          <a:ln/>
        </p:spPr>
        <p:txBody>
          <a:bodyPr wrap="square" lIns="0" tIns="0" rIns="0" bIns="0" rtlCol="0" anchor="ctr"/>
          <a:lstStyle/>
          <a:p>
            <a:pPr marL="0" indent="0">
              <a:lnSpc>
                <a:spcPct val="120000"/>
              </a:lnSpc>
              <a:buNone/>
            </a:pPr>
            <a:r>
              <a:rPr lang="en-US" sz="1300" b="1" dirty="0">
                <a:solidFill>
                  <a:srgbClr val="1E2761"/>
                </a:solidFill>
                <a:latin typeface="Calibri" pitchFamily="34" charset="0"/>
                <a:ea typeface="Calibri" pitchFamily="34" charset="-122"/>
                <a:cs typeface="Calibri" pitchFamily="34" charset="-120"/>
              </a:rPr>
              <a:t>El mensaje central: </a:t>
            </a:r>
            <a:r>
              <a:rPr lang="en-US" sz="1300" dirty="0">
                <a:solidFill>
                  <a:srgbClr val="5A5F73"/>
                </a:solidFill>
                <a:latin typeface="Calibri" pitchFamily="34" charset="0"/>
                <a:ea typeface="Calibri" pitchFamily="34" charset="-122"/>
                <a:cs typeface="Calibri" pitchFamily="34" charset="-120"/>
              </a:rPr>
              <a:t>depurar los datos según el diccionario fortaleció la señal del score un 78%; aun así ninguna variable individual basta, y los atributos derivados superan a la mayoría de columnas originales.</a:t>
            </a:r>
            <a:endParaRPr lang="en-US" sz="1300" dirty="0"/>
          </a:p>
        </p:txBody>
      </p:sp>
      <p:sp>
        <p:nvSpPr>
          <p:cNvPr id="15" name="Text 13"/>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16" name="Text 14"/>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CONTEXTO</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El reto de negocio</a:t>
            </a:r>
            <a:endParaRPr lang="en-US" sz="3000" dirty="0"/>
          </a:p>
        </p:txBody>
      </p:sp>
      <p:sp>
        <p:nvSpPr>
          <p:cNvPr id="4" name="Text 2"/>
          <p:cNvSpPr/>
          <p:nvPr/>
        </p:nvSpPr>
        <p:spPr>
          <a:xfrm>
            <a:off x="548640" y="1828800"/>
            <a:ext cx="6400800" cy="2926080"/>
          </a:xfrm>
          <a:prstGeom prst="rect">
            <a:avLst/>
          </a:prstGeom>
          <a:noFill/>
          <a:ln/>
        </p:spPr>
        <p:txBody>
          <a:bodyPr wrap="square" lIns="0" tIns="0" rIns="0" bIns="0" rtlCol="0" anchor="t"/>
          <a:lstStyle/>
          <a:p>
            <a:pPr marL="0" indent="0">
              <a:lnSpc>
                <a:spcPct val="125000"/>
              </a:lnSpc>
              <a:buNone/>
            </a:pPr>
            <a:r>
              <a:rPr lang="en-US" sz="1600" dirty="0">
                <a:solidFill>
                  <a:srgbClr val="5A5F73"/>
                </a:solidFill>
                <a:latin typeface="Calibri" pitchFamily="34" charset="0"/>
                <a:ea typeface="Calibri" pitchFamily="34" charset="-122"/>
                <a:cs typeface="Calibri" pitchFamily="34" charset="-120"/>
              </a:rPr>
              <a:t>Una empresa financiera entrega una base de datos con información del crédito, del cliente y del comportamiento de pago (a tiempo o en mora). El objetivo: generar insights valiosos para la organización y comunicarlos de forma </a:t>
            </a:r>
            <a:r>
              <a:rPr lang="en-US" sz="1600" dirty="0" err="1">
                <a:solidFill>
                  <a:srgbClr val="5A5F73"/>
                </a:solidFill>
                <a:latin typeface="Calibri" pitchFamily="34" charset="0"/>
                <a:ea typeface="Calibri" pitchFamily="34" charset="-122"/>
                <a:cs typeface="Calibri" pitchFamily="34" charset="-120"/>
              </a:rPr>
              <a:t>clara</a:t>
            </a:r>
            <a:r>
              <a:rPr lang="en-US" sz="1600" dirty="0">
                <a:solidFill>
                  <a:srgbClr val="5A5F73"/>
                </a:solidFill>
                <a:latin typeface="Calibri" pitchFamily="34" charset="0"/>
                <a:ea typeface="Calibri" pitchFamily="34" charset="-122"/>
                <a:cs typeface="Calibri" pitchFamily="34" charset="-120"/>
              </a:rPr>
              <a:t> para la </a:t>
            </a:r>
            <a:r>
              <a:rPr lang="en-US" sz="1600" dirty="0" err="1">
                <a:solidFill>
                  <a:srgbClr val="5A5F73"/>
                </a:solidFill>
                <a:latin typeface="Calibri" pitchFamily="34" charset="0"/>
                <a:ea typeface="Calibri" pitchFamily="34" charset="-122"/>
                <a:cs typeface="Calibri" pitchFamily="34" charset="-120"/>
              </a:rPr>
              <a:t>toma</a:t>
            </a:r>
            <a:r>
              <a:rPr lang="en-US" sz="1600" dirty="0">
                <a:solidFill>
                  <a:srgbClr val="5A5F73"/>
                </a:solidFill>
                <a:latin typeface="Calibri" pitchFamily="34" charset="0"/>
                <a:ea typeface="Calibri" pitchFamily="34" charset="-122"/>
                <a:cs typeface="Calibri" pitchFamily="34" charset="-120"/>
              </a:rPr>
              <a:t> de decisiones</a:t>
            </a:r>
          </a:p>
          <a:p>
            <a:pPr marL="0" indent="0">
              <a:lnSpc>
                <a:spcPct val="125000"/>
              </a:lnSpc>
              <a:buNone/>
            </a:pPr>
            <a:endParaRPr lang="en-US" sz="1600" dirty="0">
              <a:solidFill>
                <a:srgbClr val="5A5F73"/>
              </a:solidFill>
              <a:latin typeface="Calibri" pitchFamily="34" charset="0"/>
              <a:ea typeface="Calibri" pitchFamily="34" charset="-122"/>
              <a:cs typeface="Calibri" pitchFamily="34" charset="-120"/>
            </a:endParaRPr>
          </a:p>
          <a:p>
            <a:pPr marL="0" indent="0">
              <a:lnSpc>
                <a:spcPct val="125000"/>
              </a:lnSpc>
              <a:buNone/>
            </a:pPr>
            <a:r>
              <a:rPr lang="en-US" sz="1600" dirty="0">
                <a:solidFill>
                  <a:srgbClr val="5A5F73"/>
                </a:solidFill>
                <a:latin typeface="Calibri" pitchFamily="34" charset="0"/>
                <a:ea typeface="Calibri" pitchFamily="34" charset="-122"/>
                <a:cs typeface="Calibri" pitchFamily="34" charset="-120"/>
              </a:rPr>
              <a:t>Los </a:t>
            </a:r>
            <a:r>
              <a:rPr lang="en-US" sz="1600" dirty="0" err="1">
                <a:solidFill>
                  <a:srgbClr val="5A5F73"/>
                </a:solidFill>
                <a:latin typeface="Calibri" pitchFamily="34" charset="0"/>
                <a:ea typeface="Calibri" pitchFamily="34" charset="-122"/>
                <a:cs typeface="Calibri" pitchFamily="34" charset="-120"/>
              </a:rPr>
              <a:t>datos</a:t>
            </a:r>
            <a:r>
              <a:rPr lang="en-US" sz="1600" dirty="0">
                <a:solidFill>
                  <a:srgbClr val="5A5F73"/>
                </a:solidFill>
                <a:latin typeface="Calibri" pitchFamily="34" charset="0"/>
                <a:ea typeface="Calibri" pitchFamily="34" charset="-122"/>
                <a:cs typeface="Calibri" pitchFamily="34" charset="-120"/>
              </a:rPr>
              <a:t> </a:t>
            </a:r>
            <a:r>
              <a:rPr lang="en-US" sz="1600" dirty="0" err="1">
                <a:solidFill>
                  <a:srgbClr val="5A5F73"/>
                </a:solidFill>
                <a:latin typeface="Calibri" pitchFamily="34" charset="0"/>
                <a:ea typeface="Calibri" pitchFamily="34" charset="-122"/>
                <a:cs typeface="Calibri" pitchFamily="34" charset="-120"/>
              </a:rPr>
              <a:t>crediticios</a:t>
            </a:r>
            <a:r>
              <a:rPr lang="en-US" sz="1600" dirty="0">
                <a:solidFill>
                  <a:srgbClr val="5A5F73"/>
                </a:solidFill>
                <a:latin typeface="Calibri" pitchFamily="34" charset="0"/>
                <a:ea typeface="Calibri" pitchFamily="34" charset="-122"/>
                <a:cs typeface="Calibri" pitchFamily="34" charset="-120"/>
              </a:rPr>
              <a:t> van </a:t>
            </a:r>
            <a:r>
              <a:rPr lang="en-US" sz="1600" dirty="0" err="1">
                <a:solidFill>
                  <a:srgbClr val="5A5F73"/>
                </a:solidFill>
                <a:latin typeface="Calibri" pitchFamily="34" charset="0"/>
                <a:ea typeface="Calibri" pitchFamily="34" charset="-122"/>
                <a:cs typeface="Calibri" pitchFamily="34" charset="-120"/>
              </a:rPr>
              <a:t>desde</a:t>
            </a:r>
            <a:r>
              <a:rPr lang="en-US" sz="1600" dirty="0">
                <a:solidFill>
                  <a:srgbClr val="5A5F73"/>
                </a:solidFill>
                <a:latin typeface="Calibri" pitchFamily="34" charset="0"/>
                <a:ea typeface="Calibri" pitchFamily="34" charset="-122"/>
                <a:cs typeface="Calibri" pitchFamily="34" charset="-120"/>
              </a:rPr>
              <a:t> </a:t>
            </a:r>
            <a:r>
              <a:rPr lang="en-US" sz="1600" dirty="0" err="1">
                <a:solidFill>
                  <a:srgbClr val="5A5F73"/>
                </a:solidFill>
                <a:latin typeface="Calibri" pitchFamily="34" charset="0"/>
                <a:ea typeface="Calibri" pitchFamily="34" charset="-122"/>
                <a:cs typeface="Calibri" pitchFamily="34" charset="-120"/>
              </a:rPr>
              <a:t>noviembre</a:t>
            </a:r>
            <a:r>
              <a:rPr lang="en-US" sz="1600" dirty="0">
                <a:solidFill>
                  <a:srgbClr val="5A5F73"/>
                </a:solidFill>
                <a:latin typeface="Calibri" pitchFamily="34" charset="0"/>
                <a:ea typeface="Calibri" pitchFamily="34" charset="-122"/>
                <a:cs typeface="Calibri" pitchFamily="34" charset="-120"/>
              </a:rPr>
              <a:t> del 2024 hasta </a:t>
            </a:r>
            <a:r>
              <a:rPr lang="en-US" sz="1600" dirty="0" err="1">
                <a:solidFill>
                  <a:srgbClr val="5A5F73"/>
                </a:solidFill>
                <a:latin typeface="Calibri" pitchFamily="34" charset="0"/>
                <a:ea typeface="Calibri" pitchFamily="34" charset="-122"/>
                <a:cs typeface="Calibri" pitchFamily="34" charset="-120"/>
              </a:rPr>
              <a:t>abril</a:t>
            </a:r>
            <a:r>
              <a:rPr lang="en-US" sz="1600" dirty="0">
                <a:solidFill>
                  <a:srgbClr val="5A5F73"/>
                </a:solidFill>
                <a:latin typeface="Calibri" pitchFamily="34" charset="0"/>
                <a:ea typeface="Calibri" pitchFamily="34" charset="-122"/>
                <a:cs typeface="Calibri" pitchFamily="34" charset="-120"/>
              </a:rPr>
              <a:t> 2026</a:t>
            </a:r>
          </a:p>
          <a:p>
            <a:pPr marL="0" indent="0">
              <a:lnSpc>
                <a:spcPct val="125000"/>
              </a:lnSpc>
              <a:buNone/>
            </a:pPr>
            <a:endParaRPr lang="en-US" sz="1600" dirty="0">
              <a:solidFill>
                <a:srgbClr val="5A5F73"/>
              </a:solidFill>
              <a:latin typeface="Calibri" pitchFamily="34" charset="0"/>
              <a:ea typeface="Calibri" pitchFamily="34" charset="-122"/>
              <a:cs typeface="Calibri" pitchFamily="34" charset="-120"/>
            </a:endParaRPr>
          </a:p>
          <a:p>
            <a:pPr marL="0" indent="0">
              <a:lnSpc>
                <a:spcPct val="125000"/>
              </a:lnSpc>
              <a:buNone/>
            </a:pPr>
            <a:r>
              <a:rPr lang="en-US" sz="1600" dirty="0" err="1">
                <a:solidFill>
                  <a:srgbClr val="5A5F73"/>
                </a:solidFill>
                <a:latin typeface="Calibri" pitchFamily="34" charset="0"/>
                <a:ea typeface="Calibri" pitchFamily="34" charset="-122"/>
                <a:cs typeface="Calibri" pitchFamily="34" charset="-120"/>
              </a:rPr>
              <a:t>Además</a:t>
            </a:r>
            <a:r>
              <a:rPr lang="en-US" sz="1600" dirty="0">
                <a:solidFill>
                  <a:srgbClr val="5A5F73"/>
                </a:solidFill>
                <a:latin typeface="Calibri" pitchFamily="34" charset="0"/>
                <a:ea typeface="Calibri" pitchFamily="34" charset="-122"/>
                <a:cs typeface="Calibri" pitchFamily="34" charset="-120"/>
              </a:rPr>
              <a:t> se propone la </a:t>
            </a:r>
            <a:r>
              <a:rPr lang="en-US" sz="1600" dirty="0" err="1">
                <a:solidFill>
                  <a:srgbClr val="5A5F73"/>
                </a:solidFill>
                <a:latin typeface="Calibri" pitchFamily="34" charset="0"/>
                <a:ea typeface="Calibri" pitchFamily="34" charset="-122"/>
                <a:cs typeface="Calibri" pitchFamily="34" charset="-120"/>
              </a:rPr>
              <a:t>construcción</a:t>
            </a:r>
            <a:r>
              <a:rPr lang="en-US" sz="1600" dirty="0">
                <a:solidFill>
                  <a:srgbClr val="5A5F73"/>
                </a:solidFill>
                <a:latin typeface="Calibri" pitchFamily="34" charset="0"/>
                <a:ea typeface="Calibri" pitchFamily="34" charset="-122"/>
                <a:cs typeface="Calibri" pitchFamily="34" charset="-120"/>
              </a:rPr>
              <a:t> de un diccionario de </a:t>
            </a:r>
            <a:r>
              <a:rPr lang="en-US" sz="1600" dirty="0" err="1">
                <a:solidFill>
                  <a:srgbClr val="5A5F73"/>
                </a:solidFill>
                <a:latin typeface="Calibri" pitchFamily="34" charset="0"/>
                <a:ea typeface="Calibri" pitchFamily="34" charset="-122"/>
                <a:cs typeface="Calibri" pitchFamily="34" charset="-120"/>
              </a:rPr>
              <a:t>datos</a:t>
            </a:r>
            <a:endParaRPr lang="en-US" sz="1600" dirty="0">
              <a:solidFill>
                <a:srgbClr val="5A5F73"/>
              </a:solidFill>
              <a:latin typeface="Calibri" pitchFamily="34" charset="0"/>
              <a:ea typeface="Calibri" pitchFamily="34" charset="-122"/>
              <a:cs typeface="Calibri" pitchFamily="34" charset="-120"/>
            </a:endParaRPr>
          </a:p>
          <a:p>
            <a:pPr marL="0" indent="0">
              <a:lnSpc>
                <a:spcPct val="125000"/>
              </a:lnSpc>
              <a:buNone/>
            </a:pPr>
            <a:endParaRPr lang="en-US" sz="1600" dirty="0">
              <a:solidFill>
                <a:srgbClr val="5A5F73"/>
              </a:solidFill>
              <a:latin typeface="Calibri" pitchFamily="34" charset="0"/>
              <a:ea typeface="Calibri" pitchFamily="34" charset="-122"/>
              <a:cs typeface="Calibri" pitchFamily="34" charset="-120"/>
            </a:endParaRPr>
          </a:p>
          <a:p>
            <a:pPr marL="0" indent="0">
              <a:lnSpc>
                <a:spcPct val="125000"/>
              </a:lnSpc>
              <a:buNone/>
            </a:pPr>
            <a:endParaRPr lang="en-US" sz="1600" dirty="0"/>
          </a:p>
        </p:txBody>
      </p:sp>
      <p:sp>
        <p:nvSpPr>
          <p:cNvPr id="5" name="Shape 3"/>
          <p:cNvSpPr/>
          <p:nvPr/>
        </p:nvSpPr>
        <p:spPr>
          <a:xfrm>
            <a:off x="7406640" y="1783080"/>
            <a:ext cx="4206240" cy="1188720"/>
          </a:xfrm>
          <a:prstGeom prst="roundRect">
            <a:avLst>
              <a:gd name="adj" fmla="val 6154"/>
            </a:avLst>
          </a:prstGeom>
          <a:solidFill>
            <a:srgbClr val="F4F7FC"/>
          </a:solidFill>
          <a:ln/>
          <a:effectLst>
            <a:outerShdw blurRad="76200" dist="25400" dir="5400000" algn="bl" rotWithShape="0">
              <a:srgbClr val="000000">
                <a:alpha val="12000"/>
              </a:srgbClr>
            </a:outerShdw>
          </a:effectLst>
        </p:spPr>
        <p:txBody>
          <a:bodyPr/>
          <a:lstStyle/>
          <a:p>
            <a:endParaRPr lang="es-CO"/>
          </a:p>
        </p:txBody>
      </p:sp>
      <p:sp>
        <p:nvSpPr>
          <p:cNvPr id="6" name="Text 4"/>
          <p:cNvSpPr/>
          <p:nvPr/>
        </p:nvSpPr>
        <p:spPr>
          <a:xfrm>
            <a:off x="7635240" y="1892808"/>
            <a:ext cx="1828800" cy="685800"/>
          </a:xfrm>
          <a:prstGeom prst="rect">
            <a:avLst/>
          </a:prstGeom>
          <a:noFill/>
          <a:ln/>
        </p:spPr>
        <p:txBody>
          <a:bodyPr wrap="square" lIns="0" tIns="0" rIns="0" bIns="0" rtlCol="0" anchor="ctr"/>
          <a:lstStyle/>
          <a:p>
            <a:pPr marL="0" indent="0">
              <a:buNone/>
            </a:pPr>
            <a:r>
              <a:rPr lang="en-US" sz="3400" b="1" dirty="0">
                <a:solidFill>
                  <a:srgbClr val="1E2761"/>
                </a:solidFill>
                <a:latin typeface="Cambria" pitchFamily="34" charset="0"/>
                <a:ea typeface="Cambria" pitchFamily="34" charset="-122"/>
                <a:cs typeface="Cambria" pitchFamily="34" charset="-120"/>
              </a:rPr>
              <a:t>10,763</a:t>
            </a:r>
            <a:endParaRPr lang="en-US" sz="3400" dirty="0"/>
          </a:p>
        </p:txBody>
      </p:sp>
      <p:sp>
        <p:nvSpPr>
          <p:cNvPr id="7" name="Text 5"/>
          <p:cNvSpPr/>
          <p:nvPr/>
        </p:nvSpPr>
        <p:spPr>
          <a:xfrm>
            <a:off x="9281160" y="1783080"/>
            <a:ext cx="2103120" cy="1188720"/>
          </a:xfrm>
          <a:prstGeom prst="rect">
            <a:avLst/>
          </a:prstGeom>
          <a:noFill/>
          <a:ln/>
        </p:spPr>
        <p:txBody>
          <a:bodyPr wrap="square" lIns="0" tIns="0" rIns="0" bIns="0" rtlCol="0" anchor="ctr"/>
          <a:lstStyle/>
          <a:p>
            <a:pPr marL="0" indent="0">
              <a:buNone/>
            </a:pPr>
            <a:r>
              <a:rPr lang="en-US" sz="1300" dirty="0">
                <a:solidFill>
                  <a:srgbClr val="5A5F73"/>
                </a:solidFill>
                <a:latin typeface="Calibri" pitchFamily="34" charset="0"/>
                <a:ea typeface="Calibri" pitchFamily="34" charset="-122"/>
                <a:cs typeface="Calibri" pitchFamily="34" charset="-120"/>
              </a:rPr>
              <a:t>créditos analizados</a:t>
            </a:r>
            <a:endParaRPr lang="en-US" sz="1300" dirty="0"/>
          </a:p>
        </p:txBody>
      </p:sp>
      <p:sp>
        <p:nvSpPr>
          <p:cNvPr id="8" name="Shape 6"/>
          <p:cNvSpPr/>
          <p:nvPr/>
        </p:nvSpPr>
        <p:spPr>
          <a:xfrm>
            <a:off x="7406640" y="3200400"/>
            <a:ext cx="4206240" cy="1188720"/>
          </a:xfrm>
          <a:prstGeom prst="roundRect">
            <a:avLst>
              <a:gd name="adj" fmla="val 6154"/>
            </a:avLst>
          </a:prstGeom>
          <a:solidFill>
            <a:srgbClr val="F4F7FC"/>
          </a:solidFill>
          <a:ln/>
          <a:effectLst>
            <a:outerShdw blurRad="76200" dist="25400" dir="5400000" algn="bl" rotWithShape="0">
              <a:srgbClr val="000000">
                <a:alpha val="12000"/>
              </a:srgbClr>
            </a:outerShdw>
          </a:effectLst>
        </p:spPr>
        <p:txBody>
          <a:bodyPr/>
          <a:lstStyle/>
          <a:p>
            <a:endParaRPr lang="es-CO"/>
          </a:p>
        </p:txBody>
      </p:sp>
      <p:sp>
        <p:nvSpPr>
          <p:cNvPr id="9" name="Text 7"/>
          <p:cNvSpPr/>
          <p:nvPr/>
        </p:nvSpPr>
        <p:spPr>
          <a:xfrm>
            <a:off x="7635240" y="3310128"/>
            <a:ext cx="1828800" cy="685800"/>
          </a:xfrm>
          <a:prstGeom prst="rect">
            <a:avLst/>
          </a:prstGeom>
          <a:noFill/>
          <a:ln/>
        </p:spPr>
        <p:txBody>
          <a:bodyPr wrap="square" lIns="0" tIns="0" rIns="0" bIns="0" rtlCol="0" anchor="ctr"/>
          <a:lstStyle/>
          <a:p>
            <a:pPr marL="0" indent="0">
              <a:buNone/>
            </a:pPr>
            <a:r>
              <a:rPr lang="en-US" sz="3400" b="1" dirty="0">
                <a:solidFill>
                  <a:srgbClr val="1E2761"/>
                </a:solidFill>
                <a:latin typeface="Cambria" pitchFamily="34" charset="0"/>
                <a:ea typeface="Cambria" pitchFamily="34" charset="-122"/>
                <a:cs typeface="Cambria" pitchFamily="34" charset="-120"/>
              </a:rPr>
              <a:t>23</a:t>
            </a:r>
            <a:endParaRPr lang="en-US" sz="3400" dirty="0"/>
          </a:p>
        </p:txBody>
      </p:sp>
      <p:sp>
        <p:nvSpPr>
          <p:cNvPr id="10" name="Text 8"/>
          <p:cNvSpPr/>
          <p:nvPr/>
        </p:nvSpPr>
        <p:spPr>
          <a:xfrm>
            <a:off x="9281160" y="3200400"/>
            <a:ext cx="2103120" cy="1188720"/>
          </a:xfrm>
          <a:prstGeom prst="rect">
            <a:avLst/>
          </a:prstGeom>
          <a:noFill/>
          <a:ln/>
        </p:spPr>
        <p:txBody>
          <a:bodyPr wrap="square" lIns="0" tIns="0" rIns="0" bIns="0" rtlCol="0" anchor="ctr"/>
          <a:lstStyle/>
          <a:p>
            <a:pPr marL="0" indent="0">
              <a:buNone/>
            </a:pPr>
            <a:r>
              <a:rPr lang="en-US" sz="1300" dirty="0">
                <a:solidFill>
                  <a:srgbClr val="5A5F73"/>
                </a:solidFill>
                <a:latin typeface="Calibri" pitchFamily="34" charset="0"/>
                <a:ea typeface="Calibri" pitchFamily="34" charset="-122"/>
                <a:cs typeface="Calibri" pitchFamily="34" charset="-120"/>
              </a:rPr>
              <a:t>variables originales</a:t>
            </a:r>
            <a:endParaRPr lang="en-US" sz="1300" dirty="0"/>
          </a:p>
        </p:txBody>
      </p:sp>
      <p:sp>
        <p:nvSpPr>
          <p:cNvPr id="11" name="Shape 9"/>
          <p:cNvSpPr/>
          <p:nvPr/>
        </p:nvSpPr>
        <p:spPr>
          <a:xfrm>
            <a:off x="7406640" y="4617720"/>
            <a:ext cx="4206240" cy="1188720"/>
          </a:xfrm>
          <a:prstGeom prst="roundRect">
            <a:avLst>
              <a:gd name="adj" fmla="val 6154"/>
            </a:avLst>
          </a:prstGeom>
          <a:solidFill>
            <a:srgbClr val="F4F7FC"/>
          </a:solidFill>
          <a:ln/>
          <a:effectLst>
            <a:outerShdw blurRad="76200" dist="25400" dir="5400000" algn="bl" rotWithShape="0">
              <a:srgbClr val="000000">
                <a:alpha val="12000"/>
              </a:srgbClr>
            </a:outerShdw>
          </a:effectLst>
        </p:spPr>
        <p:txBody>
          <a:bodyPr/>
          <a:lstStyle/>
          <a:p>
            <a:endParaRPr lang="es-CO"/>
          </a:p>
        </p:txBody>
      </p:sp>
      <p:sp>
        <p:nvSpPr>
          <p:cNvPr id="12" name="Text 10"/>
          <p:cNvSpPr/>
          <p:nvPr/>
        </p:nvSpPr>
        <p:spPr>
          <a:xfrm>
            <a:off x="7635240" y="4727448"/>
            <a:ext cx="1828800" cy="685800"/>
          </a:xfrm>
          <a:prstGeom prst="rect">
            <a:avLst/>
          </a:prstGeom>
          <a:noFill/>
          <a:ln/>
        </p:spPr>
        <p:txBody>
          <a:bodyPr wrap="square" lIns="0" tIns="0" rIns="0" bIns="0" rtlCol="0" anchor="ctr"/>
          <a:lstStyle/>
          <a:p>
            <a:pPr marL="0" indent="0">
              <a:buNone/>
            </a:pPr>
            <a:endParaRPr lang="en-US" sz="3400" dirty="0"/>
          </a:p>
        </p:txBody>
      </p:sp>
      <p:sp>
        <p:nvSpPr>
          <p:cNvPr id="13" name="Text 11"/>
          <p:cNvSpPr/>
          <p:nvPr/>
        </p:nvSpPr>
        <p:spPr>
          <a:xfrm>
            <a:off x="9281160" y="4617720"/>
            <a:ext cx="2103120" cy="1188720"/>
          </a:xfrm>
          <a:prstGeom prst="rect">
            <a:avLst/>
          </a:prstGeom>
          <a:noFill/>
          <a:ln/>
        </p:spPr>
        <p:txBody>
          <a:bodyPr wrap="square" lIns="0" tIns="0" rIns="0" bIns="0" rtlCol="0" anchor="ctr"/>
          <a:lstStyle/>
          <a:p>
            <a:pPr marL="0" indent="0">
              <a:buNone/>
            </a:pPr>
            <a:r>
              <a:rPr lang="en-US" sz="1300" dirty="0">
                <a:solidFill>
                  <a:srgbClr val="5A5F73"/>
                </a:solidFill>
                <a:latin typeface="Calibri" pitchFamily="34" charset="0"/>
                <a:ea typeface="Calibri" pitchFamily="34" charset="-122"/>
                <a:cs typeface="Calibri" pitchFamily="34" charset="-120"/>
              </a:rPr>
              <a:t>diccionario de datos</a:t>
            </a:r>
            <a:endParaRPr lang="en-US" sz="1300" dirty="0"/>
          </a:p>
        </p:txBody>
      </p:sp>
      <p:sp>
        <p:nvSpPr>
          <p:cNvPr id="14" name="Text 12"/>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15" name="Text 13"/>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402336"/>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INVESTIGACION SECTOR BANCARIO COLOMBIANO</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El diccionario de datos</a:t>
            </a:r>
            <a:endParaRPr lang="en-US" sz="3000" dirty="0"/>
          </a:p>
        </p:txBody>
      </p:sp>
      <p:sp>
        <p:nvSpPr>
          <p:cNvPr id="4" name="Text 2"/>
          <p:cNvSpPr/>
          <p:nvPr/>
        </p:nvSpPr>
        <p:spPr>
          <a:xfrm>
            <a:off x="548640" y="1600200"/>
            <a:ext cx="11064240" cy="365760"/>
          </a:xfrm>
          <a:prstGeom prst="rect">
            <a:avLst/>
          </a:prstGeom>
          <a:noFill/>
          <a:ln/>
        </p:spPr>
        <p:txBody>
          <a:bodyPr wrap="square" lIns="0" tIns="0" rIns="0" bIns="0" rtlCol="0" anchor="ctr"/>
          <a:lstStyle/>
          <a:p>
            <a:pPr marL="0" indent="0">
              <a:buNone/>
            </a:pPr>
            <a:r>
              <a:rPr lang="en-US" sz="1400" i="1" dirty="0">
                <a:solidFill>
                  <a:srgbClr val="5A5F73"/>
                </a:solidFill>
                <a:latin typeface="Calibri" pitchFamily="34" charset="0"/>
                <a:ea typeface="Calibri" pitchFamily="34" charset="-122"/>
                <a:cs typeface="Calibri" pitchFamily="34" charset="-120"/>
              </a:rPr>
              <a:t>No se </a:t>
            </a:r>
            <a:r>
              <a:rPr lang="en-US" sz="1400" i="1" dirty="0" err="1">
                <a:solidFill>
                  <a:srgbClr val="5A5F73"/>
                </a:solidFill>
                <a:latin typeface="Calibri" pitchFamily="34" charset="0"/>
                <a:ea typeface="Calibri" pitchFamily="34" charset="-122"/>
                <a:cs typeface="Calibri" pitchFamily="34" charset="-120"/>
              </a:rPr>
              <a:t>entregó</a:t>
            </a:r>
            <a:r>
              <a:rPr lang="en-US" sz="1400" i="1" dirty="0">
                <a:solidFill>
                  <a:srgbClr val="5A5F73"/>
                </a:solidFill>
                <a:latin typeface="Calibri" pitchFamily="34" charset="0"/>
                <a:ea typeface="Calibri" pitchFamily="34" charset="-122"/>
                <a:cs typeface="Calibri" pitchFamily="34" charset="-120"/>
              </a:rPr>
              <a:t> diccionario , </a:t>
            </a:r>
            <a:r>
              <a:rPr lang="en-US" sz="1400" i="1" dirty="0" err="1">
                <a:solidFill>
                  <a:srgbClr val="5A5F73"/>
                </a:solidFill>
                <a:latin typeface="Calibri" pitchFamily="34" charset="0"/>
                <a:ea typeface="Calibri" pitchFamily="34" charset="-122"/>
                <a:cs typeface="Calibri" pitchFamily="34" charset="-120"/>
              </a:rPr>
              <a:t>entonces</a:t>
            </a:r>
            <a:r>
              <a:rPr lang="en-US" sz="1400" i="1" dirty="0">
                <a:solidFill>
                  <a:srgbClr val="5A5F73"/>
                </a:solidFill>
                <a:latin typeface="Calibri" pitchFamily="34" charset="0"/>
                <a:ea typeface="Calibri" pitchFamily="34" charset="-122"/>
                <a:cs typeface="Calibri" pitchFamily="34" charset="-120"/>
              </a:rPr>
              <a:t> se </a:t>
            </a:r>
            <a:r>
              <a:rPr lang="en-US" sz="1400" i="1" dirty="0" err="1">
                <a:solidFill>
                  <a:srgbClr val="5A5F73"/>
                </a:solidFill>
                <a:latin typeface="Calibri" pitchFamily="34" charset="0"/>
                <a:ea typeface="Calibri" pitchFamily="34" charset="-122"/>
                <a:cs typeface="Calibri" pitchFamily="34" charset="-120"/>
              </a:rPr>
              <a:t>implementa</a:t>
            </a:r>
            <a:r>
              <a:rPr lang="en-US" sz="1400" i="1" dirty="0">
                <a:solidFill>
                  <a:srgbClr val="5A5F73"/>
                </a:solidFill>
                <a:latin typeface="Calibri" pitchFamily="34" charset="0"/>
                <a:ea typeface="Calibri" pitchFamily="34" charset="-122"/>
                <a:cs typeface="Calibri" pitchFamily="34" charset="-120"/>
              </a:rPr>
              <a:t> un diccionario de </a:t>
            </a:r>
            <a:r>
              <a:rPr lang="en-US" sz="1400" i="1" dirty="0" err="1">
                <a:solidFill>
                  <a:srgbClr val="5A5F73"/>
                </a:solidFill>
                <a:latin typeface="Calibri" pitchFamily="34" charset="0"/>
                <a:ea typeface="Calibri" pitchFamily="34" charset="-122"/>
                <a:cs typeface="Calibri" pitchFamily="34" charset="-120"/>
              </a:rPr>
              <a:t>datos</a:t>
            </a:r>
            <a:r>
              <a:rPr lang="en-US" sz="1400" i="1" dirty="0">
                <a:solidFill>
                  <a:srgbClr val="5A5F73"/>
                </a:solidFill>
                <a:latin typeface="Calibri" pitchFamily="34" charset="0"/>
                <a:ea typeface="Calibri" pitchFamily="34" charset="-122"/>
                <a:cs typeface="Calibri" pitchFamily="34" charset="-120"/>
              </a:rPr>
              <a:t>.</a:t>
            </a:r>
            <a:endParaRPr lang="en-US" sz="1400" dirty="0"/>
          </a:p>
        </p:txBody>
      </p:sp>
      <p:sp>
        <p:nvSpPr>
          <p:cNvPr id="5" name="Shape 3"/>
          <p:cNvSpPr/>
          <p:nvPr/>
        </p:nvSpPr>
        <p:spPr>
          <a:xfrm>
            <a:off x="548640" y="2148840"/>
            <a:ext cx="2697480" cy="1828800"/>
          </a:xfrm>
          <a:prstGeom prst="roundRect">
            <a:avLst>
              <a:gd name="adj" fmla="val 4000"/>
            </a:avLst>
          </a:prstGeom>
          <a:solidFill>
            <a:srgbClr val="1E2761"/>
          </a:solidFill>
          <a:ln/>
        </p:spPr>
        <p:txBody>
          <a:bodyPr/>
          <a:lstStyle/>
          <a:p>
            <a:endParaRPr lang="es-CO"/>
          </a:p>
        </p:txBody>
      </p:sp>
      <p:sp>
        <p:nvSpPr>
          <p:cNvPr id="6" name="Text 4"/>
          <p:cNvSpPr/>
          <p:nvPr/>
        </p:nvSpPr>
        <p:spPr>
          <a:xfrm>
            <a:off x="777240" y="2286000"/>
            <a:ext cx="2240280" cy="54864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4</a:t>
            </a:r>
            <a:endParaRPr lang="en-US" sz="3000" dirty="0"/>
          </a:p>
        </p:txBody>
      </p:sp>
      <p:sp>
        <p:nvSpPr>
          <p:cNvPr id="7" name="Text 5"/>
          <p:cNvSpPr/>
          <p:nvPr/>
        </p:nvSpPr>
        <p:spPr>
          <a:xfrm>
            <a:off x="777240" y="2807208"/>
            <a:ext cx="2240280" cy="548640"/>
          </a:xfrm>
          <a:prstGeom prst="rect">
            <a:avLst/>
          </a:prstGeom>
          <a:noFill/>
          <a:ln/>
        </p:spPr>
        <p:txBody>
          <a:bodyPr wrap="square" lIns="0" tIns="0" rIns="0" bIns="0" rtlCol="0" anchor="t"/>
          <a:lstStyle/>
          <a:p>
            <a:pPr marL="0" indent="0">
              <a:buNone/>
            </a:pPr>
            <a:r>
              <a:rPr lang="en-US" sz="1250" b="1" dirty="0">
                <a:solidFill>
                  <a:srgbClr val="CADCFC"/>
                </a:solidFill>
                <a:latin typeface="Calibri" pitchFamily="34" charset="0"/>
                <a:ea typeface="Calibri" pitchFamily="34" charset="-122"/>
                <a:cs typeface="Calibri" pitchFamily="34" charset="-120"/>
              </a:rPr>
              <a:t>Cualitativas</a:t>
            </a:r>
            <a:endParaRPr lang="en-US" sz="1250" dirty="0"/>
          </a:p>
          <a:p>
            <a:pPr marL="0" indent="0">
              <a:buNone/>
            </a:pPr>
            <a:r>
              <a:rPr lang="en-US" sz="1250" b="1" dirty="0">
                <a:solidFill>
                  <a:srgbClr val="CADCFC"/>
                </a:solidFill>
                <a:latin typeface="Calibri" pitchFamily="34" charset="0"/>
                <a:ea typeface="Calibri" pitchFamily="34" charset="-122"/>
                <a:cs typeface="Calibri" pitchFamily="34" charset="-120"/>
              </a:rPr>
              <a:t>nominales</a:t>
            </a:r>
            <a:endParaRPr lang="en-US" sz="1250" dirty="0"/>
          </a:p>
        </p:txBody>
      </p:sp>
      <p:sp>
        <p:nvSpPr>
          <p:cNvPr id="8" name="Text 6"/>
          <p:cNvSpPr/>
          <p:nvPr/>
        </p:nvSpPr>
        <p:spPr>
          <a:xfrm>
            <a:off x="777240" y="3337560"/>
            <a:ext cx="2240280" cy="548640"/>
          </a:xfrm>
          <a:prstGeom prst="rect">
            <a:avLst/>
          </a:prstGeom>
          <a:noFill/>
          <a:ln/>
        </p:spPr>
        <p:txBody>
          <a:bodyPr wrap="square" lIns="0" tIns="0" rIns="0" bIns="0" rtlCol="0" anchor="t"/>
          <a:lstStyle/>
          <a:p>
            <a:pPr marL="0" indent="0">
              <a:buNone/>
            </a:pPr>
            <a:r>
              <a:rPr lang="en-US" sz="950" dirty="0">
                <a:solidFill>
                  <a:srgbClr val="CADCFC"/>
                </a:solidFill>
                <a:latin typeface="Calibri" pitchFamily="34" charset="0"/>
                <a:ea typeface="Calibri" pitchFamily="34" charset="-122"/>
                <a:cs typeface="Calibri" pitchFamily="34" charset="-120"/>
              </a:rPr>
              <a:t>tipo_credito, tipo_laboral,</a:t>
            </a:r>
            <a:endParaRPr lang="en-US" sz="950" dirty="0"/>
          </a:p>
          <a:p>
            <a:pPr marL="0" indent="0">
              <a:buNone/>
            </a:pPr>
            <a:r>
              <a:rPr lang="en-US" sz="950" dirty="0">
                <a:solidFill>
                  <a:srgbClr val="CADCFC"/>
                </a:solidFill>
                <a:latin typeface="Calibri" pitchFamily="34" charset="0"/>
                <a:ea typeface="Calibri" pitchFamily="34" charset="-122"/>
                <a:cs typeface="Calibri" pitchFamily="34" charset="-120"/>
              </a:rPr>
              <a:t>tendencia_ingresos, Pago_atiempo</a:t>
            </a:r>
            <a:endParaRPr lang="en-US" sz="950" dirty="0"/>
          </a:p>
        </p:txBody>
      </p:sp>
      <p:sp>
        <p:nvSpPr>
          <p:cNvPr id="9" name="Shape 7"/>
          <p:cNvSpPr/>
          <p:nvPr/>
        </p:nvSpPr>
        <p:spPr>
          <a:xfrm>
            <a:off x="3447288" y="2148840"/>
            <a:ext cx="2697480" cy="1828800"/>
          </a:xfrm>
          <a:prstGeom prst="roundRect">
            <a:avLst>
              <a:gd name="adj" fmla="val 4000"/>
            </a:avLst>
          </a:prstGeom>
          <a:solidFill>
            <a:srgbClr val="F4F7FC"/>
          </a:solidFill>
          <a:ln/>
        </p:spPr>
        <p:txBody>
          <a:bodyPr/>
          <a:lstStyle/>
          <a:p>
            <a:endParaRPr lang="es-CO"/>
          </a:p>
        </p:txBody>
      </p:sp>
      <p:sp>
        <p:nvSpPr>
          <p:cNvPr id="10" name="Text 8"/>
          <p:cNvSpPr/>
          <p:nvPr/>
        </p:nvSpPr>
        <p:spPr>
          <a:xfrm>
            <a:off x="3675888" y="2286000"/>
            <a:ext cx="2240280" cy="54864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9</a:t>
            </a:r>
            <a:endParaRPr lang="en-US" sz="3000" dirty="0"/>
          </a:p>
        </p:txBody>
      </p:sp>
      <p:sp>
        <p:nvSpPr>
          <p:cNvPr id="11" name="Text 9"/>
          <p:cNvSpPr/>
          <p:nvPr/>
        </p:nvSpPr>
        <p:spPr>
          <a:xfrm>
            <a:off x="3675888" y="2807208"/>
            <a:ext cx="2240280" cy="548640"/>
          </a:xfrm>
          <a:prstGeom prst="rect">
            <a:avLst/>
          </a:prstGeom>
          <a:noFill/>
          <a:ln/>
        </p:spPr>
        <p:txBody>
          <a:bodyPr wrap="square" lIns="0" tIns="0" rIns="0" bIns="0" rtlCol="0" anchor="t"/>
          <a:lstStyle/>
          <a:p>
            <a:pPr marL="0" indent="0">
              <a:buNone/>
            </a:pPr>
            <a:r>
              <a:rPr lang="en-US" sz="1250" b="1" dirty="0">
                <a:solidFill>
                  <a:srgbClr val="1E2761"/>
                </a:solidFill>
                <a:latin typeface="Calibri" pitchFamily="34" charset="0"/>
                <a:ea typeface="Calibri" pitchFamily="34" charset="-122"/>
                <a:cs typeface="Calibri" pitchFamily="34" charset="-120"/>
              </a:rPr>
              <a:t>Cuantitativas</a:t>
            </a:r>
            <a:endParaRPr lang="en-US" sz="1250" dirty="0"/>
          </a:p>
          <a:p>
            <a:pPr marL="0" indent="0">
              <a:buNone/>
            </a:pPr>
            <a:r>
              <a:rPr lang="en-US" sz="1250" b="1" dirty="0">
                <a:solidFill>
                  <a:srgbClr val="1E2761"/>
                </a:solidFill>
                <a:latin typeface="Calibri" pitchFamily="34" charset="0"/>
                <a:ea typeface="Calibri" pitchFamily="34" charset="-122"/>
                <a:cs typeface="Calibri" pitchFamily="34" charset="-120"/>
              </a:rPr>
              <a:t>continuas</a:t>
            </a:r>
            <a:endParaRPr lang="en-US" sz="1250" dirty="0"/>
          </a:p>
        </p:txBody>
      </p:sp>
      <p:sp>
        <p:nvSpPr>
          <p:cNvPr id="12" name="Text 10"/>
          <p:cNvSpPr/>
          <p:nvPr/>
        </p:nvSpPr>
        <p:spPr>
          <a:xfrm>
            <a:off x="3675888" y="3337560"/>
            <a:ext cx="2240280" cy="548640"/>
          </a:xfrm>
          <a:prstGeom prst="rect">
            <a:avLst/>
          </a:prstGeom>
          <a:noFill/>
          <a:ln/>
        </p:spPr>
        <p:txBody>
          <a:bodyPr wrap="square" lIns="0" tIns="0" rIns="0" bIns="0" rtlCol="0" anchor="t"/>
          <a:lstStyle/>
          <a:p>
            <a:pPr marL="0" indent="0">
              <a:buNone/>
            </a:pPr>
            <a:r>
              <a:rPr lang="en-US" sz="950" dirty="0">
                <a:solidFill>
                  <a:srgbClr val="5A5F73"/>
                </a:solidFill>
                <a:latin typeface="Calibri" pitchFamily="34" charset="0"/>
                <a:ea typeface="Calibri" pitchFamily="34" charset="-122"/>
                <a:cs typeface="Calibri" pitchFamily="34" charset="-120"/>
              </a:rPr>
              <a:t>capital, salario, cuota,</a:t>
            </a:r>
            <a:endParaRPr lang="en-US" sz="950" dirty="0"/>
          </a:p>
          <a:p>
            <a:pPr marL="0" indent="0">
              <a:buNone/>
            </a:pPr>
            <a:r>
              <a:rPr lang="en-US" sz="950" dirty="0">
                <a:solidFill>
                  <a:srgbClr val="5A5F73"/>
                </a:solidFill>
                <a:latin typeface="Calibri" pitchFamily="34" charset="0"/>
                <a:ea typeface="Calibri" pitchFamily="34" charset="-122"/>
                <a:cs typeface="Calibri" pitchFamily="34" charset="-120"/>
              </a:rPr>
              <a:t>saldos, ingresos buró</a:t>
            </a:r>
            <a:endParaRPr lang="en-US" sz="950" dirty="0"/>
          </a:p>
        </p:txBody>
      </p:sp>
      <p:sp>
        <p:nvSpPr>
          <p:cNvPr id="13" name="Shape 11"/>
          <p:cNvSpPr/>
          <p:nvPr/>
        </p:nvSpPr>
        <p:spPr>
          <a:xfrm>
            <a:off x="6345936" y="2148840"/>
            <a:ext cx="2697480" cy="1828800"/>
          </a:xfrm>
          <a:prstGeom prst="roundRect">
            <a:avLst>
              <a:gd name="adj" fmla="val 4000"/>
            </a:avLst>
          </a:prstGeom>
          <a:solidFill>
            <a:srgbClr val="F4F7FC"/>
          </a:solidFill>
          <a:ln/>
        </p:spPr>
        <p:txBody>
          <a:bodyPr/>
          <a:lstStyle/>
          <a:p>
            <a:endParaRPr lang="es-CO"/>
          </a:p>
        </p:txBody>
      </p:sp>
      <p:sp>
        <p:nvSpPr>
          <p:cNvPr id="14" name="Text 12"/>
          <p:cNvSpPr/>
          <p:nvPr/>
        </p:nvSpPr>
        <p:spPr>
          <a:xfrm>
            <a:off x="6574536" y="2286000"/>
            <a:ext cx="2240280" cy="54864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8</a:t>
            </a:r>
            <a:endParaRPr lang="en-US" sz="3000" dirty="0"/>
          </a:p>
        </p:txBody>
      </p:sp>
      <p:sp>
        <p:nvSpPr>
          <p:cNvPr id="15" name="Text 13"/>
          <p:cNvSpPr/>
          <p:nvPr/>
        </p:nvSpPr>
        <p:spPr>
          <a:xfrm>
            <a:off x="6574536" y="2807208"/>
            <a:ext cx="2240280" cy="548640"/>
          </a:xfrm>
          <a:prstGeom prst="rect">
            <a:avLst/>
          </a:prstGeom>
          <a:noFill/>
          <a:ln/>
        </p:spPr>
        <p:txBody>
          <a:bodyPr wrap="square" lIns="0" tIns="0" rIns="0" bIns="0" rtlCol="0" anchor="t"/>
          <a:lstStyle/>
          <a:p>
            <a:pPr marL="0" indent="0">
              <a:buNone/>
            </a:pPr>
            <a:r>
              <a:rPr lang="en-US" sz="1250" b="1" dirty="0">
                <a:solidFill>
                  <a:srgbClr val="1E2761"/>
                </a:solidFill>
                <a:latin typeface="Calibri" pitchFamily="34" charset="0"/>
                <a:ea typeface="Calibri" pitchFamily="34" charset="-122"/>
                <a:cs typeface="Calibri" pitchFamily="34" charset="-120"/>
              </a:rPr>
              <a:t>Cuantitativas</a:t>
            </a:r>
            <a:endParaRPr lang="en-US" sz="1250" dirty="0"/>
          </a:p>
          <a:p>
            <a:pPr marL="0" indent="0">
              <a:buNone/>
            </a:pPr>
            <a:r>
              <a:rPr lang="en-US" sz="1250" b="1" dirty="0">
                <a:solidFill>
                  <a:srgbClr val="1E2761"/>
                </a:solidFill>
                <a:latin typeface="Calibri" pitchFamily="34" charset="0"/>
                <a:ea typeface="Calibri" pitchFamily="34" charset="-122"/>
                <a:cs typeface="Calibri" pitchFamily="34" charset="-120"/>
              </a:rPr>
              <a:t>discretas</a:t>
            </a:r>
            <a:endParaRPr lang="en-US" sz="1250" dirty="0"/>
          </a:p>
        </p:txBody>
      </p:sp>
      <p:sp>
        <p:nvSpPr>
          <p:cNvPr id="16" name="Text 14"/>
          <p:cNvSpPr/>
          <p:nvPr/>
        </p:nvSpPr>
        <p:spPr>
          <a:xfrm>
            <a:off x="6574536" y="3337560"/>
            <a:ext cx="2240280" cy="548640"/>
          </a:xfrm>
          <a:prstGeom prst="rect">
            <a:avLst/>
          </a:prstGeom>
          <a:noFill/>
          <a:ln/>
        </p:spPr>
        <p:txBody>
          <a:bodyPr wrap="square" lIns="0" tIns="0" rIns="0" bIns="0" rtlCol="0" anchor="t"/>
          <a:lstStyle/>
          <a:p>
            <a:pPr marL="0" indent="0">
              <a:buNone/>
            </a:pPr>
            <a:r>
              <a:rPr lang="en-US" sz="950" dirty="0">
                <a:solidFill>
                  <a:srgbClr val="5A5F73"/>
                </a:solidFill>
                <a:latin typeface="Calibri" pitchFamily="34" charset="0"/>
                <a:ea typeface="Calibri" pitchFamily="34" charset="-122"/>
                <a:cs typeface="Calibri" pitchFamily="34" charset="-120"/>
              </a:rPr>
              <a:t>plazo, edad, score,</a:t>
            </a:r>
            <a:endParaRPr lang="en-US" sz="950" dirty="0"/>
          </a:p>
          <a:p>
            <a:pPr marL="0" indent="0">
              <a:buNone/>
            </a:pPr>
            <a:r>
              <a:rPr lang="en-US" sz="950" dirty="0">
                <a:solidFill>
                  <a:srgbClr val="5A5F73"/>
                </a:solidFill>
                <a:latin typeface="Calibri" pitchFamily="34" charset="0"/>
                <a:ea typeface="Calibri" pitchFamily="34" charset="-122"/>
                <a:cs typeface="Calibri" pitchFamily="34" charset="-120"/>
              </a:rPr>
              <a:t>conteos de créditos</a:t>
            </a:r>
            <a:endParaRPr lang="en-US" sz="950" dirty="0"/>
          </a:p>
        </p:txBody>
      </p:sp>
      <p:sp>
        <p:nvSpPr>
          <p:cNvPr id="17" name="Shape 15"/>
          <p:cNvSpPr/>
          <p:nvPr/>
        </p:nvSpPr>
        <p:spPr>
          <a:xfrm>
            <a:off x="9244584" y="2148840"/>
            <a:ext cx="2697480" cy="1828800"/>
          </a:xfrm>
          <a:prstGeom prst="roundRect">
            <a:avLst>
              <a:gd name="adj" fmla="val 4000"/>
            </a:avLst>
          </a:prstGeom>
          <a:solidFill>
            <a:srgbClr val="F4F7FC"/>
          </a:solidFill>
          <a:ln/>
        </p:spPr>
        <p:txBody>
          <a:bodyPr/>
          <a:lstStyle/>
          <a:p>
            <a:endParaRPr lang="es-CO"/>
          </a:p>
        </p:txBody>
      </p:sp>
      <p:sp>
        <p:nvSpPr>
          <p:cNvPr id="18" name="Text 16"/>
          <p:cNvSpPr/>
          <p:nvPr/>
        </p:nvSpPr>
        <p:spPr>
          <a:xfrm>
            <a:off x="9473184" y="2286000"/>
            <a:ext cx="2240280" cy="54864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1</a:t>
            </a:r>
            <a:endParaRPr lang="en-US" sz="3000" dirty="0"/>
          </a:p>
        </p:txBody>
      </p:sp>
      <p:sp>
        <p:nvSpPr>
          <p:cNvPr id="19" name="Text 17"/>
          <p:cNvSpPr/>
          <p:nvPr/>
        </p:nvSpPr>
        <p:spPr>
          <a:xfrm>
            <a:off x="9473184" y="2807208"/>
            <a:ext cx="2240280" cy="548640"/>
          </a:xfrm>
          <a:prstGeom prst="rect">
            <a:avLst/>
          </a:prstGeom>
          <a:noFill/>
          <a:ln/>
        </p:spPr>
        <p:txBody>
          <a:bodyPr wrap="square" lIns="0" tIns="0" rIns="0" bIns="0" rtlCol="0" anchor="t"/>
          <a:lstStyle/>
          <a:p>
            <a:pPr marL="0" indent="0">
              <a:buNone/>
            </a:pPr>
            <a:r>
              <a:rPr lang="en-US" sz="1250" b="1" dirty="0">
                <a:solidFill>
                  <a:srgbClr val="1E2761"/>
                </a:solidFill>
                <a:latin typeface="Calibri" pitchFamily="34" charset="0"/>
                <a:ea typeface="Calibri" pitchFamily="34" charset="-122"/>
                <a:cs typeface="Calibri" pitchFamily="34" charset="-120"/>
              </a:rPr>
              <a:t>Temporal</a:t>
            </a:r>
            <a:endParaRPr lang="en-US" sz="1250" dirty="0"/>
          </a:p>
        </p:txBody>
      </p:sp>
      <p:sp>
        <p:nvSpPr>
          <p:cNvPr id="20" name="Text 18"/>
          <p:cNvSpPr/>
          <p:nvPr/>
        </p:nvSpPr>
        <p:spPr>
          <a:xfrm>
            <a:off x="9473184" y="3337560"/>
            <a:ext cx="2240280" cy="548640"/>
          </a:xfrm>
          <a:prstGeom prst="rect">
            <a:avLst/>
          </a:prstGeom>
          <a:noFill/>
          <a:ln/>
        </p:spPr>
        <p:txBody>
          <a:bodyPr wrap="square" lIns="0" tIns="0" rIns="0" bIns="0" rtlCol="0" anchor="t"/>
          <a:lstStyle/>
          <a:p>
            <a:pPr marL="0" indent="0">
              <a:buNone/>
            </a:pPr>
            <a:r>
              <a:rPr lang="en-US" sz="950" dirty="0">
                <a:solidFill>
                  <a:srgbClr val="5A5F73"/>
                </a:solidFill>
                <a:latin typeface="Calibri" pitchFamily="34" charset="0"/>
                <a:ea typeface="Calibri" pitchFamily="34" charset="-122"/>
                <a:cs typeface="Calibri" pitchFamily="34" charset="-120"/>
              </a:rPr>
              <a:t>fecha_prestamo</a:t>
            </a:r>
            <a:endParaRPr lang="en-US" sz="950" dirty="0"/>
          </a:p>
        </p:txBody>
      </p:sp>
      <p:sp>
        <p:nvSpPr>
          <p:cNvPr id="21" name="Text 19"/>
          <p:cNvSpPr/>
          <p:nvPr/>
        </p:nvSpPr>
        <p:spPr>
          <a:xfrm>
            <a:off x="548640" y="4160520"/>
            <a:ext cx="11064240" cy="365760"/>
          </a:xfrm>
          <a:prstGeom prst="rect">
            <a:avLst/>
          </a:prstGeom>
          <a:noFill/>
          <a:ln/>
        </p:spPr>
        <p:txBody>
          <a:bodyPr wrap="square" lIns="0" tIns="0" rIns="0" bIns="0" rtlCol="0" anchor="ctr"/>
          <a:lstStyle/>
          <a:p>
            <a:pPr marL="0" indent="0">
              <a:buNone/>
            </a:pPr>
            <a:r>
              <a:rPr lang="en-US" sz="1150" dirty="0">
                <a:solidFill>
                  <a:srgbClr val="5A5F73"/>
                </a:solidFill>
                <a:latin typeface="Calibri" pitchFamily="34" charset="0"/>
                <a:ea typeface="Calibri" pitchFamily="34" charset="-122"/>
                <a:cs typeface="Calibri" pitchFamily="34" charset="-120"/>
              </a:rPr>
              <a:t>Cada variable documentada con: tipo de dato · tipo estadístico · nivel de medición · unidad · rango válido · sensibilidad legal · rol</a:t>
            </a:r>
            <a:endParaRPr lang="en-US" sz="1150" dirty="0"/>
          </a:p>
        </p:txBody>
      </p:sp>
      <p:sp>
        <p:nvSpPr>
          <p:cNvPr id="22" name="Shape 20"/>
          <p:cNvSpPr/>
          <p:nvPr/>
        </p:nvSpPr>
        <p:spPr>
          <a:xfrm>
            <a:off x="548640" y="4640113"/>
            <a:ext cx="11064240" cy="1051560"/>
          </a:xfrm>
          <a:prstGeom prst="roundRect">
            <a:avLst>
              <a:gd name="adj" fmla="val 6957"/>
            </a:avLst>
          </a:prstGeom>
          <a:solidFill>
            <a:srgbClr val="FBEAEA"/>
          </a:solidFill>
          <a:ln/>
        </p:spPr>
        <p:txBody>
          <a:bodyPr/>
          <a:lstStyle/>
          <a:p>
            <a:endParaRPr lang="es-CO"/>
          </a:p>
        </p:txBody>
      </p:sp>
      <p:sp>
        <p:nvSpPr>
          <p:cNvPr id="23" name="Text 21"/>
          <p:cNvSpPr/>
          <p:nvPr/>
        </p:nvSpPr>
        <p:spPr>
          <a:xfrm>
            <a:off x="777240" y="4800600"/>
            <a:ext cx="10607040" cy="822960"/>
          </a:xfrm>
          <a:prstGeom prst="rect">
            <a:avLst/>
          </a:prstGeom>
          <a:noFill/>
          <a:ln/>
        </p:spPr>
        <p:txBody>
          <a:bodyPr wrap="square" lIns="0" tIns="0" rIns="0" bIns="0" rtlCol="0" anchor="ctr"/>
          <a:lstStyle/>
          <a:p>
            <a:pPr marL="0" indent="0">
              <a:lnSpc>
                <a:spcPct val="120000"/>
              </a:lnSpc>
              <a:buNone/>
            </a:pPr>
            <a:r>
              <a:rPr lang="en-US" sz="1200" b="1" dirty="0">
                <a:solidFill>
                  <a:srgbClr val="1E2761"/>
                </a:solidFill>
                <a:latin typeface="Calibri" pitchFamily="34" charset="0"/>
                <a:ea typeface="Calibri" pitchFamily="34" charset="-122"/>
                <a:cs typeface="Calibri" pitchFamily="34" charset="-120"/>
              </a:rPr>
              <a:t>Marco legal aplicado: </a:t>
            </a:r>
            <a:r>
              <a:rPr lang="en-US" sz="1200" dirty="0">
                <a:latin typeface="Calibri" pitchFamily="34" charset="0"/>
                <a:ea typeface="Calibri" pitchFamily="34" charset="-122"/>
                <a:cs typeface="Calibri" pitchFamily="34" charset="-120"/>
              </a:rPr>
              <a:t>bajo Ley 1266 de 2008 todas las variables son (dato financiero y crediticio). Ninguna es </a:t>
            </a:r>
            <a:r>
              <a:rPr lang="en-US" sz="1200" b="1" dirty="0">
                <a:latin typeface="Calibri" pitchFamily="34" charset="0"/>
                <a:ea typeface="Calibri" pitchFamily="34" charset="-122"/>
                <a:cs typeface="Calibri" pitchFamily="34" charset="-120"/>
              </a:rPr>
              <a:t>sensible</a:t>
            </a:r>
            <a:r>
              <a:rPr lang="en-US" sz="1200" dirty="0">
                <a:latin typeface="Calibri" pitchFamily="34" charset="0"/>
                <a:ea typeface="Calibri" pitchFamily="34" charset="-122"/>
                <a:cs typeface="Calibri" pitchFamily="34" charset="-120"/>
              </a:rPr>
              <a:t> en el sentido de la Ley 1581 art. 5</a:t>
            </a:r>
            <a:endParaRPr lang="en-US" sz="1200" dirty="0"/>
          </a:p>
        </p:txBody>
      </p:sp>
      <p:sp>
        <p:nvSpPr>
          <p:cNvPr id="24" name="Text 22"/>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25" name="Text 23"/>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IMPACTO</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Tres errores que el diccionario </a:t>
            </a:r>
            <a:r>
              <a:rPr lang="en-US" sz="3000" b="1" dirty="0" err="1">
                <a:solidFill>
                  <a:srgbClr val="1E2761"/>
                </a:solidFill>
                <a:latin typeface="Cambria" pitchFamily="34" charset="0"/>
                <a:ea typeface="Cambria" pitchFamily="34" charset="-122"/>
                <a:cs typeface="Cambria" pitchFamily="34" charset="-120"/>
              </a:rPr>
              <a:t>permitió</a:t>
            </a:r>
            <a:r>
              <a:rPr lang="en-US" sz="3000" b="1" dirty="0">
                <a:solidFill>
                  <a:srgbClr val="1E2761"/>
                </a:solidFill>
                <a:latin typeface="Cambria" pitchFamily="34" charset="0"/>
                <a:ea typeface="Cambria" pitchFamily="34" charset="-122"/>
                <a:cs typeface="Cambria" pitchFamily="34" charset="-120"/>
              </a:rPr>
              <a:t> </a:t>
            </a:r>
            <a:r>
              <a:rPr lang="en-US" sz="3000" b="1" dirty="0" err="1">
                <a:solidFill>
                  <a:srgbClr val="1E2761"/>
                </a:solidFill>
                <a:latin typeface="Cambria" pitchFamily="34" charset="0"/>
                <a:ea typeface="Cambria" pitchFamily="34" charset="-122"/>
                <a:cs typeface="Cambria" pitchFamily="34" charset="-120"/>
              </a:rPr>
              <a:t>conocer</a:t>
            </a:r>
            <a:endParaRPr lang="en-US" sz="3000" dirty="0"/>
          </a:p>
        </p:txBody>
      </p:sp>
      <p:sp>
        <p:nvSpPr>
          <p:cNvPr id="4" name="Shape 2"/>
          <p:cNvSpPr/>
          <p:nvPr/>
        </p:nvSpPr>
        <p:spPr>
          <a:xfrm>
            <a:off x="548640" y="1874520"/>
            <a:ext cx="11064240" cy="1325880"/>
          </a:xfrm>
          <a:prstGeom prst="roundRect">
            <a:avLst>
              <a:gd name="adj" fmla="val 4828"/>
            </a:avLst>
          </a:prstGeom>
          <a:solidFill>
            <a:srgbClr val="F4F7FC"/>
          </a:solidFill>
          <a:ln/>
        </p:spPr>
        <p:txBody>
          <a:bodyPr/>
          <a:lstStyle/>
          <a:p>
            <a:endParaRPr lang="es-CO"/>
          </a:p>
        </p:txBody>
      </p:sp>
      <p:sp>
        <p:nvSpPr>
          <p:cNvPr id="5" name="Shape 3"/>
          <p:cNvSpPr/>
          <p:nvPr/>
        </p:nvSpPr>
        <p:spPr>
          <a:xfrm>
            <a:off x="822960" y="2455164"/>
            <a:ext cx="164592" cy="164592"/>
          </a:xfrm>
          <a:prstGeom prst="ellipse">
            <a:avLst/>
          </a:prstGeom>
          <a:solidFill>
            <a:srgbClr val="B33A3A"/>
          </a:solidFill>
          <a:ln/>
        </p:spPr>
        <p:txBody>
          <a:bodyPr/>
          <a:lstStyle/>
          <a:p>
            <a:endParaRPr lang="es-CO"/>
          </a:p>
        </p:txBody>
      </p:sp>
      <p:sp>
        <p:nvSpPr>
          <p:cNvPr id="6" name="Text 4"/>
          <p:cNvSpPr/>
          <p:nvPr/>
        </p:nvSpPr>
        <p:spPr>
          <a:xfrm>
            <a:off x="1143000" y="1874520"/>
            <a:ext cx="2651760" cy="132588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Código tratado como número</a:t>
            </a:r>
            <a:endParaRPr lang="en-US" sz="1300" dirty="0"/>
          </a:p>
        </p:txBody>
      </p:sp>
      <p:sp>
        <p:nvSpPr>
          <p:cNvPr id="7" name="Text 5"/>
          <p:cNvSpPr/>
          <p:nvPr/>
        </p:nvSpPr>
        <p:spPr>
          <a:xfrm>
            <a:off x="3886200" y="1874520"/>
            <a:ext cx="3657600" cy="1325880"/>
          </a:xfrm>
          <a:prstGeom prst="rect">
            <a:avLst/>
          </a:prstGeom>
          <a:noFill/>
          <a:ln/>
        </p:spPr>
        <p:txBody>
          <a:bodyPr wrap="square" lIns="0" tIns="0" rIns="0" bIns="0" rtlCol="0" anchor="ctr"/>
          <a:lstStyle/>
          <a:p>
            <a:pPr marL="0" indent="0">
              <a:lnSpc>
                <a:spcPct val="115000"/>
              </a:lnSpc>
              <a:buNone/>
            </a:pPr>
            <a:r>
              <a:rPr lang="en-US" sz="1050" dirty="0">
                <a:solidFill>
                  <a:srgbClr val="5A5F73"/>
                </a:solidFill>
                <a:latin typeface="Calibri" pitchFamily="34" charset="0"/>
                <a:ea typeface="Calibri" pitchFamily="34" charset="-122"/>
                <a:cs typeface="Calibri" pitchFamily="34" charset="-120"/>
              </a:rPr>
              <a:t>tipo_credito entraba en la matriz de correlación como si fuera una cantidad: r = 0.001 sugería “sin relación”</a:t>
            </a:r>
            <a:endParaRPr lang="en-US" sz="1050" dirty="0"/>
          </a:p>
        </p:txBody>
      </p:sp>
      <p:sp>
        <p:nvSpPr>
          <p:cNvPr id="8" name="Shape 6"/>
          <p:cNvSpPr/>
          <p:nvPr/>
        </p:nvSpPr>
        <p:spPr>
          <a:xfrm>
            <a:off x="7680960" y="2103120"/>
            <a:ext cx="0" cy="868680"/>
          </a:xfrm>
          <a:prstGeom prst="line">
            <a:avLst/>
          </a:prstGeom>
          <a:noFill/>
          <a:ln w="19050">
            <a:solidFill>
              <a:srgbClr val="CADCFC"/>
            </a:solidFill>
            <a:prstDash val="solid"/>
          </a:ln>
        </p:spPr>
        <p:txBody>
          <a:bodyPr/>
          <a:lstStyle/>
          <a:p>
            <a:endParaRPr lang="es-CO"/>
          </a:p>
        </p:txBody>
      </p:sp>
      <p:sp>
        <p:nvSpPr>
          <p:cNvPr id="9" name="Text 7"/>
          <p:cNvSpPr/>
          <p:nvPr/>
        </p:nvSpPr>
        <p:spPr>
          <a:xfrm>
            <a:off x="7863840" y="1874520"/>
            <a:ext cx="3566160" cy="1325880"/>
          </a:xfrm>
          <a:prstGeom prst="rect">
            <a:avLst/>
          </a:prstGeom>
          <a:noFill/>
          <a:ln/>
        </p:spPr>
        <p:txBody>
          <a:bodyPr wrap="square" lIns="0" tIns="0" rIns="0" bIns="0" rtlCol="0" anchor="ctr"/>
          <a:lstStyle/>
          <a:p>
            <a:pPr marL="0" indent="0">
              <a:lnSpc>
                <a:spcPct val="115000"/>
              </a:lnSpc>
              <a:buNone/>
            </a:pPr>
            <a:r>
              <a:rPr lang="en-US" sz="1050" b="1" dirty="0">
                <a:solidFill>
                  <a:srgbClr val="1E2761"/>
                </a:solidFill>
                <a:latin typeface="Calibri" pitchFamily="34" charset="0"/>
                <a:ea typeface="Calibri" pitchFamily="34" charset="-122"/>
                <a:cs typeface="Calibri" pitchFamily="34" charset="-120"/>
              </a:rPr>
              <a:t>Chi-cuadrado: p = 1.8e-13. Tasa de mora de 2.6% a 42.9% según el tipo</a:t>
            </a:r>
            <a:endParaRPr lang="en-US" sz="1050" dirty="0"/>
          </a:p>
        </p:txBody>
      </p:sp>
      <p:sp>
        <p:nvSpPr>
          <p:cNvPr id="10" name="Shape 8"/>
          <p:cNvSpPr/>
          <p:nvPr/>
        </p:nvSpPr>
        <p:spPr>
          <a:xfrm>
            <a:off x="548640" y="3364992"/>
            <a:ext cx="11064240" cy="1325880"/>
          </a:xfrm>
          <a:prstGeom prst="roundRect">
            <a:avLst>
              <a:gd name="adj" fmla="val 4828"/>
            </a:avLst>
          </a:prstGeom>
          <a:solidFill>
            <a:srgbClr val="F4F7FC"/>
          </a:solidFill>
          <a:ln/>
        </p:spPr>
        <p:txBody>
          <a:bodyPr/>
          <a:lstStyle/>
          <a:p>
            <a:endParaRPr lang="es-CO"/>
          </a:p>
        </p:txBody>
      </p:sp>
      <p:sp>
        <p:nvSpPr>
          <p:cNvPr id="11" name="Shape 9"/>
          <p:cNvSpPr/>
          <p:nvPr/>
        </p:nvSpPr>
        <p:spPr>
          <a:xfrm>
            <a:off x="822960" y="3945636"/>
            <a:ext cx="164592" cy="164592"/>
          </a:xfrm>
          <a:prstGeom prst="ellipse">
            <a:avLst/>
          </a:prstGeom>
          <a:solidFill>
            <a:srgbClr val="B33A3A"/>
          </a:solidFill>
          <a:ln/>
        </p:spPr>
        <p:txBody>
          <a:bodyPr/>
          <a:lstStyle/>
          <a:p>
            <a:endParaRPr lang="es-CO"/>
          </a:p>
        </p:txBody>
      </p:sp>
      <p:sp>
        <p:nvSpPr>
          <p:cNvPr id="12" name="Text 10"/>
          <p:cNvSpPr/>
          <p:nvPr/>
        </p:nvSpPr>
        <p:spPr>
          <a:xfrm>
            <a:off x="1143000" y="3364992"/>
            <a:ext cx="2651760" cy="132588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Rango de validación sin fuente</a:t>
            </a:r>
            <a:endParaRPr lang="en-US" sz="1300" dirty="0"/>
          </a:p>
        </p:txBody>
      </p:sp>
      <p:sp>
        <p:nvSpPr>
          <p:cNvPr id="13" name="Text 11"/>
          <p:cNvSpPr/>
          <p:nvPr/>
        </p:nvSpPr>
        <p:spPr>
          <a:xfrm>
            <a:off x="3886200" y="3364992"/>
            <a:ext cx="3657600" cy="1325880"/>
          </a:xfrm>
          <a:prstGeom prst="rect">
            <a:avLst/>
          </a:prstGeom>
          <a:noFill/>
          <a:ln/>
        </p:spPr>
        <p:txBody>
          <a:bodyPr wrap="square" lIns="0" tIns="0" rIns="0" bIns="0" rtlCol="0" anchor="ctr"/>
          <a:lstStyle/>
          <a:p>
            <a:pPr marL="0" indent="0">
              <a:lnSpc>
                <a:spcPct val="115000"/>
              </a:lnSpc>
              <a:buNone/>
            </a:pPr>
            <a:r>
              <a:rPr lang="en-US" sz="1050" dirty="0">
                <a:solidFill>
                  <a:srgbClr val="5A5F73"/>
                </a:solidFill>
                <a:latin typeface="Calibri" pitchFamily="34" charset="0"/>
                <a:ea typeface="Calibri" pitchFamily="34" charset="-122"/>
                <a:cs typeface="Calibri" pitchFamily="34" charset="-120"/>
              </a:rPr>
              <a:t>La regla [0, 1000] del score era inventada; detectaba 1 registro inválido</a:t>
            </a:r>
            <a:endParaRPr lang="en-US" sz="1050" dirty="0"/>
          </a:p>
        </p:txBody>
      </p:sp>
      <p:sp>
        <p:nvSpPr>
          <p:cNvPr id="14" name="Shape 12"/>
          <p:cNvSpPr/>
          <p:nvPr/>
        </p:nvSpPr>
        <p:spPr>
          <a:xfrm>
            <a:off x="7680960" y="3593592"/>
            <a:ext cx="0" cy="868680"/>
          </a:xfrm>
          <a:prstGeom prst="line">
            <a:avLst/>
          </a:prstGeom>
          <a:noFill/>
          <a:ln w="19050">
            <a:solidFill>
              <a:srgbClr val="CADCFC"/>
            </a:solidFill>
            <a:prstDash val="solid"/>
          </a:ln>
        </p:spPr>
        <p:txBody>
          <a:bodyPr/>
          <a:lstStyle/>
          <a:p>
            <a:endParaRPr lang="es-CO"/>
          </a:p>
        </p:txBody>
      </p:sp>
      <p:sp>
        <p:nvSpPr>
          <p:cNvPr id="15" name="Text 13"/>
          <p:cNvSpPr/>
          <p:nvPr/>
        </p:nvSpPr>
        <p:spPr>
          <a:xfrm>
            <a:off x="7863840" y="3364992"/>
            <a:ext cx="3566160" cy="1325880"/>
          </a:xfrm>
          <a:prstGeom prst="rect">
            <a:avLst/>
          </a:prstGeom>
          <a:noFill/>
          <a:ln/>
        </p:spPr>
        <p:txBody>
          <a:bodyPr wrap="square" lIns="0" tIns="0" rIns="0" bIns="0" rtlCol="0" anchor="ctr"/>
          <a:lstStyle/>
          <a:p>
            <a:pPr marL="0" indent="0">
              <a:lnSpc>
                <a:spcPct val="115000"/>
              </a:lnSpc>
              <a:buNone/>
            </a:pPr>
            <a:r>
              <a:rPr lang="en-US" sz="1050" b="1" dirty="0">
                <a:solidFill>
                  <a:srgbClr val="1E2761"/>
                </a:solidFill>
                <a:latin typeface="Calibri" pitchFamily="34" charset="0"/>
                <a:ea typeface="Calibri" pitchFamily="34" charset="-122"/>
                <a:cs typeface="Calibri" pitchFamily="34" charset="-120"/>
              </a:rPr>
              <a:t>Rango oficial [150, 950]: detecta 153. Pasaban 152 en silencio</a:t>
            </a:r>
            <a:endParaRPr lang="en-US" sz="1050" dirty="0"/>
          </a:p>
        </p:txBody>
      </p:sp>
      <p:sp>
        <p:nvSpPr>
          <p:cNvPr id="16" name="Shape 14"/>
          <p:cNvSpPr/>
          <p:nvPr/>
        </p:nvSpPr>
        <p:spPr>
          <a:xfrm>
            <a:off x="548640" y="4855464"/>
            <a:ext cx="11064240" cy="1325880"/>
          </a:xfrm>
          <a:prstGeom prst="roundRect">
            <a:avLst>
              <a:gd name="adj" fmla="val 4828"/>
            </a:avLst>
          </a:prstGeom>
          <a:solidFill>
            <a:srgbClr val="F4F7FC"/>
          </a:solidFill>
          <a:ln/>
        </p:spPr>
        <p:txBody>
          <a:bodyPr/>
          <a:lstStyle/>
          <a:p>
            <a:endParaRPr lang="es-CO"/>
          </a:p>
        </p:txBody>
      </p:sp>
      <p:sp>
        <p:nvSpPr>
          <p:cNvPr id="17" name="Shape 15"/>
          <p:cNvSpPr/>
          <p:nvPr/>
        </p:nvSpPr>
        <p:spPr>
          <a:xfrm>
            <a:off x="822960" y="5436108"/>
            <a:ext cx="164592" cy="164592"/>
          </a:xfrm>
          <a:prstGeom prst="ellipse">
            <a:avLst/>
          </a:prstGeom>
          <a:solidFill>
            <a:srgbClr val="B33A3A"/>
          </a:solidFill>
          <a:ln/>
        </p:spPr>
        <p:txBody>
          <a:bodyPr/>
          <a:lstStyle/>
          <a:p>
            <a:endParaRPr lang="es-CO"/>
          </a:p>
        </p:txBody>
      </p:sp>
      <p:sp>
        <p:nvSpPr>
          <p:cNvPr id="18" name="Text 16"/>
          <p:cNvSpPr/>
          <p:nvPr/>
        </p:nvSpPr>
        <p:spPr>
          <a:xfrm>
            <a:off x="1143000" y="4855464"/>
            <a:ext cx="2651760" cy="132588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Ceros falsos como score</a:t>
            </a:r>
            <a:endParaRPr lang="en-US" sz="1300" dirty="0"/>
          </a:p>
        </p:txBody>
      </p:sp>
      <p:sp>
        <p:nvSpPr>
          <p:cNvPr id="19" name="Text 17"/>
          <p:cNvSpPr/>
          <p:nvPr/>
        </p:nvSpPr>
        <p:spPr>
          <a:xfrm>
            <a:off x="3886200" y="4855464"/>
            <a:ext cx="3657600" cy="1325880"/>
          </a:xfrm>
          <a:prstGeom prst="rect">
            <a:avLst/>
          </a:prstGeom>
          <a:noFill/>
          <a:ln/>
        </p:spPr>
        <p:txBody>
          <a:bodyPr wrap="square" lIns="0" tIns="0" rIns="0" bIns="0" rtlCol="0" anchor="ctr"/>
          <a:lstStyle/>
          <a:p>
            <a:pPr marL="0" indent="0">
              <a:lnSpc>
                <a:spcPct val="115000"/>
              </a:lnSpc>
              <a:buNone/>
            </a:pPr>
            <a:r>
              <a:rPr lang="en-US" sz="1050" dirty="0">
                <a:solidFill>
                  <a:srgbClr val="5A5F73"/>
                </a:solidFill>
                <a:latin typeface="Calibri" pitchFamily="34" charset="0"/>
                <a:ea typeface="Calibri" pitchFamily="34" charset="-122"/>
                <a:cs typeface="Calibri" pitchFamily="34" charset="-120"/>
              </a:rPr>
              <a:t>145 registros con score = 0 se analizaban como scores reales muy bajos</a:t>
            </a:r>
            <a:endParaRPr lang="en-US" sz="1050" dirty="0"/>
          </a:p>
        </p:txBody>
      </p:sp>
      <p:sp>
        <p:nvSpPr>
          <p:cNvPr id="20" name="Shape 18"/>
          <p:cNvSpPr/>
          <p:nvPr/>
        </p:nvSpPr>
        <p:spPr>
          <a:xfrm>
            <a:off x="7680960" y="5084064"/>
            <a:ext cx="0" cy="868680"/>
          </a:xfrm>
          <a:prstGeom prst="line">
            <a:avLst/>
          </a:prstGeom>
          <a:noFill/>
          <a:ln w="19050">
            <a:solidFill>
              <a:srgbClr val="CADCFC"/>
            </a:solidFill>
            <a:prstDash val="solid"/>
          </a:ln>
        </p:spPr>
        <p:txBody>
          <a:bodyPr/>
          <a:lstStyle/>
          <a:p>
            <a:endParaRPr lang="es-CO"/>
          </a:p>
        </p:txBody>
      </p:sp>
      <p:sp>
        <p:nvSpPr>
          <p:cNvPr id="21" name="Text 19"/>
          <p:cNvSpPr/>
          <p:nvPr/>
        </p:nvSpPr>
        <p:spPr>
          <a:xfrm>
            <a:off x="7863840" y="4855464"/>
            <a:ext cx="3566160" cy="1325880"/>
          </a:xfrm>
          <a:prstGeom prst="rect">
            <a:avLst/>
          </a:prstGeom>
          <a:noFill/>
          <a:ln/>
        </p:spPr>
        <p:txBody>
          <a:bodyPr wrap="square" lIns="0" tIns="0" rIns="0" bIns="0" rtlCol="0" anchor="ctr"/>
          <a:lstStyle/>
          <a:p>
            <a:pPr marL="0" indent="0">
              <a:lnSpc>
                <a:spcPct val="115000"/>
              </a:lnSpc>
              <a:buNone/>
            </a:pPr>
            <a:r>
              <a:rPr lang="en-US" sz="1050" b="1" dirty="0">
                <a:solidFill>
                  <a:srgbClr val="1E2761"/>
                </a:solidFill>
                <a:latin typeface="Calibri" pitchFamily="34" charset="0"/>
                <a:ea typeface="Calibri" pitchFamily="34" charset="-122"/>
                <a:cs typeface="Calibri" pitchFamily="34" charset="-120"/>
              </a:rPr>
              <a:t>No son scores: son ausencia de historial. 6.54% de mora vs 4.72%</a:t>
            </a:r>
            <a:endParaRPr lang="en-US" sz="1050" dirty="0"/>
          </a:p>
        </p:txBody>
      </p:sp>
      <p:sp>
        <p:nvSpPr>
          <p:cNvPr id="22" name="Text 20"/>
          <p:cNvSpPr/>
          <p:nvPr/>
        </p:nvSpPr>
        <p:spPr>
          <a:xfrm>
            <a:off x="3886200" y="1572768"/>
            <a:ext cx="1828800" cy="274320"/>
          </a:xfrm>
          <a:prstGeom prst="rect">
            <a:avLst/>
          </a:prstGeom>
          <a:noFill/>
          <a:ln/>
        </p:spPr>
        <p:txBody>
          <a:bodyPr wrap="square" lIns="0" tIns="0" rIns="0" bIns="0" rtlCol="0" anchor="ctr"/>
          <a:lstStyle/>
          <a:p>
            <a:pPr marL="0" indent="0">
              <a:buNone/>
            </a:pPr>
            <a:r>
              <a:rPr lang="en-US" sz="1000" b="1" kern="0" spc="100" dirty="0">
                <a:solidFill>
                  <a:srgbClr val="5A5F73"/>
                </a:solidFill>
                <a:latin typeface="Calibri" pitchFamily="34" charset="0"/>
                <a:ea typeface="Calibri" pitchFamily="34" charset="-122"/>
                <a:cs typeface="Calibri" pitchFamily="34" charset="-120"/>
              </a:rPr>
              <a:t>ANTES</a:t>
            </a:r>
            <a:endParaRPr lang="en-US" sz="1000" dirty="0"/>
          </a:p>
        </p:txBody>
      </p:sp>
      <p:sp>
        <p:nvSpPr>
          <p:cNvPr id="23" name="Text 21"/>
          <p:cNvSpPr/>
          <p:nvPr/>
        </p:nvSpPr>
        <p:spPr>
          <a:xfrm>
            <a:off x="7863840" y="1572768"/>
            <a:ext cx="1828800" cy="274320"/>
          </a:xfrm>
          <a:prstGeom prst="rect">
            <a:avLst/>
          </a:prstGeom>
          <a:noFill/>
          <a:ln/>
        </p:spPr>
        <p:txBody>
          <a:bodyPr wrap="square" lIns="0" tIns="0" rIns="0" bIns="0" rtlCol="0" anchor="ctr"/>
          <a:lstStyle/>
          <a:p>
            <a:pPr marL="0" indent="0">
              <a:buNone/>
            </a:pPr>
            <a:r>
              <a:rPr lang="en-US" sz="1000" b="1" kern="0" spc="100" dirty="0">
                <a:solidFill>
                  <a:srgbClr val="B33A3A"/>
                </a:solidFill>
                <a:latin typeface="Calibri" pitchFamily="34" charset="0"/>
                <a:ea typeface="Calibri" pitchFamily="34" charset="-122"/>
                <a:cs typeface="Calibri" pitchFamily="34" charset="-120"/>
              </a:rPr>
              <a:t>DESPUÉS</a:t>
            </a:r>
            <a:endParaRPr lang="en-US" sz="1000" dirty="0"/>
          </a:p>
        </p:txBody>
      </p:sp>
      <p:sp>
        <p:nvSpPr>
          <p:cNvPr id="24" name="Text 22"/>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25" name="Text 23"/>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METODOLOGÍA</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De los datos crudos a los insights</a:t>
            </a:r>
            <a:endParaRPr lang="en-US" sz="3000" dirty="0"/>
          </a:p>
        </p:txBody>
      </p:sp>
      <p:sp>
        <p:nvSpPr>
          <p:cNvPr id="4" name="Shape 2"/>
          <p:cNvSpPr/>
          <p:nvPr/>
        </p:nvSpPr>
        <p:spPr>
          <a:xfrm>
            <a:off x="548640" y="1965960"/>
            <a:ext cx="502920" cy="502920"/>
          </a:xfrm>
          <a:prstGeom prst="ellipse">
            <a:avLst/>
          </a:prstGeom>
          <a:solidFill>
            <a:srgbClr val="1E2761"/>
          </a:solidFill>
          <a:ln/>
        </p:spPr>
        <p:txBody>
          <a:bodyPr/>
          <a:lstStyle/>
          <a:p>
            <a:endParaRPr lang="es-CO"/>
          </a:p>
        </p:txBody>
      </p:sp>
      <p:sp>
        <p:nvSpPr>
          <p:cNvPr id="5" name="Text 3"/>
          <p:cNvSpPr/>
          <p:nvPr/>
        </p:nvSpPr>
        <p:spPr>
          <a:xfrm>
            <a:off x="548640" y="1965960"/>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Text 4"/>
          <p:cNvSpPr/>
          <p:nvPr/>
        </p:nvSpPr>
        <p:spPr>
          <a:xfrm>
            <a:off x="548640" y="2651760"/>
            <a:ext cx="2606040" cy="777240"/>
          </a:xfrm>
          <a:prstGeom prst="rect">
            <a:avLst/>
          </a:prstGeom>
          <a:noFill/>
          <a:ln/>
        </p:spPr>
        <p:txBody>
          <a:bodyPr wrap="square" lIns="0" tIns="0" rIns="0" bIns="0" rtlCol="0" anchor="t"/>
          <a:lstStyle/>
          <a:p>
            <a:pPr marL="0" indent="0">
              <a:buNone/>
            </a:pPr>
            <a:r>
              <a:rPr lang="en-US" sz="1450" b="1" dirty="0">
                <a:solidFill>
                  <a:srgbClr val="1E2761"/>
                </a:solidFill>
                <a:latin typeface="Calibri" pitchFamily="34" charset="0"/>
                <a:ea typeface="Calibri" pitchFamily="34" charset="-122"/>
                <a:cs typeface="Calibri" pitchFamily="34" charset="-120"/>
              </a:rPr>
              <a:t>Carga y comprensión</a:t>
            </a:r>
            <a:endParaRPr lang="en-US" sz="1450" dirty="0"/>
          </a:p>
        </p:txBody>
      </p:sp>
      <p:sp>
        <p:nvSpPr>
          <p:cNvPr id="7" name="Text 5"/>
          <p:cNvSpPr/>
          <p:nvPr/>
        </p:nvSpPr>
        <p:spPr>
          <a:xfrm>
            <a:off x="548640" y="3429000"/>
            <a:ext cx="2606040" cy="1554480"/>
          </a:xfrm>
          <a:prstGeom prst="rect">
            <a:avLst/>
          </a:prstGeom>
          <a:noFill/>
          <a:ln/>
        </p:spPr>
        <p:txBody>
          <a:bodyPr wrap="square" lIns="0" tIns="0" rIns="0" bIns="0" rtlCol="0" anchor="t"/>
          <a:lstStyle/>
          <a:p>
            <a:pPr marL="0" indent="0">
              <a:lnSpc>
                <a:spcPct val="120000"/>
              </a:lnSpc>
              <a:buNone/>
            </a:pPr>
            <a:r>
              <a:rPr lang="en-US" sz="1150" dirty="0">
                <a:solidFill>
                  <a:srgbClr val="5A5F73"/>
                </a:solidFill>
                <a:latin typeface="Calibri" pitchFamily="34" charset="0"/>
                <a:ea typeface="Calibri" pitchFamily="34" charset="-122"/>
                <a:cs typeface="Calibri" pitchFamily="34" charset="-120"/>
              </a:rPr>
              <a:t>Exploración inicial: tipos, nulos, caracterización de cada variable</a:t>
            </a:r>
            <a:endParaRPr lang="en-US" sz="1150" dirty="0"/>
          </a:p>
        </p:txBody>
      </p:sp>
      <p:sp>
        <p:nvSpPr>
          <p:cNvPr id="8" name="Shape 6"/>
          <p:cNvSpPr/>
          <p:nvPr/>
        </p:nvSpPr>
        <p:spPr>
          <a:xfrm>
            <a:off x="3182112" y="2212848"/>
            <a:ext cx="173736" cy="0"/>
          </a:xfrm>
          <a:prstGeom prst="line">
            <a:avLst/>
          </a:prstGeom>
          <a:noFill/>
          <a:ln w="25400">
            <a:solidFill>
              <a:srgbClr val="CADCFC"/>
            </a:solidFill>
            <a:prstDash val="solid"/>
          </a:ln>
        </p:spPr>
        <p:txBody>
          <a:bodyPr/>
          <a:lstStyle/>
          <a:p>
            <a:endParaRPr lang="es-CO"/>
          </a:p>
        </p:txBody>
      </p:sp>
      <p:sp>
        <p:nvSpPr>
          <p:cNvPr id="9" name="Shape 7"/>
          <p:cNvSpPr/>
          <p:nvPr/>
        </p:nvSpPr>
        <p:spPr>
          <a:xfrm>
            <a:off x="3383280" y="1965960"/>
            <a:ext cx="502920" cy="502920"/>
          </a:xfrm>
          <a:prstGeom prst="ellipse">
            <a:avLst/>
          </a:prstGeom>
          <a:solidFill>
            <a:srgbClr val="1E2761"/>
          </a:solidFill>
          <a:ln/>
        </p:spPr>
        <p:txBody>
          <a:bodyPr/>
          <a:lstStyle/>
          <a:p>
            <a:endParaRPr lang="es-CO"/>
          </a:p>
        </p:txBody>
      </p:sp>
      <p:sp>
        <p:nvSpPr>
          <p:cNvPr id="10" name="Text 8"/>
          <p:cNvSpPr/>
          <p:nvPr/>
        </p:nvSpPr>
        <p:spPr>
          <a:xfrm>
            <a:off x="3383280" y="1965960"/>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1" name="Text 9"/>
          <p:cNvSpPr/>
          <p:nvPr/>
        </p:nvSpPr>
        <p:spPr>
          <a:xfrm>
            <a:off x="3383280" y="2651760"/>
            <a:ext cx="2606040" cy="777240"/>
          </a:xfrm>
          <a:prstGeom prst="rect">
            <a:avLst/>
          </a:prstGeom>
          <a:noFill/>
          <a:ln/>
        </p:spPr>
        <p:txBody>
          <a:bodyPr wrap="square" lIns="0" tIns="0" rIns="0" bIns="0" rtlCol="0" anchor="t"/>
          <a:lstStyle/>
          <a:p>
            <a:pPr marL="0" indent="0">
              <a:buNone/>
            </a:pPr>
            <a:r>
              <a:rPr lang="en-US" sz="1450" b="1" dirty="0">
                <a:solidFill>
                  <a:srgbClr val="1E2761"/>
                </a:solidFill>
                <a:latin typeface="Calibri" pitchFamily="34" charset="0"/>
                <a:ea typeface="Calibri" pitchFamily="34" charset="-122"/>
                <a:cs typeface="Calibri" pitchFamily="34" charset="-120"/>
              </a:rPr>
              <a:t>Limpieza y corrección</a:t>
            </a:r>
            <a:endParaRPr lang="en-US" sz="1450" dirty="0"/>
          </a:p>
        </p:txBody>
      </p:sp>
      <p:sp>
        <p:nvSpPr>
          <p:cNvPr id="12" name="Text 10"/>
          <p:cNvSpPr/>
          <p:nvPr/>
        </p:nvSpPr>
        <p:spPr>
          <a:xfrm>
            <a:off x="3383280" y="3429000"/>
            <a:ext cx="2606040" cy="1554480"/>
          </a:xfrm>
          <a:prstGeom prst="rect">
            <a:avLst/>
          </a:prstGeom>
          <a:noFill/>
          <a:ln/>
        </p:spPr>
        <p:txBody>
          <a:bodyPr wrap="square" lIns="0" tIns="0" rIns="0" bIns="0" rtlCol="0" anchor="t"/>
          <a:lstStyle/>
          <a:p>
            <a:pPr marL="0" indent="0">
              <a:lnSpc>
                <a:spcPct val="120000"/>
              </a:lnSpc>
              <a:buNone/>
            </a:pPr>
            <a:r>
              <a:rPr lang="en-US" sz="1150" dirty="0">
                <a:solidFill>
                  <a:srgbClr val="5A5F73"/>
                </a:solidFill>
                <a:latin typeface="Calibri" pitchFamily="34" charset="0"/>
                <a:ea typeface="Calibri" pitchFamily="34" charset="-122"/>
                <a:cs typeface="Calibri" pitchFamily="34" charset="-120"/>
              </a:rPr>
              <a:t>Tratamiento de atípicos y nulos con evidencia, no con supuestos</a:t>
            </a:r>
            <a:endParaRPr lang="en-US" sz="1150" dirty="0"/>
          </a:p>
        </p:txBody>
      </p:sp>
      <p:sp>
        <p:nvSpPr>
          <p:cNvPr id="13" name="Shape 11"/>
          <p:cNvSpPr/>
          <p:nvPr/>
        </p:nvSpPr>
        <p:spPr>
          <a:xfrm>
            <a:off x="6016752" y="2212848"/>
            <a:ext cx="173736" cy="0"/>
          </a:xfrm>
          <a:prstGeom prst="line">
            <a:avLst/>
          </a:prstGeom>
          <a:noFill/>
          <a:ln w="25400">
            <a:solidFill>
              <a:srgbClr val="CADCFC"/>
            </a:solidFill>
            <a:prstDash val="solid"/>
          </a:ln>
        </p:spPr>
        <p:txBody>
          <a:bodyPr/>
          <a:lstStyle/>
          <a:p>
            <a:endParaRPr lang="es-CO"/>
          </a:p>
        </p:txBody>
      </p:sp>
      <p:sp>
        <p:nvSpPr>
          <p:cNvPr id="14" name="Shape 12"/>
          <p:cNvSpPr/>
          <p:nvPr/>
        </p:nvSpPr>
        <p:spPr>
          <a:xfrm>
            <a:off x="6217920" y="1965960"/>
            <a:ext cx="502920" cy="502920"/>
          </a:xfrm>
          <a:prstGeom prst="ellipse">
            <a:avLst/>
          </a:prstGeom>
          <a:solidFill>
            <a:srgbClr val="1E2761"/>
          </a:solidFill>
          <a:ln/>
        </p:spPr>
        <p:txBody>
          <a:bodyPr/>
          <a:lstStyle/>
          <a:p>
            <a:endParaRPr lang="es-CO"/>
          </a:p>
        </p:txBody>
      </p:sp>
      <p:sp>
        <p:nvSpPr>
          <p:cNvPr id="15" name="Text 13"/>
          <p:cNvSpPr/>
          <p:nvPr/>
        </p:nvSpPr>
        <p:spPr>
          <a:xfrm>
            <a:off x="6217920" y="1965960"/>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6" name="Text 14"/>
          <p:cNvSpPr/>
          <p:nvPr/>
        </p:nvSpPr>
        <p:spPr>
          <a:xfrm>
            <a:off x="6217920" y="2651760"/>
            <a:ext cx="2606040" cy="777240"/>
          </a:xfrm>
          <a:prstGeom prst="rect">
            <a:avLst/>
          </a:prstGeom>
          <a:noFill/>
          <a:ln/>
        </p:spPr>
        <p:txBody>
          <a:bodyPr wrap="square" lIns="0" tIns="0" rIns="0" bIns="0" rtlCol="0" anchor="t"/>
          <a:lstStyle/>
          <a:p>
            <a:pPr marL="0" indent="0">
              <a:buNone/>
            </a:pPr>
            <a:r>
              <a:rPr lang="en-US" sz="1450" b="1" dirty="0">
                <a:solidFill>
                  <a:srgbClr val="1E2761"/>
                </a:solidFill>
                <a:latin typeface="Calibri" pitchFamily="34" charset="0"/>
                <a:ea typeface="Calibri" pitchFamily="34" charset="-122"/>
                <a:cs typeface="Calibri" pitchFamily="34" charset="-120"/>
              </a:rPr>
              <a:t>EDA univariado, bivariado y multivariado</a:t>
            </a:r>
            <a:endParaRPr lang="en-US" sz="1450" dirty="0"/>
          </a:p>
        </p:txBody>
      </p:sp>
      <p:sp>
        <p:nvSpPr>
          <p:cNvPr id="17" name="Text 15"/>
          <p:cNvSpPr/>
          <p:nvPr/>
        </p:nvSpPr>
        <p:spPr>
          <a:xfrm>
            <a:off x="6217920" y="3429000"/>
            <a:ext cx="2606040" cy="1554480"/>
          </a:xfrm>
          <a:prstGeom prst="rect">
            <a:avLst/>
          </a:prstGeom>
          <a:noFill/>
          <a:ln/>
        </p:spPr>
        <p:txBody>
          <a:bodyPr wrap="square" lIns="0" tIns="0" rIns="0" bIns="0" rtlCol="0" anchor="t"/>
          <a:lstStyle/>
          <a:p>
            <a:pPr marL="0" indent="0">
              <a:lnSpc>
                <a:spcPct val="120000"/>
              </a:lnSpc>
              <a:buNone/>
            </a:pPr>
            <a:r>
              <a:rPr lang="en-US" sz="1150" dirty="0">
                <a:solidFill>
                  <a:srgbClr val="5A5F73"/>
                </a:solidFill>
                <a:latin typeface="Calibri" pitchFamily="34" charset="0"/>
                <a:ea typeface="Calibri" pitchFamily="34" charset="-122"/>
                <a:cs typeface="Calibri" pitchFamily="34" charset="-120"/>
              </a:rPr>
              <a:t>Distribuciones, relación con la mora, correlaciones</a:t>
            </a:r>
            <a:endParaRPr lang="en-US" sz="1150" dirty="0"/>
          </a:p>
        </p:txBody>
      </p:sp>
      <p:sp>
        <p:nvSpPr>
          <p:cNvPr id="18" name="Shape 16"/>
          <p:cNvSpPr/>
          <p:nvPr/>
        </p:nvSpPr>
        <p:spPr>
          <a:xfrm>
            <a:off x="8851392" y="2212848"/>
            <a:ext cx="173736" cy="0"/>
          </a:xfrm>
          <a:prstGeom prst="line">
            <a:avLst/>
          </a:prstGeom>
          <a:noFill/>
          <a:ln w="25400">
            <a:solidFill>
              <a:srgbClr val="CADCFC"/>
            </a:solidFill>
            <a:prstDash val="solid"/>
          </a:ln>
        </p:spPr>
        <p:txBody>
          <a:bodyPr/>
          <a:lstStyle/>
          <a:p>
            <a:endParaRPr lang="es-CO"/>
          </a:p>
        </p:txBody>
      </p:sp>
      <p:sp>
        <p:nvSpPr>
          <p:cNvPr id="19" name="Shape 17"/>
          <p:cNvSpPr/>
          <p:nvPr/>
        </p:nvSpPr>
        <p:spPr>
          <a:xfrm>
            <a:off x="9052560" y="1965960"/>
            <a:ext cx="502920" cy="502920"/>
          </a:xfrm>
          <a:prstGeom prst="ellipse">
            <a:avLst/>
          </a:prstGeom>
          <a:solidFill>
            <a:srgbClr val="1E2761"/>
          </a:solidFill>
          <a:ln/>
        </p:spPr>
        <p:txBody>
          <a:bodyPr/>
          <a:lstStyle/>
          <a:p>
            <a:endParaRPr lang="es-CO"/>
          </a:p>
        </p:txBody>
      </p:sp>
      <p:sp>
        <p:nvSpPr>
          <p:cNvPr id="20" name="Text 18"/>
          <p:cNvSpPr/>
          <p:nvPr/>
        </p:nvSpPr>
        <p:spPr>
          <a:xfrm>
            <a:off x="9052560" y="1965960"/>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1" name="Text 19"/>
          <p:cNvSpPr/>
          <p:nvPr/>
        </p:nvSpPr>
        <p:spPr>
          <a:xfrm>
            <a:off x="9052560" y="2651760"/>
            <a:ext cx="2606040" cy="777240"/>
          </a:xfrm>
          <a:prstGeom prst="rect">
            <a:avLst/>
          </a:prstGeom>
          <a:noFill/>
          <a:ln/>
        </p:spPr>
        <p:txBody>
          <a:bodyPr wrap="square" lIns="0" tIns="0" rIns="0" bIns="0" rtlCol="0" anchor="t"/>
          <a:lstStyle/>
          <a:p>
            <a:pPr marL="0" indent="0">
              <a:buNone/>
            </a:pPr>
            <a:r>
              <a:rPr lang="en-US" sz="1450" b="1" dirty="0">
                <a:solidFill>
                  <a:srgbClr val="1E2761"/>
                </a:solidFill>
                <a:latin typeface="Calibri" pitchFamily="34" charset="0"/>
                <a:ea typeface="Calibri" pitchFamily="34" charset="-122"/>
                <a:cs typeface="Calibri" pitchFamily="34" charset="-120"/>
              </a:rPr>
              <a:t>Ideación de atributos derivados</a:t>
            </a:r>
            <a:endParaRPr lang="en-US" sz="1450" dirty="0"/>
          </a:p>
        </p:txBody>
      </p:sp>
      <p:sp>
        <p:nvSpPr>
          <p:cNvPr id="22" name="Text 20"/>
          <p:cNvSpPr/>
          <p:nvPr/>
        </p:nvSpPr>
        <p:spPr>
          <a:xfrm>
            <a:off x="9052560" y="3429000"/>
            <a:ext cx="2606040" cy="1554480"/>
          </a:xfrm>
          <a:prstGeom prst="rect">
            <a:avLst/>
          </a:prstGeom>
          <a:noFill/>
          <a:ln/>
        </p:spPr>
        <p:txBody>
          <a:bodyPr wrap="square" lIns="0" tIns="0" rIns="0" bIns="0" rtlCol="0" anchor="t"/>
          <a:lstStyle/>
          <a:p>
            <a:pPr marL="0" indent="0">
              <a:lnSpc>
                <a:spcPct val="120000"/>
              </a:lnSpc>
              <a:buNone/>
            </a:pPr>
            <a:r>
              <a:rPr lang="en-US" sz="1150" dirty="0">
                <a:solidFill>
                  <a:srgbClr val="5A5F73"/>
                </a:solidFill>
                <a:latin typeface="Calibri" pitchFamily="34" charset="0"/>
                <a:ea typeface="Calibri" pitchFamily="34" charset="-122"/>
                <a:cs typeface="Calibri" pitchFamily="34" charset="-120"/>
              </a:rPr>
              <a:t>Combinaciones de variables con más señal que las originales</a:t>
            </a:r>
            <a:endParaRPr lang="en-US" sz="1150" dirty="0"/>
          </a:p>
        </p:txBody>
      </p:sp>
      <p:sp>
        <p:nvSpPr>
          <p:cNvPr id="23" name="Text 21"/>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24" name="Text 22"/>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CALIDAD DE DATOS</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Lo que encontramos antes de analizar</a:t>
            </a:r>
            <a:endParaRPr lang="en-US" sz="3000" dirty="0"/>
          </a:p>
        </p:txBody>
      </p:sp>
      <p:sp>
        <p:nvSpPr>
          <p:cNvPr id="4" name="Shape 2"/>
          <p:cNvSpPr/>
          <p:nvPr/>
        </p:nvSpPr>
        <p:spPr>
          <a:xfrm>
            <a:off x="548640" y="1874520"/>
            <a:ext cx="5349240" cy="1737360"/>
          </a:xfrm>
          <a:prstGeom prst="roundRect">
            <a:avLst>
              <a:gd name="adj" fmla="val 4211"/>
            </a:avLst>
          </a:prstGeom>
          <a:solidFill>
            <a:srgbClr val="F4F7FC"/>
          </a:solidFill>
          <a:ln/>
        </p:spPr>
        <p:txBody>
          <a:bodyPr/>
          <a:lstStyle/>
          <a:p>
            <a:endParaRPr lang="es-CO"/>
          </a:p>
        </p:txBody>
      </p:sp>
      <p:sp>
        <p:nvSpPr>
          <p:cNvPr id="5" name="Shape 3"/>
          <p:cNvSpPr/>
          <p:nvPr/>
        </p:nvSpPr>
        <p:spPr>
          <a:xfrm>
            <a:off x="822960" y="2148840"/>
            <a:ext cx="146304" cy="146304"/>
          </a:xfrm>
          <a:prstGeom prst="ellipse">
            <a:avLst/>
          </a:prstGeom>
          <a:solidFill>
            <a:srgbClr val="B33A3A"/>
          </a:solidFill>
          <a:ln/>
        </p:spPr>
        <p:txBody>
          <a:bodyPr/>
          <a:lstStyle/>
          <a:p>
            <a:endParaRPr lang="es-CO"/>
          </a:p>
        </p:txBody>
      </p:sp>
      <p:sp>
        <p:nvSpPr>
          <p:cNvPr id="6" name="Text 4"/>
          <p:cNvSpPr/>
          <p:nvPr/>
        </p:nvSpPr>
        <p:spPr>
          <a:xfrm>
            <a:off x="1097280" y="2039112"/>
            <a:ext cx="4526280" cy="41148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puntaje</a:t>
            </a:r>
            <a:endParaRPr lang="en-US" sz="1500" dirty="0"/>
          </a:p>
        </p:txBody>
      </p:sp>
      <p:sp>
        <p:nvSpPr>
          <p:cNvPr id="7" name="Text 5"/>
          <p:cNvSpPr/>
          <p:nvPr/>
        </p:nvSpPr>
        <p:spPr>
          <a:xfrm>
            <a:off x="822960" y="2532888"/>
            <a:ext cx="4800600" cy="960120"/>
          </a:xfrm>
          <a:prstGeom prst="rect">
            <a:avLst/>
          </a:prstGeom>
          <a:noFill/>
          <a:ln/>
        </p:spPr>
        <p:txBody>
          <a:bodyPr wrap="square" lIns="0" tIns="0" rIns="0" bIns="0" rtlCol="0" anchor="ctr"/>
          <a:lstStyle/>
          <a:p>
            <a:pPr marL="0" indent="0">
              <a:lnSpc>
                <a:spcPct val="120000"/>
              </a:lnSpc>
              <a:buNone/>
            </a:pPr>
            <a:r>
              <a:rPr lang="en-US" sz="1200" dirty="0">
                <a:solidFill>
                  <a:srgbClr val="5A5F73"/>
                </a:solidFill>
                <a:latin typeface="Calibri" pitchFamily="34" charset="0"/>
                <a:ea typeface="Calibri" pitchFamily="34" charset="-122"/>
                <a:cs typeface="Calibri" pitchFamily="34" charset="-120"/>
              </a:rPr>
              <a:t>87.4% de los registros comparten el mismo valor — se eliminó por no aportar información</a:t>
            </a:r>
            <a:endParaRPr lang="en-US" sz="1200" dirty="0"/>
          </a:p>
        </p:txBody>
      </p:sp>
      <p:sp>
        <p:nvSpPr>
          <p:cNvPr id="8" name="Shape 6"/>
          <p:cNvSpPr/>
          <p:nvPr/>
        </p:nvSpPr>
        <p:spPr>
          <a:xfrm>
            <a:off x="6172200" y="1874520"/>
            <a:ext cx="5349240" cy="1737360"/>
          </a:xfrm>
          <a:prstGeom prst="roundRect">
            <a:avLst>
              <a:gd name="adj" fmla="val 4211"/>
            </a:avLst>
          </a:prstGeom>
          <a:solidFill>
            <a:srgbClr val="F4F7FC"/>
          </a:solidFill>
          <a:ln/>
        </p:spPr>
        <p:txBody>
          <a:bodyPr/>
          <a:lstStyle/>
          <a:p>
            <a:endParaRPr lang="es-CO"/>
          </a:p>
        </p:txBody>
      </p:sp>
      <p:sp>
        <p:nvSpPr>
          <p:cNvPr id="9" name="Shape 7"/>
          <p:cNvSpPr/>
          <p:nvPr/>
        </p:nvSpPr>
        <p:spPr>
          <a:xfrm>
            <a:off x="6446520" y="2148840"/>
            <a:ext cx="146304" cy="146304"/>
          </a:xfrm>
          <a:prstGeom prst="ellipse">
            <a:avLst/>
          </a:prstGeom>
          <a:solidFill>
            <a:srgbClr val="B33A3A"/>
          </a:solidFill>
          <a:ln/>
        </p:spPr>
        <p:txBody>
          <a:bodyPr/>
          <a:lstStyle/>
          <a:p>
            <a:endParaRPr lang="es-CO"/>
          </a:p>
        </p:txBody>
      </p:sp>
      <p:sp>
        <p:nvSpPr>
          <p:cNvPr id="10" name="Text 8"/>
          <p:cNvSpPr/>
          <p:nvPr/>
        </p:nvSpPr>
        <p:spPr>
          <a:xfrm>
            <a:off x="6720840" y="2039112"/>
            <a:ext cx="4526280" cy="41148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edad_cliente</a:t>
            </a:r>
            <a:endParaRPr lang="en-US" sz="1500" dirty="0"/>
          </a:p>
        </p:txBody>
      </p:sp>
      <p:sp>
        <p:nvSpPr>
          <p:cNvPr id="11" name="Text 9"/>
          <p:cNvSpPr/>
          <p:nvPr/>
        </p:nvSpPr>
        <p:spPr>
          <a:xfrm>
            <a:off x="6446520" y="2532888"/>
            <a:ext cx="4800600" cy="960120"/>
          </a:xfrm>
          <a:prstGeom prst="rect">
            <a:avLst/>
          </a:prstGeom>
          <a:noFill/>
          <a:ln/>
        </p:spPr>
        <p:txBody>
          <a:bodyPr wrap="square" lIns="0" tIns="0" rIns="0" bIns="0" rtlCol="0" anchor="ctr"/>
          <a:lstStyle/>
          <a:p>
            <a:pPr marL="0" indent="0">
              <a:lnSpc>
                <a:spcPct val="120000"/>
              </a:lnSpc>
              <a:buNone/>
            </a:pPr>
            <a:r>
              <a:rPr lang="en-US" sz="1200" dirty="0">
                <a:solidFill>
                  <a:srgbClr val="5A5F73"/>
                </a:solidFill>
                <a:latin typeface="Calibri" pitchFamily="34" charset="0"/>
                <a:ea typeface="Calibri" pitchFamily="34" charset="-122"/>
                <a:cs typeface="Calibri" pitchFamily="34" charset="-120"/>
              </a:rPr>
              <a:t>150 registros con 121–123 años (salto claro en la distribución) — corregidos</a:t>
            </a:r>
            <a:endParaRPr lang="en-US" sz="1200" dirty="0"/>
          </a:p>
        </p:txBody>
      </p:sp>
      <p:sp>
        <p:nvSpPr>
          <p:cNvPr id="12" name="Shape 10"/>
          <p:cNvSpPr/>
          <p:nvPr/>
        </p:nvSpPr>
        <p:spPr>
          <a:xfrm>
            <a:off x="548640" y="3840480"/>
            <a:ext cx="5349240" cy="1737360"/>
          </a:xfrm>
          <a:prstGeom prst="roundRect">
            <a:avLst>
              <a:gd name="adj" fmla="val 4211"/>
            </a:avLst>
          </a:prstGeom>
          <a:solidFill>
            <a:srgbClr val="F4F7FC"/>
          </a:solidFill>
          <a:ln/>
        </p:spPr>
        <p:txBody>
          <a:bodyPr/>
          <a:lstStyle/>
          <a:p>
            <a:endParaRPr lang="es-CO"/>
          </a:p>
        </p:txBody>
      </p:sp>
      <p:sp>
        <p:nvSpPr>
          <p:cNvPr id="13" name="Shape 11"/>
          <p:cNvSpPr/>
          <p:nvPr/>
        </p:nvSpPr>
        <p:spPr>
          <a:xfrm>
            <a:off x="822960" y="4114800"/>
            <a:ext cx="146304" cy="146304"/>
          </a:xfrm>
          <a:prstGeom prst="ellipse">
            <a:avLst/>
          </a:prstGeom>
          <a:solidFill>
            <a:srgbClr val="B33A3A"/>
          </a:solidFill>
          <a:ln/>
        </p:spPr>
        <p:txBody>
          <a:bodyPr/>
          <a:lstStyle/>
          <a:p>
            <a:endParaRPr lang="es-CO"/>
          </a:p>
        </p:txBody>
      </p:sp>
      <p:sp>
        <p:nvSpPr>
          <p:cNvPr id="14" name="Text 12"/>
          <p:cNvSpPr/>
          <p:nvPr/>
        </p:nvSpPr>
        <p:spPr>
          <a:xfrm>
            <a:off x="1097280" y="4005072"/>
            <a:ext cx="4526280" cy="41148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salario_cliente</a:t>
            </a:r>
            <a:endParaRPr lang="en-US" sz="1500" dirty="0"/>
          </a:p>
        </p:txBody>
      </p:sp>
      <p:sp>
        <p:nvSpPr>
          <p:cNvPr id="15" name="Text 13"/>
          <p:cNvSpPr/>
          <p:nvPr/>
        </p:nvSpPr>
        <p:spPr>
          <a:xfrm>
            <a:off x="822960" y="4498848"/>
            <a:ext cx="4800600" cy="960120"/>
          </a:xfrm>
          <a:prstGeom prst="rect">
            <a:avLst/>
          </a:prstGeom>
          <a:noFill/>
          <a:ln/>
        </p:spPr>
        <p:txBody>
          <a:bodyPr wrap="square" lIns="0" tIns="0" rIns="0" bIns="0" rtlCol="0" anchor="ctr"/>
          <a:lstStyle/>
          <a:p>
            <a:pPr marL="0" indent="0">
              <a:lnSpc>
                <a:spcPct val="120000"/>
              </a:lnSpc>
              <a:buNone/>
            </a:pPr>
            <a:r>
              <a:rPr lang="en-US" sz="1200" dirty="0">
                <a:solidFill>
                  <a:srgbClr val="5A5F73"/>
                </a:solidFill>
                <a:latin typeface="Calibri" pitchFamily="34" charset="0"/>
                <a:ea typeface="Calibri" pitchFamily="34" charset="-122"/>
                <a:cs typeface="Calibri" pitchFamily="34" charset="-120"/>
              </a:rPr>
              <a:t>250 valores extremos (hasta $22.000 millones) — corregidos con método estadístico robusto</a:t>
            </a:r>
            <a:endParaRPr lang="en-US" sz="1200" dirty="0"/>
          </a:p>
        </p:txBody>
      </p:sp>
      <p:sp>
        <p:nvSpPr>
          <p:cNvPr id="16" name="Shape 14"/>
          <p:cNvSpPr/>
          <p:nvPr/>
        </p:nvSpPr>
        <p:spPr>
          <a:xfrm>
            <a:off x="6172200" y="3840480"/>
            <a:ext cx="5349240" cy="1737360"/>
          </a:xfrm>
          <a:prstGeom prst="roundRect">
            <a:avLst>
              <a:gd name="adj" fmla="val 4211"/>
            </a:avLst>
          </a:prstGeom>
          <a:solidFill>
            <a:srgbClr val="F4F7FC"/>
          </a:solidFill>
          <a:ln/>
        </p:spPr>
        <p:txBody>
          <a:bodyPr/>
          <a:lstStyle/>
          <a:p>
            <a:endParaRPr lang="es-CO"/>
          </a:p>
        </p:txBody>
      </p:sp>
      <p:sp>
        <p:nvSpPr>
          <p:cNvPr id="17" name="Shape 15"/>
          <p:cNvSpPr/>
          <p:nvPr/>
        </p:nvSpPr>
        <p:spPr>
          <a:xfrm>
            <a:off x="6446520" y="4114800"/>
            <a:ext cx="146304" cy="146304"/>
          </a:xfrm>
          <a:prstGeom prst="ellipse">
            <a:avLst/>
          </a:prstGeom>
          <a:solidFill>
            <a:srgbClr val="B33A3A"/>
          </a:solidFill>
          <a:ln/>
        </p:spPr>
        <p:txBody>
          <a:bodyPr/>
          <a:lstStyle/>
          <a:p>
            <a:endParaRPr lang="es-CO"/>
          </a:p>
        </p:txBody>
      </p:sp>
      <p:sp>
        <p:nvSpPr>
          <p:cNvPr id="18" name="Text 16"/>
          <p:cNvSpPr/>
          <p:nvPr/>
        </p:nvSpPr>
        <p:spPr>
          <a:xfrm>
            <a:off x="6720840" y="4005072"/>
            <a:ext cx="4526280" cy="41148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tendencia_ingresos</a:t>
            </a:r>
            <a:endParaRPr lang="en-US" sz="1500" dirty="0"/>
          </a:p>
        </p:txBody>
      </p:sp>
      <p:sp>
        <p:nvSpPr>
          <p:cNvPr id="19" name="Text 17"/>
          <p:cNvSpPr/>
          <p:nvPr/>
        </p:nvSpPr>
        <p:spPr>
          <a:xfrm>
            <a:off x="6446520" y="4498848"/>
            <a:ext cx="4800600" cy="960120"/>
          </a:xfrm>
          <a:prstGeom prst="rect">
            <a:avLst/>
          </a:prstGeom>
          <a:noFill/>
          <a:ln/>
        </p:spPr>
        <p:txBody>
          <a:bodyPr wrap="square" lIns="0" tIns="0" rIns="0" bIns="0" rtlCol="0" anchor="ctr"/>
          <a:lstStyle/>
          <a:p>
            <a:pPr marL="0" indent="0">
              <a:lnSpc>
                <a:spcPct val="120000"/>
              </a:lnSpc>
              <a:buNone/>
            </a:pPr>
            <a:r>
              <a:rPr lang="en-US" sz="1200" dirty="0">
                <a:solidFill>
                  <a:srgbClr val="5A5F73"/>
                </a:solidFill>
                <a:latin typeface="Calibri" pitchFamily="34" charset="0"/>
                <a:ea typeface="Calibri" pitchFamily="34" charset="-122"/>
                <a:cs typeface="Calibri" pitchFamily="34" charset="-120"/>
              </a:rPr>
              <a:t>58 registros con números en vez de categoría — reconstruidos por lógica de negocio</a:t>
            </a:r>
            <a:endParaRPr lang="en-US" sz="1200" dirty="0"/>
          </a:p>
        </p:txBody>
      </p:sp>
      <p:sp>
        <p:nvSpPr>
          <p:cNvPr id="20" name="Text 18"/>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21" name="Text 19"/>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VARIABLE OBJETIVO</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Un desbalance que condiciona todo el análisis</a:t>
            </a:r>
            <a:endParaRPr lang="en-US" sz="3000" dirty="0"/>
          </a:p>
        </p:txBody>
      </p:sp>
      <p:graphicFrame>
        <p:nvGraphicFramePr>
          <p:cNvPr id="4" name="Chart 0"/>
          <p:cNvGraphicFramePr/>
          <p:nvPr/>
        </p:nvGraphicFramePr>
        <p:xfrm>
          <a:off x="548640" y="1874520"/>
          <a:ext cx="4937760" cy="420624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p:nvPr/>
        </p:nvSpPr>
        <p:spPr>
          <a:xfrm>
            <a:off x="6035040" y="2057400"/>
            <a:ext cx="5577840" cy="914400"/>
          </a:xfrm>
          <a:prstGeom prst="rect">
            <a:avLst/>
          </a:prstGeom>
          <a:noFill/>
          <a:ln/>
        </p:spPr>
        <p:txBody>
          <a:bodyPr wrap="square" lIns="0" tIns="0" rIns="0" bIns="0" rtlCol="0" anchor="ctr"/>
          <a:lstStyle/>
          <a:p>
            <a:pPr marL="0" indent="0">
              <a:buNone/>
            </a:pPr>
            <a:r>
              <a:rPr lang="en-US" sz="4800" b="1" dirty="0">
                <a:solidFill>
                  <a:srgbClr val="B33A3A"/>
                </a:solidFill>
                <a:latin typeface="Cambria" pitchFamily="34" charset="0"/>
                <a:ea typeface="Cambria" pitchFamily="34" charset="-122"/>
                <a:cs typeface="Cambria" pitchFamily="34" charset="-120"/>
              </a:rPr>
              <a:t>20 a 1</a:t>
            </a:r>
            <a:endParaRPr lang="en-US" sz="4800" dirty="0"/>
          </a:p>
        </p:txBody>
      </p:sp>
      <p:sp>
        <p:nvSpPr>
          <p:cNvPr id="6" name="Text 3"/>
          <p:cNvSpPr/>
          <p:nvPr/>
        </p:nvSpPr>
        <p:spPr>
          <a:xfrm>
            <a:off x="6035040" y="2880360"/>
            <a:ext cx="5577840" cy="365760"/>
          </a:xfrm>
          <a:prstGeom prst="rect">
            <a:avLst/>
          </a:prstGeom>
          <a:noFill/>
          <a:ln/>
        </p:spPr>
        <p:txBody>
          <a:bodyPr wrap="square" lIns="0" tIns="0" rIns="0" bIns="0" rtlCol="0" anchor="ctr"/>
          <a:lstStyle/>
          <a:p>
            <a:pPr marL="0" indent="0">
              <a:buNone/>
            </a:pPr>
            <a:r>
              <a:rPr lang="en-US" sz="1300" dirty="0">
                <a:solidFill>
                  <a:srgbClr val="5A5F73"/>
                </a:solidFill>
                <a:latin typeface="Calibri" pitchFamily="34" charset="0"/>
                <a:ea typeface="Calibri" pitchFamily="34" charset="-122"/>
                <a:cs typeface="Calibri" pitchFamily="34" charset="-120"/>
              </a:rPr>
              <a:t>ratio de desbalance entre clases</a:t>
            </a:r>
            <a:endParaRPr lang="en-US" sz="1300" dirty="0"/>
          </a:p>
        </p:txBody>
      </p:sp>
      <p:sp>
        <p:nvSpPr>
          <p:cNvPr id="7" name="Text 4"/>
          <p:cNvSpPr/>
          <p:nvPr/>
        </p:nvSpPr>
        <p:spPr>
          <a:xfrm>
            <a:off x="6035040" y="3520440"/>
            <a:ext cx="5577840" cy="1188720"/>
          </a:xfrm>
          <a:prstGeom prst="rect">
            <a:avLst/>
          </a:prstGeom>
          <a:noFill/>
          <a:ln/>
        </p:spPr>
        <p:txBody>
          <a:bodyPr wrap="square" lIns="0" tIns="0" rIns="0" bIns="0" rtlCol="0" anchor="ctr"/>
          <a:lstStyle/>
          <a:p>
            <a:pPr marL="0" indent="0">
              <a:lnSpc>
                <a:spcPct val="125000"/>
              </a:lnSpc>
              <a:buNone/>
            </a:pPr>
            <a:r>
              <a:rPr lang="en-US" sz="1400" dirty="0">
                <a:solidFill>
                  <a:srgbClr val="5A5F73"/>
                </a:solidFill>
                <a:latin typeface="Calibri" pitchFamily="34" charset="0"/>
                <a:ea typeface="Calibri" pitchFamily="34" charset="-122"/>
                <a:cs typeface="Calibri" pitchFamily="34" charset="-120"/>
              </a:rPr>
              <a:t>Solo el 4.75% de los créditos cae en mora (511 de 10,763). Un modelo que prediga siempre “paga a tiempo” acertaría el 95.25% de las veces sin aprender nada útil.</a:t>
            </a:r>
            <a:endParaRPr lang="en-US" sz="1400" dirty="0"/>
          </a:p>
        </p:txBody>
      </p:sp>
      <p:sp>
        <p:nvSpPr>
          <p:cNvPr id="8" name="Shape 5"/>
          <p:cNvSpPr/>
          <p:nvPr/>
        </p:nvSpPr>
        <p:spPr>
          <a:xfrm>
            <a:off x="6035040" y="4846320"/>
            <a:ext cx="5577840" cy="1051560"/>
          </a:xfrm>
          <a:prstGeom prst="roundRect">
            <a:avLst>
              <a:gd name="adj" fmla="val 6957"/>
            </a:avLst>
          </a:prstGeom>
          <a:solidFill>
            <a:srgbClr val="F4F7FC"/>
          </a:solidFill>
          <a:ln/>
        </p:spPr>
        <p:txBody>
          <a:bodyPr/>
          <a:lstStyle/>
          <a:p>
            <a:endParaRPr lang="es-CO"/>
          </a:p>
        </p:txBody>
      </p:sp>
      <p:sp>
        <p:nvSpPr>
          <p:cNvPr id="9" name="Text 6"/>
          <p:cNvSpPr/>
          <p:nvPr/>
        </p:nvSpPr>
        <p:spPr>
          <a:xfrm>
            <a:off x="6263640" y="4937760"/>
            <a:ext cx="5120640" cy="868680"/>
          </a:xfrm>
          <a:prstGeom prst="rect">
            <a:avLst/>
          </a:prstGeom>
          <a:noFill/>
          <a:ln/>
        </p:spPr>
        <p:txBody>
          <a:bodyPr wrap="square" lIns="0" tIns="0" rIns="0" bIns="0" rtlCol="0" anchor="ctr"/>
          <a:lstStyle/>
          <a:p>
            <a:pPr marL="0" indent="0">
              <a:lnSpc>
                <a:spcPct val="120000"/>
              </a:lnSpc>
              <a:buNone/>
            </a:pPr>
            <a:r>
              <a:rPr lang="en-US" sz="1250" b="1" dirty="0">
                <a:solidFill>
                  <a:srgbClr val="1E2761"/>
                </a:solidFill>
                <a:latin typeface="Calibri" pitchFamily="34" charset="0"/>
                <a:ea typeface="Calibri" pitchFamily="34" charset="-122"/>
                <a:cs typeface="Calibri" pitchFamily="34" charset="-120"/>
              </a:rPr>
              <a:t>Implicación: </a:t>
            </a:r>
            <a:r>
              <a:rPr lang="en-US" sz="1250" dirty="0">
                <a:solidFill>
                  <a:srgbClr val="5A5F73"/>
                </a:solidFill>
                <a:latin typeface="Calibri" pitchFamily="34" charset="0"/>
                <a:ea typeface="Calibri" pitchFamily="34" charset="-122"/>
                <a:cs typeface="Calibri" pitchFamily="34" charset="-120"/>
              </a:rPr>
              <a:t>la exactitud (accuracy) no sirve como métrica. Se debe evaluar con recall, F1 y AUC-PR sobre la clase minoritaria.</a:t>
            </a:r>
            <a:endParaRPr lang="en-US" sz="1250" dirty="0"/>
          </a:p>
        </p:txBody>
      </p:sp>
      <p:sp>
        <p:nvSpPr>
          <p:cNvPr id="10" name="Text 7"/>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11" name="Text 8"/>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INSIGHT 1 DE 5</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La mora previa es la señal más potente</a:t>
            </a:r>
            <a:endParaRPr lang="en-US" sz="3000" dirty="0"/>
          </a:p>
        </p:txBody>
      </p:sp>
      <p:graphicFrame>
        <p:nvGraphicFramePr>
          <p:cNvPr id="4" name="Chart 0"/>
          <p:cNvGraphicFramePr/>
          <p:nvPr/>
        </p:nvGraphicFramePr>
        <p:xfrm>
          <a:off x="548640" y="1920240"/>
          <a:ext cx="5760720" cy="402336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p:nvPr/>
        </p:nvSpPr>
        <p:spPr>
          <a:xfrm>
            <a:off x="6858000" y="1965960"/>
            <a:ext cx="4754880" cy="1005840"/>
          </a:xfrm>
          <a:prstGeom prst="rect">
            <a:avLst/>
          </a:prstGeom>
          <a:noFill/>
          <a:ln/>
        </p:spPr>
        <p:txBody>
          <a:bodyPr wrap="square" lIns="0" tIns="0" rIns="0" bIns="0" rtlCol="0" anchor="ctr"/>
          <a:lstStyle/>
          <a:p>
            <a:pPr marL="0" indent="0">
              <a:buNone/>
            </a:pPr>
            <a:r>
              <a:rPr lang="en-US" sz="5400" b="1" dirty="0">
                <a:solidFill>
                  <a:srgbClr val="B33A3A"/>
                </a:solidFill>
                <a:latin typeface="Cambria" pitchFamily="34" charset="0"/>
                <a:ea typeface="Cambria" pitchFamily="34" charset="-122"/>
                <a:cs typeface="Cambria" pitchFamily="34" charset="-120"/>
              </a:rPr>
              <a:t>8x</a:t>
            </a:r>
            <a:endParaRPr lang="en-US" sz="5400" dirty="0"/>
          </a:p>
        </p:txBody>
      </p:sp>
      <p:sp>
        <p:nvSpPr>
          <p:cNvPr id="6" name="Text 3"/>
          <p:cNvSpPr/>
          <p:nvPr/>
        </p:nvSpPr>
        <p:spPr>
          <a:xfrm>
            <a:off x="6858000" y="2880360"/>
            <a:ext cx="4754880" cy="822960"/>
          </a:xfrm>
          <a:prstGeom prst="rect">
            <a:avLst/>
          </a:prstGeom>
          <a:noFill/>
          <a:ln/>
        </p:spPr>
        <p:txBody>
          <a:bodyPr wrap="square" lIns="0" tIns="0" rIns="0" bIns="0" rtlCol="0" anchor="ctr"/>
          <a:lstStyle/>
          <a:p>
            <a:pPr marL="0" indent="0">
              <a:lnSpc>
                <a:spcPct val="120000"/>
              </a:lnSpc>
              <a:buNone/>
            </a:pPr>
            <a:r>
              <a:rPr lang="en-US" sz="1500" dirty="0">
                <a:solidFill>
                  <a:srgbClr val="5A5F73"/>
                </a:solidFill>
                <a:latin typeface="Calibri" pitchFamily="34" charset="0"/>
                <a:ea typeface="Calibri" pitchFamily="34" charset="-122"/>
                <a:cs typeface="Calibri" pitchFamily="34" charset="-120"/>
              </a:rPr>
              <a:t>más riesgo de mora si el cliente ya tiene saldo en mora registrado</a:t>
            </a:r>
            <a:endParaRPr lang="en-US" sz="1500" dirty="0"/>
          </a:p>
        </p:txBody>
      </p:sp>
      <p:sp>
        <p:nvSpPr>
          <p:cNvPr id="7" name="Shape 4"/>
          <p:cNvSpPr/>
          <p:nvPr/>
        </p:nvSpPr>
        <p:spPr>
          <a:xfrm>
            <a:off x="6858000" y="3886200"/>
            <a:ext cx="4754880" cy="1737360"/>
          </a:xfrm>
          <a:prstGeom prst="roundRect">
            <a:avLst>
              <a:gd name="adj" fmla="val 4211"/>
            </a:avLst>
          </a:prstGeom>
          <a:solidFill>
            <a:srgbClr val="F4F7FC"/>
          </a:solidFill>
          <a:ln/>
        </p:spPr>
        <p:txBody>
          <a:bodyPr/>
          <a:lstStyle/>
          <a:p>
            <a:endParaRPr lang="es-CO"/>
          </a:p>
        </p:txBody>
      </p:sp>
      <p:sp>
        <p:nvSpPr>
          <p:cNvPr id="8" name="Text 5"/>
          <p:cNvSpPr/>
          <p:nvPr/>
        </p:nvSpPr>
        <p:spPr>
          <a:xfrm>
            <a:off x="7086600" y="4023360"/>
            <a:ext cx="4297680" cy="1463040"/>
          </a:xfrm>
          <a:prstGeom prst="rect">
            <a:avLst/>
          </a:prstGeom>
          <a:noFill/>
          <a:ln/>
        </p:spPr>
        <p:txBody>
          <a:bodyPr wrap="square" lIns="0" tIns="0" rIns="0" bIns="0" rtlCol="0" anchor="t"/>
          <a:lstStyle/>
          <a:p>
            <a:pPr marL="0" indent="0">
              <a:lnSpc>
                <a:spcPct val="120000"/>
              </a:lnSpc>
              <a:buNone/>
            </a:pPr>
            <a:r>
              <a:rPr lang="en-US" sz="1200" b="1" dirty="0">
                <a:solidFill>
                  <a:srgbClr val="1E2761"/>
                </a:solidFill>
                <a:latin typeface="Calibri" pitchFamily="34" charset="0"/>
                <a:ea typeface="Calibri" pitchFamily="34" charset="-122"/>
                <a:cs typeface="Calibri" pitchFamily="34" charset="-120"/>
              </a:rPr>
              <a:t>Correlación más alta de todo el análisis </a:t>
            </a:r>
            <a:r>
              <a:rPr lang="en-US" sz="1200" dirty="0">
                <a:solidFill>
                  <a:srgbClr val="5A5F73"/>
                </a:solidFill>
                <a:latin typeface="Calibri" pitchFamily="34" charset="0"/>
                <a:ea typeface="Calibri" pitchFamily="34" charset="-122"/>
                <a:cs typeface="Calibri" pitchFamily="34" charset="-120"/>
              </a:rPr>
              <a:t>(r = 0.107), por encima de cualquier variable original del dataset.
</a:t>
            </a:r>
            <a:endParaRPr lang="en-US" sz="1200" dirty="0"/>
          </a:p>
          <a:p>
            <a:pPr marL="0" indent="0">
              <a:lnSpc>
                <a:spcPct val="120000"/>
              </a:lnSpc>
              <a:buNone/>
            </a:pPr>
            <a:r>
              <a:rPr lang="en-US" sz="1200" b="1" dirty="0">
                <a:solidFill>
                  <a:srgbClr val="B33A3A"/>
                </a:solidFill>
                <a:latin typeface="Calibri" pitchFamily="34" charset="0"/>
                <a:ea typeface="Calibri" pitchFamily="34" charset="-122"/>
                <a:cs typeface="Calibri" pitchFamily="34" charset="-120"/>
              </a:rPr>
              <a:t>Con cautela: </a:t>
            </a:r>
            <a:r>
              <a:rPr lang="en-US" sz="1200" dirty="0">
                <a:solidFill>
                  <a:srgbClr val="5A5F73"/>
                </a:solidFill>
                <a:latin typeface="Calibri" pitchFamily="34" charset="0"/>
                <a:ea typeface="Calibri" pitchFamily="34" charset="-122"/>
                <a:cs typeface="Calibri" pitchFamily="34" charset="-120"/>
              </a:rPr>
              <a:t>solo 55 registros — no es una conclusión definitiva, pero sí una alerta temprana de alto valor.</a:t>
            </a:r>
            <a:endParaRPr lang="en-US" sz="1200" dirty="0"/>
          </a:p>
        </p:txBody>
      </p:sp>
      <p:sp>
        <p:nvSpPr>
          <p:cNvPr id="9" name="Text 6"/>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10" name="Text 7"/>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INSIGHT 2 DE 5</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El tipo de crédito 6 concentra el riesgo</a:t>
            </a:r>
            <a:endParaRPr lang="en-US" sz="3000" dirty="0"/>
          </a:p>
        </p:txBody>
      </p:sp>
      <p:graphicFrame>
        <p:nvGraphicFramePr>
          <p:cNvPr id="4" name="Chart 0"/>
          <p:cNvGraphicFramePr/>
          <p:nvPr/>
        </p:nvGraphicFramePr>
        <p:xfrm>
          <a:off x="548640" y="1965960"/>
          <a:ext cx="7406640" cy="411480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p:nvPr/>
        </p:nvSpPr>
        <p:spPr>
          <a:xfrm>
            <a:off x="8229600" y="2148840"/>
            <a:ext cx="3383280" cy="777240"/>
          </a:xfrm>
          <a:prstGeom prst="rect">
            <a:avLst/>
          </a:prstGeom>
          <a:noFill/>
          <a:ln/>
        </p:spPr>
        <p:txBody>
          <a:bodyPr wrap="square" lIns="0" tIns="0" rIns="0" bIns="0" rtlCol="0" anchor="ctr"/>
          <a:lstStyle/>
          <a:p>
            <a:pPr marL="0" indent="0">
              <a:buNone/>
            </a:pPr>
            <a:r>
              <a:rPr lang="en-US" sz="3600" b="1" dirty="0">
                <a:solidFill>
                  <a:srgbClr val="B33A3A"/>
                </a:solidFill>
                <a:latin typeface="Cambria" pitchFamily="34" charset="0"/>
                <a:ea typeface="Cambria" pitchFamily="34" charset="-122"/>
                <a:cs typeface="Cambria" pitchFamily="34" charset="-120"/>
              </a:rPr>
              <a:t>42.9%</a:t>
            </a:r>
            <a:endParaRPr lang="en-US" sz="3600" dirty="0"/>
          </a:p>
        </p:txBody>
      </p:sp>
      <p:sp>
        <p:nvSpPr>
          <p:cNvPr id="6" name="Text 3"/>
          <p:cNvSpPr/>
          <p:nvPr/>
        </p:nvSpPr>
        <p:spPr>
          <a:xfrm>
            <a:off x="8229600" y="2926080"/>
            <a:ext cx="3383280" cy="1005840"/>
          </a:xfrm>
          <a:prstGeom prst="rect">
            <a:avLst/>
          </a:prstGeom>
          <a:noFill/>
          <a:ln/>
        </p:spPr>
        <p:txBody>
          <a:bodyPr wrap="square" lIns="0" tIns="0" rIns="0" bIns="0" rtlCol="0" anchor="ctr"/>
          <a:lstStyle/>
          <a:p>
            <a:pPr marL="0" indent="0">
              <a:lnSpc>
                <a:spcPct val="120000"/>
              </a:lnSpc>
              <a:buNone/>
            </a:pPr>
            <a:r>
              <a:rPr lang="en-US" sz="1300" dirty="0">
                <a:solidFill>
                  <a:srgbClr val="5A5F73"/>
                </a:solidFill>
                <a:latin typeface="Calibri" pitchFamily="34" charset="0"/>
                <a:ea typeface="Calibri" pitchFamily="34" charset="-122"/>
                <a:cs typeface="Calibri" pitchFamily="34" charset="-120"/>
              </a:rPr>
              <a:t>de mora en el tipo 6, casi 9 veces el promedio general (4.75%)</a:t>
            </a:r>
            <a:endParaRPr lang="en-US" sz="1300" dirty="0"/>
          </a:p>
        </p:txBody>
      </p:sp>
      <p:sp>
        <p:nvSpPr>
          <p:cNvPr id="7" name="Shape 4"/>
          <p:cNvSpPr/>
          <p:nvPr/>
        </p:nvSpPr>
        <p:spPr>
          <a:xfrm>
            <a:off x="8229600" y="4160520"/>
            <a:ext cx="3383280" cy="1737360"/>
          </a:xfrm>
          <a:prstGeom prst="roundRect">
            <a:avLst>
              <a:gd name="adj" fmla="val 4211"/>
            </a:avLst>
          </a:prstGeom>
          <a:solidFill>
            <a:srgbClr val="F4F7FC"/>
          </a:solidFill>
          <a:ln/>
        </p:spPr>
        <p:txBody>
          <a:bodyPr/>
          <a:lstStyle/>
          <a:p>
            <a:endParaRPr lang="es-CO"/>
          </a:p>
        </p:txBody>
      </p:sp>
      <p:sp>
        <p:nvSpPr>
          <p:cNvPr id="8" name="Text 5"/>
          <p:cNvSpPr/>
          <p:nvPr/>
        </p:nvSpPr>
        <p:spPr>
          <a:xfrm>
            <a:off x="8458200" y="4297680"/>
            <a:ext cx="2926080" cy="1463040"/>
          </a:xfrm>
          <a:prstGeom prst="rect">
            <a:avLst/>
          </a:prstGeom>
          <a:noFill/>
          <a:ln/>
        </p:spPr>
        <p:txBody>
          <a:bodyPr wrap="square" lIns="0" tIns="0" rIns="0" bIns="0" rtlCol="0" anchor="t"/>
          <a:lstStyle/>
          <a:p>
            <a:pPr marL="0" indent="0">
              <a:lnSpc>
                <a:spcPct val="120000"/>
              </a:lnSpc>
              <a:buNone/>
            </a:pPr>
            <a:r>
              <a:rPr lang="en-US" sz="1200" dirty="0">
                <a:solidFill>
                  <a:srgbClr val="5A5F73"/>
                </a:solidFill>
                <a:latin typeface="Calibri" pitchFamily="34" charset="0"/>
                <a:ea typeface="Calibri" pitchFamily="34" charset="-122"/>
                <a:cs typeface="Calibri" pitchFamily="34" charset="-120"/>
              </a:rPr>
              <a:t>Muestra pequeña (21 registros): señal de alerta a priorizar, no una conclusión estadística definitiva. Amerita investigación con el área de producto.</a:t>
            </a:r>
            <a:endParaRPr lang="en-US" sz="1200" dirty="0"/>
          </a:p>
        </p:txBody>
      </p:sp>
      <p:sp>
        <p:nvSpPr>
          <p:cNvPr id="9" name="Text 6"/>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10" name="Text 7"/>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INSIGHT 3 DE 5</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Depurar los datos fortaleció la señal</a:t>
            </a:r>
            <a:endParaRPr lang="en-US" sz="3000" dirty="0"/>
          </a:p>
        </p:txBody>
      </p:sp>
      <p:graphicFrame>
        <p:nvGraphicFramePr>
          <p:cNvPr id="4" name="Chart 0"/>
          <p:cNvGraphicFramePr/>
          <p:nvPr/>
        </p:nvGraphicFramePr>
        <p:xfrm>
          <a:off x="548640" y="1874520"/>
          <a:ext cx="7772400" cy="434340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p:nvPr/>
        </p:nvSpPr>
        <p:spPr>
          <a:xfrm>
            <a:off x="8503920" y="2194560"/>
            <a:ext cx="3108960" cy="731520"/>
          </a:xfrm>
          <a:prstGeom prst="rect">
            <a:avLst/>
          </a:prstGeom>
          <a:noFill/>
          <a:ln/>
        </p:spPr>
        <p:txBody>
          <a:bodyPr wrap="square" lIns="0" tIns="0" rIns="0" bIns="0" rtlCol="0" anchor="ctr"/>
          <a:lstStyle/>
          <a:p>
            <a:pPr marL="0" indent="0">
              <a:buNone/>
            </a:pPr>
            <a:r>
              <a:rPr lang="en-US" sz="3600" b="1" dirty="0">
                <a:solidFill>
                  <a:srgbClr val="B33A3A"/>
                </a:solidFill>
                <a:latin typeface="Cambria" pitchFamily="34" charset="0"/>
                <a:ea typeface="Cambria" pitchFamily="34" charset="-122"/>
                <a:cs typeface="Cambria" pitchFamily="34" charset="-120"/>
              </a:rPr>
              <a:t>+78%</a:t>
            </a:r>
            <a:endParaRPr lang="en-US" sz="3600" dirty="0"/>
          </a:p>
        </p:txBody>
      </p:sp>
      <p:sp>
        <p:nvSpPr>
          <p:cNvPr id="6" name="Text 3"/>
          <p:cNvSpPr/>
          <p:nvPr/>
        </p:nvSpPr>
        <p:spPr>
          <a:xfrm>
            <a:off x="8503920" y="2971800"/>
            <a:ext cx="3108960" cy="1005840"/>
          </a:xfrm>
          <a:prstGeom prst="rect">
            <a:avLst/>
          </a:prstGeom>
          <a:noFill/>
          <a:ln/>
        </p:spPr>
        <p:txBody>
          <a:bodyPr wrap="square" lIns="0" tIns="0" rIns="0" bIns="0" rtlCol="0" anchor="ctr"/>
          <a:lstStyle/>
          <a:p>
            <a:pPr marL="0" indent="0">
              <a:lnSpc>
                <a:spcPct val="120000"/>
              </a:lnSpc>
              <a:buNone/>
            </a:pPr>
            <a:r>
              <a:rPr lang="en-US" sz="1300" dirty="0">
                <a:solidFill>
                  <a:srgbClr val="5A5F73"/>
                </a:solidFill>
                <a:latin typeface="Calibri" pitchFamily="34" charset="0"/>
                <a:ea typeface="Calibri" pitchFamily="34" charset="-122"/>
                <a:cs typeface="Calibri" pitchFamily="34" charset="-120"/>
              </a:rPr>
              <a:t>mejoró el poder predictivo del score al depurar los 153 valores inválidos (de 0.068 a 0.121)</a:t>
            </a:r>
            <a:endParaRPr lang="en-US" sz="1300" dirty="0"/>
          </a:p>
        </p:txBody>
      </p:sp>
      <p:sp>
        <p:nvSpPr>
          <p:cNvPr id="7" name="Text 4"/>
          <p:cNvSpPr/>
          <p:nvPr/>
        </p:nvSpPr>
        <p:spPr>
          <a:xfrm>
            <a:off x="8503920" y="4114800"/>
            <a:ext cx="3108960" cy="1554480"/>
          </a:xfrm>
          <a:prstGeom prst="rect">
            <a:avLst/>
          </a:prstGeom>
          <a:noFill/>
          <a:ln/>
        </p:spPr>
        <p:txBody>
          <a:bodyPr wrap="square" lIns="0" tIns="0" rIns="0" bIns="0" rtlCol="0" anchor="ctr"/>
          <a:lstStyle/>
          <a:p>
            <a:pPr marL="0" indent="0">
              <a:lnSpc>
                <a:spcPct val="125000"/>
              </a:lnSpc>
              <a:buNone/>
            </a:pPr>
            <a:r>
              <a:rPr lang="en-US" sz="1250" dirty="0">
                <a:solidFill>
                  <a:srgbClr val="5A5F73"/>
                </a:solidFill>
                <a:latin typeface="Calibri" pitchFamily="34" charset="0"/>
                <a:ea typeface="Calibri" pitchFamily="34" charset="-122"/>
                <a:cs typeface="Calibri" pitchFamily="34" charset="-120"/>
              </a:rPr>
              <a:t>La señal está en la combinación de variables, no en reglas simples de una sola columna. Justifica el uso de modelos multivariados.</a:t>
            </a:r>
            <a:endParaRPr lang="en-US" sz="1250" dirty="0"/>
          </a:p>
        </p:txBody>
      </p:sp>
      <p:sp>
        <p:nvSpPr>
          <p:cNvPr id="8" name="Text 5"/>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9" name="Text 6"/>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INSIGHT 4 DE 5</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Los atributos derivados superan a los originales</a:t>
            </a:r>
            <a:endParaRPr lang="en-US" sz="3000" dirty="0"/>
          </a:p>
        </p:txBody>
      </p:sp>
      <p:sp>
        <p:nvSpPr>
          <p:cNvPr id="4" name="Text 2"/>
          <p:cNvSpPr/>
          <p:nvPr/>
        </p:nvSpPr>
        <p:spPr>
          <a:xfrm>
            <a:off x="548640" y="1920240"/>
            <a:ext cx="2926080" cy="320040"/>
          </a:xfrm>
          <a:prstGeom prst="rect">
            <a:avLst/>
          </a:prstGeom>
          <a:noFill/>
          <a:ln/>
        </p:spPr>
        <p:txBody>
          <a:bodyPr wrap="square" lIns="0" tIns="0" rIns="0" bIns="0" rtlCol="0" anchor="ctr"/>
          <a:lstStyle/>
          <a:p>
            <a:pPr marL="0" indent="0">
              <a:buNone/>
            </a:pPr>
            <a:r>
              <a:rPr lang="en-US" sz="1100" b="1" dirty="0">
                <a:solidFill>
                  <a:srgbClr val="5A5F73"/>
                </a:solidFill>
                <a:latin typeface="Calibri" pitchFamily="34" charset="0"/>
                <a:ea typeface="Calibri" pitchFamily="34" charset="-122"/>
                <a:cs typeface="Calibri" pitchFamily="34" charset="-120"/>
              </a:rPr>
              <a:t>Variable</a:t>
            </a:r>
            <a:endParaRPr lang="en-US" sz="1100" dirty="0"/>
          </a:p>
        </p:txBody>
      </p:sp>
      <p:sp>
        <p:nvSpPr>
          <p:cNvPr id="5" name="Text 3"/>
          <p:cNvSpPr/>
          <p:nvPr/>
        </p:nvSpPr>
        <p:spPr>
          <a:xfrm>
            <a:off x="3474720" y="1920240"/>
            <a:ext cx="1645920" cy="320040"/>
          </a:xfrm>
          <a:prstGeom prst="rect">
            <a:avLst/>
          </a:prstGeom>
          <a:noFill/>
          <a:ln/>
        </p:spPr>
        <p:txBody>
          <a:bodyPr wrap="square" lIns="0" tIns="0" rIns="0" bIns="0" rtlCol="0" anchor="ctr"/>
          <a:lstStyle/>
          <a:p>
            <a:pPr marL="0" indent="0">
              <a:buNone/>
            </a:pPr>
            <a:r>
              <a:rPr lang="en-US" sz="1100" b="1" dirty="0">
                <a:solidFill>
                  <a:srgbClr val="5A5F73"/>
                </a:solidFill>
                <a:latin typeface="Calibri" pitchFamily="34" charset="0"/>
                <a:ea typeface="Calibri" pitchFamily="34" charset="-122"/>
                <a:cs typeface="Calibri" pitchFamily="34" charset="-120"/>
              </a:rPr>
              <a:t>Origen</a:t>
            </a:r>
            <a:endParaRPr lang="en-US" sz="1100" dirty="0"/>
          </a:p>
        </p:txBody>
      </p:sp>
      <p:sp>
        <p:nvSpPr>
          <p:cNvPr id="6" name="Text 4"/>
          <p:cNvSpPr/>
          <p:nvPr/>
        </p:nvSpPr>
        <p:spPr>
          <a:xfrm>
            <a:off x="5120640" y="1920240"/>
            <a:ext cx="2103120" cy="320040"/>
          </a:xfrm>
          <a:prstGeom prst="rect">
            <a:avLst/>
          </a:prstGeom>
          <a:noFill/>
          <a:ln/>
        </p:spPr>
        <p:txBody>
          <a:bodyPr wrap="square" lIns="0" tIns="0" rIns="0" bIns="0" rtlCol="0" anchor="ctr"/>
          <a:lstStyle/>
          <a:p>
            <a:pPr marL="0" indent="0">
              <a:buNone/>
            </a:pPr>
            <a:r>
              <a:rPr lang="en-US" sz="1100" b="1" dirty="0">
                <a:solidFill>
                  <a:srgbClr val="5A5F73"/>
                </a:solidFill>
                <a:latin typeface="Calibri" pitchFamily="34" charset="0"/>
                <a:ea typeface="Calibri" pitchFamily="34" charset="-122"/>
                <a:cs typeface="Calibri" pitchFamily="34" charset="-120"/>
              </a:rPr>
              <a:t>Correlación</a:t>
            </a:r>
            <a:endParaRPr lang="en-US" sz="1100" dirty="0"/>
          </a:p>
        </p:txBody>
      </p:sp>
      <p:sp>
        <p:nvSpPr>
          <p:cNvPr id="7" name="Shape 5"/>
          <p:cNvSpPr/>
          <p:nvPr/>
        </p:nvSpPr>
        <p:spPr>
          <a:xfrm>
            <a:off x="548640" y="2331720"/>
            <a:ext cx="6675120" cy="731520"/>
          </a:xfrm>
          <a:prstGeom prst="roundRect">
            <a:avLst>
              <a:gd name="adj" fmla="val 7500"/>
            </a:avLst>
          </a:prstGeom>
          <a:solidFill>
            <a:srgbClr val="FBEAEA"/>
          </a:solidFill>
          <a:ln/>
        </p:spPr>
        <p:txBody>
          <a:bodyPr/>
          <a:lstStyle/>
          <a:p>
            <a:endParaRPr lang="es-CO"/>
          </a:p>
        </p:txBody>
      </p:sp>
      <p:sp>
        <p:nvSpPr>
          <p:cNvPr id="8" name="Text 6"/>
          <p:cNvSpPr/>
          <p:nvPr/>
        </p:nvSpPr>
        <p:spPr>
          <a:xfrm>
            <a:off x="777240" y="2331720"/>
            <a:ext cx="2651760" cy="7315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tiene_mora_previa</a:t>
            </a:r>
            <a:endParaRPr lang="en-US" sz="1400" dirty="0"/>
          </a:p>
        </p:txBody>
      </p:sp>
      <p:sp>
        <p:nvSpPr>
          <p:cNvPr id="9" name="Text 7"/>
          <p:cNvSpPr/>
          <p:nvPr/>
        </p:nvSpPr>
        <p:spPr>
          <a:xfrm>
            <a:off x="3474720" y="2331720"/>
            <a:ext cx="1645920" cy="731520"/>
          </a:xfrm>
          <a:prstGeom prst="rect">
            <a:avLst/>
          </a:prstGeom>
          <a:noFill/>
          <a:ln/>
        </p:spPr>
        <p:txBody>
          <a:bodyPr wrap="square" lIns="0" tIns="0" rIns="0" bIns="0" rtlCol="0" anchor="ctr"/>
          <a:lstStyle/>
          <a:p>
            <a:pPr marL="0" indent="0">
              <a:buNone/>
            </a:pPr>
            <a:r>
              <a:rPr lang="en-US" sz="1300" b="1" dirty="0">
                <a:solidFill>
                  <a:srgbClr val="B33A3A"/>
                </a:solidFill>
                <a:latin typeface="Calibri" pitchFamily="34" charset="0"/>
                <a:ea typeface="Calibri" pitchFamily="34" charset="-122"/>
                <a:cs typeface="Calibri" pitchFamily="34" charset="-120"/>
              </a:rPr>
              <a:t>Derivada</a:t>
            </a:r>
            <a:endParaRPr lang="en-US" sz="1300" dirty="0"/>
          </a:p>
        </p:txBody>
      </p:sp>
      <p:sp>
        <p:nvSpPr>
          <p:cNvPr id="10" name="Text 8"/>
          <p:cNvSpPr/>
          <p:nvPr/>
        </p:nvSpPr>
        <p:spPr>
          <a:xfrm>
            <a:off x="5120640" y="2331720"/>
            <a:ext cx="1920240" cy="73152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0.107</a:t>
            </a:r>
            <a:endParaRPr lang="en-US" sz="1500" dirty="0"/>
          </a:p>
        </p:txBody>
      </p:sp>
      <p:sp>
        <p:nvSpPr>
          <p:cNvPr id="11" name="Shape 9"/>
          <p:cNvSpPr/>
          <p:nvPr/>
        </p:nvSpPr>
        <p:spPr>
          <a:xfrm>
            <a:off x="548640" y="3200400"/>
            <a:ext cx="6675120" cy="731520"/>
          </a:xfrm>
          <a:prstGeom prst="roundRect">
            <a:avLst>
              <a:gd name="adj" fmla="val 7500"/>
            </a:avLst>
          </a:prstGeom>
          <a:solidFill>
            <a:srgbClr val="FBEAEA"/>
          </a:solidFill>
          <a:ln/>
        </p:spPr>
        <p:txBody>
          <a:bodyPr/>
          <a:lstStyle/>
          <a:p>
            <a:endParaRPr lang="es-CO"/>
          </a:p>
        </p:txBody>
      </p:sp>
      <p:sp>
        <p:nvSpPr>
          <p:cNvPr id="12" name="Text 10"/>
          <p:cNvSpPr/>
          <p:nvPr/>
        </p:nvSpPr>
        <p:spPr>
          <a:xfrm>
            <a:off x="777240" y="3200400"/>
            <a:ext cx="2651760" cy="7315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consultas_por_credito</a:t>
            </a:r>
            <a:endParaRPr lang="en-US" sz="1400" dirty="0"/>
          </a:p>
        </p:txBody>
      </p:sp>
      <p:sp>
        <p:nvSpPr>
          <p:cNvPr id="13" name="Text 11"/>
          <p:cNvSpPr/>
          <p:nvPr/>
        </p:nvSpPr>
        <p:spPr>
          <a:xfrm>
            <a:off x="3474720" y="3200400"/>
            <a:ext cx="1645920" cy="731520"/>
          </a:xfrm>
          <a:prstGeom prst="rect">
            <a:avLst/>
          </a:prstGeom>
          <a:noFill/>
          <a:ln/>
        </p:spPr>
        <p:txBody>
          <a:bodyPr wrap="square" lIns="0" tIns="0" rIns="0" bIns="0" rtlCol="0" anchor="ctr"/>
          <a:lstStyle/>
          <a:p>
            <a:pPr marL="0" indent="0">
              <a:buNone/>
            </a:pPr>
            <a:r>
              <a:rPr lang="en-US" sz="1300" b="1" dirty="0">
                <a:solidFill>
                  <a:srgbClr val="B33A3A"/>
                </a:solidFill>
                <a:latin typeface="Calibri" pitchFamily="34" charset="0"/>
                <a:ea typeface="Calibri" pitchFamily="34" charset="-122"/>
                <a:cs typeface="Calibri" pitchFamily="34" charset="-120"/>
              </a:rPr>
              <a:t>Derivada</a:t>
            </a:r>
            <a:endParaRPr lang="en-US" sz="1300" dirty="0"/>
          </a:p>
        </p:txBody>
      </p:sp>
      <p:sp>
        <p:nvSpPr>
          <p:cNvPr id="14" name="Text 12"/>
          <p:cNvSpPr/>
          <p:nvPr/>
        </p:nvSpPr>
        <p:spPr>
          <a:xfrm>
            <a:off x="5120640" y="3200400"/>
            <a:ext cx="1920240" cy="73152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0.077</a:t>
            </a:r>
            <a:endParaRPr lang="en-US" sz="1500" dirty="0"/>
          </a:p>
        </p:txBody>
      </p:sp>
      <p:sp>
        <p:nvSpPr>
          <p:cNvPr id="15" name="Shape 13"/>
          <p:cNvSpPr/>
          <p:nvPr/>
        </p:nvSpPr>
        <p:spPr>
          <a:xfrm>
            <a:off x="548640" y="4069080"/>
            <a:ext cx="6675120" cy="731520"/>
          </a:xfrm>
          <a:prstGeom prst="roundRect">
            <a:avLst>
              <a:gd name="adj" fmla="val 7500"/>
            </a:avLst>
          </a:prstGeom>
          <a:solidFill>
            <a:srgbClr val="F4F7FC"/>
          </a:solidFill>
          <a:ln/>
        </p:spPr>
        <p:txBody>
          <a:bodyPr/>
          <a:lstStyle/>
          <a:p>
            <a:endParaRPr lang="es-CO"/>
          </a:p>
        </p:txBody>
      </p:sp>
      <p:sp>
        <p:nvSpPr>
          <p:cNvPr id="16" name="Text 14"/>
          <p:cNvSpPr/>
          <p:nvPr/>
        </p:nvSpPr>
        <p:spPr>
          <a:xfrm>
            <a:off x="777240" y="4069080"/>
            <a:ext cx="2651760" cy="7315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huella_consulta</a:t>
            </a:r>
            <a:endParaRPr lang="en-US" sz="1400" dirty="0"/>
          </a:p>
        </p:txBody>
      </p:sp>
      <p:sp>
        <p:nvSpPr>
          <p:cNvPr id="17" name="Text 15"/>
          <p:cNvSpPr/>
          <p:nvPr/>
        </p:nvSpPr>
        <p:spPr>
          <a:xfrm>
            <a:off x="3474720" y="4069080"/>
            <a:ext cx="1645920" cy="731520"/>
          </a:xfrm>
          <a:prstGeom prst="rect">
            <a:avLst/>
          </a:prstGeom>
          <a:noFill/>
          <a:ln/>
        </p:spPr>
        <p:txBody>
          <a:bodyPr wrap="square" lIns="0" tIns="0" rIns="0" bIns="0" rtlCol="0" anchor="ctr"/>
          <a:lstStyle/>
          <a:p>
            <a:pPr marL="0" indent="0">
              <a:buNone/>
            </a:pPr>
            <a:r>
              <a:rPr lang="en-US" sz="1300" dirty="0">
                <a:solidFill>
                  <a:srgbClr val="5A5F73"/>
                </a:solidFill>
                <a:latin typeface="Calibri" pitchFamily="34" charset="0"/>
                <a:ea typeface="Calibri" pitchFamily="34" charset="-122"/>
                <a:cs typeface="Calibri" pitchFamily="34" charset="-120"/>
              </a:rPr>
              <a:t>Original</a:t>
            </a:r>
            <a:endParaRPr lang="en-US" sz="1300" dirty="0"/>
          </a:p>
        </p:txBody>
      </p:sp>
      <p:sp>
        <p:nvSpPr>
          <p:cNvPr id="18" name="Text 16"/>
          <p:cNvSpPr/>
          <p:nvPr/>
        </p:nvSpPr>
        <p:spPr>
          <a:xfrm>
            <a:off x="5120640" y="4069080"/>
            <a:ext cx="1920240" cy="73152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0.074</a:t>
            </a:r>
            <a:endParaRPr lang="en-US" sz="1500" dirty="0"/>
          </a:p>
        </p:txBody>
      </p:sp>
      <p:sp>
        <p:nvSpPr>
          <p:cNvPr id="19" name="Shape 17"/>
          <p:cNvSpPr/>
          <p:nvPr/>
        </p:nvSpPr>
        <p:spPr>
          <a:xfrm>
            <a:off x="548640" y="4937760"/>
            <a:ext cx="6675120" cy="731520"/>
          </a:xfrm>
          <a:prstGeom prst="roundRect">
            <a:avLst>
              <a:gd name="adj" fmla="val 7500"/>
            </a:avLst>
          </a:prstGeom>
          <a:solidFill>
            <a:srgbClr val="F4F7FC"/>
          </a:solidFill>
          <a:ln/>
        </p:spPr>
        <p:txBody>
          <a:bodyPr/>
          <a:lstStyle/>
          <a:p>
            <a:endParaRPr lang="es-CO"/>
          </a:p>
        </p:txBody>
      </p:sp>
      <p:sp>
        <p:nvSpPr>
          <p:cNvPr id="20" name="Text 18"/>
          <p:cNvSpPr/>
          <p:nvPr/>
        </p:nvSpPr>
        <p:spPr>
          <a:xfrm>
            <a:off x="777240" y="4937760"/>
            <a:ext cx="2651760" cy="7315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saldo_mora</a:t>
            </a:r>
            <a:endParaRPr lang="en-US" sz="1400" dirty="0"/>
          </a:p>
        </p:txBody>
      </p:sp>
      <p:sp>
        <p:nvSpPr>
          <p:cNvPr id="21" name="Text 19"/>
          <p:cNvSpPr/>
          <p:nvPr/>
        </p:nvSpPr>
        <p:spPr>
          <a:xfrm>
            <a:off x="3474720" y="4937760"/>
            <a:ext cx="1645920" cy="731520"/>
          </a:xfrm>
          <a:prstGeom prst="rect">
            <a:avLst/>
          </a:prstGeom>
          <a:noFill/>
          <a:ln/>
        </p:spPr>
        <p:txBody>
          <a:bodyPr wrap="square" lIns="0" tIns="0" rIns="0" bIns="0" rtlCol="0" anchor="ctr"/>
          <a:lstStyle/>
          <a:p>
            <a:pPr marL="0" indent="0">
              <a:buNone/>
            </a:pPr>
            <a:r>
              <a:rPr lang="en-US" sz="1300" dirty="0">
                <a:solidFill>
                  <a:srgbClr val="5A5F73"/>
                </a:solidFill>
                <a:latin typeface="Calibri" pitchFamily="34" charset="0"/>
                <a:ea typeface="Calibri" pitchFamily="34" charset="-122"/>
                <a:cs typeface="Calibri" pitchFamily="34" charset="-120"/>
              </a:rPr>
              <a:t>Original</a:t>
            </a:r>
            <a:endParaRPr lang="en-US" sz="1300" dirty="0"/>
          </a:p>
        </p:txBody>
      </p:sp>
      <p:sp>
        <p:nvSpPr>
          <p:cNvPr id="22" name="Text 20"/>
          <p:cNvSpPr/>
          <p:nvPr/>
        </p:nvSpPr>
        <p:spPr>
          <a:xfrm>
            <a:off x="5120640" y="4937760"/>
            <a:ext cx="1920240" cy="73152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0.073</a:t>
            </a:r>
            <a:endParaRPr lang="en-US" sz="1500" dirty="0"/>
          </a:p>
        </p:txBody>
      </p:sp>
      <p:sp>
        <p:nvSpPr>
          <p:cNvPr id="23" name="Shape 21"/>
          <p:cNvSpPr/>
          <p:nvPr/>
        </p:nvSpPr>
        <p:spPr>
          <a:xfrm>
            <a:off x="7589520" y="1965960"/>
            <a:ext cx="4023360" cy="4160520"/>
          </a:xfrm>
          <a:prstGeom prst="roundRect">
            <a:avLst>
              <a:gd name="adj" fmla="val 1818"/>
            </a:avLst>
          </a:prstGeom>
          <a:solidFill>
            <a:srgbClr val="1E2761"/>
          </a:solidFill>
          <a:ln/>
        </p:spPr>
        <p:txBody>
          <a:bodyPr/>
          <a:lstStyle/>
          <a:p>
            <a:endParaRPr lang="es-CO"/>
          </a:p>
        </p:txBody>
      </p:sp>
      <p:sp>
        <p:nvSpPr>
          <p:cNvPr id="24" name="Text 22"/>
          <p:cNvSpPr/>
          <p:nvPr/>
        </p:nvSpPr>
        <p:spPr>
          <a:xfrm>
            <a:off x="7863840" y="2240280"/>
            <a:ext cx="3474720" cy="54864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2 de 2</a:t>
            </a:r>
            <a:endParaRPr lang="en-US" sz="2600" dirty="0"/>
          </a:p>
        </p:txBody>
      </p:sp>
      <p:sp>
        <p:nvSpPr>
          <p:cNvPr id="25" name="Text 23"/>
          <p:cNvSpPr/>
          <p:nvPr/>
        </p:nvSpPr>
        <p:spPr>
          <a:xfrm>
            <a:off x="7863840" y="2880360"/>
            <a:ext cx="3474720" cy="914400"/>
          </a:xfrm>
          <a:prstGeom prst="rect">
            <a:avLst/>
          </a:prstGeom>
          <a:noFill/>
          <a:ln/>
        </p:spPr>
        <p:txBody>
          <a:bodyPr wrap="square" lIns="0" tIns="0" rIns="0" bIns="0" rtlCol="0" anchor="ctr"/>
          <a:lstStyle/>
          <a:p>
            <a:pPr marL="0" indent="0">
              <a:lnSpc>
                <a:spcPct val="120000"/>
              </a:lnSpc>
              <a:buNone/>
            </a:pPr>
            <a:r>
              <a:rPr lang="en-US" sz="1300" dirty="0">
                <a:solidFill>
                  <a:srgbClr val="CADCFC"/>
                </a:solidFill>
                <a:latin typeface="Calibri" pitchFamily="34" charset="0"/>
                <a:ea typeface="Calibri" pitchFamily="34" charset="-122"/>
                <a:cs typeface="Calibri" pitchFamily="34" charset="-120"/>
              </a:rPr>
              <a:t>los dos mejores predictores del dataset son variables construidas, no originales</a:t>
            </a:r>
            <a:endParaRPr lang="en-US" sz="1300" dirty="0"/>
          </a:p>
        </p:txBody>
      </p:sp>
      <p:sp>
        <p:nvSpPr>
          <p:cNvPr id="26" name="Text 24"/>
          <p:cNvSpPr/>
          <p:nvPr/>
        </p:nvSpPr>
        <p:spPr>
          <a:xfrm>
            <a:off x="7863840" y="3977640"/>
            <a:ext cx="3474720" cy="2011680"/>
          </a:xfrm>
          <a:prstGeom prst="rect">
            <a:avLst/>
          </a:prstGeom>
          <a:noFill/>
          <a:ln/>
        </p:spPr>
        <p:txBody>
          <a:bodyPr wrap="square" lIns="0" tIns="0" rIns="0" bIns="0" rtlCol="0" anchor="ctr"/>
          <a:lstStyle/>
          <a:p>
            <a:pPr marL="0" indent="0">
              <a:lnSpc>
                <a:spcPct val="125000"/>
              </a:lnSpc>
              <a:buNone/>
            </a:pPr>
            <a:r>
              <a:rPr lang="en-US" sz="1200" dirty="0">
                <a:solidFill>
                  <a:srgbClr val="CADCFC"/>
                </a:solidFill>
                <a:latin typeface="Calibri" pitchFamily="34" charset="0"/>
                <a:ea typeface="Calibri" pitchFamily="34" charset="-122"/>
                <a:cs typeface="Calibri" pitchFamily="34" charset="-120"/>
              </a:rPr>
              <a:t>Los ratios clásicos de capacidad de pago (cuota/ingreso, deuda/ingreso) resultaron casi nulos: un indicador estándar del sector no siempre funciona sin validarse empíricamente.</a:t>
            </a:r>
            <a:endParaRPr lang="en-US" sz="1200" dirty="0"/>
          </a:p>
        </p:txBody>
      </p:sp>
      <p:sp>
        <p:nvSpPr>
          <p:cNvPr id="27" name="Text 25"/>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28" name="Text 26"/>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ANÁLISIS MULTIVARIADO</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¿Se separan las clases en el espacio multivariado?</a:t>
            </a:r>
            <a:endParaRPr lang="en-US" sz="3000" dirty="0"/>
          </a:p>
        </p:txBody>
      </p:sp>
      <p:graphicFrame>
        <p:nvGraphicFramePr>
          <p:cNvPr id="4" name="Chart 0"/>
          <p:cNvGraphicFramePr/>
          <p:nvPr/>
        </p:nvGraphicFramePr>
        <p:xfrm>
          <a:off x="548640" y="1920240"/>
          <a:ext cx="6035040" cy="402336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p:nvPr/>
        </p:nvSpPr>
        <p:spPr>
          <a:xfrm>
            <a:off x="6949440" y="2103120"/>
            <a:ext cx="4663440" cy="822960"/>
          </a:xfrm>
          <a:prstGeom prst="rect">
            <a:avLst/>
          </a:prstGeom>
          <a:noFill/>
          <a:ln/>
        </p:spPr>
        <p:txBody>
          <a:bodyPr wrap="square" lIns="0" tIns="0" rIns="0" bIns="0" rtlCol="0" anchor="ctr"/>
          <a:lstStyle/>
          <a:p>
            <a:pPr marL="0" indent="0">
              <a:buNone/>
            </a:pPr>
            <a:r>
              <a:rPr lang="en-US" sz="4000" b="1" dirty="0">
                <a:solidFill>
                  <a:srgbClr val="1E2761"/>
                </a:solidFill>
                <a:latin typeface="Cambria" pitchFamily="34" charset="0"/>
                <a:ea typeface="Cambria" pitchFamily="34" charset="-122"/>
                <a:cs typeface="Cambria" pitchFamily="34" charset="-120"/>
              </a:rPr>
              <a:t>10 de 17</a:t>
            </a:r>
            <a:endParaRPr lang="en-US" sz="4000" dirty="0"/>
          </a:p>
        </p:txBody>
      </p:sp>
      <p:sp>
        <p:nvSpPr>
          <p:cNvPr id="6" name="Text 3"/>
          <p:cNvSpPr/>
          <p:nvPr/>
        </p:nvSpPr>
        <p:spPr>
          <a:xfrm>
            <a:off x="6949440" y="2926080"/>
            <a:ext cx="4663440" cy="731520"/>
          </a:xfrm>
          <a:prstGeom prst="rect">
            <a:avLst/>
          </a:prstGeom>
          <a:noFill/>
          <a:ln/>
        </p:spPr>
        <p:txBody>
          <a:bodyPr wrap="square" lIns="0" tIns="0" rIns="0" bIns="0" rtlCol="0" anchor="ctr"/>
          <a:lstStyle/>
          <a:p>
            <a:pPr marL="0" indent="0">
              <a:lnSpc>
                <a:spcPct val="120000"/>
              </a:lnSpc>
              <a:buNone/>
            </a:pPr>
            <a:r>
              <a:rPr lang="en-US" sz="1350" dirty="0">
                <a:solidFill>
                  <a:srgbClr val="5A5F73"/>
                </a:solidFill>
                <a:latin typeface="Calibri" pitchFamily="34" charset="0"/>
                <a:ea typeface="Calibri" pitchFamily="34" charset="-122"/>
                <a:cs typeface="Calibri" pitchFamily="34" charset="-120"/>
              </a:rPr>
              <a:t>componentes hacen falta para explicar el 80% de la varianza</a:t>
            </a:r>
            <a:endParaRPr lang="en-US" sz="1350" dirty="0"/>
          </a:p>
        </p:txBody>
      </p:sp>
      <p:sp>
        <p:nvSpPr>
          <p:cNvPr id="7" name="Shape 4"/>
          <p:cNvSpPr/>
          <p:nvPr/>
        </p:nvSpPr>
        <p:spPr>
          <a:xfrm>
            <a:off x="6949440" y="3794760"/>
            <a:ext cx="4663440" cy="2148840"/>
          </a:xfrm>
          <a:prstGeom prst="roundRect">
            <a:avLst>
              <a:gd name="adj" fmla="val 3404"/>
            </a:avLst>
          </a:prstGeom>
          <a:solidFill>
            <a:srgbClr val="F4F7FC"/>
          </a:solidFill>
          <a:ln/>
        </p:spPr>
        <p:txBody>
          <a:bodyPr/>
          <a:lstStyle/>
          <a:p>
            <a:endParaRPr lang="es-CO"/>
          </a:p>
        </p:txBody>
      </p:sp>
      <p:sp>
        <p:nvSpPr>
          <p:cNvPr id="8" name="Text 5"/>
          <p:cNvSpPr/>
          <p:nvPr/>
        </p:nvSpPr>
        <p:spPr>
          <a:xfrm>
            <a:off x="7178040" y="3931920"/>
            <a:ext cx="4206240" cy="1874520"/>
          </a:xfrm>
          <a:prstGeom prst="rect">
            <a:avLst/>
          </a:prstGeom>
          <a:noFill/>
          <a:ln/>
        </p:spPr>
        <p:txBody>
          <a:bodyPr wrap="square" lIns="0" tIns="0" rIns="0" bIns="0" rtlCol="0" anchor="t"/>
          <a:lstStyle/>
          <a:p>
            <a:pPr marL="0" indent="0">
              <a:lnSpc>
                <a:spcPct val="120000"/>
              </a:lnSpc>
              <a:buNone/>
            </a:pPr>
            <a:r>
              <a:rPr lang="en-US" sz="1150" b="1" dirty="0">
                <a:solidFill>
                  <a:srgbClr val="1E2761"/>
                </a:solidFill>
                <a:latin typeface="Calibri" pitchFamily="34" charset="0"/>
                <a:ea typeface="Calibri" pitchFamily="34" charset="-122"/>
                <a:cs typeface="Calibri" pitchFamily="34" charset="-120"/>
              </a:rPr>
              <a:t>No hay redundancia aprovechable.
</a:t>
            </a:r>
            <a:endParaRPr lang="en-US" sz="1150" dirty="0"/>
          </a:p>
          <a:p>
            <a:pPr marL="0" indent="0">
              <a:lnSpc>
                <a:spcPct val="120000"/>
              </a:lnSpc>
              <a:buNone/>
            </a:pPr>
            <a:r>
              <a:rPr lang="en-US" sz="1150" dirty="0">
                <a:solidFill>
                  <a:srgbClr val="5A5F73"/>
                </a:solidFill>
                <a:latin typeface="Calibri" pitchFamily="34" charset="0"/>
                <a:ea typeface="Calibri" pitchFamily="34" charset="-122"/>
                <a:cs typeface="Calibri" pitchFamily="34" charset="-120"/>
              </a:rPr>
              <a:t>La proyección sobre PC1-PC2 no separa clientes en mora de los que pagan.
</a:t>
            </a:r>
            <a:endParaRPr lang="en-US" sz="1150" dirty="0"/>
          </a:p>
          <a:p>
            <a:pPr marL="0" indent="0">
              <a:lnSpc>
                <a:spcPct val="120000"/>
              </a:lnSpc>
              <a:buNone/>
            </a:pPr>
            <a:r>
              <a:rPr lang="en-US" sz="1150" b="1" dirty="0">
                <a:solidFill>
                  <a:srgbClr val="B33A3A"/>
                </a:solidFill>
                <a:latin typeface="Calibri" pitchFamily="34" charset="0"/>
                <a:ea typeface="Calibri" pitchFamily="34" charset="-122"/>
                <a:cs typeface="Calibri" pitchFamily="34" charset="-120"/>
              </a:rPr>
              <a:t>Decisión: </a:t>
            </a:r>
            <a:r>
              <a:rPr lang="en-US" sz="1150" dirty="0">
                <a:solidFill>
                  <a:srgbClr val="5A5F73"/>
                </a:solidFill>
                <a:latin typeface="Calibri" pitchFamily="34" charset="0"/>
                <a:ea typeface="Calibri" pitchFamily="34" charset="-122"/>
                <a:cs typeface="Calibri" pitchFamily="34" charset="-120"/>
              </a:rPr>
              <a:t>no usar PCA en el modelado. Reduciría la interpretabilidad — crítica para explicar por qué se niega un crédito — sin aportar separabilidad.</a:t>
            </a:r>
            <a:endParaRPr lang="en-US" sz="1150" dirty="0"/>
          </a:p>
        </p:txBody>
      </p:sp>
      <p:sp>
        <p:nvSpPr>
          <p:cNvPr id="9" name="Text 6"/>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10" name="Text 7"/>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HALLAZGOS ADICIONALES</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Otras señales relevantes</a:t>
            </a:r>
            <a:endParaRPr lang="en-US" sz="3000" dirty="0"/>
          </a:p>
        </p:txBody>
      </p:sp>
      <p:graphicFrame>
        <p:nvGraphicFramePr>
          <p:cNvPr id="4" name="Chart 0"/>
          <p:cNvGraphicFramePr/>
          <p:nvPr/>
        </p:nvGraphicFramePr>
        <p:xfrm>
          <a:off x="548640" y="1920240"/>
          <a:ext cx="5394960" cy="411480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6309360" y="1920240"/>
            <a:ext cx="5303520" cy="1920240"/>
          </a:xfrm>
          <a:prstGeom prst="roundRect">
            <a:avLst>
              <a:gd name="adj" fmla="val 3810"/>
            </a:avLst>
          </a:prstGeom>
          <a:solidFill>
            <a:srgbClr val="F4F7FC"/>
          </a:solidFill>
          <a:ln/>
        </p:spPr>
        <p:txBody>
          <a:bodyPr/>
          <a:lstStyle/>
          <a:p>
            <a:endParaRPr lang="es-CO"/>
          </a:p>
        </p:txBody>
      </p:sp>
      <p:sp>
        <p:nvSpPr>
          <p:cNvPr id="6" name="Text 3"/>
          <p:cNvSpPr/>
          <p:nvPr/>
        </p:nvSpPr>
        <p:spPr>
          <a:xfrm>
            <a:off x="6537960" y="2103120"/>
            <a:ext cx="4846320" cy="1600200"/>
          </a:xfrm>
          <a:prstGeom prst="rect">
            <a:avLst/>
          </a:prstGeom>
          <a:noFill/>
          <a:ln/>
        </p:spPr>
        <p:txBody>
          <a:bodyPr wrap="square" lIns="0" tIns="0" rIns="0" bIns="0" rtlCol="0" anchor="t"/>
          <a:lstStyle/>
          <a:p>
            <a:pPr marL="0" indent="0">
              <a:lnSpc>
                <a:spcPct val="120000"/>
              </a:lnSpc>
              <a:buNone/>
            </a:pPr>
            <a:r>
              <a:rPr lang="en-US" sz="1500" b="1" dirty="0">
                <a:solidFill>
                  <a:srgbClr val="1E2761"/>
                </a:solidFill>
              </a:rPr>
              <a:t>Independientes vs. empleados
</a:t>
            </a:r>
            <a:endParaRPr lang="en-US" sz="1500" dirty="0"/>
          </a:p>
          <a:p>
            <a:pPr marL="0" indent="0">
              <a:lnSpc>
                <a:spcPct val="120000"/>
              </a:lnSpc>
              <a:buNone/>
            </a:pPr>
            <a:r>
              <a:rPr lang="en-US" sz="1250" dirty="0">
                <a:solidFill>
                  <a:srgbClr val="5A5F73"/>
                </a:solidFill>
              </a:rPr>
              <a:t>Mayor tasa de mora (5.51% vs 4.29%), coherente con la mayor variabilidad de ingresos de ese segmento.</a:t>
            </a:r>
            <a:endParaRPr lang="en-US" sz="1500" dirty="0"/>
          </a:p>
        </p:txBody>
      </p:sp>
      <p:sp>
        <p:nvSpPr>
          <p:cNvPr id="7" name="Shape 4"/>
          <p:cNvSpPr/>
          <p:nvPr/>
        </p:nvSpPr>
        <p:spPr>
          <a:xfrm>
            <a:off x="6309360" y="4069080"/>
            <a:ext cx="5303520" cy="2011680"/>
          </a:xfrm>
          <a:prstGeom prst="roundRect">
            <a:avLst>
              <a:gd name="adj" fmla="val 3636"/>
            </a:avLst>
          </a:prstGeom>
          <a:solidFill>
            <a:srgbClr val="F4F7FC"/>
          </a:solidFill>
          <a:ln/>
        </p:spPr>
        <p:txBody>
          <a:bodyPr/>
          <a:lstStyle/>
          <a:p>
            <a:endParaRPr lang="es-CO"/>
          </a:p>
        </p:txBody>
      </p:sp>
      <p:sp>
        <p:nvSpPr>
          <p:cNvPr id="8" name="Text 5"/>
          <p:cNvSpPr/>
          <p:nvPr/>
        </p:nvSpPr>
        <p:spPr>
          <a:xfrm>
            <a:off x="6537960" y="4251960"/>
            <a:ext cx="4846320" cy="1691640"/>
          </a:xfrm>
          <a:prstGeom prst="rect">
            <a:avLst/>
          </a:prstGeom>
          <a:noFill/>
          <a:ln/>
        </p:spPr>
        <p:txBody>
          <a:bodyPr wrap="square" lIns="0" tIns="0" rIns="0" bIns="0" rtlCol="0" anchor="t"/>
          <a:lstStyle/>
          <a:p>
            <a:pPr marL="0" indent="0">
              <a:lnSpc>
                <a:spcPct val="120000"/>
              </a:lnSpc>
              <a:buNone/>
            </a:pPr>
            <a:r>
              <a:rPr lang="en-US" sz="1500" b="1" dirty="0">
                <a:solidFill>
                  <a:srgbClr val="1E2761"/>
                </a:solidFill>
              </a:rPr>
              <a:t>puntaje_datacredito es bimodal
</a:t>
            </a:r>
            <a:endParaRPr lang="en-US" sz="1500" dirty="0"/>
          </a:p>
          <a:p>
            <a:pPr marL="0" indent="0">
              <a:lnSpc>
                <a:spcPct val="120000"/>
              </a:lnSpc>
              <a:buNone/>
            </a:pPr>
            <a:r>
              <a:rPr lang="en-US" sz="1250" dirty="0">
                <a:solidFill>
                  <a:srgbClr val="5A5F73"/>
                </a:solidFill>
              </a:rPr>
              <a:t>Un grupo pequeño con score cercano a 0 y el resto concentrado entre 700–999: posiblemente dos poblaciones distintas (con y sin historial suficiente en la central de riesgo).</a:t>
            </a:r>
            <a:endParaRPr lang="en-US" sz="1500" dirty="0"/>
          </a:p>
        </p:txBody>
      </p:sp>
      <p:sp>
        <p:nvSpPr>
          <p:cNvPr id="9" name="Text 6"/>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10" name="Text 7"/>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TRANSPARENCIA</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Riesgos y limitaciones del análisis</a:t>
            </a:r>
            <a:endParaRPr lang="en-US" sz="3000" dirty="0"/>
          </a:p>
        </p:txBody>
      </p:sp>
      <p:sp>
        <p:nvSpPr>
          <p:cNvPr id="4" name="Shape 2"/>
          <p:cNvSpPr/>
          <p:nvPr/>
        </p:nvSpPr>
        <p:spPr>
          <a:xfrm>
            <a:off x="548640" y="1874520"/>
            <a:ext cx="11064240" cy="1005840"/>
          </a:xfrm>
          <a:prstGeom prst="roundRect">
            <a:avLst>
              <a:gd name="adj" fmla="val 5455"/>
            </a:avLst>
          </a:prstGeom>
          <a:solidFill>
            <a:srgbClr val="F4F7FC"/>
          </a:solidFill>
          <a:ln/>
        </p:spPr>
        <p:txBody>
          <a:bodyPr/>
          <a:lstStyle/>
          <a:p>
            <a:endParaRPr lang="es-CO"/>
          </a:p>
        </p:txBody>
      </p:sp>
      <p:sp>
        <p:nvSpPr>
          <p:cNvPr id="5" name="Shape 3"/>
          <p:cNvSpPr/>
          <p:nvPr/>
        </p:nvSpPr>
        <p:spPr>
          <a:xfrm>
            <a:off x="822960" y="2304288"/>
            <a:ext cx="146304" cy="146304"/>
          </a:xfrm>
          <a:prstGeom prst="ellipse">
            <a:avLst/>
          </a:prstGeom>
          <a:solidFill>
            <a:srgbClr val="B33A3A"/>
          </a:solidFill>
          <a:ln/>
        </p:spPr>
        <p:txBody>
          <a:bodyPr/>
          <a:lstStyle/>
          <a:p>
            <a:endParaRPr lang="es-CO"/>
          </a:p>
        </p:txBody>
      </p:sp>
      <p:sp>
        <p:nvSpPr>
          <p:cNvPr id="6" name="Text 4"/>
          <p:cNvSpPr/>
          <p:nvPr/>
        </p:nvSpPr>
        <p:spPr>
          <a:xfrm>
            <a:off x="1143000" y="1874520"/>
            <a:ext cx="3291840" cy="100584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Posible fuga de información</a:t>
            </a:r>
            <a:endParaRPr lang="en-US" sz="1350" dirty="0"/>
          </a:p>
        </p:txBody>
      </p:sp>
      <p:sp>
        <p:nvSpPr>
          <p:cNvPr id="7" name="Text 5"/>
          <p:cNvSpPr/>
          <p:nvPr/>
        </p:nvSpPr>
        <p:spPr>
          <a:xfrm>
            <a:off x="4572000" y="1874520"/>
            <a:ext cx="6675120" cy="1005840"/>
          </a:xfrm>
          <a:prstGeom prst="rect">
            <a:avLst/>
          </a:prstGeom>
          <a:noFill/>
          <a:ln/>
        </p:spPr>
        <p:txBody>
          <a:bodyPr wrap="square" lIns="0" tIns="0" rIns="0" bIns="0" rtlCol="0" anchor="ctr"/>
          <a:lstStyle/>
          <a:p>
            <a:pPr marL="0" indent="0">
              <a:lnSpc>
                <a:spcPct val="115000"/>
              </a:lnSpc>
              <a:buNone/>
            </a:pPr>
            <a:r>
              <a:rPr lang="en-US" sz="1200" dirty="0">
                <a:solidFill>
                  <a:srgbClr val="5A5F73"/>
                </a:solidFill>
                <a:latin typeface="Calibri" pitchFamily="34" charset="0"/>
                <a:ea typeface="Calibri" pitchFamily="34" charset="-122"/>
                <a:cs typeface="Calibri" pitchFamily="34" charset="-120"/>
              </a:rPr>
              <a:t>Las variables de saldo en mora podrían registrarse después del desembolso — deben validarse con el negocio antes de modelar.</a:t>
            </a:r>
            <a:endParaRPr lang="en-US" sz="1200" dirty="0"/>
          </a:p>
        </p:txBody>
      </p:sp>
      <p:sp>
        <p:nvSpPr>
          <p:cNvPr id="8" name="Shape 6"/>
          <p:cNvSpPr/>
          <p:nvPr/>
        </p:nvSpPr>
        <p:spPr>
          <a:xfrm>
            <a:off x="548640" y="2990088"/>
            <a:ext cx="11064240" cy="1005840"/>
          </a:xfrm>
          <a:prstGeom prst="roundRect">
            <a:avLst>
              <a:gd name="adj" fmla="val 5455"/>
            </a:avLst>
          </a:prstGeom>
          <a:solidFill>
            <a:srgbClr val="F4F7FC"/>
          </a:solidFill>
          <a:ln/>
        </p:spPr>
        <p:txBody>
          <a:bodyPr/>
          <a:lstStyle/>
          <a:p>
            <a:endParaRPr lang="es-CO"/>
          </a:p>
        </p:txBody>
      </p:sp>
      <p:sp>
        <p:nvSpPr>
          <p:cNvPr id="9" name="Shape 7"/>
          <p:cNvSpPr/>
          <p:nvPr/>
        </p:nvSpPr>
        <p:spPr>
          <a:xfrm>
            <a:off x="822960" y="3419856"/>
            <a:ext cx="146304" cy="146304"/>
          </a:xfrm>
          <a:prstGeom prst="ellipse">
            <a:avLst/>
          </a:prstGeom>
          <a:solidFill>
            <a:srgbClr val="B33A3A"/>
          </a:solidFill>
          <a:ln/>
        </p:spPr>
        <p:txBody>
          <a:bodyPr/>
          <a:lstStyle/>
          <a:p>
            <a:endParaRPr lang="es-CO"/>
          </a:p>
        </p:txBody>
      </p:sp>
      <p:sp>
        <p:nvSpPr>
          <p:cNvPr id="10" name="Text 8"/>
          <p:cNvSpPr/>
          <p:nvPr/>
        </p:nvSpPr>
        <p:spPr>
          <a:xfrm>
            <a:off x="1143000" y="2990088"/>
            <a:ext cx="3291840" cy="100584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Muestras pequeñas en hallazgos clave</a:t>
            </a:r>
            <a:endParaRPr lang="en-US" sz="1350" dirty="0"/>
          </a:p>
        </p:txBody>
      </p:sp>
      <p:sp>
        <p:nvSpPr>
          <p:cNvPr id="11" name="Text 9"/>
          <p:cNvSpPr/>
          <p:nvPr/>
        </p:nvSpPr>
        <p:spPr>
          <a:xfrm>
            <a:off x="4572000" y="2990088"/>
            <a:ext cx="6675120" cy="1005840"/>
          </a:xfrm>
          <a:prstGeom prst="rect">
            <a:avLst/>
          </a:prstGeom>
          <a:noFill/>
          <a:ln/>
        </p:spPr>
        <p:txBody>
          <a:bodyPr wrap="square" lIns="0" tIns="0" rIns="0" bIns="0" rtlCol="0" anchor="ctr"/>
          <a:lstStyle/>
          <a:p>
            <a:pPr marL="0" indent="0">
              <a:lnSpc>
                <a:spcPct val="115000"/>
              </a:lnSpc>
              <a:buNone/>
            </a:pPr>
            <a:r>
              <a:rPr lang="en-US" sz="1200" dirty="0">
                <a:solidFill>
                  <a:srgbClr val="5A5F73"/>
                </a:solidFill>
                <a:latin typeface="Calibri" pitchFamily="34" charset="0"/>
                <a:ea typeface="Calibri" pitchFamily="34" charset="-122"/>
                <a:cs typeface="Calibri" pitchFamily="34" charset="-120"/>
              </a:rPr>
              <a:t>El tipo de crédito 6 (21) y la mora previa (55) tienen bases reducidas; sus tasas son indicativas, no concluyentes.</a:t>
            </a:r>
            <a:endParaRPr lang="en-US" sz="1200" dirty="0"/>
          </a:p>
        </p:txBody>
      </p:sp>
      <p:sp>
        <p:nvSpPr>
          <p:cNvPr id="12" name="Shape 10"/>
          <p:cNvSpPr/>
          <p:nvPr/>
        </p:nvSpPr>
        <p:spPr>
          <a:xfrm>
            <a:off x="548640" y="4105656"/>
            <a:ext cx="11064240" cy="1005840"/>
          </a:xfrm>
          <a:prstGeom prst="roundRect">
            <a:avLst>
              <a:gd name="adj" fmla="val 5455"/>
            </a:avLst>
          </a:prstGeom>
          <a:solidFill>
            <a:srgbClr val="F4F7FC"/>
          </a:solidFill>
          <a:ln/>
        </p:spPr>
        <p:txBody>
          <a:bodyPr/>
          <a:lstStyle/>
          <a:p>
            <a:endParaRPr lang="es-CO"/>
          </a:p>
        </p:txBody>
      </p:sp>
      <p:sp>
        <p:nvSpPr>
          <p:cNvPr id="13" name="Shape 11"/>
          <p:cNvSpPr/>
          <p:nvPr/>
        </p:nvSpPr>
        <p:spPr>
          <a:xfrm>
            <a:off x="822960" y="4535424"/>
            <a:ext cx="146304" cy="146304"/>
          </a:xfrm>
          <a:prstGeom prst="ellipse">
            <a:avLst/>
          </a:prstGeom>
          <a:solidFill>
            <a:srgbClr val="B33A3A"/>
          </a:solidFill>
          <a:ln/>
        </p:spPr>
        <p:txBody>
          <a:bodyPr/>
          <a:lstStyle/>
          <a:p>
            <a:endParaRPr lang="es-CO"/>
          </a:p>
        </p:txBody>
      </p:sp>
      <p:sp>
        <p:nvSpPr>
          <p:cNvPr id="14" name="Text 12"/>
          <p:cNvSpPr/>
          <p:nvPr/>
        </p:nvSpPr>
        <p:spPr>
          <a:xfrm>
            <a:off x="1143000" y="4105656"/>
            <a:ext cx="3291840" cy="100584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27% de nulos sin causa estructural</a:t>
            </a:r>
            <a:endParaRPr lang="en-US" sz="1350" dirty="0"/>
          </a:p>
        </p:txBody>
      </p:sp>
      <p:sp>
        <p:nvSpPr>
          <p:cNvPr id="15" name="Text 13"/>
          <p:cNvSpPr/>
          <p:nvPr/>
        </p:nvSpPr>
        <p:spPr>
          <a:xfrm>
            <a:off x="4572000" y="4105656"/>
            <a:ext cx="6675120" cy="1005840"/>
          </a:xfrm>
          <a:prstGeom prst="rect">
            <a:avLst/>
          </a:prstGeom>
          <a:noFill/>
          <a:ln/>
        </p:spPr>
        <p:txBody>
          <a:bodyPr wrap="square" lIns="0" tIns="0" rIns="0" bIns="0" rtlCol="0" anchor="ctr"/>
          <a:lstStyle/>
          <a:p>
            <a:pPr marL="0" indent="0">
              <a:lnSpc>
                <a:spcPct val="115000"/>
              </a:lnSpc>
              <a:buNone/>
            </a:pPr>
            <a:r>
              <a:rPr lang="en-US" sz="1200" dirty="0">
                <a:solidFill>
                  <a:srgbClr val="5A5F73"/>
                </a:solidFill>
                <a:latin typeface="Calibri" pitchFamily="34" charset="0"/>
                <a:ea typeface="Calibri" pitchFamily="34" charset="-122"/>
                <a:cs typeface="Calibri" pitchFamily="34" charset="-120"/>
              </a:rPr>
              <a:t>En promedio_ingresos_datacredito, sin patrón identificado que justifique imputar con confianza.</a:t>
            </a:r>
            <a:endParaRPr lang="en-US" sz="1200" dirty="0"/>
          </a:p>
        </p:txBody>
      </p:sp>
      <p:sp>
        <p:nvSpPr>
          <p:cNvPr id="16" name="Shape 14"/>
          <p:cNvSpPr/>
          <p:nvPr/>
        </p:nvSpPr>
        <p:spPr>
          <a:xfrm>
            <a:off x="548640" y="5221224"/>
            <a:ext cx="11064240" cy="1005840"/>
          </a:xfrm>
          <a:prstGeom prst="roundRect">
            <a:avLst>
              <a:gd name="adj" fmla="val 5455"/>
            </a:avLst>
          </a:prstGeom>
          <a:solidFill>
            <a:srgbClr val="F4F7FC"/>
          </a:solidFill>
          <a:ln/>
        </p:spPr>
        <p:txBody>
          <a:bodyPr/>
          <a:lstStyle/>
          <a:p>
            <a:endParaRPr lang="es-CO"/>
          </a:p>
        </p:txBody>
      </p:sp>
      <p:sp>
        <p:nvSpPr>
          <p:cNvPr id="17" name="Shape 15"/>
          <p:cNvSpPr/>
          <p:nvPr/>
        </p:nvSpPr>
        <p:spPr>
          <a:xfrm>
            <a:off x="822960" y="5650992"/>
            <a:ext cx="146304" cy="146304"/>
          </a:xfrm>
          <a:prstGeom prst="ellipse">
            <a:avLst/>
          </a:prstGeom>
          <a:solidFill>
            <a:srgbClr val="B33A3A"/>
          </a:solidFill>
          <a:ln/>
        </p:spPr>
        <p:txBody>
          <a:bodyPr/>
          <a:lstStyle/>
          <a:p>
            <a:endParaRPr lang="es-CO"/>
          </a:p>
        </p:txBody>
      </p:sp>
      <p:sp>
        <p:nvSpPr>
          <p:cNvPr id="18" name="Text 16"/>
          <p:cNvSpPr/>
          <p:nvPr/>
        </p:nvSpPr>
        <p:spPr>
          <a:xfrm>
            <a:off x="1143000" y="5221224"/>
            <a:ext cx="3291840" cy="100584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Ausencia de diccionario de datos</a:t>
            </a:r>
            <a:endParaRPr lang="en-US" sz="1350" dirty="0"/>
          </a:p>
        </p:txBody>
      </p:sp>
      <p:sp>
        <p:nvSpPr>
          <p:cNvPr id="19" name="Text 17"/>
          <p:cNvSpPr/>
          <p:nvPr/>
        </p:nvSpPr>
        <p:spPr>
          <a:xfrm>
            <a:off x="4572000" y="5221224"/>
            <a:ext cx="6675120" cy="1005840"/>
          </a:xfrm>
          <a:prstGeom prst="rect">
            <a:avLst/>
          </a:prstGeom>
          <a:noFill/>
          <a:ln/>
        </p:spPr>
        <p:txBody>
          <a:bodyPr wrap="square" lIns="0" tIns="0" rIns="0" bIns="0" rtlCol="0" anchor="ctr"/>
          <a:lstStyle/>
          <a:p>
            <a:pPr marL="0" indent="0">
              <a:lnSpc>
                <a:spcPct val="115000"/>
              </a:lnSpc>
              <a:buNone/>
            </a:pPr>
            <a:r>
              <a:rPr lang="en-US" sz="1200" dirty="0">
                <a:solidFill>
                  <a:srgbClr val="5A5F73"/>
                </a:solidFill>
                <a:latin typeface="Calibri" pitchFamily="34" charset="0"/>
                <a:ea typeface="Calibri" pitchFamily="34" charset="-122"/>
                <a:cs typeface="Calibri" pitchFamily="34" charset="-120"/>
              </a:rPr>
              <a:t>La interpretación de varias variables, en especial tipo_credito, se basa en inferencia propia.</a:t>
            </a:r>
            <a:endParaRPr lang="en-US" sz="1200" dirty="0"/>
          </a:p>
        </p:txBody>
      </p:sp>
      <p:sp>
        <p:nvSpPr>
          <p:cNvPr id="20" name="Text 18"/>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21" name="Text 19"/>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PARA EL NEGOCIO</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Recomendaciones accionables</a:t>
            </a:r>
            <a:endParaRPr lang="en-US" sz="3000" dirty="0"/>
          </a:p>
        </p:txBody>
      </p:sp>
      <p:sp>
        <p:nvSpPr>
          <p:cNvPr id="4" name="Shape 2"/>
          <p:cNvSpPr/>
          <p:nvPr/>
        </p:nvSpPr>
        <p:spPr>
          <a:xfrm>
            <a:off x="548640" y="1965960"/>
            <a:ext cx="3566160" cy="4023360"/>
          </a:xfrm>
          <a:prstGeom prst="roundRect">
            <a:avLst>
              <a:gd name="adj" fmla="val 2564"/>
            </a:avLst>
          </a:prstGeom>
          <a:solidFill>
            <a:srgbClr val="1E2761"/>
          </a:solidFill>
          <a:ln/>
        </p:spPr>
        <p:txBody>
          <a:bodyPr/>
          <a:lstStyle/>
          <a:p>
            <a:endParaRPr lang="es-CO"/>
          </a:p>
        </p:txBody>
      </p:sp>
      <p:sp>
        <p:nvSpPr>
          <p:cNvPr id="5" name="Shape 3"/>
          <p:cNvSpPr/>
          <p:nvPr/>
        </p:nvSpPr>
        <p:spPr>
          <a:xfrm>
            <a:off x="868680" y="2286000"/>
            <a:ext cx="548640" cy="548640"/>
          </a:xfrm>
          <a:prstGeom prst="ellipse">
            <a:avLst/>
          </a:prstGeom>
          <a:solidFill>
            <a:srgbClr val="1E2761"/>
          </a:solidFill>
          <a:ln/>
        </p:spPr>
        <p:txBody>
          <a:bodyPr/>
          <a:lstStyle/>
          <a:p>
            <a:endParaRPr lang="es-CO"/>
          </a:p>
        </p:txBody>
      </p:sp>
      <p:sp>
        <p:nvSpPr>
          <p:cNvPr id="6" name="Text 4"/>
          <p:cNvSpPr/>
          <p:nvPr/>
        </p:nvSpPr>
        <p:spPr>
          <a:xfrm>
            <a:off x="868680" y="2286000"/>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7" name="Text 5"/>
          <p:cNvSpPr/>
          <p:nvPr/>
        </p:nvSpPr>
        <p:spPr>
          <a:xfrm>
            <a:off x="868680" y="3063240"/>
            <a:ext cx="2926080" cy="640080"/>
          </a:xfrm>
          <a:prstGeom prst="rect">
            <a:avLst/>
          </a:prstGeom>
          <a:noFill/>
          <a:ln/>
        </p:spPr>
        <p:txBody>
          <a:bodyPr wrap="square" lIns="0" tIns="0" rIns="0" bIns="0"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Alerta temprana</a:t>
            </a:r>
            <a:endParaRPr lang="en-US" sz="1800" dirty="0"/>
          </a:p>
        </p:txBody>
      </p:sp>
      <p:sp>
        <p:nvSpPr>
          <p:cNvPr id="8" name="Text 6"/>
          <p:cNvSpPr/>
          <p:nvPr/>
        </p:nvSpPr>
        <p:spPr>
          <a:xfrm>
            <a:off x="868680" y="3794760"/>
            <a:ext cx="2926080" cy="2011680"/>
          </a:xfrm>
          <a:prstGeom prst="rect">
            <a:avLst/>
          </a:prstGeom>
          <a:noFill/>
          <a:ln/>
        </p:spPr>
        <p:txBody>
          <a:bodyPr wrap="square" lIns="0" tIns="0" rIns="0" bIns="0" rtlCol="0" anchor="t"/>
          <a:lstStyle/>
          <a:p>
            <a:pPr marL="0" indent="0">
              <a:lnSpc>
                <a:spcPct val="125000"/>
              </a:lnSpc>
              <a:buNone/>
            </a:pPr>
            <a:r>
              <a:rPr lang="en-US" sz="1300" dirty="0">
                <a:solidFill>
                  <a:srgbClr val="CADCFC"/>
                </a:solidFill>
                <a:latin typeface="Calibri" pitchFamily="34" charset="0"/>
                <a:ea typeface="Calibri" pitchFamily="34" charset="-122"/>
                <a:cs typeface="Calibri" pitchFamily="34" charset="-120"/>
              </a:rPr>
              <a:t>Incorporar mora previa y el tipo de crédito 6 como criterios de alerta en la originación.</a:t>
            </a:r>
            <a:endParaRPr lang="en-US" sz="1300" dirty="0"/>
          </a:p>
        </p:txBody>
      </p:sp>
      <p:sp>
        <p:nvSpPr>
          <p:cNvPr id="9" name="Shape 7"/>
          <p:cNvSpPr/>
          <p:nvPr/>
        </p:nvSpPr>
        <p:spPr>
          <a:xfrm>
            <a:off x="4343400" y="1965960"/>
            <a:ext cx="3566160" cy="4023360"/>
          </a:xfrm>
          <a:prstGeom prst="roundRect">
            <a:avLst>
              <a:gd name="adj" fmla="val 2564"/>
            </a:avLst>
          </a:prstGeom>
          <a:solidFill>
            <a:srgbClr val="F4F7FC"/>
          </a:solidFill>
          <a:ln/>
        </p:spPr>
        <p:txBody>
          <a:bodyPr/>
          <a:lstStyle/>
          <a:p>
            <a:endParaRPr lang="es-CO"/>
          </a:p>
        </p:txBody>
      </p:sp>
      <p:sp>
        <p:nvSpPr>
          <p:cNvPr id="11" name="Text 9"/>
          <p:cNvSpPr/>
          <p:nvPr/>
        </p:nvSpPr>
        <p:spPr>
          <a:xfrm>
            <a:off x="4663440" y="2286000"/>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4" name="Shape 12"/>
          <p:cNvSpPr/>
          <p:nvPr/>
        </p:nvSpPr>
        <p:spPr>
          <a:xfrm>
            <a:off x="8138160" y="1965960"/>
            <a:ext cx="3566160" cy="4023360"/>
          </a:xfrm>
          <a:prstGeom prst="roundRect">
            <a:avLst>
              <a:gd name="adj" fmla="val 2564"/>
            </a:avLst>
          </a:prstGeom>
          <a:solidFill>
            <a:srgbClr val="F4F7FC"/>
          </a:solidFill>
          <a:ln/>
        </p:spPr>
        <p:txBody>
          <a:bodyPr/>
          <a:lstStyle/>
          <a:p>
            <a:endParaRPr lang="es-CO"/>
          </a:p>
        </p:txBody>
      </p:sp>
      <p:sp>
        <p:nvSpPr>
          <p:cNvPr id="15" name="Shape 13"/>
          <p:cNvSpPr/>
          <p:nvPr/>
        </p:nvSpPr>
        <p:spPr>
          <a:xfrm>
            <a:off x="8458200" y="2286000"/>
            <a:ext cx="548640" cy="548640"/>
          </a:xfrm>
          <a:prstGeom prst="ellipse">
            <a:avLst/>
          </a:prstGeom>
          <a:solidFill>
            <a:srgbClr val="1E2761"/>
          </a:solidFill>
          <a:ln/>
        </p:spPr>
        <p:txBody>
          <a:bodyPr/>
          <a:lstStyle/>
          <a:p>
            <a:endParaRPr lang="es-CO"/>
          </a:p>
        </p:txBody>
      </p:sp>
      <p:sp>
        <p:nvSpPr>
          <p:cNvPr id="16" name="Text 14"/>
          <p:cNvSpPr/>
          <p:nvPr/>
        </p:nvSpPr>
        <p:spPr>
          <a:xfrm>
            <a:off x="8458200" y="2286000"/>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7" name="Text 15"/>
          <p:cNvSpPr/>
          <p:nvPr/>
        </p:nvSpPr>
        <p:spPr>
          <a:xfrm>
            <a:off x="8458200" y="3063240"/>
            <a:ext cx="2926080" cy="640080"/>
          </a:xfrm>
          <a:prstGeom prst="rect">
            <a:avLst/>
          </a:prstGeom>
          <a:noFill/>
          <a:ln/>
        </p:spPr>
        <p:txBody>
          <a:bodyPr wrap="square" lIns="0" tIns="0" rIns="0" bIns="0" rtlCol="0" anchor="ctr"/>
          <a:lstStyle/>
          <a:p>
            <a:pPr marL="0" indent="0">
              <a:buNone/>
            </a:pPr>
            <a:r>
              <a:rPr lang="en-US" sz="1800" b="1" dirty="0">
                <a:solidFill>
                  <a:srgbClr val="1E2761"/>
                </a:solidFill>
                <a:latin typeface="Cambria" pitchFamily="34" charset="0"/>
                <a:ea typeface="Cambria" pitchFamily="34" charset="-122"/>
                <a:cs typeface="Cambria" pitchFamily="34" charset="-120"/>
              </a:rPr>
              <a:t>Investigación dirigida</a:t>
            </a:r>
            <a:endParaRPr lang="en-US" sz="1800" dirty="0"/>
          </a:p>
        </p:txBody>
      </p:sp>
      <p:sp>
        <p:nvSpPr>
          <p:cNvPr id="18" name="Text 16"/>
          <p:cNvSpPr/>
          <p:nvPr/>
        </p:nvSpPr>
        <p:spPr>
          <a:xfrm>
            <a:off x="8458200" y="3794760"/>
            <a:ext cx="2926080" cy="2011680"/>
          </a:xfrm>
          <a:prstGeom prst="rect">
            <a:avLst/>
          </a:prstGeom>
          <a:noFill/>
          <a:ln/>
        </p:spPr>
        <p:txBody>
          <a:bodyPr wrap="square" lIns="0" tIns="0" rIns="0" bIns="0" rtlCol="0" anchor="t"/>
          <a:lstStyle/>
          <a:p>
            <a:pPr marL="0" indent="0">
              <a:lnSpc>
                <a:spcPct val="125000"/>
              </a:lnSpc>
              <a:buNone/>
            </a:pPr>
            <a:r>
              <a:rPr lang="en-US" sz="1300" dirty="0">
                <a:solidFill>
                  <a:srgbClr val="5A5F73"/>
                </a:solidFill>
                <a:latin typeface="Calibri" pitchFamily="34" charset="0"/>
                <a:ea typeface="Calibri" pitchFamily="34" charset="-122"/>
                <a:cs typeface="Calibri" pitchFamily="34" charset="-120"/>
              </a:rPr>
              <a:t>Trabajar con el área de producto para entender qué representa el tipo de crédito 6.</a:t>
            </a:r>
            <a:endParaRPr lang="en-US" sz="1300" dirty="0"/>
          </a:p>
        </p:txBody>
      </p:sp>
      <p:sp>
        <p:nvSpPr>
          <p:cNvPr id="19" name="Text 17"/>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20" name="Text 18"/>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PROYECTO TRANSVERSAL</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rPr>
              <a:t>Proyecto </a:t>
            </a:r>
            <a:r>
              <a:rPr lang="en-US" sz="3000" b="1" dirty="0" err="1">
                <a:solidFill>
                  <a:srgbClr val="1E2761"/>
                </a:solidFill>
                <a:latin typeface="Cambria" pitchFamily="34" charset="0"/>
                <a:ea typeface="Cambria" pitchFamily="34" charset="-122"/>
              </a:rPr>
              <a:t>durante</a:t>
            </a:r>
            <a:r>
              <a:rPr lang="en-US" sz="3000" b="1" dirty="0">
                <a:solidFill>
                  <a:srgbClr val="1E2761"/>
                </a:solidFill>
                <a:latin typeface="Cambria" pitchFamily="34" charset="0"/>
                <a:ea typeface="Cambria" pitchFamily="34" charset="-122"/>
              </a:rPr>
              <a:t> el </a:t>
            </a:r>
            <a:r>
              <a:rPr lang="en-US" sz="3000" b="1" dirty="0" err="1">
                <a:solidFill>
                  <a:srgbClr val="1E2761"/>
                </a:solidFill>
                <a:latin typeface="Cambria" pitchFamily="34" charset="0"/>
                <a:ea typeface="Cambria" pitchFamily="34" charset="-122"/>
              </a:rPr>
              <a:t>semestre</a:t>
            </a:r>
            <a:endParaRPr lang="en-US" sz="3000" dirty="0"/>
          </a:p>
        </p:txBody>
      </p:sp>
      <p:sp>
        <p:nvSpPr>
          <p:cNvPr id="4" name="Shape 2"/>
          <p:cNvSpPr/>
          <p:nvPr/>
        </p:nvSpPr>
        <p:spPr>
          <a:xfrm>
            <a:off x="548640" y="1920240"/>
            <a:ext cx="502920" cy="502920"/>
          </a:xfrm>
          <a:prstGeom prst="ellipse">
            <a:avLst/>
          </a:prstGeom>
          <a:solidFill>
            <a:srgbClr val="B33A3A"/>
          </a:solidFill>
          <a:ln/>
        </p:spPr>
        <p:txBody>
          <a:bodyPr/>
          <a:lstStyle/>
          <a:p>
            <a:endParaRPr lang="es-CO"/>
          </a:p>
        </p:txBody>
      </p:sp>
      <p:sp>
        <p:nvSpPr>
          <p:cNvPr id="5" name="Text 3"/>
          <p:cNvSpPr/>
          <p:nvPr/>
        </p:nvSpPr>
        <p:spPr>
          <a:xfrm>
            <a:off x="548640" y="1920240"/>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6" name="Text 4"/>
          <p:cNvSpPr/>
          <p:nvPr/>
        </p:nvSpPr>
        <p:spPr>
          <a:xfrm>
            <a:off x="548640" y="2578608"/>
            <a:ext cx="2084832" cy="640080"/>
          </a:xfrm>
          <a:prstGeom prst="rect">
            <a:avLst/>
          </a:prstGeom>
          <a:noFill/>
          <a:ln/>
        </p:spPr>
        <p:txBody>
          <a:bodyPr wrap="square" lIns="0" tIns="0" rIns="0" bIns="0" rtlCol="0" anchor="t"/>
          <a:lstStyle/>
          <a:p>
            <a:pPr marL="0" indent="0">
              <a:buNone/>
            </a:pPr>
            <a:r>
              <a:rPr lang="en-US" sz="1300" b="1" dirty="0">
                <a:solidFill>
                  <a:srgbClr val="B33A3A"/>
                </a:solidFill>
                <a:latin typeface="Calibri" pitchFamily="34" charset="0"/>
                <a:ea typeface="Calibri" pitchFamily="34" charset="-122"/>
                <a:cs typeface="Calibri" pitchFamily="34" charset="-120"/>
              </a:rPr>
              <a:t>EDA + Limpieza</a:t>
            </a:r>
            <a:endParaRPr lang="en-US" sz="1300" dirty="0"/>
          </a:p>
        </p:txBody>
      </p:sp>
      <p:sp>
        <p:nvSpPr>
          <p:cNvPr id="7" name="Text 5"/>
          <p:cNvSpPr/>
          <p:nvPr/>
        </p:nvSpPr>
        <p:spPr>
          <a:xfrm>
            <a:off x="548640" y="3200400"/>
            <a:ext cx="2084832" cy="1417320"/>
          </a:xfrm>
          <a:prstGeom prst="rect">
            <a:avLst/>
          </a:prstGeom>
          <a:noFill/>
          <a:ln/>
        </p:spPr>
        <p:txBody>
          <a:bodyPr wrap="square" lIns="0" tIns="0" rIns="0" bIns="0" rtlCol="0" anchor="t"/>
          <a:lstStyle/>
          <a:p>
            <a:pPr marL="0" indent="0">
              <a:lnSpc>
                <a:spcPct val="115000"/>
              </a:lnSpc>
              <a:buNone/>
            </a:pPr>
            <a:r>
              <a:rPr lang="en-US" sz="1000" dirty="0">
                <a:solidFill>
                  <a:srgbClr val="5A5F73"/>
                </a:solidFill>
                <a:latin typeface="Calibri" pitchFamily="34" charset="0"/>
                <a:ea typeface="Calibri" pitchFamily="34" charset="-122"/>
                <a:cs typeface="Calibri" pitchFamily="34" charset="-120"/>
              </a:rPr>
              <a:t>Comprensión, calidad de datos e insights</a:t>
            </a:r>
            <a:endParaRPr lang="en-US" sz="1000" dirty="0"/>
          </a:p>
        </p:txBody>
      </p:sp>
      <p:sp>
        <p:nvSpPr>
          <p:cNvPr id="8" name="Text 6"/>
          <p:cNvSpPr/>
          <p:nvPr/>
        </p:nvSpPr>
        <p:spPr>
          <a:xfrm>
            <a:off x="548640" y="4663440"/>
            <a:ext cx="2084832" cy="320040"/>
          </a:xfrm>
          <a:prstGeom prst="rect">
            <a:avLst/>
          </a:prstGeom>
          <a:noFill/>
          <a:ln/>
        </p:spPr>
        <p:txBody>
          <a:bodyPr wrap="square" lIns="0" tIns="0" rIns="0" bIns="0" rtlCol="0" anchor="ctr"/>
          <a:lstStyle/>
          <a:p>
            <a:pPr marL="0" indent="0">
              <a:buNone/>
            </a:pPr>
            <a:r>
              <a:rPr lang="en-US" sz="900" i="1" dirty="0">
                <a:solidFill>
                  <a:srgbClr val="8A8FA3"/>
                </a:solidFill>
                <a:latin typeface="Consolas" pitchFamily="34" charset="0"/>
                <a:ea typeface="Consolas" pitchFamily="34" charset="-122"/>
                <a:cs typeface="Consolas" pitchFamily="34" charset="-120"/>
              </a:rPr>
              <a:t>transformacion_eda.ipynb</a:t>
            </a:r>
            <a:endParaRPr lang="en-US" sz="900" dirty="0"/>
          </a:p>
        </p:txBody>
      </p:sp>
      <p:sp>
        <p:nvSpPr>
          <p:cNvPr id="9" name="Shape 7"/>
          <p:cNvSpPr/>
          <p:nvPr/>
        </p:nvSpPr>
        <p:spPr>
          <a:xfrm>
            <a:off x="2651760" y="2167128"/>
            <a:ext cx="128016" cy="0"/>
          </a:xfrm>
          <a:prstGeom prst="line">
            <a:avLst/>
          </a:prstGeom>
          <a:noFill/>
          <a:ln w="25400">
            <a:solidFill>
              <a:srgbClr val="CADCFC"/>
            </a:solidFill>
            <a:prstDash val="solid"/>
          </a:ln>
        </p:spPr>
        <p:txBody>
          <a:bodyPr/>
          <a:lstStyle/>
          <a:p>
            <a:endParaRPr lang="es-CO"/>
          </a:p>
        </p:txBody>
      </p:sp>
      <p:sp>
        <p:nvSpPr>
          <p:cNvPr id="10" name="Shape 8"/>
          <p:cNvSpPr/>
          <p:nvPr/>
        </p:nvSpPr>
        <p:spPr>
          <a:xfrm>
            <a:off x="2798064" y="1920240"/>
            <a:ext cx="502920" cy="502920"/>
          </a:xfrm>
          <a:prstGeom prst="ellipse">
            <a:avLst/>
          </a:prstGeom>
          <a:solidFill>
            <a:srgbClr val="1E2761"/>
          </a:solidFill>
          <a:ln/>
        </p:spPr>
        <p:txBody>
          <a:bodyPr/>
          <a:lstStyle/>
          <a:p>
            <a:endParaRPr lang="es-CO"/>
          </a:p>
        </p:txBody>
      </p:sp>
      <p:sp>
        <p:nvSpPr>
          <p:cNvPr id="11" name="Text 9"/>
          <p:cNvSpPr/>
          <p:nvPr/>
        </p:nvSpPr>
        <p:spPr>
          <a:xfrm>
            <a:off x="2798064" y="1920240"/>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Text 10"/>
          <p:cNvSpPr/>
          <p:nvPr/>
        </p:nvSpPr>
        <p:spPr>
          <a:xfrm>
            <a:off x="2798064" y="2578608"/>
            <a:ext cx="2084832" cy="640080"/>
          </a:xfrm>
          <a:prstGeom prst="rect">
            <a:avLst/>
          </a:prstGeom>
          <a:noFill/>
          <a:ln/>
        </p:spPr>
        <p:txBody>
          <a:bodyPr wrap="square" lIns="0" tIns="0" rIns="0" bIns="0" rtlCol="0" anchor="t"/>
          <a:lstStyle/>
          <a:p>
            <a:pPr marL="0" indent="0">
              <a:buNone/>
            </a:pPr>
            <a:r>
              <a:rPr lang="en-US" sz="1300" b="1" dirty="0">
                <a:solidFill>
                  <a:srgbClr val="1E2761"/>
                </a:solidFill>
                <a:latin typeface="Calibri" pitchFamily="34" charset="0"/>
                <a:ea typeface="Calibri" pitchFamily="34" charset="-122"/>
                <a:cs typeface="Calibri" pitchFamily="34" charset="-120"/>
              </a:rPr>
              <a:t>Feature Engineering</a:t>
            </a:r>
            <a:endParaRPr lang="en-US" sz="1300" dirty="0"/>
          </a:p>
        </p:txBody>
      </p:sp>
      <p:sp>
        <p:nvSpPr>
          <p:cNvPr id="13" name="Text 11"/>
          <p:cNvSpPr/>
          <p:nvPr/>
        </p:nvSpPr>
        <p:spPr>
          <a:xfrm>
            <a:off x="2798064" y="3200400"/>
            <a:ext cx="2084832" cy="1417320"/>
          </a:xfrm>
          <a:prstGeom prst="rect">
            <a:avLst/>
          </a:prstGeom>
          <a:noFill/>
          <a:ln/>
        </p:spPr>
        <p:txBody>
          <a:bodyPr wrap="square" lIns="0" tIns="0" rIns="0" bIns="0" rtlCol="0" anchor="t"/>
          <a:lstStyle/>
          <a:p>
            <a:pPr marL="0" indent="0">
              <a:lnSpc>
                <a:spcPct val="115000"/>
              </a:lnSpc>
              <a:buNone/>
            </a:pPr>
            <a:r>
              <a:rPr lang="en-US" sz="1000" dirty="0">
                <a:solidFill>
                  <a:srgbClr val="5A5F73"/>
                </a:solidFill>
                <a:latin typeface="Calibri" pitchFamily="34" charset="0"/>
                <a:ea typeface="Calibri" pitchFamily="34" charset="-122"/>
                <a:cs typeface="Calibri" pitchFamily="34" charset="-120"/>
              </a:rPr>
              <a:t>Formalizar tiene_mora_previa y consultas_por_credito</a:t>
            </a:r>
            <a:endParaRPr lang="en-US" sz="1000" dirty="0"/>
          </a:p>
        </p:txBody>
      </p:sp>
      <p:sp>
        <p:nvSpPr>
          <p:cNvPr id="14" name="Text 12"/>
          <p:cNvSpPr/>
          <p:nvPr/>
        </p:nvSpPr>
        <p:spPr>
          <a:xfrm>
            <a:off x="2798064" y="4663440"/>
            <a:ext cx="2084832" cy="320040"/>
          </a:xfrm>
          <a:prstGeom prst="rect">
            <a:avLst/>
          </a:prstGeom>
          <a:noFill/>
          <a:ln/>
        </p:spPr>
        <p:txBody>
          <a:bodyPr wrap="square" lIns="0" tIns="0" rIns="0" bIns="0" rtlCol="0" anchor="ctr"/>
          <a:lstStyle/>
          <a:p>
            <a:pPr marL="0" indent="0">
              <a:buNone/>
            </a:pPr>
            <a:r>
              <a:rPr lang="en-US" sz="900" i="1" dirty="0">
                <a:solidFill>
                  <a:srgbClr val="8A8FA3"/>
                </a:solidFill>
                <a:latin typeface="Consolas" pitchFamily="34" charset="0"/>
                <a:ea typeface="Consolas" pitchFamily="34" charset="-122"/>
                <a:cs typeface="Consolas" pitchFamily="34" charset="-120"/>
              </a:rPr>
              <a:t>ft_engineering.py</a:t>
            </a:r>
            <a:endParaRPr lang="en-US" sz="900" dirty="0"/>
          </a:p>
        </p:txBody>
      </p:sp>
      <p:sp>
        <p:nvSpPr>
          <p:cNvPr id="15" name="Shape 13"/>
          <p:cNvSpPr/>
          <p:nvPr/>
        </p:nvSpPr>
        <p:spPr>
          <a:xfrm>
            <a:off x="4901184" y="2167128"/>
            <a:ext cx="128016" cy="0"/>
          </a:xfrm>
          <a:prstGeom prst="line">
            <a:avLst/>
          </a:prstGeom>
          <a:noFill/>
          <a:ln w="25400">
            <a:solidFill>
              <a:srgbClr val="CADCFC"/>
            </a:solidFill>
            <a:prstDash val="solid"/>
          </a:ln>
        </p:spPr>
        <p:txBody>
          <a:bodyPr/>
          <a:lstStyle/>
          <a:p>
            <a:endParaRPr lang="es-CO"/>
          </a:p>
        </p:txBody>
      </p:sp>
      <p:sp>
        <p:nvSpPr>
          <p:cNvPr id="16" name="Shape 14"/>
          <p:cNvSpPr/>
          <p:nvPr/>
        </p:nvSpPr>
        <p:spPr>
          <a:xfrm>
            <a:off x="5047488" y="1920240"/>
            <a:ext cx="502920" cy="502920"/>
          </a:xfrm>
          <a:prstGeom prst="ellipse">
            <a:avLst/>
          </a:prstGeom>
          <a:solidFill>
            <a:srgbClr val="1E2761"/>
          </a:solidFill>
          <a:ln/>
        </p:spPr>
        <p:txBody>
          <a:bodyPr/>
          <a:lstStyle/>
          <a:p>
            <a:endParaRPr lang="es-CO"/>
          </a:p>
        </p:txBody>
      </p:sp>
      <p:sp>
        <p:nvSpPr>
          <p:cNvPr id="17" name="Text 15"/>
          <p:cNvSpPr/>
          <p:nvPr/>
        </p:nvSpPr>
        <p:spPr>
          <a:xfrm>
            <a:off x="5047488" y="1920240"/>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8" name="Text 16"/>
          <p:cNvSpPr/>
          <p:nvPr/>
        </p:nvSpPr>
        <p:spPr>
          <a:xfrm>
            <a:off x="5047488" y="2578608"/>
            <a:ext cx="2084832" cy="640080"/>
          </a:xfrm>
          <a:prstGeom prst="rect">
            <a:avLst/>
          </a:prstGeom>
          <a:noFill/>
          <a:ln/>
        </p:spPr>
        <p:txBody>
          <a:bodyPr wrap="square" lIns="0" tIns="0" rIns="0" bIns="0" rtlCol="0" anchor="t"/>
          <a:lstStyle/>
          <a:p>
            <a:pPr marL="0" indent="0">
              <a:buNone/>
            </a:pPr>
            <a:r>
              <a:rPr lang="en-US" sz="1300" b="1" dirty="0">
                <a:solidFill>
                  <a:srgbClr val="1E2761"/>
                </a:solidFill>
                <a:latin typeface="Calibri" pitchFamily="34" charset="0"/>
                <a:ea typeface="Calibri" pitchFamily="34" charset="-122"/>
                <a:cs typeface="Calibri" pitchFamily="34" charset="-120"/>
              </a:rPr>
              <a:t>Modelado predictivo</a:t>
            </a:r>
            <a:endParaRPr lang="en-US" sz="1300" dirty="0"/>
          </a:p>
        </p:txBody>
      </p:sp>
      <p:sp>
        <p:nvSpPr>
          <p:cNvPr id="19" name="Text 17"/>
          <p:cNvSpPr/>
          <p:nvPr/>
        </p:nvSpPr>
        <p:spPr>
          <a:xfrm>
            <a:off x="5047488" y="3200400"/>
            <a:ext cx="2084832" cy="1417320"/>
          </a:xfrm>
          <a:prstGeom prst="rect">
            <a:avLst/>
          </a:prstGeom>
          <a:noFill/>
          <a:ln/>
        </p:spPr>
        <p:txBody>
          <a:bodyPr wrap="square" lIns="0" tIns="0" rIns="0" bIns="0" rtlCol="0" anchor="t"/>
          <a:lstStyle/>
          <a:p>
            <a:pPr marL="0" indent="0">
              <a:lnSpc>
                <a:spcPct val="115000"/>
              </a:lnSpc>
              <a:buNone/>
            </a:pPr>
            <a:r>
              <a:rPr lang="en-US" sz="1000" dirty="0">
                <a:solidFill>
                  <a:srgbClr val="5A5F73"/>
                </a:solidFill>
                <a:latin typeface="Calibri" pitchFamily="34" charset="0"/>
                <a:ea typeface="Calibri" pitchFamily="34" charset="-122"/>
                <a:cs typeface="Calibri" pitchFamily="34" charset="-120"/>
              </a:rPr>
              <a:t>Manejo del desbalance (20:1), métricas recall/F1/AUC-PR</a:t>
            </a:r>
            <a:endParaRPr lang="en-US" sz="1000" dirty="0"/>
          </a:p>
        </p:txBody>
      </p:sp>
      <p:sp>
        <p:nvSpPr>
          <p:cNvPr id="20" name="Text 18"/>
          <p:cNvSpPr/>
          <p:nvPr/>
        </p:nvSpPr>
        <p:spPr>
          <a:xfrm>
            <a:off x="5047488" y="4663440"/>
            <a:ext cx="2084832" cy="320040"/>
          </a:xfrm>
          <a:prstGeom prst="rect">
            <a:avLst/>
          </a:prstGeom>
          <a:noFill/>
          <a:ln/>
        </p:spPr>
        <p:txBody>
          <a:bodyPr wrap="square" lIns="0" tIns="0" rIns="0" bIns="0" rtlCol="0" anchor="ctr"/>
          <a:lstStyle/>
          <a:p>
            <a:pPr marL="0" indent="0">
              <a:buNone/>
            </a:pPr>
            <a:r>
              <a:rPr lang="en-US" sz="900" i="1" dirty="0">
                <a:solidFill>
                  <a:srgbClr val="8A8FA3"/>
                </a:solidFill>
                <a:latin typeface="Consolas" pitchFamily="34" charset="0"/>
                <a:ea typeface="Consolas" pitchFamily="34" charset="-122"/>
                <a:cs typeface="Consolas" pitchFamily="34" charset="-120"/>
              </a:rPr>
              <a:t>model_training_evaluation.py</a:t>
            </a:r>
            <a:endParaRPr lang="en-US" sz="900" dirty="0"/>
          </a:p>
        </p:txBody>
      </p:sp>
      <p:sp>
        <p:nvSpPr>
          <p:cNvPr id="21" name="Shape 19"/>
          <p:cNvSpPr/>
          <p:nvPr/>
        </p:nvSpPr>
        <p:spPr>
          <a:xfrm>
            <a:off x="7150608" y="2167128"/>
            <a:ext cx="128016" cy="0"/>
          </a:xfrm>
          <a:prstGeom prst="line">
            <a:avLst/>
          </a:prstGeom>
          <a:noFill/>
          <a:ln w="25400">
            <a:solidFill>
              <a:srgbClr val="CADCFC"/>
            </a:solidFill>
            <a:prstDash val="solid"/>
          </a:ln>
        </p:spPr>
        <p:txBody>
          <a:bodyPr/>
          <a:lstStyle/>
          <a:p>
            <a:endParaRPr lang="es-CO"/>
          </a:p>
        </p:txBody>
      </p:sp>
      <p:sp>
        <p:nvSpPr>
          <p:cNvPr id="22" name="Shape 20"/>
          <p:cNvSpPr/>
          <p:nvPr/>
        </p:nvSpPr>
        <p:spPr>
          <a:xfrm>
            <a:off x="7296912" y="1920240"/>
            <a:ext cx="502920" cy="502920"/>
          </a:xfrm>
          <a:prstGeom prst="ellipse">
            <a:avLst/>
          </a:prstGeom>
          <a:solidFill>
            <a:srgbClr val="1E2761"/>
          </a:solidFill>
          <a:ln/>
        </p:spPr>
        <p:txBody>
          <a:bodyPr/>
          <a:lstStyle/>
          <a:p>
            <a:endParaRPr lang="es-CO"/>
          </a:p>
        </p:txBody>
      </p:sp>
      <p:sp>
        <p:nvSpPr>
          <p:cNvPr id="23" name="Text 21"/>
          <p:cNvSpPr/>
          <p:nvPr/>
        </p:nvSpPr>
        <p:spPr>
          <a:xfrm>
            <a:off x="7296912" y="1920240"/>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4" name="Text 22"/>
          <p:cNvSpPr/>
          <p:nvPr/>
        </p:nvSpPr>
        <p:spPr>
          <a:xfrm>
            <a:off x="7296912" y="2578608"/>
            <a:ext cx="2084832" cy="640080"/>
          </a:xfrm>
          <a:prstGeom prst="rect">
            <a:avLst/>
          </a:prstGeom>
          <a:noFill/>
          <a:ln/>
        </p:spPr>
        <p:txBody>
          <a:bodyPr wrap="square" lIns="0" tIns="0" rIns="0" bIns="0" rtlCol="0" anchor="t"/>
          <a:lstStyle/>
          <a:p>
            <a:pPr marL="0" indent="0">
              <a:buNone/>
            </a:pPr>
            <a:r>
              <a:rPr lang="en-US" sz="1300" b="1" dirty="0">
                <a:solidFill>
                  <a:srgbClr val="1E2761"/>
                </a:solidFill>
                <a:latin typeface="Calibri" pitchFamily="34" charset="0"/>
                <a:ea typeface="Calibri" pitchFamily="34" charset="-122"/>
                <a:cs typeface="Calibri" pitchFamily="34" charset="-120"/>
              </a:rPr>
              <a:t>Despliegue</a:t>
            </a:r>
            <a:endParaRPr lang="en-US" sz="1300" dirty="0"/>
          </a:p>
        </p:txBody>
      </p:sp>
      <p:sp>
        <p:nvSpPr>
          <p:cNvPr id="25" name="Text 23"/>
          <p:cNvSpPr/>
          <p:nvPr/>
        </p:nvSpPr>
        <p:spPr>
          <a:xfrm>
            <a:off x="7296912" y="3200400"/>
            <a:ext cx="2084832" cy="1417320"/>
          </a:xfrm>
          <a:prstGeom prst="rect">
            <a:avLst/>
          </a:prstGeom>
          <a:noFill/>
          <a:ln/>
        </p:spPr>
        <p:txBody>
          <a:bodyPr wrap="square" lIns="0" tIns="0" rIns="0" bIns="0" rtlCol="0" anchor="t"/>
          <a:lstStyle/>
          <a:p>
            <a:pPr marL="0" indent="0">
              <a:lnSpc>
                <a:spcPct val="115000"/>
              </a:lnSpc>
              <a:buNone/>
            </a:pPr>
            <a:r>
              <a:rPr lang="en-US" sz="1000" dirty="0">
                <a:solidFill>
                  <a:srgbClr val="5A5F73"/>
                </a:solidFill>
                <a:latin typeface="Calibri" pitchFamily="34" charset="0"/>
                <a:ea typeface="Calibri" pitchFamily="34" charset="-122"/>
                <a:cs typeface="Calibri" pitchFamily="34" charset="-120"/>
              </a:rPr>
              <a:t>Poner el modelo en producción</a:t>
            </a:r>
            <a:endParaRPr lang="en-US" sz="1000" dirty="0"/>
          </a:p>
        </p:txBody>
      </p:sp>
      <p:sp>
        <p:nvSpPr>
          <p:cNvPr id="26" name="Text 24"/>
          <p:cNvSpPr/>
          <p:nvPr/>
        </p:nvSpPr>
        <p:spPr>
          <a:xfrm>
            <a:off x="7296912" y="4663440"/>
            <a:ext cx="2084832" cy="320040"/>
          </a:xfrm>
          <a:prstGeom prst="rect">
            <a:avLst/>
          </a:prstGeom>
          <a:noFill/>
          <a:ln/>
        </p:spPr>
        <p:txBody>
          <a:bodyPr wrap="square" lIns="0" tIns="0" rIns="0" bIns="0" rtlCol="0" anchor="ctr"/>
          <a:lstStyle/>
          <a:p>
            <a:pPr marL="0" indent="0">
              <a:buNone/>
            </a:pPr>
            <a:r>
              <a:rPr lang="en-US" sz="900" i="1" dirty="0">
                <a:solidFill>
                  <a:srgbClr val="8A8FA3"/>
                </a:solidFill>
                <a:latin typeface="Consolas" pitchFamily="34" charset="0"/>
                <a:ea typeface="Consolas" pitchFamily="34" charset="-122"/>
                <a:cs typeface="Consolas" pitchFamily="34" charset="-120"/>
              </a:rPr>
              <a:t>model_deploy.py</a:t>
            </a:r>
            <a:endParaRPr lang="en-US" sz="900" dirty="0"/>
          </a:p>
        </p:txBody>
      </p:sp>
      <p:sp>
        <p:nvSpPr>
          <p:cNvPr id="27" name="Shape 25"/>
          <p:cNvSpPr/>
          <p:nvPr/>
        </p:nvSpPr>
        <p:spPr>
          <a:xfrm>
            <a:off x="9400032" y="2167128"/>
            <a:ext cx="128016" cy="0"/>
          </a:xfrm>
          <a:prstGeom prst="line">
            <a:avLst/>
          </a:prstGeom>
          <a:noFill/>
          <a:ln w="25400">
            <a:solidFill>
              <a:srgbClr val="CADCFC"/>
            </a:solidFill>
            <a:prstDash val="solid"/>
          </a:ln>
        </p:spPr>
        <p:txBody>
          <a:bodyPr/>
          <a:lstStyle/>
          <a:p>
            <a:endParaRPr lang="es-CO"/>
          </a:p>
        </p:txBody>
      </p:sp>
      <p:sp>
        <p:nvSpPr>
          <p:cNvPr id="28" name="Shape 26"/>
          <p:cNvSpPr/>
          <p:nvPr/>
        </p:nvSpPr>
        <p:spPr>
          <a:xfrm>
            <a:off x="9546336" y="1920240"/>
            <a:ext cx="502920" cy="502920"/>
          </a:xfrm>
          <a:prstGeom prst="ellipse">
            <a:avLst/>
          </a:prstGeom>
          <a:solidFill>
            <a:srgbClr val="1E2761"/>
          </a:solidFill>
          <a:ln/>
        </p:spPr>
        <p:txBody>
          <a:bodyPr/>
          <a:lstStyle/>
          <a:p>
            <a:endParaRPr lang="es-CO"/>
          </a:p>
        </p:txBody>
      </p:sp>
      <p:sp>
        <p:nvSpPr>
          <p:cNvPr id="29" name="Text 27"/>
          <p:cNvSpPr/>
          <p:nvPr/>
        </p:nvSpPr>
        <p:spPr>
          <a:xfrm>
            <a:off x="9546336" y="1920240"/>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30" name="Text 28"/>
          <p:cNvSpPr/>
          <p:nvPr/>
        </p:nvSpPr>
        <p:spPr>
          <a:xfrm>
            <a:off x="9546336" y="2578608"/>
            <a:ext cx="2084832" cy="640080"/>
          </a:xfrm>
          <a:prstGeom prst="rect">
            <a:avLst/>
          </a:prstGeom>
          <a:noFill/>
          <a:ln/>
        </p:spPr>
        <p:txBody>
          <a:bodyPr wrap="square" lIns="0" tIns="0" rIns="0" bIns="0" rtlCol="0" anchor="t"/>
          <a:lstStyle/>
          <a:p>
            <a:pPr marL="0" indent="0">
              <a:buNone/>
            </a:pPr>
            <a:r>
              <a:rPr lang="en-US" sz="1300" b="1" dirty="0">
                <a:solidFill>
                  <a:srgbClr val="1E2761"/>
                </a:solidFill>
                <a:latin typeface="Calibri" pitchFamily="34" charset="0"/>
                <a:ea typeface="Calibri" pitchFamily="34" charset="-122"/>
                <a:cs typeface="Calibri" pitchFamily="34" charset="-120"/>
              </a:rPr>
              <a:t>Monitoreo</a:t>
            </a:r>
            <a:endParaRPr lang="en-US" sz="1300" dirty="0"/>
          </a:p>
        </p:txBody>
      </p:sp>
      <p:sp>
        <p:nvSpPr>
          <p:cNvPr id="31" name="Text 29"/>
          <p:cNvSpPr/>
          <p:nvPr/>
        </p:nvSpPr>
        <p:spPr>
          <a:xfrm>
            <a:off x="9546336" y="3200400"/>
            <a:ext cx="2084832" cy="1417320"/>
          </a:xfrm>
          <a:prstGeom prst="rect">
            <a:avLst/>
          </a:prstGeom>
          <a:noFill/>
          <a:ln/>
        </p:spPr>
        <p:txBody>
          <a:bodyPr wrap="square" lIns="0" tIns="0" rIns="0" bIns="0" rtlCol="0" anchor="t"/>
          <a:lstStyle/>
          <a:p>
            <a:pPr marL="0" indent="0">
              <a:lnSpc>
                <a:spcPct val="115000"/>
              </a:lnSpc>
              <a:buNone/>
            </a:pPr>
            <a:r>
              <a:rPr lang="en-US" sz="1000" dirty="0">
                <a:solidFill>
                  <a:srgbClr val="5A5F73"/>
                </a:solidFill>
                <a:latin typeface="Calibri" pitchFamily="34" charset="0"/>
                <a:ea typeface="Calibri" pitchFamily="34" charset="-122"/>
                <a:cs typeface="Calibri" pitchFamily="34" charset="-120"/>
              </a:rPr>
              <a:t>Vigilar el desempeño del modelo en el tiempo</a:t>
            </a:r>
            <a:endParaRPr lang="en-US" sz="1000" dirty="0"/>
          </a:p>
        </p:txBody>
      </p:sp>
      <p:sp>
        <p:nvSpPr>
          <p:cNvPr id="32" name="Text 30"/>
          <p:cNvSpPr/>
          <p:nvPr/>
        </p:nvSpPr>
        <p:spPr>
          <a:xfrm>
            <a:off x="9546336" y="4663440"/>
            <a:ext cx="2084832" cy="320040"/>
          </a:xfrm>
          <a:prstGeom prst="rect">
            <a:avLst/>
          </a:prstGeom>
          <a:noFill/>
          <a:ln/>
        </p:spPr>
        <p:txBody>
          <a:bodyPr wrap="square" lIns="0" tIns="0" rIns="0" bIns="0" rtlCol="0" anchor="ctr"/>
          <a:lstStyle/>
          <a:p>
            <a:pPr marL="0" indent="0">
              <a:buNone/>
            </a:pPr>
            <a:r>
              <a:rPr lang="en-US" sz="900" i="1" dirty="0">
                <a:solidFill>
                  <a:srgbClr val="8A8FA3"/>
                </a:solidFill>
                <a:latin typeface="Consolas" pitchFamily="34" charset="0"/>
                <a:ea typeface="Consolas" pitchFamily="34" charset="-122"/>
                <a:cs typeface="Consolas" pitchFamily="34" charset="-120"/>
              </a:rPr>
              <a:t>model_monitoring.py</a:t>
            </a:r>
            <a:endParaRPr lang="en-US" sz="900" dirty="0"/>
          </a:p>
        </p:txBody>
      </p:sp>
      <p:sp>
        <p:nvSpPr>
          <p:cNvPr id="34" name="Text 32"/>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35" name="Text 33"/>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822960" y="2468880"/>
            <a:ext cx="10515600" cy="118872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Gracias</a:t>
            </a:r>
            <a:endParaRPr lang="en-US" sz="4800" dirty="0"/>
          </a:p>
        </p:txBody>
      </p:sp>
      <p:sp>
        <p:nvSpPr>
          <p:cNvPr id="3" name="Text 1"/>
          <p:cNvSpPr/>
          <p:nvPr/>
        </p:nvSpPr>
        <p:spPr>
          <a:xfrm>
            <a:off x="822960" y="3429000"/>
            <a:ext cx="10515600" cy="548640"/>
          </a:xfrm>
          <a:prstGeom prst="rect">
            <a:avLst/>
          </a:prstGeom>
          <a:noFill/>
          <a:ln/>
        </p:spPr>
        <p:txBody>
          <a:bodyPr wrap="square" lIns="0" tIns="0" rIns="0" bIns="0" rtlCol="0" anchor="ctr"/>
          <a:lstStyle/>
          <a:p>
            <a:pPr marL="0" indent="0">
              <a:buNone/>
            </a:pPr>
            <a:r>
              <a:rPr lang="en-US" sz="1800" i="1" dirty="0">
                <a:solidFill>
                  <a:srgbClr val="CADCFC"/>
                </a:solidFill>
                <a:latin typeface="Calibri" pitchFamily="34" charset="0"/>
                <a:ea typeface="Calibri" pitchFamily="34" charset="-122"/>
                <a:cs typeface="Calibri" pitchFamily="34" charset="-120"/>
              </a:rPr>
              <a:t>Preguntas y discusión</a:t>
            </a:r>
            <a:endParaRPr lang="en-US" sz="1800" dirty="0"/>
          </a:p>
        </p:txBody>
      </p:sp>
      <p:sp>
        <p:nvSpPr>
          <p:cNvPr id="4" name="Shape 2"/>
          <p:cNvSpPr/>
          <p:nvPr/>
        </p:nvSpPr>
        <p:spPr>
          <a:xfrm>
            <a:off x="822960" y="4114800"/>
            <a:ext cx="2011680" cy="0"/>
          </a:xfrm>
          <a:prstGeom prst="line">
            <a:avLst/>
          </a:prstGeom>
          <a:noFill/>
          <a:ln w="38100">
            <a:solidFill>
              <a:srgbClr val="B33A3A"/>
            </a:solidFill>
            <a:prstDash val="solid"/>
          </a:ln>
        </p:spPr>
        <p:txBody>
          <a:bodyPr/>
          <a:lstStyle/>
          <a:p>
            <a:endParaRPr lang="es-CO"/>
          </a:p>
        </p:txBody>
      </p:sp>
      <p:sp>
        <p:nvSpPr>
          <p:cNvPr id="5" name="Text 3"/>
          <p:cNvSpPr/>
          <p:nvPr/>
        </p:nvSpPr>
        <p:spPr>
          <a:xfrm>
            <a:off x="822960" y="5989320"/>
            <a:ext cx="8229600" cy="365760"/>
          </a:xfrm>
          <a:prstGeom prst="rect">
            <a:avLst/>
          </a:prstGeom>
          <a:noFill/>
          <a:ln/>
        </p:spPr>
        <p:txBody>
          <a:bodyPr wrap="square" lIns="0" tIns="0" rIns="0" bIns="0" rtlCol="0" anchor="ctr"/>
          <a:lstStyle/>
          <a:p>
            <a:pPr marL="0" indent="0">
              <a:buNone/>
            </a:pPr>
            <a:r>
              <a:rPr lang="en-US" sz="1200" dirty="0">
                <a:solidFill>
                  <a:srgbClr val="CADCFC"/>
                </a:solidFill>
                <a:latin typeface="Calibri" pitchFamily="34" charset="0"/>
                <a:ea typeface="Calibri" pitchFamily="34" charset="-122"/>
                <a:cs typeface="Calibri" pitchFamily="34" charset="-120"/>
              </a:rPr>
              <a:t>Repositorio: github.com/papiarcacamilo/MLOPS_CURSE</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2040</Words>
  <Application>Microsoft Office PowerPoint</Application>
  <PresentationFormat>Panorámica</PresentationFormat>
  <Paragraphs>257</Paragraphs>
  <Slides>18</Slides>
  <Notes>18</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18</vt:i4>
      </vt:variant>
    </vt:vector>
  </HeadingPairs>
  <TitlesOfParts>
    <vt:vector size="23" baseType="lpstr">
      <vt:lpstr>Arial</vt:lpstr>
      <vt:lpstr>Calibri</vt:lpstr>
      <vt:lpstr>Cambria</vt:lpstr>
      <vt:lpstr>Consolas</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Camilo Andres Armenta Pedrozo</cp:lastModifiedBy>
  <cp:revision>2</cp:revision>
  <dcterms:created xsi:type="dcterms:W3CDTF">2026-08-19T22:46:30Z</dcterms:created>
  <dcterms:modified xsi:type="dcterms:W3CDTF">2026-08-20T00:11:03Z</dcterms:modified>
</cp:coreProperties>
</file>